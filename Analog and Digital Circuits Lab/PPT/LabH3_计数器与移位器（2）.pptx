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830" r:id="rId3"/>
    <p:sldId id="762" r:id="rId4"/>
    <p:sldId id="805" r:id="rId5"/>
    <p:sldId id="801" r:id="rId6"/>
    <p:sldId id="802" r:id="rId7"/>
    <p:sldId id="813" r:id="rId8"/>
    <p:sldId id="547" r:id="rId9"/>
    <p:sldId id="543" r:id="rId10"/>
    <p:sldId id="814" r:id="rId11"/>
    <p:sldId id="281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5" autoAdjust="0"/>
    <p:restoredTop sz="95256" autoAdjust="0"/>
  </p:normalViewPr>
  <p:slideViewPr>
    <p:cSldViewPr>
      <p:cViewPr varScale="1">
        <p:scale>
          <a:sx n="83" d="100"/>
          <a:sy n="83" d="100"/>
        </p:scale>
        <p:origin x="86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1709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40B72EF-41B7-4887-9B85-D6D1CD43FA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D6E566-28B8-4D4F-BC98-55F2C27227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C42690-AF5D-4D12-9580-A7F002E3FEA8}" type="datetimeFigureOut">
              <a:rPr lang="zh-CN" altLang="en-US"/>
              <a:pPr>
                <a:defRPr/>
              </a:pPr>
              <a:t>2024/11/7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B3C3E47-4AC8-4328-BC47-8503EC7FD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C7431DA-AB2B-437E-9CF6-7251E801D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6F558-E2B2-4442-A333-56ACC7AB69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95F453-DF70-47D1-8143-848446F6B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8A36D9-BE76-4C0E-B1FB-FCF8015284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D0343CD4-2FB2-46B9-AA09-B63502C05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03ABEB49-2CC2-4C87-B42D-119B25583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时间：周五 </a:t>
            </a:r>
            <a:r>
              <a:rPr lang="en-US" altLang="zh-CN"/>
              <a:t>14:30~17:30</a:t>
            </a:r>
          </a:p>
          <a:p>
            <a:r>
              <a:rPr lang="zh-CN" altLang="en-US"/>
              <a:t>地点：电三楼</a:t>
            </a:r>
            <a:r>
              <a:rPr lang="en-US" altLang="zh-CN"/>
              <a:t>412</a:t>
            </a:r>
            <a:r>
              <a:rPr lang="zh-CN" altLang="en-US"/>
              <a:t>、</a:t>
            </a:r>
            <a:r>
              <a:rPr lang="en-US" altLang="zh-CN"/>
              <a:t>414</a:t>
            </a:r>
          </a:p>
          <a:p>
            <a:endParaRPr lang="en-US" altLang="zh-CN"/>
          </a:p>
          <a:p>
            <a:r>
              <a:rPr lang="zh-CN" altLang="en-US"/>
              <a:t>序列检测</a:t>
            </a:r>
            <a:endParaRPr lang="en-US" altLang="zh-CN"/>
          </a:p>
          <a:p>
            <a:r>
              <a:rPr lang="zh-CN" altLang="en-US"/>
              <a:t>去抖动</a:t>
            </a:r>
            <a:endParaRPr lang="en-US" altLang="zh-CN"/>
          </a:p>
          <a:p>
            <a:r>
              <a:rPr lang="zh-CN" altLang="en-US"/>
              <a:t>动态扫描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27C6471E-865B-4E16-91C9-260533F8F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E0F17D-CE29-4BF4-A810-7E8245E422D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82B0B4D6-D374-4C5C-8CDF-950805903C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9C777988-CC37-4F61-B1D7-10390FECA0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1156300C-06BD-4A02-9FA8-BE0B623F4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0CBD08-12FE-4F35-95D8-C152B436052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reg [9:0] </a:t>
            </a:r>
            <a:r>
              <a:rPr lang="en-US" altLang="zh-CN" dirty="0" err="1"/>
              <a:t>sor</a:t>
            </a:r>
            <a:r>
              <a:rPr lang="en-US" altLang="zh-CN" dirty="0"/>
              <a:t>; //SOR</a:t>
            </a:r>
            <a:r>
              <a:rPr lang="zh-CN" altLang="en-US" dirty="0"/>
              <a:t>：</a:t>
            </a:r>
            <a:r>
              <a:rPr lang="en-US" altLang="zh-CN" dirty="0"/>
              <a:t>Shift Output Register, 10</a:t>
            </a:r>
            <a:r>
              <a:rPr lang="zh-CN" altLang="en-US" dirty="0"/>
              <a:t>位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reg [3:0] </a:t>
            </a:r>
            <a:r>
              <a:rPr lang="en-US" altLang="zh-CN" dirty="0" err="1"/>
              <a:t>cnt</a:t>
            </a:r>
            <a:r>
              <a:rPr lang="en-US" altLang="zh-CN" dirty="0"/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reg </a:t>
            </a:r>
            <a:r>
              <a:rPr lang="en-US" altLang="zh-CN" dirty="0" err="1"/>
              <a:t>rdy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wire </a:t>
            </a:r>
            <a:r>
              <a:rPr lang="en-US" altLang="zh-CN" dirty="0" err="1"/>
              <a:t>ld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assign </a:t>
            </a:r>
            <a:r>
              <a:rPr lang="en-US" altLang="zh-CN" dirty="0" err="1"/>
              <a:t>ld</a:t>
            </a:r>
            <a:r>
              <a:rPr lang="en-US" altLang="zh-CN" dirty="0"/>
              <a:t> = </a:t>
            </a:r>
            <a:r>
              <a:rPr lang="en-US" altLang="zh-CN" dirty="0" err="1"/>
              <a:t>vld</a:t>
            </a:r>
            <a:r>
              <a:rPr lang="en-US" altLang="zh-CN" dirty="0"/>
              <a:t> &amp; </a:t>
            </a:r>
            <a:r>
              <a:rPr lang="en-US" altLang="zh-CN" dirty="0" err="1"/>
              <a:t>rdy</a:t>
            </a:r>
            <a:r>
              <a:rPr lang="en-US" altLang="zh-CN" dirty="0"/>
              <a:t>; //</a:t>
            </a:r>
            <a:r>
              <a:rPr lang="en-US" altLang="zh-CN" dirty="0" err="1"/>
              <a:t>vld</a:t>
            </a:r>
            <a:r>
              <a:rPr lang="zh-CN" altLang="en-US" dirty="0"/>
              <a:t>和</a:t>
            </a:r>
            <a:r>
              <a:rPr lang="en-US" altLang="zh-CN" dirty="0" err="1"/>
              <a:t>rdy</a:t>
            </a:r>
            <a:r>
              <a:rPr lang="zh-CN" altLang="en-US" dirty="0"/>
              <a:t>同时为</a:t>
            </a:r>
            <a:r>
              <a:rPr lang="en-US" altLang="zh-CN" dirty="0"/>
              <a:t>1</a:t>
            </a:r>
            <a:r>
              <a:rPr lang="zh-CN" altLang="en-US" dirty="0"/>
              <a:t>时，加载</a:t>
            </a:r>
            <a:r>
              <a:rPr lang="en-US" altLang="zh-CN" dirty="0" err="1"/>
              <a:t>sor</a:t>
            </a:r>
            <a:r>
              <a:rPr lang="zh-CN" altLang="en-US" dirty="0"/>
              <a:t>和</a:t>
            </a:r>
            <a:r>
              <a:rPr lang="en-US" altLang="zh-CN" dirty="0" err="1"/>
              <a:t>cnt</a:t>
            </a:r>
            <a:r>
              <a:rPr lang="zh-CN" altLang="en-US" dirty="0"/>
              <a:t>，</a:t>
            </a:r>
            <a:r>
              <a:rPr lang="en-US" altLang="zh-CN" dirty="0" err="1"/>
              <a:t>rdy</a:t>
            </a:r>
            <a:r>
              <a:rPr lang="zh-CN" altLang="en-US" dirty="0"/>
              <a:t>清零</a:t>
            </a:r>
            <a:endParaRPr lang="en-US" altLang="zh-CN" dirty="0"/>
          </a:p>
          <a:p>
            <a:r>
              <a:rPr lang="en-US" altLang="zh-CN"/>
              <a:t>assign txd </a:t>
            </a:r>
            <a:r>
              <a:rPr lang="en-US" altLang="zh-CN" dirty="0"/>
              <a:t>= </a:t>
            </a:r>
            <a:r>
              <a:rPr lang="en-US" altLang="zh-CN" dirty="0" err="1"/>
              <a:t>sor</a:t>
            </a:r>
            <a:r>
              <a:rPr lang="en-US" altLang="zh-CN" dirty="0"/>
              <a:t>[0];</a:t>
            </a:r>
          </a:p>
          <a:p>
            <a:endParaRPr lang="en-US" altLang="zh-CN" dirty="0"/>
          </a:p>
          <a:p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rst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rst</a:t>
            </a:r>
            <a:r>
              <a:rPr lang="en-US" altLang="zh-CN" dirty="0"/>
              <a:t>) </a:t>
            </a:r>
            <a:r>
              <a:rPr lang="en-US" altLang="zh-CN" dirty="0" err="1"/>
              <a:t>sor</a:t>
            </a:r>
            <a:r>
              <a:rPr lang="en-US" altLang="zh-CN" dirty="0"/>
              <a:t> &lt;= 10’h3ff; //</a:t>
            </a:r>
            <a:r>
              <a:rPr lang="zh-CN" altLang="en-US" dirty="0"/>
              <a:t>复位时</a:t>
            </a:r>
            <a:r>
              <a:rPr lang="en-US" altLang="zh-CN" dirty="0"/>
              <a:t>SOR</a:t>
            </a:r>
            <a:r>
              <a:rPr lang="zh-CN" altLang="en-US" dirty="0"/>
              <a:t>全部位置</a:t>
            </a:r>
            <a:r>
              <a:rPr lang="en-US" altLang="zh-CN" dirty="0"/>
              <a:t>1</a:t>
            </a:r>
            <a:r>
              <a:rPr lang="zh-CN" altLang="en-US" dirty="0"/>
              <a:t>（空闲位）</a:t>
            </a:r>
            <a:endParaRPr lang="en-US" altLang="zh-CN" dirty="0"/>
          </a:p>
          <a:p>
            <a:r>
              <a:rPr lang="en-US" altLang="zh-CN" dirty="0"/>
              <a:t>else if (</a:t>
            </a:r>
            <a:r>
              <a:rPr lang="en-US" altLang="zh-CN" dirty="0" err="1"/>
              <a:t>ld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sor</a:t>
            </a:r>
            <a:r>
              <a:rPr lang="en-US" altLang="zh-CN" dirty="0"/>
              <a:t> = {1’b1</a:t>
            </a:r>
            <a:r>
              <a:rPr lang="en-US" altLang="zh-CN"/>
              <a:t>, din, </a:t>
            </a:r>
            <a:r>
              <a:rPr lang="en-US" altLang="zh-CN" dirty="0"/>
              <a:t>1’b0};</a:t>
            </a:r>
            <a:r>
              <a:rPr lang="zh-CN" altLang="en-US" dirty="0"/>
              <a:t> </a:t>
            </a:r>
            <a:r>
              <a:rPr lang="en-US" altLang="zh-CN" dirty="0"/>
              <a:t>//SOR</a:t>
            </a:r>
            <a:r>
              <a:rPr lang="zh-CN" altLang="en-US" dirty="0"/>
              <a:t>加载停止位、数据、启动位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else </a:t>
            </a:r>
            <a:r>
              <a:rPr lang="en-US" altLang="zh-CN" dirty="0" err="1"/>
              <a:t>sor</a:t>
            </a:r>
            <a:r>
              <a:rPr lang="en-US" altLang="zh-CN" dirty="0"/>
              <a:t> = {</a:t>
            </a:r>
            <a:r>
              <a:rPr lang="en-US" altLang="zh-CN" dirty="0" err="1"/>
              <a:t>sor</a:t>
            </a:r>
            <a:r>
              <a:rPr lang="en-US" altLang="zh-CN" dirty="0"/>
              <a:t>[9], </a:t>
            </a:r>
            <a:r>
              <a:rPr lang="en-US" altLang="zh-CN" dirty="0" err="1"/>
              <a:t>sor</a:t>
            </a:r>
            <a:r>
              <a:rPr lang="en-US" altLang="zh-CN" dirty="0"/>
              <a:t>[8:1]};</a:t>
            </a:r>
            <a:r>
              <a:rPr lang="zh-CN" altLang="en-US" dirty="0"/>
              <a:t> </a:t>
            </a:r>
            <a:r>
              <a:rPr lang="en-US" altLang="zh-CN" dirty="0"/>
              <a:t>//SOR &gt;&gt;&gt; 1</a:t>
            </a:r>
          </a:p>
          <a:p>
            <a:endParaRPr lang="en-US" altLang="zh-CN" dirty="0"/>
          </a:p>
          <a:p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rst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rst</a:t>
            </a:r>
            <a:r>
              <a:rPr lang="en-US" altLang="zh-CN" dirty="0"/>
              <a:t>) </a:t>
            </a:r>
            <a:r>
              <a:rPr lang="en-US" altLang="zh-CN" dirty="0" err="1"/>
              <a:t>cnt</a:t>
            </a:r>
            <a:r>
              <a:rPr lang="en-US" altLang="zh-CN" dirty="0"/>
              <a:t> &lt;= 4’h0; //</a:t>
            </a:r>
            <a:r>
              <a:rPr lang="zh-CN" altLang="en-US" dirty="0"/>
              <a:t>复位时</a:t>
            </a:r>
            <a:r>
              <a:rPr lang="en-US" altLang="zh-CN" dirty="0"/>
              <a:t>CNT</a:t>
            </a:r>
            <a:r>
              <a:rPr lang="zh-CN" altLang="en-US" dirty="0"/>
              <a:t>清零</a:t>
            </a:r>
            <a:endParaRPr lang="en-US" altLang="zh-CN" dirty="0"/>
          </a:p>
          <a:p>
            <a:r>
              <a:rPr lang="en-US" altLang="zh-CN" dirty="0"/>
              <a:t>else if (</a:t>
            </a:r>
            <a:r>
              <a:rPr lang="en-US" altLang="zh-CN" dirty="0" err="1"/>
              <a:t>ld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cnt</a:t>
            </a:r>
            <a:r>
              <a:rPr lang="en-US" altLang="zh-CN" dirty="0"/>
              <a:t> = 4’h8;</a:t>
            </a:r>
            <a:r>
              <a:rPr lang="zh-CN" altLang="en-US" dirty="0"/>
              <a:t> </a:t>
            </a:r>
            <a:r>
              <a:rPr lang="en-US" altLang="zh-CN" dirty="0"/>
              <a:t>//CNT</a:t>
            </a:r>
            <a:r>
              <a:rPr lang="zh-CN" altLang="en-US" dirty="0"/>
              <a:t>加载常数</a:t>
            </a:r>
            <a:r>
              <a:rPr lang="en-US" altLang="zh-CN" dirty="0"/>
              <a:t>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else if (</a:t>
            </a:r>
            <a:r>
              <a:rPr lang="en-US" altLang="zh-CN" dirty="0" err="1"/>
              <a:t>cnt</a:t>
            </a:r>
            <a:r>
              <a:rPr lang="en-US" altLang="zh-CN" dirty="0"/>
              <a:t> != 4’h0) </a:t>
            </a:r>
            <a:r>
              <a:rPr lang="en-US" altLang="zh-CN" dirty="0" err="1"/>
              <a:t>cnt</a:t>
            </a:r>
            <a:r>
              <a:rPr lang="en-US" altLang="zh-CN" dirty="0"/>
              <a:t> = </a:t>
            </a:r>
            <a:r>
              <a:rPr lang="en-US" altLang="zh-CN" dirty="0" err="1"/>
              <a:t>cnt</a:t>
            </a:r>
            <a:r>
              <a:rPr lang="en-US" altLang="zh-CN" dirty="0"/>
              <a:t> -1; //</a:t>
            </a:r>
            <a:r>
              <a:rPr lang="zh-CN" altLang="en-US" dirty="0"/>
              <a:t>发送时</a:t>
            </a:r>
            <a:r>
              <a:rPr lang="en-US" altLang="zh-CN" dirty="0"/>
              <a:t>CNT</a:t>
            </a:r>
            <a:r>
              <a:rPr lang="zh-CN" altLang="en-US" dirty="0"/>
              <a:t>计数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rst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rst</a:t>
            </a:r>
            <a:r>
              <a:rPr lang="en-US" altLang="zh-CN" dirty="0"/>
              <a:t>) </a:t>
            </a:r>
            <a:r>
              <a:rPr lang="en-US" altLang="zh-CN" dirty="0" err="1"/>
              <a:t>rdy</a:t>
            </a:r>
            <a:r>
              <a:rPr lang="en-US" altLang="zh-CN" dirty="0"/>
              <a:t> &lt;= 1’b1; //</a:t>
            </a:r>
            <a:r>
              <a:rPr lang="zh-CN" altLang="en-US" dirty="0"/>
              <a:t>复位时</a:t>
            </a:r>
            <a:r>
              <a:rPr lang="en-US" altLang="zh-CN" dirty="0"/>
              <a:t>RDY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else if (</a:t>
            </a:r>
            <a:r>
              <a:rPr lang="en-US" altLang="zh-CN" dirty="0" err="1"/>
              <a:t>ld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rdy</a:t>
            </a:r>
            <a:r>
              <a:rPr lang="en-US" altLang="zh-CN" dirty="0"/>
              <a:t> = 1’b0;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加载数据时</a:t>
            </a:r>
            <a:r>
              <a:rPr lang="en-US" altLang="zh-CN" dirty="0"/>
              <a:t>RDY</a:t>
            </a:r>
            <a:r>
              <a:rPr lang="zh-CN" altLang="en-US" dirty="0"/>
              <a:t>清零</a:t>
            </a:r>
            <a:endParaRPr lang="en-US" altLang="zh-CN" dirty="0"/>
          </a:p>
          <a:p>
            <a:r>
              <a:rPr lang="en-US" altLang="zh-CN" dirty="0"/>
              <a:t>else if (</a:t>
            </a:r>
            <a:r>
              <a:rPr lang="en-US" altLang="zh-CN" dirty="0" err="1"/>
              <a:t>cnt</a:t>
            </a:r>
            <a:r>
              <a:rPr lang="en-US" altLang="zh-CN" dirty="0"/>
              <a:t> == 4’h0) </a:t>
            </a:r>
            <a:r>
              <a:rPr lang="en-US" altLang="zh-CN" dirty="0" err="1"/>
              <a:t>rdy</a:t>
            </a:r>
            <a:r>
              <a:rPr lang="en-US" altLang="zh-CN" dirty="0"/>
              <a:t> = 1’b1; //</a:t>
            </a:r>
            <a:r>
              <a:rPr lang="zh-CN" altLang="en-US" dirty="0"/>
              <a:t>发送完毕时</a:t>
            </a:r>
            <a:r>
              <a:rPr lang="en-US" altLang="zh-CN" dirty="0"/>
              <a:t>RDY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420E80-EDF5-42DA-BD9A-E9B98CB8D2C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0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3025BB-334B-4721-8906-90D8E73C1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D78EA749-3C4B-4405-B107-45A5A98B4F01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0C15F3-C403-49C0-94AF-107A5FC17A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9C4CB-2A18-4684-A8D0-A702922AB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AD4F34A6-D7C2-4715-9011-AD6A3624E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56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3000"/>
            <a:ext cx="8229600" cy="489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D0757D-6BE4-40E2-AFCA-9CAD8A395B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0FC046F-C8B0-4E23-B1AA-02926C53D775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BD6457-052B-4A54-A4B0-27C7DBEE8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36BB9A-6392-42A6-863C-B27F05446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6D601D92-7DBD-45E5-8861-874C856BB5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99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6532C-3D6E-40D4-A393-39A0F3ED5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0B073-89B5-4B5A-9E45-0B3B6D53DAA5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C94878-DC8C-4294-AC64-12D225B4D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A5E9A4-2C67-4ADF-A69E-1B00BC33A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84C4-8774-46EC-A188-A8D0EAD98F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0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643D8-18D6-4794-B4DA-CE32FBD5BD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C5ED3-5780-461A-92B8-181EB8E17BA6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52658-65F3-4A69-B87B-09C981042B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656B-9C73-4D23-B32F-90E695B63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1616E-E4A3-4E4A-B149-95C2FE8923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4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078B6E-4136-4D73-8E99-7DC5CC89C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423BD-57B5-42D1-ACAA-56D4915A9DE7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639515-C955-4ACE-9E8B-608CD453F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1BE647-6CFD-4DB9-9834-49B62F497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27D17-5BC0-4629-B6AD-9FB1E754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677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9DF53-94B5-4FE7-A513-8DAEAEB37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30928-766E-4227-A934-9BABC1E16E5F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AB328E-AE24-4B8C-B41F-4C9A646CF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7E553A-EEB2-4274-8EBA-FFDF9736B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E496C-A059-4B46-9D91-199232D9E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92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92B59061-54F9-4285-B865-49BE12B4F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29A4187E-5D4E-46BE-935D-A49D946C9D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8D4E4-82C8-4C16-A258-07FBF00A35FB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2F496C-7F0D-4D90-9B1B-4E3DADEEB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82AEEC-ED13-4563-B497-5514E42D9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206C4-345A-44F7-A3FE-9FB18F9C16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047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C6083-4893-49E0-BD51-22CAB0B16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3B41B-3A6B-461D-AE54-46C3C2FCD612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DE86-E1FB-4E1E-8491-39E7ECD10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6A6C2-F9D5-490E-A8ED-2839ED2F9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009E3-56A4-4F39-9F35-AB0F7C685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68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D8114-FCA0-49D4-A2C2-266BA6455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F85E0-0A24-4761-8111-3A408CD421DA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86DAE-0B37-4067-89C5-17E907F38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D3464-7A92-4F78-9F69-8F8378A21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F6682-7168-4E10-B33D-126E6908D7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43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5D1B68-0E45-405B-BBD6-60A3B73C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EB3A6-11C8-42CD-9851-2F07AA96A768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EE0374-3F20-4507-8467-45720F720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13A18A-3783-4747-90B2-0346CE778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81230-D201-4F28-B02B-CA60645BF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91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D31877-D78A-406A-92D9-E463C38AC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6349D-D360-45B3-A18E-58DAF749A7D2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F34CA4-9399-4AFF-ADF1-6DA2599B8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26ADBF-E96C-4AFC-BAC3-9695D2BDD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9BF1F-A836-4607-825D-0688B9A0A1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97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E9DD25-C14B-48E9-9550-32E34B13B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A08995-FA17-4909-BB6A-C759AE8E3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66F136-C1FD-4F09-B050-D4EE46BD49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B11424E-960E-4D02-8688-136A1E7B595B}" type="datetime1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16FC9B-B7DC-4B10-9651-BD6A13FFB8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AA7B35-05C5-4B26-AA05-FA2B87934F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4432A76-D428-482F-9511-D8BD57B96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C99F6052-7A8B-46AA-B5BF-77D7A077453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6" r:id="rId1"/>
    <p:sldLayoutId id="2147484557" r:id="rId2"/>
    <p:sldLayoutId id="2147484558" r:id="rId3"/>
    <p:sldLayoutId id="2147484559" r:id="rId4"/>
    <p:sldLayoutId id="2147484560" r:id="rId5"/>
    <p:sldLayoutId id="2147484561" r:id="rId6"/>
    <p:sldLayoutId id="2147484562" r:id="rId7"/>
    <p:sldLayoutId id="2147484563" r:id="rId8"/>
    <p:sldLayoutId id="2147484564" r:id="rId9"/>
    <p:sldLayoutId id="2147484565" r:id="rId10"/>
    <p:sldLayoutId id="2147484566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465FFAA4-AA51-46F0-8814-8C1C473817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</a:p>
        </p:txBody>
      </p:sp>
      <p:sp>
        <p:nvSpPr>
          <p:cNvPr id="14339" name="副标题 2">
            <a:extLst>
              <a:ext uri="{FF2B5EF4-FFF2-40B4-BE49-F238E27FC236}">
                <a16:creationId xmlns:a16="http://schemas.microsoft.com/office/drawing/2014/main" id="{9F73A125-80DB-4BF6-8251-F89F614737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810000"/>
            <a:ext cx="7772400" cy="1371600"/>
          </a:xfrm>
        </p:spPr>
        <p:txBody>
          <a:bodyPr/>
          <a:lstStyle/>
          <a:p>
            <a:r>
              <a:rPr lang="zh-CN" altLang="en-US" sz="3600"/>
              <a:t>实验四  计数器与移位器</a:t>
            </a:r>
          </a:p>
        </p:txBody>
      </p:sp>
      <p:sp>
        <p:nvSpPr>
          <p:cNvPr id="14340" name="日期占位符 3">
            <a:extLst>
              <a:ext uri="{FF2B5EF4-FFF2-40B4-BE49-F238E27FC236}">
                <a16:creationId xmlns:a16="http://schemas.microsoft.com/office/drawing/2014/main" id="{9EE023A8-C25C-4524-A44C-3F8D13326D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29849-FACF-4588-8AD3-5CB8F3C26BCD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341" name="页脚占位符 4">
            <a:extLst>
              <a:ext uri="{FF2B5EF4-FFF2-40B4-BE49-F238E27FC236}">
                <a16:creationId xmlns:a16="http://schemas.microsoft.com/office/drawing/2014/main" id="{579D1E18-246C-40E9-B736-89D6500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4342" name="灯片编号占位符 5">
            <a:extLst>
              <a:ext uri="{FF2B5EF4-FFF2-40B4-BE49-F238E27FC236}">
                <a16:creationId xmlns:a16="http://schemas.microsoft.com/office/drawing/2014/main" id="{A302F6C3-C51A-42B5-BB62-190DC46D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6AF8F-EE9D-4B1D-93DF-07C9ACE0B6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524000"/>
            <a:ext cx="7864764" cy="4721225"/>
          </a:xfrm>
        </p:spPr>
        <p:txBody>
          <a:bodyPr/>
          <a:lstStyle/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/>
              <a:t>掌握计数器与移位器的功能及其应用：定时、分频、开关</a:t>
            </a:r>
            <a:r>
              <a:rPr lang="zh-CN" altLang="en-US" sz="2400" dirty="0"/>
              <a:t>输入去抖动、数码管</a:t>
            </a:r>
            <a:r>
              <a:rPr lang="zh-CN" altLang="en-US" sz="2400"/>
              <a:t>动态扫描显示、串行通信等</a:t>
            </a:r>
            <a:endParaRPr lang="en-US" altLang="zh-CN" sz="2400" dirty="0"/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dirty="0"/>
              <a:t>熟练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描述组合和时序逻辑电路的方法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熟练掌握利用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进行逻辑电路设计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、仿真、调试、下载测试等基本方法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b="1" dirty="0"/>
              <a:t>熟练掌握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查看生成电路及其性能和资源使用情况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26BBEA8-ACB7-4B6B-AA32-8C235AF66F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2FD2DE-871D-4624-82E4-760E8689EDF3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A55FC04-81A5-491D-A545-F3BDEB4A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5F821C3-71A5-48D9-BF65-9849E3B1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0AF152-17B5-4109-B9D6-759651E9E23E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E147B1E-9D9A-42D5-93CF-7BD6D265E1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341439"/>
            <a:ext cx="8075239" cy="4859869"/>
          </a:xfrm>
        </p:spPr>
        <p:txBody>
          <a:bodyPr/>
          <a:lstStyle/>
          <a:p>
            <a:pPr marL="358775" indent="-358775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/>
              <a:t>设计通用异步收发器 </a:t>
            </a:r>
            <a:r>
              <a:rPr lang="en-US" altLang="zh-CN" sz="2400" b="0"/>
              <a:t>(Universal Asynchronous Receiver /Transmitter,</a:t>
            </a:r>
            <a:r>
              <a:rPr lang="zh-CN" altLang="en-US" sz="2400" b="0"/>
              <a:t> </a:t>
            </a:r>
            <a:r>
              <a:rPr lang="en-US" altLang="zh-CN" sz="2400" b="0"/>
              <a:t>UART) </a:t>
            </a:r>
            <a:r>
              <a:rPr lang="zh-CN" altLang="en-US" sz="2400"/>
              <a:t>，并下载测试</a:t>
            </a:r>
            <a:endParaRPr lang="en-US" altLang="zh-CN" sz="2400"/>
          </a:p>
        </p:txBody>
      </p:sp>
      <p:sp>
        <p:nvSpPr>
          <p:cNvPr id="29699" name="标题 1">
            <a:extLst>
              <a:ext uri="{FF2B5EF4-FFF2-40B4-BE49-F238E27FC236}">
                <a16:creationId xmlns:a16="http://schemas.microsoft.com/office/drawing/2014/main" id="{9B090555-F78C-49FA-9FFA-805592AB5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29701" name="日期占位符 3">
            <a:extLst>
              <a:ext uri="{FF2B5EF4-FFF2-40B4-BE49-F238E27FC236}">
                <a16:creationId xmlns:a16="http://schemas.microsoft.com/office/drawing/2014/main" id="{C7B08968-962E-4DEC-8769-E5E6A0B731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49BA27-A13D-4A5A-BD08-4DBCBEBE4DFC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702" name="页脚占位符 4">
            <a:extLst>
              <a:ext uri="{FF2B5EF4-FFF2-40B4-BE49-F238E27FC236}">
                <a16:creationId xmlns:a16="http://schemas.microsoft.com/office/drawing/2014/main" id="{3B85CBAF-ED76-4668-9BBC-E9660DDD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9703" name="灯片编号占位符 5">
            <a:extLst>
              <a:ext uri="{FF2B5EF4-FFF2-40B4-BE49-F238E27FC236}">
                <a16:creationId xmlns:a16="http://schemas.microsoft.com/office/drawing/2014/main" id="{73FF96C4-5E27-49D9-885E-16099DDB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D20C70-12E0-4FC1-A57D-E42A2561B142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78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B4E84A5E-77E8-46CD-B88D-05726EF86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UART</a:t>
            </a:r>
            <a:r>
              <a:rPr lang="zh-CN" altLang="en-US"/>
              <a:t>模块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A5781117-7738-4D8D-A9D7-11B05DB65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199" y="1326263"/>
            <a:ext cx="4402833" cy="494705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400"/>
              <a:t>发送器 </a:t>
            </a:r>
            <a:r>
              <a:rPr lang="en-US" altLang="zh-CN" sz="2400" b="0"/>
              <a:t>(Transmitter,</a:t>
            </a:r>
            <a:r>
              <a:rPr lang="zh-CN" altLang="en-US" sz="2400" b="0"/>
              <a:t> </a:t>
            </a:r>
            <a:r>
              <a:rPr lang="en-US" altLang="zh-CN" sz="2400" b="0"/>
              <a:t>TX)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/>
              <a:t>将字符字节数据串行输出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/>
              <a:t>d_tx</a:t>
            </a:r>
            <a:r>
              <a:rPr lang="zh-CN" altLang="en-US" sz="2400"/>
              <a:t>：</a:t>
            </a:r>
            <a:r>
              <a:rPr lang="zh-CN" altLang="en-US" sz="2000"/>
              <a:t>并行输入待发送数据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vld_tx</a:t>
            </a:r>
            <a:r>
              <a:rPr lang="zh-CN" altLang="en-US" sz="2000"/>
              <a:t>：发送数据有效标志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rdy_tx</a:t>
            </a:r>
            <a:r>
              <a:rPr lang="zh-CN" altLang="en-US" sz="2000"/>
              <a:t>：发送器准备好标志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txd</a:t>
            </a:r>
            <a:r>
              <a:rPr lang="zh-CN" altLang="en-US" sz="2000"/>
              <a:t>：串行发送数据</a:t>
            </a:r>
            <a:endParaRPr lang="en-US" altLang="zh-CN" sz="240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400"/>
              <a:t>接收器 </a:t>
            </a:r>
            <a:r>
              <a:rPr lang="en-US" altLang="zh-CN" sz="2400" b="0"/>
              <a:t>(Receiver, RX)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/>
              <a:t>从串口接收字符字节数据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rxd</a:t>
            </a:r>
            <a:r>
              <a:rPr lang="zh-CN" altLang="en-US" sz="2000"/>
              <a:t>：串行接收数据</a:t>
            </a:r>
            <a:endParaRPr lang="en-US" altLang="zh-CN" sz="24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/>
              <a:t>d_rx</a:t>
            </a:r>
            <a:r>
              <a:rPr lang="zh-CN" altLang="en-US" sz="2400"/>
              <a:t>：</a:t>
            </a:r>
            <a:r>
              <a:rPr lang="zh-CN" altLang="en-US" sz="2000"/>
              <a:t>并行输出接收的数据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vld_rx</a:t>
            </a:r>
            <a:r>
              <a:rPr lang="zh-CN" altLang="en-US" sz="2000"/>
              <a:t>：接收数据有效标志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rdy_rx</a:t>
            </a:r>
            <a:r>
              <a:rPr lang="zh-CN" altLang="en-US" sz="2000"/>
              <a:t>：准备好读取接收数据</a:t>
            </a:r>
            <a:endParaRPr lang="en-US" altLang="zh-CN" sz="2000"/>
          </a:p>
        </p:txBody>
      </p:sp>
      <p:sp>
        <p:nvSpPr>
          <p:cNvPr id="22532" name="日期占位符 3">
            <a:extLst>
              <a:ext uri="{FF2B5EF4-FFF2-40B4-BE49-F238E27FC236}">
                <a16:creationId xmlns:a16="http://schemas.microsoft.com/office/drawing/2014/main" id="{986731F1-80B5-4B4C-A482-1B66FE3578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92DE86-12C4-472E-8F2D-F0B8B22ABC87}" type="datetime1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2024/11/7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3" name="页脚占位符 4">
            <a:extLst>
              <a:ext uri="{FF2B5EF4-FFF2-40B4-BE49-F238E27FC236}">
                <a16:creationId xmlns:a16="http://schemas.microsoft.com/office/drawing/2014/main" id="{B65352CF-1519-4DBF-A791-FF7E416F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</a:p>
        </p:txBody>
      </p:sp>
      <p:sp>
        <p:nvSpPr>
          <p:cNvPr id="22534" name="灯片编号占位符 5">
            <a:extLst>
              <a:ext uri="{FF2B5EF4-FFF2-40B4-BE49-F238E27FC236}">
                <a16:creationId xmlns:a16="http://schemas.microsoft.com/office/drawing/2014/main" id="{E771C866-3221-4C35-91B6-5BD27ADD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715C3-03C6-4EDD-A6C3-D509F8E5BD0B}" type="slidenum"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18581E-AADD-4446-953C-8D50CDF487B5}"/>
              </a:ext>
            </a:extLst>
          </p:cNvPr>
          <p:cNvGrpSpPr/>
          <p:nvPr/>
        </p:nvGrpSpPr>
        <p:grpSpPr>
          <a:xfrm>
            <a:off x="5264153" y="4221088"/>
            <a:ext cx="3012889" cy="1583722"/>
            <a:chOff x="5264153" y="4221088"/>
            <a:chExt cx="3012889" cy="1583722"/>
          </a:xfrm>
        </p:grpSpPr>
        <p:sp>
          <p:nvSpPr>
            <p:cNvPr id="43" name="文本框 84">
              <a:extLst>
                <a:ext uri="{FF2B5EF4-FFF2-40B4-BE49-F238E27FC236}">
                  <a16:creationId xmlns:a16="http://schemas.microsoft.com/office/drawing/2014/main" id="{F3B670B5-7A2A-4CC9-8E06-24C4DBA37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116" y="4221088"/>
              <a:ext cx="1268208" cy="1583722"/>
            </a:xfrm>
            <a:prstGeom prst="rect">
              <a:avLst/>
            </a:prstGeom>
            <a:noFill/>
            <a:ln w="28575">
              <a:solidFill>
                <a:srgbClr val="0066FF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0800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8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UART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6FE0DD6-7249-4A01-BCA3-0A262656F04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64153" y="4827977"/>
              <a:ext cx="71666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E3F3D80-1479-4D93-918C-C48D58892A0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7117" y="4827977"/>
              <a:ext cx="961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34">
              <a:extLst>
                <a:ext uri="{FF2B5EF4-FFF2-40B4-BE49-F238E27FC236}">
                  <a16:creationId xmlns:a16="http://schemas.microsoft.com/office/drawing/2014/main" id="{ADBF02E5-EA8B-477D-BEED-9B2CD2904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890678" y="4786827"/>
              <a:ext cx="71" cy="209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2B1BEA3D-DB7A-4553-9E37-36336E4D5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012060" y="4523957"/>
              <a:ext cx="30777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zh-CN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TextBox 34">
              <a:extLst>
                <a:ext uri="{FF2B5EF4-FFF2-40B4-BE49-F238E27FC236}">
                  <a16:creationId xmlns:a16="http://schemas.microsoft.com/office/drawing/2014/main" id="{297EF075-F1D5-4C62-87E0-D3487AE93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026701" y="5129668"/>
              <a:ext cx="32060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zh-CN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1" name="文本框 84">
              <a:extLst>
                <a:ext uri="{FF2B5EF4-FFF2-40B4-BE49-F238E27FC236}">
                  <a16:creationId xmlns:a16="http://schemas.microsoft.com/office/drawing/2014/main" id="{8D46E7B4-1447-44DB-A6CC-57C55C8FC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973374" y="4598694"/>
              <a:ext cx="623744" cy="47723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760E202-3B4B-4842-A672-E00AB798A54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64153" y="5453544"/>
              <a:ext cx="71666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34">
              <a:extLst>
                <a:ext uri="{FF2B5EF4-FFF2-40B4-BE49-F238E27FC236}">
                  <a16:creationId xmlns:a16="http://schemas.microsoft.com/office/drawing/2014/main" id="{167AE3DD-8DF1-43E7-8E6B-5A563177F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890678" y="5273208"/>
              <a:ext cx="71" cy="209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B430F0B-409E-4302-A5DD-8B3FFD11E17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7117" y="5436238"/>
              <a:ext cx="96133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84">
              <a:extLst>
                <a:ext uri="{FF2B5EF4-FFF2-40B4-BE49-F238E27FC236}">
                  <a16:creationId xmlns:a16="http://schemas.microsoft.com/office/drawing/2014/main" id="{291F0329-D566-4F8E-8CBE-8C9C51C2D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973372" y="5203886"/>
              <a:ext cx="623746" cy="4772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6" name="文本框 84">
              <a:extLst>
                <a:ext uri="{FF2B5EF4-FFF2-40B4-BE49-F238E27FC236}">
                  <a16:creationId xmlns:a16="http://schemas.microsoft.com/office/drawing/2014/main" id="{0032C1CB-5969-4ACD-AC13-8CFA80DF9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8445" y="4369200"/>
              <a:ext cx="718597" cy="143539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个人</a:t>
              </a:r>
              <a:endParaRPr lang="en-US" altLang="zh-CN" sz="1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电脑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798228-F42C-4EB5-8AA6-4EEA52656917}"/>
              </a:ext>
            </a:extLst>
          </p:cNvPr>
          <p:cNvGrpSpPr/>
          <p:nvPr/>
        </p:nvGrpSpPr>
        <p:grpSpPr>
          <a:xfrm>
            <a:off x="5844843" y="1519792"/>
            <a:ext cx="1971015" cy="2089228"/>
            <a:chOff x="5844843" y="1519792"/>
            <a:chExt cx="1971015" cy="2089228"/>
          </a:xfrm>
        </p:grpSpPr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2EF301BF-D768-4144-A4AE-4CD880507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1492" y="1519792"/>
              <a:ext cx="1250828" cy="20892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UART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32">
              <a:extLst>
                <a:ext uri="{FF2B5EF4-FFF2-40B4-BE49-F238E27FC236}">
                  <a16:creationId xmlns:a16="http://schemas.microsoft.com/office/drawing/2014/main" id="{E13F9E3B-E72C-4AEF-A8A3-A564AA05A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8412" y="2048586"/>
              <a:ext cx="6540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vld_tx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83EC5EF-63EE-4892-BD61-EF65254D6D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9067" y="2222963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B80853BE-EA6E-4BE8-A161-14BF4C5AB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8790" y="1751367"/>
              <a:ext cx="4552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d</a:t>
              </a: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_tx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686CB4C-08AA-44C8-A909-AC63C9E1C1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9067" y="1926036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81663EC-26E3-4C62-A3ED-F28ACB6DC9C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52320" y="3124392"/>
              <a:ext cx="3635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34">
              <a:extLst>
                <a:ext uri="{FF2B5EF4-FFF2-40B4-BE49-F238E27FC236}">
                  <a16:creationId xmlns:a16="http://schemas.microsoft.com/office/drawing/2014/main" id="{70475484-E8D5-4275-9146-668F7C923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883" y="2929121"/>
              <a:ext cx="371160" cy="31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rxd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B50D54D4-8377-4DCC-80E3-86A06698E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2499" y="2216126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2">
              <a:extLst>
                <a:ext uri="{FF2B5EF4-FFF2-40B4-BE49-F238E27FC236}">
                  <a16:creationId xmlns:a16="http://schemas.microsoft.com/office/drawing/2014/main" id="{556E890B-8313-4754-9052-BE622FAA8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7730" y="2653171"/>
              <a:ext cx="46968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AB4F544-2143-489C-ACC9-C385070C93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8385" y="2827547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1EBA525-0619-47B4-B51C-8E4919CA7E9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40333" y="2199094"/>
              <a:ext cx="3635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AFCAFB5F-B6F9-447A-9A5F-6CCCA0BDE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0272" y="2024844"/>
              <a:ext cx="371160" cy="31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txd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32">
              <a:extLst>
                <a:ext uri="{FF2B5EF4-FFF2-40B4-BE49-F238E27FC236}">
                  <a16:creationId xmlns:a16="http://schemas.microsoft.com/office/drawing/2014/main" id="{28011ACE-BE5D-4834-A42D-1D768C78A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8412" y="2316441"/>
              <a:ext cx="6684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rdy_tx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A5BBA3B-9638-4E1A-9A7F-79B04D276A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9067" y="2490818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32">
              <a:extLst>
                <a:ext uri="{FF2B5EF4-FFF2-40B4-BE49-F238E27FC236}">
                  <a16:creationId xmlns:a16="http://schemas.microsoft.com/office/drawing/2014/main" id="{F8E1BF72-37FC-478F-A3FC-7CEA6ACAA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4188" y="2909117"/>
              <a:ext cx="6684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vld_rx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802CAB3-BDAA-4C5A-B4E2-34516E0469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4843" y="3083494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32">
              <a:extLst>
                <a:ext uri="{FF2B5EF4-FFF2-40B4-BE49-F238E27FC236}">
                  <a16:creationId xmlns:a16="http://schemas.microsoft.com/office/drawing/2014/main" id="{37C00EF7-D21E-4983-A01D-12E00E375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4188" y="3176972"/>
              <a:ext cx="68287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rdy_rx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B2D2A478-2FCD-4700-AB68-CA4F97D3768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4843" y="3351349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782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E7C5317F-1981-4003-8FB0-877239C4B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RS-232</a:t>
            </a:r>
            <a:r>
              <a:rPr lang="zh-CN" altLang="en-US"/>
              <a:t>通信协议</a:t>
            </a:r>
            <a:endParaRPr lang="en-US" altLang="zh-CN"/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343524B8-46F4-479B-9567-3DCC344E9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895850"/>
          </a:xfrm>
        </p:spPr>
        <p:txBody>
          <a:bodyPr/>
          <a:lstStyle/>
          <a:p>
            <a:r>
              <a:rPr lang="zh-CN" altLang="en-US" sz="2400" dirty="0"/>
              <a:t>数据传输格式</a:t>
            </a:r>
            <a:endParaRPr lang="en-US" altLang="zh-CN" sz="2400" dirty="0"/>
          </a:p>
          <a:p>
            <a:pPr lvl="1"/>
            <a:r>
              <a:rPr lang="zh-CN" altLang="en-US" sz="2000" dirty="0"/>
              <a:t>起始位：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endParaRPr lang="en-US" altLang="zh-CN" sz="2000" dirty="0"/>
          </a:p>
          <a:p>
            <a:pPr lvl="1"/>
            <a:r>
              <a:rPr lang="zh-CN" altLang="en-US" sz="2000" dirty="0"/>
              <a:t>校验位：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r>
              <a:rPr lang="zh-CN" altLang="en-US" sz="2000"/>
              <a:t>，可选</a:t>
            </a:r>
            <a:endParaRPr lang="en-US" altLang="zh-CN" sz="200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数据传输速率</a:t>
            </a:r>
            <a:endParaRPr lang="en-US" altLang="zh-CN" sz="2400" dirty="0"/>
          </a:p>
          <a:p>
            <a:pPr lvl="1"/>
            <a:r>
              <a:rPr lang="zh-CN" altLang="en-US" sz="2000" dirty="0"/>
              <a:t>波特率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/>
              <a:t>每秒传输位数。常用波特率有</a:t>
            </a:r>
            <a:r>
              <a:rPr lang="en-US" altLang="zh-CN" sz="2000" dirty="0"/>
              <a:t>1200</a:t>
            </a:r>
            <a:r>
              <a:rPr lang="zh-CN" altLang="en-US" sz="2000" dirty="0"/>
              <a:t>、</a:t>
            </a:r>
            <a:r>
              <a:rPr lang="en-US" altLang="zh-CN" sz="2000" dirty="0"/>
              <a:t>2400</a:t>
            </a:r>
            <a:r>
              <a:rPr lang="zh-CN" altLang="en-US" sz="2000" dirty="0"/>
              <a:t>、</a:t>
            </a:r>
            <a:r>
              <a:rPr lang="en-US" altLang="zh-CN" sz="2000" dirty="0"/>
              <a:t>9600</a:t>
            </a:r>
            <a:r>
              <a:rPr lang="zh-CN" altLang="en-US" sz="2000" dirty="0"/>
              <a:t>、</a:t>
            </a:r>
            <a:r>
              <a:rPr lang="en-US" altLang="zh-CN" sz="2000" dirty="0"/>
              <a:t>19.2K</a:t>
            </a:r>
            <a:r>
              <a:rPr lang="zh-CN" altLang="en-US" sz="2000" dirty="0"/>
              <a:t>、</a:t>
            </a:r>
            <a:r>
              <a:rPr lang="en-US" altLang="zh-CN" sz="2000" dirty="0"/>
              <a:t>38.4K</a:t>
            </a:r>
            <a:r>
              <a:rPr lang="zh-CN" altLang="en-US" sz="2000" dirty="0"/>
              <a:t>、</a:t>
            </a:r>
            <a:r>
              <a:rPr lang="en-US" altLang="zh-CN" sz="2000" dirty="0"/>
              <a:t>57.6K</a:t>
            </a:r>
            <a:r>
              <a:rPr lang="zh-CN" altLang="en-US" sz="2000" dirty="0"/>
              <a:t>、</a:t>
            </a:r>
            <a:r>
              <a:rPr lang="en-US" altLang="zh-CN" sz="2000" dirty="0"/>
              <a:t>115.2K</a:t>
            </a:r>
            <a:r>
              <a:rPr lang="zh-CN" altLang="en-US" sz="2000" dirty="0"/>
              <a:t>等</a:t>
            </a:r>
            <a:endParaRPr lang="en-US" altLang="zh-CN" sz="2000" dirty="0"/>
          </a:p>
        </p:txBody>
      </p:sp>
      <p:grpSp>
        <p:nvGrpSpPr>
          <p:cNvPr id="17415" name="组合 3">
            <a:extLst>
              <a:ext uri="{FF2B5EF4-FFF2-40B4-BE49-F238E27FC236}">
                <a16:creationId xmlns:a16="http://schemas.microsoft.com/office/drawing/2014/main" id="{FAA42CFE-67CB-4B26-96FB-D52A1D5C44AD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955925"/>
            <a:ext cx="6635750" cy="1228725"/>
            <a:chOff x="1258888" y="2924175"/>
            <a:chExt cx="6635750" cy="1229683"/>
          </a:xfrm>
        </p:grpSpPr>
        <p:grpSp>
          <p:nvGrpSpPr>
            <p:cNvPr id="17418" name="组合 1">
              <a:extLst>
                <a:ext uri="{FF2B5EF4-FFF2-40B4-BE49-F238E27FC236}">
                  <a16:creationId xmlns:a16="http://schemas.microsoft.com/office/drawing/2014/main" id="{9756777D-5599-4F20-813F-606D5898EA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2924175"/>
              <a:ext cx="6561701" cy="443043"/>
              <a:chOff x="1258888" y="2924175"/>
              <a:chExt cx="6561701" cy="443043"/>
            </a:xfrm>
          </p:grpSpPr>
          <p:sp>
            <p:nvSpPr>
              <p:cNvPr id="17433" name="Line 12">
                <a:extLst>
                  <a:ext uri="{FF2B5EF4-FFF2-40B4-BE49-F238E27FC236}">
                    <a16:creationId xmlns:a16="http://schemas.microsoft.com/office/drawing/2014/main" id="{07E7D260-0B1A-4591-A5EE-7E54FA937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8888" y="2924175"/>
                <a:ext cx="363179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4" name="Rectangle 4">
                <a:extLst>
                  <a:ext uri="{FF2B5EF4-FFF2-40B4-BE49-F238E27FC236}">
                    <a16:creationId xmlns:a16="http://schemas.microsoft.com/office/drawing/2014/main" id="{3904D7FE-2194-4392-8616-1DE5E34D8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894" y="2926010"/>
                <a:ext cx="587464" cy="431749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35" name="Rectangle 5">
                <a:extLst>
                  <a:ext uri="{FF2B5EF4-FFF2-40B4-BE49-F238E27FC236}">
                    <a16:creationId xmlns:a16="http://schemas.microsoft.com/office/drawing/2014/main" id="{293E025D-856C-4060-A900-B678F628C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430" y="2926010"/>
                <a:ext cx="587464" cy="431749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36" name="Rectangle 10">
                <a:extLst>
                  <a:ext uri="{FF2B5EF4-FFF2-40B4-BE49-F238E27FC236}">
                    <a16:creationId xmlns:a16="http://schemas.microsoft.com/office/drawing/2014/main" id="{C5E5A142-B820-4975-BD82-89D26E15E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175" y="2935469"/>
                <a:ext cx="537326" cy="431749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37" name="Rectangle 11">
                <a:extLst>
                  <a:ext uri="{FF2B5EF4-FFF2-40B4-BE49-F238E27FC236}">
                    <a16:creationId xmlns:a16="http://schemas.microsoft.com/office/drawing/2014/main" id="{F6E796AF-528C-432B-8683-9C27C5039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7502" y="2935469"/>
                <a:ext cx="567654" cy="431749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38" name="Line 12">
                <a:extLst>
                  <a:ext uri="{FF2B5EF4-FFF2-40B4-BE49-F238E27FC236}">
                    <a16:creationId xmlns:a16="http://schemas.microsoft.com/office/drawing/2014/main" id="{0475A7FC-4B61-4990-B93C-956C907A8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2616" y="3357759"/>
                <a:ext cx="583831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9" name="Rectangle 13">
                <a:extLst>
                  <a:ext uri="{FF2B5EF4-FFF2-40B4-BE49-F238E27FC236}">
                    <a16:creationId xmlns:a16="http://schemas.microsoft.com/office/drawing/2014/main" id="{00E71469-8695-43E9-A512-264ABB33B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5156" y="2935469"/>
                <a:ext cx="537326" cy="431749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1" lang="zh-CN" altLang="en-US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40" name="Line 15">
                <a:extLst>
                  <a:ext uri="{FF2B5EF4-FFF2-40B4-BE49-F238E27FC236}">
                    <a16:creationId xmlns:a16="http://schemas.microsoft.com/office/drawing/2014/main" id="{ABAED8C1-DAF8-4F16-BDB0-9FFF29D8B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278" y="2933897"/>
                <a:ext cx="0" cy="423862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1" name="Text Box 20">
                <a:extLst>
                  <a:ext uri="{FF2B5EF4-FFF2-40B4-BE49-F238E27FC236}">
                    <a16:creationId xmlns:a16="http://schemas.microsoft.com/office/drawing/2014/main" id="{CE44E009-F7B0-4EAD-98C8-442026722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5081" y="2965552"/>
                <a:ext cx="808161" cy="3666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0"/>
                  <a:t>LSB</a:t>
                </a:r>
                <a:endParaRPr kumimoji="1" lang="en-US" altLang="zh-CN" sz="1800" b="0"/>
              </a:p>
            </p:txBody>
          </p:sp>
          <p:sp>
            <p:nvSpPr>
              <p:cNvPr id="17442" name="Text Box 21">
                <a:extLst>
                  <a:ext uri="{FF2B5EF4-FFF2-40B4-BE49-F238E27FC236}">
                    <a16:creationId xmlns:a16="http://schemas.microsoft.com/office/drawing/2014/main" id="{B8ED0914-D823-402C-82B6-9D2C83E5C2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7249" y="2964939"/>
                <a:ext cx="808161" cy="3666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0"/>
                  <a:t>MSB</a:t>
                </a:r>
                <a:endParaRPr kumimoji="1" lang="en-US" altLang="zh-CN" sz="1800" b="0"/>
              </a:p>
            </p:txBody>
          </p:sp>
          <p:sp>
            <p:nvSpPr>
              <p:cNvPr id="17443" name="Line 29">
                <a:extLst>
                  <a:ext uri="{FF2B5EF4-FFF2-40B4-BE49-F238E27FC236}">
                    <a16:creationId xmlns:a16="http://schemas.microsoft.com/office/drawing/2014/main" id="{F3BCB656-8C02-4824-91F1-E9887DEF7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9457" y="2935485"/>
                <a:ext cx="1101893" cy="15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4" name="Line 39">
                <a:extLst>
                  <a:ext uri="{FF2B5EF4-FFF2-40B4-BE49-F238E27FC236}">
                    <a16:creationId xmlns:a16="http://schemas.microsoft.com/office/drawing/2014/main" id="{610E2B39-2197-4C40-9EE6-BFF4B0F2C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9457" y="3356172"/>
                <a:ext cx="1101893" cy="15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5" name="Line 57">
                <a:extLst>
                  <a:ext uri="{FF2B5EF4-FFF2-40B4-BE49-F238E27FC236}">
                    <a16:creationId xmlns:a16="http://schemas.microsoft.com/office/drawing/2014/main" id="{3F3E6246-ECA8-4E0C-B965-FC6EC8872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1659" y="2935221"/>
                <a:ext cx="1598929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6" name="Line 58">
                <a:extLst>
                  <a:ext uri="{FF2B5EF4-FFF2-40B4-BE49-F238E27FC236}">
                    <a16:creationId xmlns:a16="http://schemas.microsoft.com/office/drawing/2014/main" id="{B52E1654-D059-481B-89D4-7B7161F9F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02984" y="2943355"/>
                <a:ext cx="0" cy="422275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prstDash val="sys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7" name="Line 59">
                <a:extLst>
                  <a:ext uri="{FF2B5EF4-FFF2-40B4-BE49-F238E27FC236}">
                    <a16:creationId xmlns:a16="http://schemas.microsoft.com/office/drawing/2014/main" id="{0AA8D43D-D402-4168-850A-110932995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07748" y="3365630"/>
                <a:ext cx="512841" cy="15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19" name="组合 2">
              <a:extLst>
                <a:ext uri="{FF2B5EF4-FFF2-40B4-BE49-F238E27FC236}">
                  <a16:creationId xmlns:a16="http://schemas.microsoft.com/office/drawing/2014/main" id="{AEA3C79A-0C93-4AE4-A411-A7DFFB2A6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6964" y="3465004"/>
              <a:ext cx="6347674" cy="688854"/>
              <a:chOff x="1546964" y="3465004"/>
              <a:chExt cx="6347674" cy="688854"/>
            </a:xfrm>
          </p:grpSpPr>
          <p:sp>
            <p:nvSpPr>
              <p:cNvPr id="17420" name="Text Box 18">
                <a:extLst>
                  <a:ext uri="{FF2B5EF4-FFF2-40B4-BE49-F238E27FC236}">
                    <a16:creationId xmlns:a16="http://schemas.microsoft.com/office/drawing/2014/main" id="{1CBDD924-313B-4280-89BB-621B7F1FEC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6964" y="3781950"/>
                <a:ext cx="768604" cy="369289"/>
              </a:xfrm>
              <a:prstGeom prst="rect">
                <a:avLst/>
              </a:prstGeom>
              <a:noFill/>
              <a:ln w="25400" cap="sq">
                <a:solidFill>
                  <a:schemeClr val="bg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800" b="0">
                    <a:latin typeface="宋体" panose="02010600030101010101" pitchFamily="2" charset="-122"/>
                  </a:rPr>
                  <a:t>起始位</a:t>
                </a:r>
                <a:endParaRPr kumimoji="1" lang="en-US" altLang="zh-CN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21" name="Line 46">
                <a:extLst>
                  <a:ext uri="{FF2B5EF4-FFF2-40B4-BE49-F238E27FC236}">
                    <a16:creationId xmlns:a16="http://schemas.microsoft.com/office/drawing/2014/main" id="{0B9C5826-D338-4575-A651-A2E0848BF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2690" y="3465004"/>
                <a:ext cx="0" cy="2888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2" name="Line 47">
                <a:extLst>
                  <a:ext uri="{FF2B5EF4-FFF2-40B4-BE49-F238E27FC236}">
                    <a16:creationId xmlns:a16="http://schemas.microsoft.com/office/drawing/2014/main" id="{885602F7-3966-4487-BC69-4FB97D3C0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6446" y="3465004"/>
                <a:ext cx="0" cy="2888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3" name="Line 48">
                <a:extLst>
                  <a:ext uri="{FF2B5EF4-FFF2-40B4-BE49-F238E27FC236}">
                    <a16:creationId xmlns:a16="http://schemas.microsoft.com/office/drawing/2014/main" id="{0458C44C-3F3D-413E-AC2D-C149A4952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690" y="3609450"/>
                <a:ext cx="583756" cy="0"/>
              </a:xfrm>
              <a:prstGeom prst="lin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4" name="Line 49">
                <a:extLst>
                  <a:ext uri="{FF2B5EF4-FFF2-40B4-BE49-F238E27FC236}">
                    <a16:creationId xmlns:a16="http://schemas.microsoft.com/office/drawing/2014/main" id="{84D6BF08-FAC2-4B49-A744-61794F2A6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6447" y="3609450"/>
                <a:ext cx="3439978" cy="0"/>
              </a:xfrm>
              <a:prstGeom prst="lin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5" name="Line 50">
                <a:extLst>
                  <a:ext uri="{FF2B5EF4-FFF2-40B4-BE49-F238E27FC236}">
                    <a16:creationId xmlns:a16="http://schemas.microsoft.com/office/drawing/2014/main" id="{CFF10949-6B62-4724-B315-EAEAC99F5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60020" y="3465004"/>
                <a:ext cx="0" cy="2888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6" name="Text Box 51">
                <a:extLst>
                  <a:ext uri="{FF2B5EF4-FFF2-40B4-BE49-F238E27FC236}">
                    <a16:creationId xmlns:a16="http://schemas.microsoft.com/office/drawing/2014/main" id="{ED681943-7CE4-4A3C-9BE9-7B317B64AD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4294" y="3784569"/>
                <a:ext cx="1397213" cy="369289"/>
              </a:xfrm>
              <a:prstGeom prst="rect">
                <a:avLst/>
              </a:prstGeom>
              <a:noFill/>
              <a:ln w="25400" cap="sq">
                <a:solidFill>
                  <a:schemeClr val="bg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宋体" panose="02010600030101010101" pitchFamily="2" charset="-122"/>
                  </a:rPr>
                  <a:t>数据位</a:t>
                </a:r>
                <a:endParaRPr lang="en-US" altLang="zh-CN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27" name="Line 52">
                <a:extLst>
                  <a:ext uri="{FF2B5EF4-FFF2-40B4-BE49-F238E27FC236}">
                    <a16:creationId xmlns:a16="http://schemas.microsoft.com/office/drawing/2014/main" id="{48388B5B-ECD8-4261-9710-573E4F636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21659" y="3465004"/>
                <a:ext cx="0" cy="2888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8" name="Line 53">
                <a:extLst>
                  <a:ext uri="{FF2B5EF4-FFF2-40B4-BE49-F238E27FC236}">
                    <a16:creationId xmlns:a16="http://schemas.microsoft.com/office/drawing/2014/main" id="{0ABDDCD5-6360-423A-AB90-1BE570F71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45309" y="3609449"/>
                <a:ext cx="587464" cy="1587"/>
              </a:xfrm>
              <a:prstGeom prst="lin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9" name="Text Box 54">
                <a:extLst>
                  <a:ext uri="{FF2B5EF4-FFF2-40B4-BE49-F238E27FC236}">
                    <a16:creationId xmlns:a16="http://schemas.microsoft.com/office/drawing/2014/main" id="{2460FF72-236E-45C3-9B65-F3E1F89D6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4016" y="3781950"/>
                <a:ext cx="813817" cy="369289"/>
              </a:xfrm>
              <a:prstGeom prst="rect">
                <a:avLst/>
              </a:prstGeom>
              <a:noFill/>
              <a:ln w="25400" cap="sq">
                <a:solidFill>
                  <a:schemeClr val="bg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宋体" panose="02010600030101010101" pitchFamily="2" charset="-122"/>
                  </a:rPr>
                  <a:t>校验位</a:t>
                </a:r>
                <a:endParaRPr lang="en-US" altLang="zh-CN" sz="18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7430" name="Line 55">
                <a:extLst>
                  <a:ext uri="{FF2B5EF4-FFF2-40B4-BE49-F238E27FC236}">
                    <a16:creationId xmlns:a16="http://schemas.microsoft.com/office/drawing/2014/main" id="{48B37597-8A8F-4273-94B0-BA743E349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16456" y="3465004"/>
                <a:ext cx="0" cy="2888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1" name="Line 56">
                <a:extLst>
                  <a:ext uri="{FF2B5EF4-FFF2-40B4-BE49-F238E27FC236}">
                    <a16:creationId xmlns:a16="http://schemas.microsoft.com/office/drawing/2014/main" id="{FB28333C-9FDE-4DCA-9A9C-6F89C2AFB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1659" y="3609450"/>
                <a:ext cx="1094797" cy="0"/>
              </a:xfrm>
              <a:prstGeom prst="line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2" name="Text Box 61">
                <a:extLst>
                  <a:ext uri="{FF2B5EF4-FFF2-40B4-BE49-F238E27FC236}">
                    <a16:creationId xmlns:a16="http://schemas.microsoft.com/office/drawing/2014/main" id="{E10CFCE0-785E-4E85-8303-77C6F53C44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88238" y="3781950"/>
                <a:ext cx="1406400" cy="369289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宋体" panose="02010600030101010101" pitchFamily="2" charset="-122"/>
                  </a:rPr>
                  <a:t>停止位</a:t>
                </a:r>
                <a:endParaRPr lang="en-US" altLang="zh-CN" sz="1800" b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969C7DE8-23E8-41A8-8F03-CF40B2A97620}"/>
              </a:ext>
            </a:extLst>
          </p:cNvPr>
          <p:cNvSpPr txBox="1">
            <a:spLocks/>
          </p:cNvSpPr>
          <p:nvPr/>
        </p:nvSpPr>
        <p:spPr bwMode="auto">
          <a:xfrm>
            <a:off x="3924300" y="1808163"/>
            <a:ext cx="45720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defRPr/>
            </a:pPr>
            <a:r>
              <a:rPr lang="zh-CN" altLang="en-US" sz="2000" kern="0" dirty="0"/>
              <a:t>数据位：</a:t>
            </a:r>
            <a:r>
              <a:rPr lang="en-US" altLang="zh-CN" sz="2000" kern="0" dirty="0"/>
              <a:t>5~8</a:t>
            </a:r>
            <a:r>
              <a:rPr lang="zh-CN" altLang="en-US" sz="2000" kern="0" dirty="0"/>
              <a:t>位，低位在前</a:t>
            </a:r>
            <a:endParaRPr lang="en-US" altLang="zh-CN" sz="2000" kern="0" dirty="0"/>
          </a:p>
          <a:p>
            <a:pPr lvl="1">
              <a:defRPr/>
            </a:pPr>
            <a:r>
              <a:rPr lang="zh-CN" altLang="en-US" sz="2000" kern="0" dirty="0"/>
              <a:t>停止位：</a:t>
            </a:r>
            <a:r>
              <a:rPr lang="en-US" altLang="zh-CN" sz="2000" kern="0" dirty="0"/>
              <a:t>1</a:t>
            </a:r>
            <a:r>
              <a:rPr lang="zh-CN" altLang="en-US" sz="2000" kern="0" dirty="0"/>
              <a:t>、</a:t>
            </a:r>
            <a:r>
              <a:rPr lang="en-US" altLang="zh-CN" sz="2000" kern="0" dirty="0"/>
              <a:t>1.5</a:t>
            </a:r>
            <a:r>
              <a:rPr lang="zh-CN" altLang="en-US" sz="2000" kern="0" dirty="0"/>
              <a:t>或</a:t>
            </a:r>
            <a:r>
              <a:rPr lang="en-US" altLang="zh-CN" sz="2000" kern="0" dirty="0"/>
              <a:t>2</a:t>
            </a:r>
            <a:r>
              <a:rPr lang="zh-CN" altLang="en-US" sz="2000" kern="0" dirty="0"/>
              <a:t>位</a:t>
            </a:r>
            <a:endParaRPr lang="en-US" altLang="zh-CN" sz="2400" kern="0" dirty="0"/>
          </a:p>
        </p:txBody>
      </p:sp>
      <p:sp>
        <p:nvSpPr>
          <p:cNvPr id="17417" name="Text Box 51">
            <a:extLst>
              <a:ext uri="{FF2B5EF4-FFF2-40B4-BE49-F238E27FC236}">
                <a16:creationId xmlns:a16="http://schemas.microsoft.com/office/drawing/2014/main" id="{9455EC60-ABF1-4336-B335-38021E383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661025"/>
            <a:ext cx="8229600" cy="461963"/>
          </a:xfrm>
          <a:prstGeom prst="rect">
            <a:avLst/>
          </a:prstGeom>
          <a:noFill/>
          <a:ln w="254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66FF"/>
                </a:solidFill>
                <a:latin typeface="宋体" panose="02010600030101010101" pitchFamily="2" charset="-122"/>
              </a:rPr>
              <a:t>实现：</a:t>
            </a:r>
            <a:r>
              <a:rPr lang="en-US" altLang="zh-CN" sz="2400">
                <a:solidFill>
                  <a:srgbClr val="0066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>
                <a:solidFill>
                  <a:srgbClr val="0066FF"/>
                </a:solidFill>
                <a:latin typeface="宋体" panose="02010600030101010101" pitchFamily="2" charset="-122"/>
              </a:rPr>
              <a:t>位数据位，无校验位，</a:t>
            </a:r>
            <a:r>
              <a:rPr lang="en-US" altLang="zh-CN" sz="2400">
                <a:solidFill>
                  <a:srgbClr val="0066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rgbClr val="0066FF"/>
                </a:solidFill>
                <a:latin typeface="宋体" panose="02010600030101010101" pitchFamily="2" charset="-122"/>
              </a:rPr>
              <a:t>位停止位，波特率</a:t>
            </a:r>
            <a:r>
              <a:rPr lang="en-US" altLang="zh-CN" sz="2400">
                <a:solidFill>
                  <a:srgbClr val="0066FF"/>
                </a:solidFill>
                <a:latin typeface="宋体" panose="02010600030101010101" pitchFamily="2" charset="-122"/>
              </a:rPr>
              <a:t>9600</a:t>
            </a:r>
          </a:p>
        </p:txBody>
      </p:sp>
      <p:sp>
        <p:nvSpPr>
          <p:cNvPr id="40" name="日期占位符 3">
            <a:extLst>
              <a:ext uri="{FF2B5EF4-FFF2-40B4-BE49-F238E27FC236}">
                <a16:creationId xmlns:a16="http://schemas.microsoft.com/office/drawing/2014/main" id="{A0709A74-F5A5-4228-B5F4-E387392A93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29849-FACF-4588-8AD3-5CB8F3C26BCD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1" name="页脚占位符 4">
            <a:extLst>
              <a:ext uri="{FF2B5EF4-FFF2-40B4-BE49-F238E27FC236}">
                <a16:creationId xmlns:a16="http://schemas.microsoft.com/office/drawing/2014/main" id="{371AC1D8-1FA4-4A6A-B929-344F462B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42" name="灯片编号占位符 5">
            <a:extLst>
              <a:ext uri="{FF2B5EF4-FFF2-40B4-BE49-F238E27FC236}">
                <a16:creationId xmlns:a16="http://schemas.microsoft.com/office/drawing/2014/main" id="{2D8BCCB5-C35F-4E92-8F70-894CBB04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6AF8F-EE9D-4B1D-93DF-07C9ACE0B6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内容占位符 2">
            <a:extLst>
              <a:ext uri="{FF2B5EF4-FFF2-40B4-BE49-F238E27FC236}">
                <a16:creationId xmlns:a16="http://schemas.microsoft.com/office/drawing/2014/main" id="{C1E9E818-61BB-490B-A58A-D2B2AB556A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95240"/>
            <a:ext cx="7859216" cy="491408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400"/>
              <a:t>移位寄存器 </a:t>
            </a:r>
            <a:r>
              <a:rPr lang="en-US" altLang="zh-CN" sz="2400"/>
              <a:t>(</a:t>
            </a:r>
            <a:r>
              <a:rPr lang="en-US" altLang="zh-CN" sz="2400" b="0"/>
              <a:t>Shift Register, SHR</a:t>
            </a:r>
            <a:r>
              <a:rPr lang="en-US" altLang="zh-CN" sz="2400"/>
              <a:t>)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2000"/>
              <a:t>si</a:t>
            </a:r>
            <a:r>
              <a:rPr lang="zh-CN" altLang="en-US" sz="2000"/>
              <a:t>：串行输入数据</a:t>
            </a:r>
            <a:endParaRPr lang="en-US" altLang="zh-CN" sz="2000"/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2000"/>
              <a:t>pi</a:t>
            </a:r>
            <a:r>
              <a:rPr lang="zh-CN" altLang="en-US" sz="2000"/>
              <a:t>：并行输入数据</a:t>
            </a:r>
            <a:endParaRPr lang="en-US" altLang="zh-CN" sz="2000"/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2000"/>
              <a:t>po</a:t>
            </a:r>
            <a:r>
              <a:rPr lang="zh-CN" altLang="en-US" sz="2000"/>
              <a:t>：并行输出数据</a:t>
            </a:r>
            <a:endParaRPr lang="en-US" altLang="zh-CN" sz="2000"/>
          </a:p>
        </p:txBody>
      </p:sp>
      <p:sp>
        <p:nvSpPr>
          <p:cNvPr id="17410" name="标题 1">
            <a:extLst>
              <a:ext uri="{FF2B5EF4-FFF2-40B4-BE49-F238E27FC236}">
                <a16:creationId xmlns:a16="http://schemas.microsoft.com/office/drawing/2014/main" id="{593E7CE8-B541-4EF7-8095-23EAC0586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移位寄存器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B70344-9A65-4F88-8C30-0F6EB1BF991D}"/>
              </a:ext>
            </a:extLst>
          </p:cNvPr>
          <p:cNvGrpSpPr/>
          <p:nvPr/>
        </p:nvGrpSpPr>
        <p:grpSpPr>
          <a:xfrm>
            <a:off x="6768244" y="1736812"/>
            <a:ext cx="1722611" cy="1767962"/>
            <a:chOff x="1799692" y="4094747"/>
            <a:chExt cx="1722611" cy="2060723"/>
          </a:xfrm>
        </p:grpSpPr>
        <p:sp>
          <p:nvSpPr>
            <p:cNvPr id="17417" name="矩形 1">
              <a:extLst>
                <a:ext uri="{FF2B5EF4-FFF2-40B4-BE49-F238E27FC236}">
                  <a16:creationId xmlns:a16="http://schemas.microsoft.com/office/drawing/2014/main" id="{9FD1AEBE-6F47-4001-9FEA-6E4449098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392" y="4130423"/>
              <a:ext cx="1002452" cy="202504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BF2643-8A79-4BFD-A91A-8CF900B2CE83}"/>
                </a:ext>
              </a:extLst>
            </p:cNvPr>
            <p:cNvSpPr txBox="1"/>
            <p:nvPr/>
          </p:nvSpPr>
          <p:spPr bwMode="auto">
            <a:xfrm rot="5400000">
              <a:off x="2584382" y="4084096"/>
              <a:ext cx="502239" cy="523541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/>
                <a:t>SHR</a:t>
              </a:r>
              <a:endParaRPr lang="zh-CN" altLang="en-US" sz="1600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FAD63ED-7EA5-4EA0-864C-86A069C91141}"/>
                </a:ext>
              </a:extLst>
            </p:cNvPr>
            <p:cNvGrpSpPr/>
            <p:nvPr/>
          </p:nvGrpSpPr>
          <p:grpSpPr>
            <a:xfrm>
              <a:off x="1799692" y="4285514"/>
              <a:ext cx="1722611" cy="1795969"/>
              <a:chOff x="1799692" y="4212743"/>
              <a:chExt cx="1722611" cy="1975853"/>
            </a:xfrm>
          </p:grpSpPr>
          <p:sp>
            <p:nvSpPr>
              <p:cNvPr id="17418" name="TextBox 32">
                <a:extLst>
                  <a:ext uri="{FF2B5EF4-FFF2-40B4-BE49-F238E27FC236}">
                    <a16:creationId xmlns:a16="http://schemas.microsoft.com/office/drawing/2014/main" id="{42390232-7475-408A-9C7B-578011C87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1084" y="4536907"/>
                <a:ext cx="312074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078361-06E2-4E7C-BB45-11BC8E4061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4757853"/>
                <a:ext cx="35445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9A23A0C-F353-4FA0-BA88-7D112AC6DF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730081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4" name="TextBox 34">
                <a:extLst>
                  <a:ext uri="{FF2B5EF4-FFF2-40B4-BE49-F238E27FC236}">
                    <a16:creationId xmlns:a16="http://schemas.microsoft.com/office/drawing/2014/main" id="{DA3A9B7A-05FB-416A-AD3E-FBB4327A34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5504701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Arial" panose="020B0604020202020204" pitchFamily="34" charset="0"/>
                    <a:cs typeface="Arial" panose="020B0604020202020204" pitchFamily="34" charset="0"/>
                  </a:rPr>
                  <a:t>rst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AAB275E-90DC-41FD-B4C5-32583C5F0C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6019007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6" name="TextBox 34">
                <a:extLst>
                  <a:ext uri="{FF2B5EF4-FFF2-40B4-BE49-F238E27FC236}">
                    <a16:creationId xmlns:a16="http://schemas.microsoft.com/office/drawing/2014/main" id="{6C0FDBDE-5B6E-4242-BC39-FB8F9E37B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7525" y="5805381"/>
                <a:ext cx="438066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clk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4BBDA52-3E7F-4B54-8DDF-4E80734179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065828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8" name="TextBox 34">
                <a:extLst>
                  <a:ext uri="{FF2B5EF4-FFF2-40B4-BE49-F238E27FC236}">
                    <a16:creationId xmlns:a16="http://schemas.microsoft.com/office/drawing/2014/main" id="{671808EF-C753-466B-938B-3AF5C62898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4829089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pe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0393D1-B32C-49FB-BD14-CA392EB08C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378566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30" name="TextBox 34">
                <a:extLst>
                  <a:ext uri="{FF2B5EF4-FFF2-40B4-BE49-F238E27FC236}">
                    <a16:creationId xmlns:a16="http://schemas.microsoft.com/office/drawing/2014/main" id="{FD02BB4C-4517-4A93-9A77-80F6423A51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428" y="5156995"/>
                <a:ext cx="424723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Arial" panose="020B0604020202020204" pitchFamily="34" charset="0"/>
                    <a:cs typeface="Arial" panose="020B0604020202020204" pitchFamily="34" charset="0"/>
                  </a:rPr>
                  <a:t>shr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0E288107-BCEB-47DD-A3CB-8612BFC10B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08252" y="4438118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34">
                <a:extLst>
                  <a:ext uri="{FF2B5EF4-FFF2-40B4-BE49-F238E27FC236}">
                    <a16:creationId xmlns:a16="http://schemas.microsoft.com/office/drawing/2014/main" id="{05B96E02-9514-4488-8959-6398BDAC02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793" y="4212743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Arial" panose="020B0604020202020204" pitchFamily="34" charset="0"/>
                    <a:cs typeface="Arial" panose="020B0604020202020204" pitchFamily="34" charset="0"/>
                  </a:rPr>
                  <a:t>si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920A0E64-8DD9-4CA0-B8A9-523D963AD8F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67844" y="5198021"/>
                <a:ext cx="35445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32">
                <a:extLst>
                  <a:ext uri="{FF2B5EF4-FFF2-40B4-BE49-F238E27FC236}">
                    <a16:creationId xmlns:a16="http://schemas.microsoft.com/office/drawing/2014/main" id="{925A40E0-ECE7-416A-82A1-839548FF9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9599" y="4980957"/>
                <a:ext cx="312074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zh-CN" alt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414" name="日期占位符 3">
            <a:extLst>
              <a:ext uri="{FF2B5EF4-FFF2-40B4-BE49-F238E27FC236}">
                <a16:creationId xmlns:a16="http://schemas.microsoft.com/office/drawing/2014/main" id="{676C3BDD-6078-47CF-9BDE-0583513FB3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C3868-7492-4533-84BA-F55C5A23F86A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415" name="页脚占位符 4">
            <a:extLst>
              <a:ext uri="{FF2B5EF4-FFF2-40B4-BE49-F238E27FC236}">
                <a16:creationId xmlns:a16="http://schemas.microsoft.com/office/drawing/2014/main" id="{F106DCB6-99B7-4969-94AD-E70A6747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7416" name="灯片编号占位符 5">
            <a:extLst>
              <a:ext uri="{FF2B5EF4-FFF2-40B4-BE49-F238E27FC236}">
                <a16:creationId xmlns:a16="http://schemas.microsoft.com/office/drawing/2014/main" id="{CEC686F9-811E-4B11-B669-34B6922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52386D-2E2E-450E-8F5D-C24366F5EE43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7F816D1-3EF7-47C4-9122-643119157B9A}"/>
              </a:ext>
            </a:extLst>
          </p:cNvPr>
          <p:cNvGrpSpPr/>
          <p:nvPr/>
        </p:nvGrpSpPr>
        <p:grpSpPr>
          <a:xfrm>
            <a:off x="6408204" y="4005064"/>
            <a:ext cx="1765134" cy="1753975"/>
            <a:chOff x="6393107" y="4138623"/>
            <a:chExt cx="1765134" cy="1753975"/>
          </a:xfrm>
        </p:grpSpPr>
        <p:sp>
          <p:nvSpPr>
            <p:cNvPr id="45" name="TextBox 7">
              <a:extLst>
                <a:ext uri="{FF2B5EF4-FFF2-40B4-BE49-F238E27FC236}">
                  <a16:creationId xmlns:a16="http://schemas.microsoft.com/office/drawing/2014/main" id="{7F2EB642-C4EB-42BA-8885-40E885309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107" y="4845198"/>
              <a:ext cx="1005134" cy="4347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SHR</a:t>
              </a:r>
              <a:endParaRPr lang="zh-CN" altLang="en-US" sz="1800" b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5F272EFE-854F-41C3-854E-4B116D494C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7915" y="4509894"/>
              <a:ext cx="0" cy="335303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34">
              <a:extLst>
                <a:ext uri="{FF2B5EF4-FFF2-40B4-BE49-F238E27FC236}">
                  <a16:creationId xmlns:a16="http://schemas.microsoft.com/office/drawing/2014/main" id="{3C83D8ED-3DFA-43B8-84C5-C9DA7F720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2143" y="4138623"/>
              <a:ext cx="460199" cy="29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pi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510EE40E-5052-42BF-A5B6-619F95FAAF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21659" y="5289259"/>
              <a:ext cx="0" cy="335303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34">
              <a:extLst>
                <a:ext uri="{FF2B5EF4-FFF2-40B4-BE49-F238E27FC236}">
                  <a16:creationId xmlns:a16="http://schemas.microsoft.com/office/drawing/2014/main" id="{B0F4231E-05F5-46B0-AD56-A73A1F85A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5887" y="5593757"/>
              <a:ext cx="460199" cy="29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po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47719262-0962-46B6-93F4-EDC650E2C8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06056" y="5076836"/>
              <a:ext cx="371383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34">
              <a:extLst>
                <a:ext uri="{FF2B5EF4-FFF2-40B4-BE49-F238E27FC236}">
                  <a16:creationId xmlns:a16="http://schemas.microsoft.com/office/drawing/2014/main" id="{30BD1702-75CE-4525-A1E5-C8FBA0685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107" y="4907782"/>
              <a:ext cx="460199" cy="29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61" name="Group 81">
            <a:extLst>
              <a:ext uri="{FF2B5EF4-FFF2-40B4-BE49-F238E27FC236}">
                <a16:creationId xmlns:a16="http://schemas.microsoft.com/office/drawing/2014/main" id="{C3344027-0CE0-4BCD-8382-E32951E5C8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7843483"/>
              </p:ext>
            </p:extLst>
          </p:nvPr>
        </p:nvGraphicFramePr>
        <p:xfrm>
          <a:off x="1079612" y="3968775"/>
          <a:ext cx="4641850" cy="1878013"/>
        </p:xfrm>
        <a:graphic>
          <a:graphicData uri="http://schemas.openxmlformats.org/drawingml/2006/table">
            <a:tbl>
              <a:tblPr/>
              <a:tblGrid>
                <a:gridCol w="591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shr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</a:t>
                      </a:r>
                      <a:endParaRPr kumimoji="0" lang="en-US" altLang="zh-CN" sz="2000" b="0" i="0" u="none" strike="noStrike" cap="none" normalizeH="0" baseline="-2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操作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同步复位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pi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并行置数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{si, po &gt;&gt;1}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右移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po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保持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Text Box 77">
            <a:extLst>
              <a:ext uri="{FF2B5EF4-FFF2-40B4-BE49-F238E27FC236}">
                <a16:creationId xmlns:a16="http://schemas.microsoft.com/office/drawing/2014/main" id="{0B5E9887-9285-4123-B9A8-11138A49F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187" y="3535685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功能表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A9F2D3-5635-42E6-8C86-D6CFB56E77D0}"/>
              </a:ext>
            </a:extLst>
          </p:cNvPr>
          <p:cNvSpPr/>
          <p:nvPr/>
        </p:nvSpPr>
        <p:spPr>
          <a:xfrm>
            <a:off x="3002638" y="1943991"/>
            <a:ext cx="3300652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等线" panose="02010600030101010101" pitchFamily="2" charset="-122"/>
              <a:buChar char="–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：并行输入使能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等线" panose="02010600030101010101" pitchFamily="2" charset="-122"/>
              <a:buChar char="–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sra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：算术右移使能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等线" panose="02010600030101010101" pitchFamily="2" charset="-122"/>
              <a:buChar char="–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clk, rst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：时钟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复位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8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E6451-DACA-4182-B789-09E51898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TX</a:t>
            </a:r>
            <a:r>
              <a:rPr lang="zh-CN" altLang="en-US"/>
              <a:t>数据通路</a:t>
            </a:r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A164A29-71D0-43CA-A986-844E9AAC55AF}"/>
              </a:ext>
            </a:extLst>
          </p:cNvPr>
          <p:cNvGrpSpPr/>
          <p:nvPr/>
        </p:nvGrpSpPr>
        <p:grpSpPr>
          <a:xfrm>
            <a:off x="5470427" y="1578988"/>
            <a:ext cx="2781907" cy="1188157"/>
            <a:chOff x="5704748" y="3068960"/>
            <a:chExt cx="2781907" cy="1188157"/>
          </a:xfrm>
        </p:grpSpPr>
        <p:sp>
          <p:nvSpPr>
            <p:cNvPr id="8" name="TextBox 32">
              <a:extLst>
                <a:ext uri="{FF2B5EF4-FFF2-40B4-BE49-F238E27FC236}">
                  <a16:creationId xmlns:a16="http://schemas.microsoft.com/office/drawing/2014/main" id="{C007EFED-F91F-460B-91DA-0CF038B0A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7378" y="3177569"/>
              <a:ext cx="43601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d_tx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77412A5-DCF1-41D9-9835-820B498686B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37180" y="3351535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6EEBF7A-11D8-4D29-8BB3-814F4A7513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1942" y="3699198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34">
              <a:extLst>
                <a:ext uri="{FF2B5EF4-FFF2-40B4-BE49-F238E27FC236}">
                  <a16:creationId xmlns:a16="http://schemas.microsoft.com/office/drawing/2014/main" id="{9696E879-2837-4BBD-8BCF-CD3AB4CCB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4748" y="3458781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_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D65544A5-17C4-4001-9EE3-941DBC7C4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252" y="3068960"/>
              <a:ext cx="663917" cy="118815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73F079C-04B6-4543-BA6D-99BDF9DC6F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96055" y="3703960"/>
              <a:ext cx="50006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34">
              <a:extLst>
                <a:ext uri="{FF2B5EF4-FFF2-40B4-BE49-F238E27FC236}">
                  <a16:creationId xmlns:a16="http://schemas.microsoft.com/office/drawing/2014/main" id="{B84EBA44-1E79-4DA3-B043-566FE0C11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6578" y="3471733"/>
              <a:ext cx="370077" cy="38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06">
              <a:extLst>
                <a:ext uri="{FF2B5EF4-FFF2-40B4-BE49-F238E27FC236}">
                  <a16:creationId xmlns:a16="http://schemas.microsoft.com/office/drawing/2014/main" id="{7A7ACF0B-3D71-42C1-9476-4E11104D9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6244" y="3537037"/>
              <a:ext cx="44595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0B64BDB-C498-486B-8D44-D9D0803475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37180" y="4013523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34">
              <a:extLst>
                <a:ext uri="{FF2B5EF4-FFF2-40B4-BE49-F238E27FC236}">
                  <a16:creationId xmlns:a16="http://schemas.microsoft.com/office/drawing/2014/main" id="{9539CE33-D37A-414D-9CDD-1D6C03008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2862" y="3797125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rdy_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9D2341D-DAA1-4EBD-BC4D-F4772B79714A}"/>
              </a:ext>
            </a:extLst>
          </p:cNvPr>
          <p:cNvGrpSpPr/>
          <p:nvPr/>
        </p:nvGrpSpPr>
        <p:grpSpPr>
          <a:xfrm>
            <a:off x="5491205" y="3150051"/>
            <a:ext cx="2874560" cy="1740785"/>
            <a:chOff x="5712376" y="4449097"/>
            <a:chExt cx="2874560" cy="174078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5E444AB-EC7E-4815-8FD6-5D2FF8266017}"/>
                </a:ext>
              </a:extLst>
            </p:cNvPr>
            <p:cNvSpPr/>
            <p:nvPr/>
          </p:nvSpPr>
          <p:spPr bwMode="auto">
            <a:xfrm>
              <a:off x="6840252" y="4857793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SHR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2AAF7FE5-0919-4FAA-979A-C7F13E96B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8380" y="4873182"/>
              <a:ext cx="43601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d_tx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CDBA5ED-5AB0-49C1-9163-FBE1545FF25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0034" y="5037813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ABA935B-2C87-4A5D-A6B4-48ED1732F6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6336" y="5037813"/>
              <a:ext cx="50006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99F20757-1674-48FC-908B-81DC1D07A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6859" y="4805586"/>
              <a:ext cx="370077" cy="38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0957695-A9F9-497C-9D86-3C372F9F8A61}"/>
                </a:ext>
              </a:extLst>
            </p:cNvPr>
            <p:cNvSpPr/>
            <p:nvPr/>
          </p:nvSpPr>
          <p:spPr bwMode="auto">
            <a:xfrm>
              <a:off x="6840252" y="5325845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CNT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37207AE-5499-467D-A9C9-4AA2FA26CBEC}"/>
                </a:ext>
              </a:extLst>
            </p:cNvPr>
            <p:cNvSpPr/>
            <p:nvPr/>
          </p:nvSpPr>
          <p:spPr bwMode="auto">
            <a:xfrm>
              <a:off x="6840252" y="5805264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RDY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51DD9BE-BE3D-4553-A85C-DDA69122BA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0984" y="5993718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34">
              <a:extLst>
                <a:ext uri="{FF2B5EF4-FFF2-40B4-BE49-F238E27FC236}">
                  <a16:creationId xmlns:a16="http://schemas.microsoft.com/office/drawing/2014/main" id="{3F99AA18-58A8-4BED-9063-46CC9ED8F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376" y="5805264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rdy_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2133A04-C972-4E02-B956-FDB24238D6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53187" y="4661570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34">
              <a:extLst>
                <a:ext uri="{FF2B5EF4-FFF2-40B4-BE49-F238E27FC236}">
                  <a16:creationId xmlns:a16="http://schemas.microsoft.com/office/drawing/2014/main" id="{9910506A-D8DF-415E-AD08-7CFBDFD15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376" y="4449097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_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tx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30127269-CBAB-4275-BDC4-34C28CEF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776"/>
            <a:ext cx="4762872" cy="4860540"/>
          </a:xfrm>
        </p:spPr>
        <p:txBody>
          <a:bodyPr/>
          <a:lstStyle/>
          <a:p>
            <a:r>
              <a:rPr lang="en-US" altLang="zh-CN" sz="2400"/>
              <a:t>SHR</a:t>
            </a:r>
            <a:r>
              <a:rPr lang="zh-CN" altLang="en-US" sz="2400"/>
              <a:t>：移位寄存器，</a:t>
            </a:r>
            <a:r>
              <a:rPr lang="en-US" altLang="zh-CN" sz="2400"/>
              <a:t>1</a:t>
            </a:r>
            <a:r>
              <a:rPr lang="en-US" altLang="zh-CN" sz="2400" dirty="0"/>
              <a:t>0</a:t>
            </a:r>
            <a:r>
              <a:rPr lang="zh-CN" altLang="en-US" sz="2400"/>
              <a:t>位</a:t>
            </a:r>
            <a:endParaRPr lang="en-US" altLang="zh-CN" sz="2400" dirty="0"/>
          </a:p>
          <a:p>
            <a:pPr lvl="1"/>
            <a:r>
              <a:rPr lang="zh-CN" altLang="en-US" sz="2000" dirty="0"/>
              <a:t>复位：全部位置</a:t>
            </a:r>
            <a:r>
              <a:rPr lang="en-US" altLang="zh-CN" sz="2000" dirty="0"/>
              <a:t>1</a:t>
            </a:r>
          </a:p>
          <a:p>
            <a:pPr lvl="1"/>
            <a:r>
              <a:rPr lang="zh-CN" altLang="en-US" sz="2000" dirty="0"/>
              <a:t>置</a:t>
            </a:r>
            <a:r>
              <a:rPr lang="zh-CN" altLang="en-US" sz="2000"/>
              <a:t>数：停止位</a:t>
            </a:r>
            <a:r>
              <a:rPr lang="en-US" altLang="zh-CN" sz="2000"/>
              <a:t>1,</a:t>
            </a:r>
            <a:r>
              <a:rPr lang="zh-CN" altLang="en-US" sz="2000"/>
              <a:t> 数据</a:t>
            </a:r>
            <a:r>
              <a:rPr lang="en-US" altLang="zh-CN" sz="2000" dirty="0" err="1"/>
              <a:t>d</a:t>
            </a:r>
            <a:r>
              <a:rPr lang="en-US" altLang="zh-CN" sz="2000" err="1"/>
              <a:t>_</a:t>
            </a:r>
            <a:r>
              <a:rPr lang="en-US" altLang="zh-CN" sz="2000"/>
              <a:t>tx,</a:t>
            </a:r>
            <a:r>
              <a:rPr lang="zh-CN" altLang="en-US" sz="2000" dirty="0"/>
              <a:t> </a:t>
            </a:r>
            <a:r>
              <a:rPr lang="zh-CN" altLang="en-US" sz="2000"/>
              <a:t>起始位</a:t>
            </a:r>
            <a:r>
              <a:rPr lang="en-US" altLang="zh-CN" sz="2000" dirty="0"/>
              <a:t>0</a:t>
            </a:r>
          </a:p>
          <a:p>
            <a:pPr lvl="1"/>
            <a:r>
              <a:rPr lang="zh-CN" altLang="en-US" sz="2000" dirty="0"/>
              <a:t>移位：右移，最高位补</a:t>
            </a:r>
            <a:r>
              <a:rPr lang="en-US" altLang="zh-CN" sz="2000" dirty="0"/>
              <a:t>1</a:t>
            </a:r>
          </a:p>
          <a:p>
            <a:r>
              <a:rPr lang="en-US" altLang="zh-CN" sz="2400" dirty="0"/>
              <a:t>CNT</a:t>
            </a:r>
            <a:r>
              <a:rPr lang="zh-CN" altLang="en-US" sz="2400" dirty="0"/>
              <a:t>：位计数器，</a:t>
            </a:r>
            <a:r>
              <a:rPr lang="en-US" altLang="zh-CN" sz="2400" dirty="0"/>
              <a:t>4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lvl="1"/>
            <a:r>
              <a:rPr lang="zh-CN" altLang="en-US" sz="2000" dirty="0"/>
              <a:t>复位：清零</a:t>
            </a:r>
            <a:endParaRPr lang="en-US" altLang="zh-CN" sz="2000" dirty="0"/>
          </a:p>
          <a:p>
            <a:pPr lvl="1"/>
            <a:r>
              <a:rPr lang="zh-CN" altLang="en-US" sz="2000" dirty="0"/>
              <a:t>置数：</a:t>
            </a:r>
            <a:r>
              <a:rPr lang="en-US" altLang="zh-CN" sz="2000" dirty="0"/>
              <a:t>8</a:t>
            </a:r>
          </a:p>
          <a:p>
            <a:pPr lvl="1"/>
            <a:r>
              <a:rPr lang="zh-CN" altLang="en-US" sz="2000" dirty="0"/>
              <a:t>计数：不等于</a:t>
            </a:r>
            <a:r>
              <a:rPr lang="en-US" altLang="zh-CN" sz="2000" dirty="0"/>
              <a:t>0</a:t>
            </a:r>
            <a:r>
              <a:rPr lang="zh-CN" altLang="en-US" sz="2000" dirty="0"/>
              <a:t>就递减计数</a:t>
            </a:r>
            <a:endParaRPr lang="en-US" altLang="zh-CN" sz="2000" dirty="0"/>
          </a:p>
          <a:p>
            <a:r>
              <a:rPr lang="en-US" altLang="zh-CN" sz="2400" dirty="0"/>
              <a:t>RDY</a:t>
            </a:r>
            <a:r>
              <a:rPr lang="zh-CN" altLang="en-US" sz="2400" dirty="0"/>
              <a:t>：准备好标志，</a:t>
            </a:r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lvl="1"/>
            <a:r>
              <a:rPr lang="zh-CN" altLang="en-US" sz="2000" dirty="0"/>
              <a:t>复位：置</a:t>
            </a:r>
            <a:r>
              <a:rPr lang="en-US" altLang="zh-CN" sz="2000" dirty="0"/>
              <a:t>1</a:t>
            </a:r>
          </a:p>
          <a:p>
            <a:pPr lvl="1"/>
            <a:r>
              <a:rPr lang="en-US" altLang="zh-CN" sz="2000" dirty="0" err="1"/>
              <a:t>vld_tx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rdy_tx</a:t>
            </a:r>
            <a:r>
              <a:rPr lang="zh-CN" altLang="en-US" sz="2000" dirty="0"/>
              <a:t>均为</a:t>
            </a:r>
            <a:r>
              <a:rPr lang="en-US" altLang="zh-CN" sz="2000" dirty="0"/>
              <a:t>1</a:t>
            </a:r>
            <a:r>
              <a:rPr lang="zh-CN" altLang="en-US" sz="2000" dirty="0"/>
              <a:t>时清零</a:t>
            </a:r>
            <a:endParaRPr lang="en-US" altLang="zh-CN" sz="2400" dirty="0"/>
          </a:p>
          <a:p>
            <a:pPr lvl="1"/>
            <a:r>
              <a:rPr lang="en-US" altLang="zh-CN" sz="2000" dirty="0"/>
              <a:t>CNT</a:t>
            </a:r>
            <a:r>
              <a:rPr lang="zh-CN" altLang="en-US" sz="2000" dirty="0"/>
              <a:t>等于</a:t>
            </a:r>
            <a:r>
              <a:rPr lang="en-US" altLang="zh-CN" sz="2000" dirty="0"/>
              <a:t>0</a:t>
            </a:r>
            <a:r>
              <a:rPr lang="zh-CN" altLang="en-US" sz="2000" dirty="0"/>
              <a:t>时置</a:t>
            </a:r>
            <a:r>
              <a:rPr lang="en-US" altLang="zh-CN" sz="2000" dirty="0"/>
              <a:t>1</a:t>
            </a:r>
          </a:p>
          <a:p>
            <a:endParaRPr lang="zh-CN" altLang="en-US" sz="2400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522CC1E-3A21-4C37-B935-2A73A0FBA088}"/>
              </a:ext>
            </a:extLst>
          </p:cNvPr>
          <p:cNvGrpSpPr/>
          <p:nvPr/>
        </p:nvGrpSpPr>
        <p:grpSpPr>
          <a:xfrm>
            <a:off x="5341604" y="5495382"/>
            <a:ext cx="3155973" cy="448217"/>
            <a:chOff x="5076056" y="5371629"/>
            <a:chExt cx="3555004" cy="448217"/>
          </a:xfrm>
        </p:grpSpPr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28EFF546-49EA-49B3-8DEA-CD91EB4AB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8344" y="5373216"/>
              <a:ext cx="936105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03351C1E-48BB-441B-9FC6-70633875F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6056" y="5373216"/>
              <a:ext cx="404419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91B23F90-ABF7-4B2E-B94E-3328307B4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9544" y="5805264"/>
              <a:ext cx="50189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Line 15">
              <a:extLst>
                <a:ext uri="{FF2B5EF4-FFF2-40B4-BE49-F238E27FC236}">
                  <a16:creationId xmlns:a16="http://schemas.microsoft.com/office/drawing/2014/main" id="{97A7090A-C16E-4DA3-954E-71116E62D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0973" y="5373216"/>
              <a:ext cx="0" cy="4235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Line 29">
              <a:extLst>
                <a:ext uri="{FF2B5EF4-FFF2-40B4-BE49-F238E27FC236}">
                  <a16:creationId xmlns:a16="http://schemas.microsoft.com/office/drawing/2014/main" id="{4C95CF41-C30A-445D-B07D-7480D761F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1177" y="5373216"/>
              <a:ext cx="619016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Line 39">
              <a:extLst>
                <a:ext uri="{FF2B5EF4-FFF2-40B4-BE49-F238E27FC236}">
                  <a16:creationId xmlns:a16="http://schemas.microsoft.com/office/drawing/2014/main" id="{67238AAF-51ED-4DB4-B88B-7E62FADE7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1178" y="5805264"/>
              <a:ext cx="619016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6056E9C8-C441-4CC0-A55A-6DA147D49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4941" y="5373216"/>
              <a:ext cx="0" cy="43204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85BD8931-DC80-45C1-AB7C-616F711E0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0197" y="5803678"/>
              <a:ext cx="440863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C2E811A-EF6D-4856-B9AC-70FB527C083D}"/>
                </a:ext>
              </a:extLst>
            </p:cNvPr>
            <p:cNvSpPr/>
            <p:nvPr/>
          </p:nvSpPr>
          <p:spPr bwMode="auto">
            <a:xfrm>
              <a:off x="6012160" y="5373216"/>
              <a:ext cx="504056" cy="432048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D0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B1F30002-A6F5-414C-9A3B-6BD2F2821960}"/>
                </a:ext>
              </a:extLst>
            </p:cNvPr>
            <p:cNvSpPr/>
            <p:nvPr/>
          </p:nvSpPr>
          <p:spPr bwMode="auto">
            <a:xfrm>
              <a:off x="7164288" y="5371629"/>
              <a:ext cx="504056" cy="448217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D7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6432D01-68FA-4D7C-AB18-95224A9463A7}"/>
                </a:ext>
              </a:extLst>
            </p:cNvPr>
            <p:cNvSpPr/>
            <p:nvPr/>
          </p:nvSpPr>
          <p:spPr bwMode="auto">
            <a:xfrm>
              <a:off x="5514760" y="5371630"/>
              <a:ext cx="504056" cy="43204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S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547CA62-76BD-4EDE-B896-86DAAFDACF35}"/>
                </a:ext>
              </a:extLst>
            </p:cNvPr>
            <p:cNvSpPr/>
            <p:nvPr/>
          </p:nvSpPr>
          <p:spPr bwMode="auto">
            <a:xfrm>
              <a:off x="7651249" y="5384702"/>
              <a:ext cx="504056" cy="43204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T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69" name="TextBox 34">
            <a:extLst>
              <a:ext uri="{FF2B5EF4-FFF2-40B4-BE49-F238E27FC236}">
                <a16:creationId xmlns:a16="http://schemas.microsoft.com/office/drawing/2014/main" id="{367F7324-A2B4-4954-B75B-97494602F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509" y="5527180"/>
            <a:ext cx="370077" cy="38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txd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5" name="页脚占位符 1">
            <a:extLst>
              <a:ext uri="{FF2B5EF4-FFF2-40B4-BE49-F238E27FC236}">
                <a16:creationId xmlns:a16="http://schemas.microsoft.com/office/drawing/2014/main" id="{221624FD-4072-43BB-8D49-9A8EB850E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计算机组成原理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(C)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 </a:t>
            </a:r>
          </a:p>
        </p:txBody>
      </p:sp>
      <p:sp>
        <p:nvSpPr>
          <p:cNvPr id="51" name="灯片编号占位符 2">
            <a:extLst>
              <a:ext uri="{FF2B5EF4-FFF2-40B4-BE49-F238E27FC236}">
                <a16:creationId xmlns:a16="http://schemas.microsoft.com/office/drawing/2014/main" id="{3B6EEDAE-3BB6-443E-8B3A-7F63726C06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日期占位符 3">
            <a:extLst>
              <a:ext uri="{FF2B5EF4-FFF2-40B4-BE49-F238E27FC236}">
                <a16:creationId xmlns:a16="http://schemas.microsoft.com/office/drawing/2014/main" id="{A938E683-761A-41FE-936C-309861771FD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2462D1-4A16-4DB1-9321-24EEE75FDC39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281D970-F48E-4943-AD00-950B8111FD98}"/>
              </a:ext>
            </a:extLst>
          </p:cNvPr>
          <p:cNvSpPr/>
          <p:nvPr/>
        </p:nvSpPr>
        <p:spPr bwMode="auto">
          <a:xfrm>
            <a:off x="7596336" y="4509120"/>
            <a:ext cx="756084" cy="36004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1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6C87D964-4BA6-4946-B119-0D4812581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TX</a:t>
            </a:r>
            <a:r>
              <a:rPr lang="zh-CN" altLang="en-US"/>
              <a:t>时序</a:t>
            </a:r>
            <a:endParaRPr lang="zh-CN" altLang="en-US" dirty="0"/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F9DF252C-6BAE-49AD-A7FD-A9D86CFAE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32756"/>
            <a:ext cx="8147248" cy="1800040"/>
          </a:xfrm>
        </p:spPr>
        <p:txBody>
          <a:bodyPr/>
          <a:lstStyle/>
          <a:p>
            <a:r>
              <a:rPr lang="en-US" altLang="zh-CN" sz="2400"/>
              <a:t>vld_tx</a:t>
            </a:r>
            <a:r>
              <a:rPr lang="zh-CN" altLang="en-US" sz="2400"/>
              <a:t>和</a:t>
            </a:r>
            <a:r>
              <a:rPr lang="en-US" altLang="zh-CN" sz="2400"/>
              <a:t>rdy_tx</a:t>
            </a:r>
            <a:r>
              <a:rPr lang="zh-CN" altLang="en-US" sz="2400"/>
              <a:t>均</a:t>
            </a:r>
            <a:r>
              <a:rPr lang="zh-CN" altLang="en-US" sz="2400" dirty="0"/>
              <a:t>有效时</a:t>
            </a:r>
            <a:r>
              <a:rPr lang="zh-CN" altLang="en-US" sz="2400"/>
              <a:t>，数据</a:t>
            </a:r>
            <a:r>
              <a:rPr lang="en-US" altLang="zh-CN" sz="2400"/>
              <a:t>din</a:t>
            </a:r>
            <a:r>
              <a:rPr lang="zh-CN" altLang="en-US" sz="2400"/>
              <a:t>前后附加停止和启动位后存入</a:t>
            </a:r>
            <a:r>
              <a:rPr lang="en-US" altLang="zh-CN" sz="2400"/>
              <a:t>SHR</a:t>
            </a:r>
            <a:r>
              <a:rPr lang="zh-CN" altLang="en-US" sz="2400"/>
              <a:t>，</a:t>
            </a:r>
            <a:r>
              <a:rPr lang="en-US" altLang="zh-CN" sz="2400"/>
              <a:t>rdy_tx</a:t>
            </a:r>
            <a:r>
              <a:rPr lang="zh-CN" altLang="en-US" sz="2400"/>
              <a:t>清</a:t>
            </a:r>
            <a:r>
              <a:rPr lang="zh-CN" altLang="en-US" sz="2400" dirty="0"/>
              <a:t>零，移位计数器</a:t>
            </a:r>
            <a:r>
              <a:rPr lang="en-US" altLang="zh-CN" sz="2400" dirty="0"/>
              <a:t>CNT</a:t>
            </a:r>
            <a:r>
              <a:rPr lang="zh-CN" altLang="en-US" sz="2400" dirty="0"/>
              <a:t>加载常数</a:t>
            </a:r>
            <a:r>
              <a:rPr lang="en-US" altLang="zh-CN" sz="2400" dirty="0"/>
              <a:t>8</a:t>
            </a:r>
          </a:p>
          <a:p>
            <a:r>
              <a:rPr lang="zh-CN" altLang="en-US" sz="2400"/>
              <a:t>随后</a:t>
            </a:r>
            <a:r>
              <a:rPr lang="en-US" altLang="zh-CN" sz="2400"/>
              <a:t>SHR</a:t>
            </a:r>
            <a:r>
              <a:rPr lang="zh-CN" altLang="en-US" sz="2400"/>
              <a:t>通过右移实现串行输出，同时</a:t>
            </a:r>
            <a:r>
              <a:rPr lang="en-US" altLang="zh-CN" sz="2400"/>
              <a:t>CNT</a:t>
            </a:r>
            <a:r>
              <a:rPr lang="zh-CN" altLang="en-US" sz="2400" dirty="0"/>
              <a:t>递减</a:t>
            </a:r>
            <a:endParaRPr lang="en-US" altLang="zh-CN" sz="2400" dirty="0"/>
          </a:p>
          <a:p>
            <a:r>
              <a:rPr lang="en-US" altLang="zh-CN" sz="2400" dirty="0"/>
              <a:t>CNT</a:t>
            </a:r>
            <a:r>
              <a:rPr lang="zh-CN" altLang="en-US" sz="2400" dirty="0"/>
              <a:t>等于</a:t>
            </a:r>
            <a:r>
              <a:rPr lang="en-US" altLang="zh-CN" sz="2400" dirty="0"/>
              <a:t>0</a:t>
            </a:r>
            <a:r>
              <a:rPr lang="zh-CN" altLang="en-US" sz="2400" dirty="0"/>
              <a:t>时</a:t>
            </a:r>
            <a:r>
              <a:rPr lang="zh-CN" altLang="en-US" sz="2400"/>
              <a:t>，停止移位和计数，</a:t>
            </a:r>
            <a:r>
              <a:rPr lang="en-US" altLang="zh-CN" sz="2400"/>
              <a:t>rdy_tx</a:t>
            </a:r>
            <a:r>
              <a:rPr lang="zh-CN" altLang="en-US" sz="2400"/>
              <a:t>置</a:t>
            </a:r>
            <a:r>
              <a:rPr lang="en-US" altLang="zh-CN" sz="2400"/>
              <a:t>1</a:t>
            </a:r>
            <a:endParaRPr lang="zh-CN" altLang="en-US" sz="2400" dirty="0"/>
          </a:p>
        </p:txBody>
      </p:sp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F6E416DB-85D7-4448-AACF-F40CEA7B2C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29849-FACF-4588-8AD3-5CB8F3C26BCD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31268512-50FA-4055-92C0-7317D443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5BB99034-E762-40F8-9194-029FB47E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6AF8F-EE9D-4B1D-93DF-07C9ACE0B6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A16743F-3608-48C0-86C0-9BD395573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511235"/>
              </p:ext>
            </p:extLst>
          </p:nvPr>
        </p:nvGraphicFramePr>
        <p:xfrm>
          <a:off x="886685" y="3063736"/>
          <a:ext cx="7777018" cy="3106155"/>
        </p:xfrm>
        <a:graphic>
          <a:graphicData uri="http://schemas.openxmlformats.org/drawingml/2006/table">
            <a:tbl>
              <a:tblPr/>
              <a:tblGrid>
                <a:gridCol w="565453">
                  <a:extLst>
                    <a:ext uri="{9D8B030D-6E8A-4147-A177-3AD203B41FA5}">
                      <a16:colId xmlns:a16="http://schemas.microsoft.com/office/drawing/2014/main" val="1028558681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233840907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038222123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691884795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55504674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487589430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422646679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340967960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693813435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828112126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048415461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625209637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386449034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63206896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729407620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627996988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478266196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100749944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834556668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583216394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578850758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748944517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1114975556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081124368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29348015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634027884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2628744912"/>
                    </a:ext>
                  </a:extLst>
                </a:gridCol>
                <a:gridCol w="267095">
                  <a:extLst>
                    <a:ext uri="{9D8B030D-6E8A-4147-A177-3AD203B41FA5}">
                      <a16:colId xmlns:a16="http://schemas.microsoft.com/office/drawing/2014/main" val="3511866218"/>
                    </a:ext>
                  </a:extLst>
                </a:gridCol>
              </a:tblGrid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clk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328413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948441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rst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296885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774120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rdy_tx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096710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603207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vld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_tx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17360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210487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d_tx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8‘hxx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8'h65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80997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399867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SHR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10'h3FF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2CA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365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3B2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3D9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3EC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3F6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3FB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3FD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3FE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3FF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489256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969410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CNT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4'h0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724390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589729"/>
                  </a:ext>
                </a:extLst>
              </a:tr>
              <a:tr h="2070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txd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Idle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Start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D0=1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D1=0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D2=1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D3=0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D4=0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D5=1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D6=1</a:t>
                      </a:r>
                    </a:p>
                  </a:txBody>
                  <a:tcPr marL="2826" marR="2826" marT="28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D7=0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Stop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Idle</a:t>
                      </a:r>
                    </a:p>
                  </a:txBody>
                  <a:tcPr marL="2826" marR="2826" marT="2826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08224"/>
                  </a:ext>
                </a:extLst>
              </a:tr>
            </a:tbl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7E75ED-786E-4457-AF4A-D7436BF05BCF}"/>
              </a:ext>
            </a:extLst>
          </p:cNvPr>
          <p:cNvCxnSpPr>
            <a:cxnSpLocks/>
          </p:cNvCxnSpPr>
          <p:nvPr/>
        </p:nvCxnSpPr>
        <p:spPr bwMode="auto">
          <a:xfrm>
            <a:off x="2776622" y="3066122"/>
            <a:ext cx="0" cy="291632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EC89F44-6DCA-4AF3-A692-CCA73BFEC6FD}"/>
              </a:ext>
            </a:extLst>
          </p:cNvPr>
          <p:cNvCxnSpPr>
            <a:cxnSpLocks/>
          </p:cNvCxnSpPr>
          <p:nvPr/>
        </p:nvCxnSpPr>
        <p:spPr bwMode="auto">
          <a:xfrm>
            <a:off x="7592044" y="3066122"/>
            <a:ext cx="0" cy="291632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84316ABF-1DC8-47ED-AF2C-4DF70EA65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RX</a:t>
            </a:r>
            <a:r>
              <a:rPr lang="zh-CN" altLang="zh-CN"/>
              <a:t>接收</a:t>
            </a:r>
            <a:r>
              <a:rPr lang="zh-CN" altLang="zh-CN" dirty="0"/>
              <a:t>过程</a:t>
            </a:r>
            <a:endParaRPr lang="zh-CN" altLang="en-US" dirty="0"/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B3B1B879-C11A-48AA-B4F7-CB98F2D0D6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33488"/>
            <a:ext cx="8147050" cy="50752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zh-CN" altLang="zh-CN" sz="2400" dirty="0"/>
              <a:t>当</a:t>
            </a:r>
            <a:r>
              <a:rPr lang="zh-CN" altLang="zh-CN" sz="2400"/>
              <a:t>检测到</a:t>
            </a:r>
            <a:r>
              <a:rPr lang="en-US" altLang="zh-CN" sz="2400"/>
              <a:t>rxd</a:t>
            </a:r>
            <a:r>
              <a:rPr lang="zh-CN" altLang="zh-CN" sz="2400"/>
              <a:t>信号</a:t>
            </a:r>
            <a:r>
              <a:rPr lang="zh-CN" altLang="zh-CN" sz="2400" dirty="0"/>
              <a:t>由</a:t>
            </a:r>
            <a:r>
              <a:rPr lang="en-US" altLang="zh-CN" sz="2400" dirty="0"/>
              <a:t>1</a:t>
            </a:r>
            <a:r>
              <a:rPr lang="zh-CN" altLang="zh-CN" sz="2400" dirty="0"/>
              <a:t>到</a:t>
            </a:r>
            <a:r>
              <a:rPr lang="en-US" altLang="zh-CN" sz="2400" dirty="0"/>
              <a:t>0</a:t>
            </a:r>
            <a:r>
              <a:rPr lang="zh-CN" altLang="zh-CN" sz="2400" dirty="0"/>
              <a:t>跳变</a:t>
            </a:r>
            <a:r>
              <a:rPr lang="zh-CN" altLang="en-US" sz="2400" dirty="0"/>
              <a:t>，且</a:t>
            </a:r>
            <a:r>
              <a:rPr lang="en-US" altLang="zh-CN" sz="2400" dirty="0"/>
              <a:t>8</a:t>
            </a:r>
            <a:r>
              <a:rPr lang="zh-CN" altLang="en-US" sz="2400" dirty="0"/>
              <a:t>个</a:t>
            </a:r>
            <a:r>
              <a:rPr lang="zh-CN" altLang="zh-CN" sz="2400" dirty="0"/>
              <a:t>接收</a:t>
            </a:r>
            <a:r>
              <a:rPr lang="zh-CN" altLang="zh-CN" sz="2400"/>
              <a:t>时钟</a:t>
            </a:r>
            <a:r>
              <a:rPr lang="en-US" altLang="zh-CN" sz="2400"/>
              <a:t>(clk_rx</a:t>
            </a:r>
            <a:r>
              <a:rPr lang="en-US" altLang="zh-CN" sz="2400" dirty="0"/>
              <a:t>)</a:t>
            </a:r>
            <a:r>
              <a:rPr lang="zh-CN" altLang="en-US" sz="2400" dirty="0"/>
              <a:t>后</a:t>
            </a:r>
            <a:r>
              <a:rPr lang="zh-CN" altLang="zh-CN" sz="2400" dirty="0"/>
              <a:t>检测仍为</a:t>
            </a:r>
            <a:r>
              <a:rPr lang="en-US" altLang="zh-CN" sz="2400" dirty="0"/>
              <a:t>0</a:t>
            </a:r>
            <a:r>
              <a:rPr lang="zh-CN" altLang="zh-CN" sz="2400" dirty="0"/>
              <a:t>，则</a:t>
            </a:r>
            <a:r>
              <a:rPr lang="zh-CN" altLang="en-US" sz="2400" dirty="0"/>
              <a:t>确</a:t>
            </a:r>
            <a:r>
              <a:rPr lang="zh-CN" altLang="zh-CN" sz="2400" dirty="0"/>
              <a:t>认</a:t>
            </a:r>
            <a:r>
              <a:rPr lang="zh-CN" altLang="en-US" sz="2400" dirty="0"/>
              <a:t>为</a:t>
            </a:r>
            <a:r>
              <a:rPr lang="zh-CN" altLang="zh-CN" sz="2400" dirty="0"/>
              <a:t>起始位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zh-CN" altLang="en-US" sz="2400" dirty="0"/>
              <a:t>接着每</a:t>
            </a:r>
            <a:r>
              <a:rPr lang="zh-CN" altLang="zh-CN" sz="2400" dirty="0"/>
              <a:t>隔</a:t>
            </a:r>
            <a:r>
              <a:rPr lang="en-US" altLang="zh-CN" sz="2400" dirty="0"/>
              <a:t>16</a:t>
            </a:r>
            <a:r>
              <a:rPr lang="zh-CN" altLang="zh-CN" sz="2400" dirty="0"/>
              <a:t>个接收时钟</a:t>
            </a:r>
            <a:r>
              <a:rPr lang="zh-CN" altLang="zh-CN" sz="2400"/>
              <a:t>，对</a:t>
            </a:r>
            <a:r>
              <a:rPr lang="en-US" altLang="zh-CN" sz="2400"/>
              <a:t>rxd</a:t>
            </a:r>
            <a:r>
              <a:rPr lang="zh-CN" altLang="zh-CN" sz="2400"/>
              <a:t>检测</a:t>
            </a:r>
            <a:r>
              <a:rPr lang="zh-CN" altLang="zh-CN" sz="2400" dirty="0"/>
              <a:t>一次，</a:t>
            </a:r>
            <a:r>
              <a:rPr lang="zh-CN" altLang="en-US" sz="2400" dirty="0"/>
              <a:t>依次</a:t>
            </a:r>
            <a:r>
              <a:rPr lang="zh-CN" altLang="zh-CN" sz="2400"/>
              <a:t>作为数据位</a:t>
            </a:r>
            <a:r>
              <a:rPr lang="zh-CN" altLang="en-US" sz="2400"/>
              <a:t>、</a:t>
            </a:r>
            <a:r>
              <a:rPr lang="zh-CN" altLang="en-US" sz="2400" dirty="0"/>
              <a:t>校验位</a:t>
            </a:r>
            <a:r>
              <a:rPr lang="zh-CN" altLang="en-US" sz="2400"/>
              <a:t>和停止位，存入</a:t>
            </a:r>
            <a:r>
              <a:rPr lang="en-US" altLang="zh-CN" sz="2400"/>
              <a:t>SHR</a:t>
            </a:r>
            <a:endParaRPr lang="zh-CN" altLang="zh-CN" sz="2400" dirty="0"/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zh-CN" altLang="en-US" sz="2400" dirty="0"/>
              <a:t>若未发生停止位或奇偶</a:t>
            </a:r>
            <a:r>
              <a:rPr lang="zh-CN" altLang="zh-CN" sz="2400" dirty="0"/>
              <a:t>校验</a:t>
            </a:r>
            <a:r>
              <a:rPr lang="zh-CN" altLang="en-US" sz="2400" dirty="0"/>
              <a:t>位出</a:t>
            </a:r>
            <a:r>
              <a:rPr lang="zh-CN" altLang="zh-CN" sz="2400" dirty="0"/>
              <a:t>错，</a:t>
            </a:r>
            <a:r>
              <a:rPr lang="zh-CN" altLang="en-US" sz="2400"/>
              <a:t>则将</a:t>
            </a:r>
            <a:r>
              <a:rPr lang="en-US" altLang="zh-CN" sz="2400"/>
              <a:t>SHR</a:t>
            </a:r>
            <a:r>
              <a:rPr lang="zh-CN" altLang="en-US" sz="2400"/>
              <a:t>中</a:t>
            </a:r>
            <a:r>
              <a:rPr lang="zh-CN" altLang="zh-CN" sz="2400"/>
              <a:t>数据位</a:t>
            </a:r>
            <a:r>
              <a:rPr lang="zh-CN" altLang="en-US" sz="2400"/>
              <a:t>存入输入缓冲寄存器</a:t>
            </a:r>
            <a:r>
              <a:rPr lang="en-US" altLang="zh-CN" sz="2400"/>
              <a:t>(Input Buffer Register, IBR)</a:t>
            </a:r>
            <a:r>
              <a:rPr lang="zh-CN" altLang="en-US" sz="2400"/>
              <a:t>，并设置</a:t>
            </a:r>
            <a:r>
              <a:rPr lang="en-US" altLang="zh-CN" sz="2400"/>
              <a:t>rx_vld</a:t>
            </a:r>
            <a:r>
              <a:rPr lang="zh-CN" altLang="en-US" sz="2400"/>
              <a:t>有效</a:t>
            </a:r>
            <a:endParaRPr lang="zh-CN" altLang="en-US" sz="2400" dirty="0"/>
          </a:p>
          <a:p>
            <a:pPr>
              <a:spcAft>
                <a:spcPts val="1200"/>
              </a:spcAft>
            </a:pPr>
            <a:endParaRPr lang="zh-CN" altLang="en-US" sz="2400" dirty="0"/>
          </a:p>
        </p:txBody>
      </p:sp>
      <p:grpSp>
        <p:nvGrpSpPr>
          <p:cNvPr id="20487" name="组合 121">
            <a:extLst>
              <a:ext uri="{FF2B5EF4-FFF2-40B4-BE49-F238E27FC236}">
                <a16:creationId xmlns:a16="http://schemas.microsoft.com/office/drawing/2014/main" id="{BBCD6F3A-0E17-478E-99A4-C7B8DB68219B}"/>
              </a:ext>
            </a:extLst>
          </p:cNvPr>
          <p:cNvGrpSpPr>
            <a:grpSpLocks/>
          </p:cNvGrpSpPr>
          <p:nvPr/>
        </p:nvGrpSpPr>
        <p:grpSpPr bwMode="auto">
          <a:xfrm>
            <a:off x="736600" y="4509120"/>
            <a:ext cx="7670800" cy="1481138"/>
            <a:chOff x="397705" y="1970795"/>
            <a:chExt cx="7672336" cy="1480230"/>
          </a:xfrm>
        </p:grpSpPr>
        <p:sp>
          <p:nvSpPr>
            <p:cNvPr id="20488" name="Line 31">
              <a:extLst>
                <a:ext uri="{FF2B5EF4-FFF2-40B4-BE49-F238E27FC236}">
                  <a16:creationId xmlns:a16="http://schemas.microsoft.com/office/drawing/2014/main" id="{FFDE3027-4E16-469B-B05F-E8D0EBEE5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1720" y="2415356"/>
              <a:ext cx="0" cy="491342"/>
            </a:xfrm>
            <a:prstGeom prst="line">
              <a:avLst/>
            </a:prstGeom>
            <a:noFill/>
            <a:ln w="19050" cap="sq">
              <a:solidFill>
                <a:srgbClr val="0070C0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Line 31">
              <a:extLst>
                <a:ext uri="{FF2B5EF4-FFF2-40B4-BE49-F238E27FC236}">
                  <a16:creationId xmlns:a16="http://schemas.microsoft.com/office/drawing/2014/main" id="{B59E4649-902D-467A-8E0E-CC8BC8CB7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769" y="2431307"/>
              <a:ext cx="0" cy="491342"/>
            </a:xfrm>
            <a:prstGeom prst="line">
              <a:avLst/>
            </a:prstGeom>
            <a:noFill/>
            <a:ln w="19050" cap="sq">
              <a:solidFill>
                <a:srgbClr val="0070C0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Line 31">
              <a:extLst>
                <a:ext uri="{FF2B5EF4-FFF2-40B4-BE49-F238E27FC236}">
                  <a16:creationId xmlns:a16="http://schemas.microsoft.com/office/drawing/2014/main" id="{57E15C0D-D7A1-4C31-A3D5-CF5D0B3FE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0453" y="2127325"/>
              <a:ext cx="0" cy="715974"/>
            </a:xfrm>
            <a:prstGeom prst="line">
              <a:avLst/>
            </a:prstGeom>
            <a:noFill/>
            <a:ln w="19050" cap="sq">
              <a:solidFill>
                <a:srgbClr val="0070C0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Line 4">
              <a:extLst>
                <a:ext uri="{FF2B5EF4-FFF2-40B4-BE49-F238E27FC236}">
                  <a16:creationId xmlns:a16="http://schemas.microsoft.com/office/drawing/2014/main" id="{AC199B03-FE5F-41A2-9C18-DBD3DC85C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3816" y="2127325"/>
              <a:ext cx="6238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5">
              <a:extLst>
                <a:ext uri="{FF2B5EF4-FFF2-40B4-BE49-F238E27FC236}">
                  <a16:creationId xmlns:a16="http://schemas.microsoft.com/office/drawing/2014/main" id="{383A164D-DD5B-42FC-85B9-6C25491FC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704" y="2127325"/>
              <a:ext cx="0" cy="2880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Line 6">
              <a:extLst>
                <a:ext uri="{FF2B5EF4-FFF2-40B4-BE49-F238E27FC236}">
                  <a16:creationId xmlns:a16="http://schemas.microsoft.com/office/drawing/2014/main" id="{E0209F22-BB18-4A94-959F-8217670A1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977" y="2415356"/>
              <a:ext cx="61620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Line 321">
              <a:extLst>
                <a:ext uri="{FF2B5EF4-FFF2-40B4-BE49-F238E27FC236}">
                  <a16:creationId xmlns:a16="http://schemas.microsoft.com/office/drawing/2014/main" id="{83C95117-D012-44C7-95A6-477E72537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014" y="2164470"/>
              <a:ext cx="1873250" cy="0"/>
            </a:xfrm>
            <a:prstGeom prst="line">
              <a:avLst/>
            </a:prstGeom>
            <a:noFill/>
            <a:ln w="3175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Line 322">
              <a:extLst>
                <a:ext uri="{FF2B5EF4-FFF2-40B4-BE49-F238E27FC236}">
                  <a16:creationId xmlns:a16="http://schemas.microsoft.com/office/drawing/2014/main" id="{EDB91339-9755-452F-8038-D555F09F3A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4998" y="2164470"/>
              <a:ext cx="2087562" cy="0"/>
            </a:xfrm>
            <a:prstGeom prst="line">
              <a:avLst/>
            </a:prstGeom>
            <a:noFill/>
            <a:ln w="3175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Text Box 323">
              <a:extLst>
                <a:ext uri="{FF2B5EF4-FFF2-40B4-BE49-F238E27FC236}">
                  <a16:creationId xmlns:a16="http://schemas.microsoft.com/office/drawing/2014/main" id="{37420207-63BF-4054-AE91-9F7588059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304" y="1970795"/>
              <a:ext cx="7917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/>
                <a:t>起始位</a:t>
              </a:r>
            </a:p>
          </p:txBody>
        </p:sp>
        <p:sp>
          <p:nvSpPr>
            <p:cNvPr id="20497" name="Text Box 325">
              <a:extLst>
                <a:ext uri="{FF2B5EF4-FFF2-40B4-BE49-F238E27FC236}">
                  <a16:creationId xmlns:a16="http://schemas.microsoft.com/office/drawing/2014/main" id="{DF87A8C8-4F7E-4BB9-85AA-FB9556ECA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36" y="2164470"/>
              <a:ext cx="47556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zh-CN" sz="1800" b="0">
                  <a:latin typeface="Arial" panose="020B0604020202020204" pitchFamily="34" charset="0"/>
                </a:rPr>
                <a:t>rxd</a:t>
              </a:r>
            </a:p>
          </p:txBody>
        </p:sp>
        <p:grpSp>
          <p:nvGrpSpPr>
            <p:cNvPr id="20498" name="组合 13">
              <a:extLst>
                <a:ext uri="{FF2B5EF4-FFF2-40B4-BE49-F238E27FC236}">
                  <a16:creationId xmlns:a16="http://schemas.microsoft.com/office/drawing/2014/main" id="{3B3FEB06-8727-4227-87AA-33A2DDAE3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6787" y="3063429"/>
              <a:ext cx="3515233" cy="369332"/>
              <a:chOff x="1248085" y="2730853"/>
              <a:chExt cx="3551237" cy="369332"/>
            </a:xfrm>
          </p:grpSpPr>
          <p:sp>
            <p:nvSpPr>
              <p:cNvPr id="20593" name="Text Box 328">
                <a:extLst>
                  <a:ext uri="{FF2B5EF4-FFF2-40B4-BE49-F238E27FC236}">
                    <a16:creationId xmlns:a16="http://schemas.microsoft.com/office/drawing/2014/main" id="{1F308D4E-00E5-4CC7-B973-4FA862B74A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085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0594" name="Text Box 329">
                <a:extLst>
                  <a:ext uri="{FF2B5EF4-FFF2-40B4-BE49-F238E27FC236}">
                    <a16:creationId xmlns:a16="http://schemas.microsoft.com/office/drawing/2014/main" id="{F74643C2-364A-4FD8-849C-B1D5CD253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2410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0595" name="Text Box 330">
                <a:extLst>
                  <a:ext uri="{FF2B5EF4-FFF2-40B4-BE49-F238E27FC236}">
                    <a16:creationId xmlns:a16="http://schemas.microsoft.com/office/drawing/2014/main" id="{8FDDA224-1F3D-454E-8795-CDDA97C747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1973" y="2730853"/>
                <a:ext cx="360362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6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596" name="Text Box 331">
                <a:extLst>
                  <a:ext uri="{FF2B5EF4-FFF2-40B4-BE49-F238E27FC236}">
                    <a16:creationId xmlns:a16="http://schemas.microsoft.com/office/drawing/2014/main" id="{436E2A25-0AB8-40A4-9CF8-345C10FE5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7410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597" name="Text Box 332">
                <a:extLst>
                  <a:ext uri="{FF2B5EF4-FFF2-40B4-BE49-F238E27FC236}">
                    <a16:creationId xmlns:a16="http://schemas.microsoft.com/office/drawing/2014/main" id="{624C6A84-6796-4177-8F8A-E8F3F2A43F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9673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598" name="Text Box 333">
                <a:extLst>
                  <a:ext uri="{FF2B5EF4-FFF2-40B4-BE49-F238E27FC236}">
                    <a16:creationId xmlns:a16="http://schemas.microsoft.com/office/drawing/2014/main" id="{57AA3844-E3D2-4DBE-8CF3-2E014A8A75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235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599" name="Text Box 334">
                <a:extLst>
                  <a:ext uri="{FF2B5EF4-FFF2-40B4-BE49-F238E27FC236}">
                    <a16:creationId xmlns:a16="http://schemas.microsoft.com/office/drawing/2014/main" id="{33455BA6-5DFF-4213-96D7-172D00B35B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4673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600" name="Text Box 335">
                <a:extLst>
                  <a:ext uri="{FF2B5EF4-FFF2-40B4-BE49-F238E27FC236}">
                    <a16:creationId xmlns:a16="http://schemas.microsoft.com/office/drawing/2014/main" id="{16A34E96-B959-45D1-B7F6-972282433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6935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601" name="Text Box 336">
                <a:extLst>
                  <a:ext uri="{FF2B5EF4-FFF2-40B4-BE49-F238E27FC236}">
                    <a16:creationId xmlns:a16="http://schemas.microsoft.com/office/drawing/2014/main" id="{9E517BC3-FD07-4830-B42A-48D3F4FB6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1260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602" name="Text Box 337">
                <a:extLst>
                  <a:ext uri="{FF2B5EF4-FFF2-40B4-BE49-F238E27FC236}">
                    <a16:creationId xmlns:a16="http://schemas.microsoft.com/office/drawing/2014/main" id="{B40A2E6F-6237-4AF6-8FEF-E0EB65E806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6698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603" name="Text Box 338">
                <a:extLst>
                  <a:ext uri="{FF2B5EF4-FFF2-40B4-BE49-F238E27FC236}">
                    <a16:creationId xmlns:a16="http://schemas.microsoft.com/office/drawing/2014/main" id="{06A22C16-C843-42CC-A26E-5E98FDF260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8960" y="2730853"/>
                <a:ext cx="36036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 b="0">
                    <a:latin typeface="Arial" panose="020B0604020202020204" pitchFamily="34" charset="0"/>
                  </a:rPr>
                  <a:t>0</a:t>
                </a:r>
              </a:p>
            </p:txBody>
          </p:sp>
        </p:grpSp>
        <p:sp>
          <p:nvSpPr>
            <p:cNvPr id="20499" name="Line 350">
              <a:extLst>
                <a:ext uri="{FF2B5EF4-FFF2-40B4-BE49-F238E27FC236}">
                  <a16:creationId xmlns:a16="http://schemas.microsoft.com/office/drawing/2014/main" id="{94914F2D-969E-49D1-B0F4-6B86773EB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9512" y="3230935"/>
              <a:ext cx="514226" cy="0"/>
            </a:xfrm>
            <a:prstGeom prst="line">
              <a:avLst/>
            </a:prstGeom>
            <a:noFill/>
            <a:ln w="3175" cap="sq">
              <a:solidFill>
                <a:schemeClr val="tx1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Text Box 351">
              <a:extLst>
                <a:ext uri="{FF2B5EF4-FFF2-40B4-BE49-F238E27FC236}">
                  <a16:creationId xmlns:a16="http://schemas.microsoft.com/office/drawing/2014/main" id="{725894CC-CD71-4780-99BB-528B94A76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230" y="3050915"/>
              <a:ext cx="25888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/>
                <a:t>每隔</a:t>
              </a:r>
              <a:r>
                <a:rPr kumimoji="1" lang="en-US" altLang="zh-CN" sz="2000" b="0"/>
                <a:t>16</a:t>
              </a:r>
              <a:r>
                <a:rPr kumimoji="1" lang="zh-CN" altLang="en-US" sz="2000" b="0"/>
                <a:t>个</a:t>
              </a:r>
              <a:r>
                <a:rPr kumimoji="1" lang="zh-CN" altLang="en-US" sz="2000" b="0">
                  <a:latin typeface="Arial" panose="020B0604020202020204" pitchFamily="34" charset="0"/>
                </a:rPr>
                <a:t>周期</a:t>
              </a:r>
              <a:r>
                <a:rPr kumimoji="1" lang="zh-CN" altLang="en-US" sz="2000" b="0"/>
                <a:t>检测一次</a:t>
              </a:r>
            </a:p>
          </p:txBody>
        </p:sp>
        <p:grpSp>
          <p:nvGrpSpPr>
            <p:cNvPr id="20501" name="组合 28">
              <a:extLst>
                <a:ext uri="{FF2B5EF4-FFF2-40B4-BE49-F238E27FC236}">
                  <a16:creationId xmlns:a16="http://schemas.microsoft.com/office/drawing/2014/main" id="{8D157650-7819-4E8F-BF7B-48F9631491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9632" y="2648790"/>
              <a:ext cx="6810409" cy="270623"/>
              <a:chOff x="1259632" y="4473116"/>
              <a:chExt cx="6810409" cy="270623"/>
            </a:xfrm>
          </p:grpSpPr>
          <p:grpSp>
            <p:nvGrpSpPr>
              <p:cNvPr id="20505" name="组合 29">
                <a:extLst>
                  <a:ext uri="{FF2B5EF4-FFF2-40B4-BE49-F238E27FC236}">
                    <a16:creationId xmlns:a16="http://schemas.microsoft.com/office/drawing/2014/main" id="{85DC53F9-603D-4523-AA41-AAE1B4EB33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632" y="4473116"/>
                <a:ext cx="2680328" cy="261502"/>
                <a:chOff x="2705953" y="2844595"/>
                <a:chExt cx="3202006" cy="219034"/>
              </a:xfrm>
            </p:grpSpPr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9CCA857B-BD90-4028-A90B-8DA6A748BDB0}"/>
                    </a:ext>
                  </a:extLst>
                </p:cNvPr>
                <p:cNvCxnSpPr/>
                <p:nvPr/>
              </p:nvCxnSpPr>
              <p:spPr>
                <a:xfrm>
                  <a:off x="2706262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CA9AEBD0-AF46-4E8D-900B-EDD36BF25FCC}"/>
                    </a:ext>
                  </a:extLst>
                </p:cNvPr>
                <p:cNvCxnSpPr/>
                <p:nvPr/>
              </p:nvCxnSpPr>
              <p:spPr>
                <a:xfrm>
                  <a:off x="2895948" y="2844136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4967447A-A560-441B-ADB7-3EEBACCF3727}"/>
                    </a:ext>
                  </a:extLst>
                </p:cNvPr>
                <p:cNvCxnSpPr/>
                <p:nvPr/>
              </p:nvCxnSpPr>
              <p:spPr>
                <a:xfrm>
                  <a:off x="3083737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4A4F2891-6941-4A9D-AF4B-704246E94331}"/>
                    </a:ext>
                  </a:extLst>
                </p:cNvPr>
                <p:cNvCxnSpPr/>
                <p:nvPr/>
              </p:nvCxnSpPr>
              <p:spPr>
                <a:xfrm>
                  <a:off x="3083737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967B19AF-6630-4242-914B-8E77DD05C32E}"/>
                    </a:ext>
                  </a:extLst>
                </p:cNvPr>
                <p:cNvCxnSpPr/>
                <p:nvPr/>
              </p:nvCxnSpPr>
              <p:spPr>
                <a:xfrm>
                  <a:off x="2895948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619D6030-6542-4783-A73D-9722A6E87C28}"/>
                    </a:ext>
                  </a:extLst>
                </p:cNvPr>
                <p:cNvCxnSpPr/>
                <p:nvPr/>
              </p:nvCxnSpPr>
              <p:spPr>
                <a:xfrm>
                  <a:off x="3273422" y="2844136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557EF033-758B-471C-AE12-828B20C7FDB9}"/>
                    </a:ext>
                  </a:extLst>
                </p:cNvPr>
                <p:cNvCxnSpPr/>
                <p:nvPr/>
              </p:nvCxnSpPr>
              <p:spPr>
                <a:xfrm>
                  <a:off x="3463108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0F5DEEEC-09D5-4906-8830-883FD5B97832}"/>
                    </a:ext>
                  </a:extLst>
                </p:cNvPr>
                <p:cNvCxnSpPr/>
                <p:nvPr/>
              </p:nvCxnSpPr>
              <p:spPr>
                <a:xfrm>
                  <a:off x="3463108" y="3060743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>
                  <a:extLst>
                    <a:ext uri="{FF2B5EF4-FFF2-40B4-BE49-F238E27FC236}">
                      <a16:creationId xmlns:a16="http://schemas.microsoft.com/office/drawing/2014/main" id="{ED779D37-01C8-48B5-89EE-3B81C8BE19D6}"/>
                    </a:ext>
                  </a:extLst>
                </p:cNvPr>
                <p:cNvCxnSpPr/>
                <p:nvPr/>
              </p:nvCxnSpPr>
              <p:spPr>
                <a:xfrm>
                  <a:off x="3273422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>
                  <a:extLst>
                    <a:ext uri="{FF2B5EF4-FFF2-40B4-BE49-F238E27FC236}">
                      <a16:creationId xmlns:a16="http://schemas.microsoft.com/office/drawing/2014/main" id="{27AE5265-B1D8-4681-B809-F2E18CAB4C6C}"/>
                    </a:ext>
                  </a:extLst>
                </p:cNvPr>
                <p:cNvCxnSpPr/>
                <p:nvPr/>
              </p:nvCxnSpPr>
              <p:spPr>
                <a:xfrm>
                  <a:off x="3650898" y="2844136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>
                  <a:extLst>
                    <a:ext uri="{FF2B5EF4-FFF2-40B4-BE49-F238E27FC236}">
                      <a16:creationId xmlns:a16="http://schemas.microsoft.com/office/drawing/2014/main" id="{E16B29D9-C484-4FFF-9EB8-FFF00905AC34}"/>
                    </a:ext>
                  </a:extLst>
                </p:cNvPr>
                <p:cNvCxnSpPr/>
                <p:nvPr/>
              </p:nvCxnSpPr>
              <p:spPr>
                <a:xfrm>
                  <a:off x="3840583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>
                  <a:extLst>
                    <a:ext uri="{FF2B5EF4-FFF2-40B4-BE49-F238E27FC236}">
                      <a16:creationId xmlns:a16="http://schemas.microsoft.com/office/drawing/2014/main" id="{230D9196-828D-4FDF-B9A7-DFA730EDD737}"/>
                    </a:ext>
                  </a:extLst>
                </p:cNvPr>
                <p:cNvCxnSpPr/>
                <p:nvPr/>
              </p:nvCxnSpPr>
              <p:spPr>
                <a:xfrm>
                  <a:off x="3840583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>
                  <a:extLst>
                    <a:ext uri="{FF2B5EF4-FFF2-40B4-BE49-F238E27FC236}">
                      <a16:creationId xmlns:a16="http://schemas.microsoft.com/office/drawing/2014/main" id="{3B799830-437A-4156-962F-C0C1952266C2}"/>
                    </a:ext>
                  </a:extLst>
                </p:cNvPr>
                <p:cNvCxnSpPr/>
                <p:nvPr/>
              </p:nvCxnSpPr>
              <p:spPr>
                <a:xfrm>
                  <a:off x="3650898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7658705B-73D9-423C-BCC3-0F96F546CF58}"/>
                    </a:ext>
                  </a:extLst>
                </p:cNvPr>
                <p:cNvCxnSpPr/>
                <p:nvPr/>
              </p:nvCxnSpPr>
              <p:spPr>
                <a:xfrm>
                  <a:off x="4030269" y="2844136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520FFB6A-CC3F-47D9-8695-14FFCC5BC527}"/>
                    </a:ext>
                  </a:extLst>
                </p:cNvPr>
                <p:cNvCxnSpPr/>
                <p:nvPr/>
              </p:nvCxnSpPr>
              <p:spPr>
                <a:xfrm>
                  <a:off x="4218058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351BD6D5-A1FF-4BA2-8943-6931BD9F5619}"/>
                    </a:ext>
                  </a:extLst>
                </p:cNvPr>
                <p:cNvCxnSpPr/>
                <p:nvPr/>
              </p:nvCxnSpPr>
              <p:spPr>
                <a:xfrm>
                  <a:off x="4218058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DD38458C-5B08-44B0-9B44-4D076404565E}"/>
                    </a:ext>
                  </a:extLst>
                </p:cNvPr>
                <p:cNvCxnSpPr/>
                <p:nvPr/>
              </p:nvCxnSpPr>
              <p:spPr>
                <a:xfrm>
                  <a:off x="4030269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A99FA634-3DFD-452F-B256-B63F597A46A4}"/>
                    </a:ext>
                  </a:extLst>
                </p:cNvPr>
                <p:cNvCxnSpPr/>
                <p:nvPr/>
              </p:nvCxnSpPr>
              <p:spPr>
                <a:xfrm>
                  <a:off x="4407743" y="2844136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B3F2CC6C-BA43-4CD9-A500-3419E296392C}"/>
                    </a:ext>
                  </a:extLst>
                </p:cNvPr>
                <p:cNvCxnSpPr/>
                <p:nvPr/>
              </p:nvCxnSpPr>
              <p:spPr>
                <a:xfrm>
                  <a:off x="4595533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AC74823B-2666-4DBD-B704-365A6A944E20}"/>
                    </a:ext>
                  </a:extLst>
                </p:cNvPr>
                <p:cNvCxnSpPr/>
                <p:nvPr/>
              </p:nvCxnSpPr>
              <p:spPr>
                <a:xfrm>
                  <a:off x="4595533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3BBDEE6F-1952-4847-87FC-3B8E6ACC7813}"/>
                    </a:ext>
                  </a:extLst>
                </p:cNvPr>
                <p:cNvCxnSpPr/>
                <p:nvPr/>
              </p:nvCxnSpPr>
              <p:spPr>
                <a:xfrm>
                  <a:off x="4407743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F95C401D-0409-4A2A-8E7F-BCCD96AFB43D}"/>
                    </a:ext>
                  </a:extLst>
                </p:cNvPr>
                <p:cNvCxnSpPr/>
                <p:nvPr/>
              </p:nvCxnSpPr>
              <p:spPr>
                <a:xfrm>
                  <a:off x="4785219" y="2844136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>
                  <a:extLst>
                    <a:ext uri="{FF2B5EF4-FFF2-40B4-BE49-F238E27FC236}">
                      <a16:creationId xmlns:a16="http://schemas.microsoft.com/office/drawing/2014/main" id="{9E02D901-F3FB-4059-9231-930F6385E5CE}"/>
                    </a:ext>
                  </a:extLst>
                </p:cNvPr>
                <p:cNvCxnSpPr/>
                <p:nvPr/>
              </p:nvCxnSpPr>
              <p:spPr>
                <a:xfrm>
                  <a:off x="4974904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E1890C5F-3795-4654-97E3-7E5738124DEC}"/>
                    </a:ext>
                  </a:extLst>
                </p:cNvPr>
                <p:cNvCxnSpPr/>
                <p:nvPr/>
              </p:nvCxnSpPr>
              <p:spPr>
                <a:xfrm>
                  <a:off x="4974904" y="3060743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F5F83630-2DA4-4429-8A5C-311355F34E48}"/>
                    </a:ext>
                  </a:extLst>
                </p:cNvPr>
                <p:cNvCxnSpPr/>
                <p:nvPr/>
              </p:nvCxnSpPr>
              <p:spPr>
                <a:xfrm>
                  <a:off x="4785219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>
                  <a:extLst>
                    <a:ext uri="{FF2B5EF4-FFF2-40B4-BE49-F238E27FC236}">
                      <a16:creationId xmlns:a16="http://schemas.microsoft.com/office/drawing/2014/main" id="{CFA07150-FF37-403F-B989-0BEEF1F14974}"/>
                    </a:ext>
                  </a:extLst>
                </p:cNvPr>
                <p:cNvCxnSpPr/>
                <p:nvPr/>
              </p:nvCxnSpPr>
              <p:spPr>
                <a:xfrm>
                  <a:off x="5162693" y="2844136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DD4CB9D3-36B0-46A4-A57D-9E311046126E}"/>
                    </a:ext>
                  </a:extLst>
                </p:cNvPr>
                <p:cNvCxnSpPr/>
                <p:nvPr/>
              </p:nvCxnSpPr>
              <p:spPr>
                <a:xfrm>
                  <a:off x="5352379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0B1C61B5-0753-4675-9F04-F1080338EFAE}"/>
                    </a:ext>
                  </a:extLst>
                </p:cNvPr>
                <p:cNvCxnSpPr/>
                <p:nvPr/>
              </p:nvCxnSpPr>
              <p:spPr>
                <a:xfrm>
                  <a:off x="5352379" y="3060743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452B7DC1-0DE8-4FEF-8DF9-3667874A056C}"/>
                    </a:ext>
                  </a:extLst>
                </p:cNvPr>
                <p:cNvCxnSpPr/>
                <p:nvPr/>
              </p:nvCxnSpPr>
              <p:spPr>
                <a:xfrm>
                  <a:off x="5162693" y="2844136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022979DD-A532-4316-A859-F92CFB12694F}"/>
                    </a:ext>
                  </a:extLst>
                </p:cNvPr>
                <p:cNvCxnSpPr/>
                <p:nvPr/>
              </p:nvCxnSpPr>
              <p:spPr>
                <a:xfrm>
                  <a:off x="5530683" y="2846794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C6089856-FBEF-4437-BA50-C5F96CAABCBD}"/>
                    </a:ext>
                  </a:extLst>
                </p:cNvPr>
                <p:cNvCxnSpPr/>
                <p:nvPr/>
              </p:nvCxnSpPr>
              <p:spPr>
                <a:xfrm>
                  <a:off x="5718473" y="2846794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39ED5D95-78EF-48F3-B79C-BC4B91E5D19C}"/>
                    </a:ext>
                  </a:extLst>
                </p:cNvPr>
                <p:cNvCxnSpPr/>
                <p:nvPr/>
              </p:nvCxnSpPr>
              <p:spPr>
                <a:xfrm>
                  <a:off x="5718473" y="3063400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16DA5708-90F9-4B28-B686-E3327C5D3B25}"/>
                    </a:ext>
                  </a:extLst>
                </p:cNvPr>
                <p:cNvCxnSpPr/>
                <p:nvPr/>
              </p:nvCxnSpPr>
              <p:spPr>
                <a:xfrm>
                  <a:off x="5530683" y="2846794"/>
                  <a:ext cx="0" cy="2166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6" name="组合 30">
                <a:extLst>
                  <a:ext uri="{FF2B5EF4-FFF2-40B4-BE49-F238E27FC236}">
                    <a16:creationId xmlns:a16="http://schemas.microsoft.com/office/drawing/2014/main" id="{27E160A6-3B22-4405-BA48-4E7CB4C4E0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9710" y="4481063"/>
                <a:ext cx="2538078" cy="261502"/>
                <a:chOff x="2894974" y="2844595"/>
                <a:chExt cx="3032069" cy="219034"/>
              </a:xfrm>
            </p:grpSpPr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15E57662-0FBB-48E8-BEAC-628401CC902B}"/>
                    </a:ext>
                  </a:extLst>
                </p:cNvPr>
                <p:cNvCxnSpPr/>
                <p:nvPr/>
              </p:nvCxnSpPr>
              <p:spPr>
                <a:xfrm>
                  <a:off x="2894907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D7A0B826-D85A-405B-A345-0B5F9811136C}"/>
                    </a:ext>
                  </a:extLst>
                </p:cNvPr>
                <p:cNvCxnSpPr/>
                <p:nvPr/>
              </p:nvCxnSpPr>
              <p:spPr>
                <a:xfrm>
                  <a:off x="3084593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90CEA896-8B07-4688-9179-D53CF4822F7E}"/>
                    </a:ext>
                  </a:extLst>
                </p:cNvPr>
                <p:cNvCxnSpPr/>
                <p:nvPr/>
              </p:nvCxnSpPr>
              <p:spPr>
                <a:xfrm>
                  <a:off x="3084593" y="3060731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451F43D7-E09B-4DE0-AC64-A6496E42CEFB}"/>
                    </a:ext>
                  </a:extLst>
                </p:cNvPr>
                <p:cNvCxnSpPr/>
                <p:nvPr/>
              </p:nvCxnSpPr>
              <p:spPr>
                <a:xfrm>
                  <a:off x="2894907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9F32B16B-BEBB-42AC-A841-2547D27D2CEC}"/>
                    </a:ext>
                  </a:extLst>
                </p:cNvPr>
                <p:cNvCxnSpPr/>
                <p:nvPr/>
              </p:nvCxnSpPr>
              <p:spPr>
                <a:xfrm>
                  <a:off x="3272381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F6A0FCB7-71DD-45D2-A0DB-A159E1EC0867}"/>
                    </a:ext>
                  </a:extLst>
                </p:cNvPr>
                <p:cNvCxnSpPr/>
                <p:nvPr/>
              </p:nvCxnSpPr>
              <p:spPr>
                <a:xfrm>
                  <a:off x="3462067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B82A2B90-2DC4-4150-8009-B540F164482C}"/>
                    </a:ext>
                  </a:extLst>
                </p:cNvPr>
                <p:cNvCxnSpPr/>
                <p:nvPr/>
              </p:nvCxnSpPr>
              <p:spPr>
                <a:xfrm>
                  <a:off x="3462067" y="3060731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59C504A0-6337-4CAB-BC7E-37812EE34993}"/>
                    </a:ext>
                  </a:extLst>
                </p:cNvPr>
                <p:cNvCxnSpPr/>
                <p:nvPr/>
              </p:nvCxnSpPr>
              <p:spPr>
                <a:xfrm>
                  <a:off x="3272381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9ACDECF4-1C7C-4B86-87EC-4AE2FB68BCEF}"/>
                    </a:ext>
                  </a:extLst>
                </p:cNvPr>
                <p:cNvCxnSpPr/>
                <p:nvPr/>
              </p:nvCxnSpPr>
              <p:spPr>
                <a:xfrm>
                  <a:off x="3651753" y="2844124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BB00A081-7971-42FD-A51E-E811B75E8BE3}"/>
                    </a:ext>
                  </a:extLst>
                </p:cNvPr>
                <p:cNvCxnSpPr/>
                <p:nvPr/>
              </p:nvCxnSpPr>
              <p:spPr>
                <a:xfrm>
                  <a:off x="3839542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F2833532-C054-4528-B866-175B64AEB85C}"/>
                    </a:ext>
                  </a:extLst>
                </p:cNvPr>
                <p:cNvCxnSpPr/>
                <p:nvPr/>
              </p:nvCxnSpPr>
              <p:spPr>
                <a:xfrm>
                  <a:off x="3839542" y="3060731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4B703F91-48C8-47EB-8B5F-342CC7B08B34}"/>
                    </a:ext>
                  </a:extLst>
                </p:cNvPr>
                <p:cNvCxnSpPr/>
                <p:nvPr/>
              </p:nvCxnSpPr>
              <p:spPr>
                <a:xfrm>
                  <a:off x="3651753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34132F92-724B-438A-B2B2-E92508EBE576}"/>
                    </a:ext>
                  </a:extLst>
                </p:cNvPr>
                <p:cNvCxnSpPr/>
                <p:nvPr/>
              </p:nvCxnSpPr>
              <p:spPr>
                <a:xfrm>
                  <a:off x="4029228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C9B117D8-B782-4A76-8338-497ACCC4BC21}"/>
                    </a:ext>
                  </a:extLst>
                </p:cNvPr>
                <p:cNvCxnSpPr/>
                <p:nvPr/>
              </p:nvCxnSpPr>
              <p:spPr>
                <a:xfrm>
                  <a:off x="4218914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1DAC7311-FBC1-44DE-B592-897A07B179B0}"/>
                    </a:ext>
                  </a:extLst>
                </p:cNvPr>
                <p:cNvCxnSpPr/>
                <p:nvPr/>
              </p:nvCxnSpPr>
              <p:spPr>
                <a:xfrm>
                  <a:off x="4218914" y="3060731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C7295300-9E21-476D-A657-2DC809BDC747}"/>
                    </a:ext>
                  </a:extLst>
                </p:cNvPr>
                <p:cNvCxnSpPr/>
                <p:nvPr/>
              </p:nvCxnSpPr>
              <p:spPr>
                <a:xfrm>
                  <a:off x="4029228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706DC2FC-4185-40AA-BBA5-732DFE5A1F4A}"/>
                    </a:ext>
                  </a:extLst>
                </p:cNvPr>
                <p:cNvCxnSpPr/>
                <p:nvPr/>
              </p:nvCxnSpPr>
              <p:spPr>
                <a:xfrm>
                  <a:off x="4406702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>
                  <a:extLst>
                    <a:ext uri="{FF2B5EF4-FFF2-40B4-BE49-F238E27FC236}">
                      <a16:creationId xmlns:a16="http://schemas.microsoft.com/office/drawing/2014/main" id="{AB6C8F06-F81A-48E1-8832-E533CB99A6B4}"/>
                    </a:ext>
                  </a:extLst>
                </p:cNvPr>
                <p:cNvCxnSpPr/>
                <p:nvPr/>
              </p:nvCxnSpPr>
              <p:spPr>
                <a:xfrm>
                  <a:off x="4596388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6E75AD2C-24EF-4D23-AD0E-ED7D826D8339}"/>
                    </a:ext>
                  </a:extLst>
                </p:cNvPr>
                <p:cNvCxnSpPr/>
                <p:nvPr/>
              </p:nvCxnSpPr>
              <p:spPr>
                <a:xfrm>
                  <a:off x="4596388" y="3060731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58B0C287-74C6-4EF6-A441-A135FA95E1EA}"/>
                    </a:ext>
                  </a:extLst>
                </p:cNvPr>
                <p:cNvCxnSpPr/>
                <p:nvPr/>
              </p:nvCxnSpPr>
              <p:spPr>
                <a:xfrm>
                  <a:off x="4406702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132508C7-818E-46C5-9058-8E716655A872}"/>
                    </a:ext>
                  </a:extLst>
                </p:cNvPr>
                <p:cNvCxnSpPr/>
                <p:nvPr/>
              </p:nvCxnSpPr>
              <p:spPr>
                <a:xfrm>
                  <a:off x="4786074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DF969CD7-EF93-4282-AEE0-34174BA4E29F}"/>
                    </a:ext>
                  </a:extLst>
                </p:cNvPr>
                <p:cNvCxnSpPr/>
                <p:nvPr/>
              </p:nvCxnSpPr>
              <p:spPr>
                <a:xfrm>
                  <a:off x="4975760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9D33E959-CFCA-45E6-BB3D-E700F5DBB36E}"/>
                    </a:ext>
                  </a:extLst>
                </p:cNvPr>
                <p:cNvCxnSpPr/>
                <p:nvPr/>
              </p:nvCxnSpPr>
              <p:spPr>
                <a:xfrm>
                  <a:off x="4975760" y="3060731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F242079C-89DC-45A1-8DA2-0B930190D68B}"/>
                    </a:ext>
                  </a:extLst>
                </p:cNvPr>
                <p:cNvCxnSpPr/>
                <p:nvPr/>
              </p:nvCxnSpPr>
              <p:spPr>
                <a:xfrm>
                  <a:off x="4786074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468C47E0-E281-41E4-9CB6-5A45E216B94D}"/>
                    </a:ext>
                  </a:extLst>
                </p:cNvPr>
                <p:cNvCxnSpPr/>
                <p:nvPr/>
              </p:nvCxnSpPr>
              <p:spPr>
                <a:xfrm>
                  <a:off x="5163549" y="28441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>
                  <a:extLst>
                    <a:ext uri="{FF2B5EF4-FFF2-40B4-BE49-F238E27FC236}">
                      <a16:creationId xmlns:a16="http://schemas.microsoft.com/office/drawing/2014/main" id="{71913EA5-3648-4D3C-A31F-3D6E37235489}"/>
                    </a:ext>
                  </a:extLst>
                </p:cNvPr>
                <p:cNvCxnSpPr/>
                <p:nvPr/>
              </p:nvCxnSpPr>
              <p:spPr>
                <a:xfrm>
                  <a:off x="5353235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>
                  <a:extLst>
                    <a:ext uri="{FF2B5EF4-FFF2-40B4-BE49-F238E27FC236}">
                      <a16:creationId xmlns:a16="http://schemas.microsoft.com/office/drawing/2014/main" id="{342E6712-1341-4D97-9E8E-B7436D172E09}"/>
                    </a:ext>
                  </a:extLst>
                </p:cNvPr>
                <p:cNvCxnSpPr/>
                <p:nvPr/>
              </p:nvCxnSpPr>
              <p:spPr>
                <a:xfrm>
                  <a:off x="5353235" y="3060731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62304FD7-02EA-4A83-8187-A66958B75C2E}"/>
                    </a:ext>
                  </a:extLst>
                </p:cNvPr>
                <p:cNvCxnSpPr/>
                <p:nvPr/>
              </p:nvCxnSpPr>
              <p:spPr>
                <a:xfrm>
                  <a:off x="5163549" y="2844124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06EC464B-860A-4E59-A1BC-479013980F42}"/>
                    </a:ext>
                  </a:extLst>
                </p:cNvPr>
                <p:cNvCxnSpPr/>
                <p:nvPr/>
              </p:nvCxnSpPr>
              <p:spPr>
                <a:xfrm>
                  <a:off x="5531539" y="2846781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1B04D4A2-5B45-493B-8BBD-8CC8CA051141}"/>
                    </a:ext>
                  </a:extLst>
                </p:cNvPr>
                <p:cNvCxnSpPr/>
                <p:nvPr/>
              </p:nvCxnSpPr>
              <p:spPr>
                <a:xfrm>
                  <a:off x="5719328" y="2846781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>
                  <a:extLst>
                    <a:ext uri="{FF2B5EF4-FFF2-40B4-BE49-F238E27FC236}">
                      <a16:creationId xmlns:a16="http://schemas.microsoft.com/office/drawing/2014/main" id="{D6D737F3-1631-415E-BA09-AB210F062348}"/>
                    </a:ext>
                  </a:extLst>
                </p:cNvPr>
                <p:cNvCxnSpPr/>
                <p:nvPr/>
              </p:nvCxnSpPr>
              <p:spPr>
                <a:xfrm>
                  <a:off x="5719328" y="3063389"/>
                  <a:ext cx="2086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B60047C2-65CC-48C4-B0A7-FDBF8A44668E}"/>
                    </a:ext>
                  </a:extLst>
                </p:cNvPr>
                <p:cNvCxnSpPr/>
                <p:nvPr/>
              </p:nvCxnSpPr>
              <p:spPr>
                <a:xfrm>
                  <a:off x="5531539" y="2846781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" name="组合 31">
                <a:extLst>
                  <a:ext uri="{FF2B5EF4-FFF2-40B4-BE49-F238E27FC236}">
                    <a16:creationId xmlns:a16="http://schemas.microsoft.com/office/drawing/2014/main" id="{76D2E01F-A3D3-48D8-A8A8-3FFDD1CF2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7788" y="4485831"/>
                <a:ext cx="1582253" cy="257908"/>
                <a:chOff x="2894974" y="2844595"/>
                <a:chExt cx="1890210" cy="216024"/>
              </a:xfrm>
            </p:grpSpPr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DD0807C1-3549-4D74-9F23-1B7181C88178}"/>
                    </a:ext>
                  </a:extLst>
                </p:cNvPr>
                <p:cNvCxnSpPr/>
                <p:nvPr/>
              </p:nvCxnSpPr>
              <p:spPr>
                <a:xfrm>
                  <a:off x="2895913" y="2844117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A22AD1F8-6A87-44C5-BBD5-F746471F99F9}"/>
                    </a:ext>
                  </a:extLst>
                </p:cNvPr>
                <p:cNvCxnSpPr/>
                <p:nvPr/>
              </p:nvCxnSpPr>
              <p:spPr>
                <a:xfrm>
                  <a:off x="3085599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89872028-AC7D-42EB-8E04-65BB972DA6C1}"/>
                    </a:ext>
                  </a:extLst>
                </p:cNvPr>
                <p:cNvCxnSpPr/>
                <p:nvPr/>
              </p:nvCxnSpPr>
              <p:spPr>
                <a:xfrm>
                  <a:off x="3085599" y="3060724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BB6F3A1A-C87B-41F9-A9AE-6220C8B846C7}"/>
                    </a:ext>
                  </a:extLst>
                </p:cNvPr>
                <p:cNvCxnSpPr/>
                <p:nvPr/>
              </p:nvCxnSpPr>
              <p:spPr>
                <a:xfrm>
                  <a:off x="2895913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C1776959-14A4-4E0D-9475-00E975208025}"/>
                    </a:ext>
                  </a:extLst>
                </p:cNvPr>
                <p:cNvCxnSpPr/>
                <p:nvPr/>
              </p:nvCxnSpPr>
              <p:spPr>
                <a:xfrm>
                  <a:off x="3273389" y="2844117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608A7C17-CD34-489A-967B-EA79DFAA7EC4}"/>
                    </a:ext>
                  </a:extLst>
                </p:cNvPr>
                <p:cNvCxnSpPr/>
                <p:nvPr/>
              </p:nvCxnSpPr>
              <p:spPr>
                <a:xfrm>
                  <a:off x="3463074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F91C02FD-1338-466B-8820-7C2C890335F6}"/>
                    </a:ext>
                  </a:extLst>
                </p:cNvPr>
                <p:cNvCxnSpPr/>
                <p:nvPr/>
              </p:nvCxnSpPr>
              <p:spPr>
                <a:xfrm>
                  <a:off x="3463074" y="3060724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2DCE1B3F-491B-4E16-B074-B311083FB38E}"/>
                    </a:ext>
                  </a:extLst>
                </p:cNvPr>
                <p:cNvCxnSpPr/>
                <p:nvPr/>
              </p:nvCxnSpPr>
              <p:spPr>
                <a:xfrm>
                  <a:off x="3273389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C6E99EE9-75C6-4299-AFA5-CA252F091B05}"/>
                    </a:ext>
                  </a:extLst>
                </p:cNvPr>
                <p:cNvCxnSpPr/>
                <p:nvPr/>
              </p:nvCxnSpPr>
              <p:spPr>
                <a:xfrm>
                  <a:off x="3650863" y="2844117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6CDF59AB-8039-4080-B222-ECDD13FB0E3D}"/>
                    </a:ext>
                  </a:extLst>
                </p:cNvPr>
                <p:cNvCxnSpPr/>
                <p:nvPr/>
              </p:nvCxnSpPr>
              <p:spPr>
                <a:xfrm>
                  <a:off x="3840549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BF3D998D-2F36-4C26-B86E-2BF2BC0DDE88}"/>
                    </a:ext>
                  </a:extLst>
                </p:cNvPr>
                <p:cNvCxnSpPr/>
                <p:nvPr/>
              </p:nvCxnSpPr>
              <p:spPr>
                <a:xfrm>
                  <a:off x="3840549" y="30607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58CF464D-A180-4C5A-BFBF-B7C37390A3F7}"/>
                    </a:ext>
                  </a:extLst>
                </p:cNvPr>
                <p:cNvCxnSpPr/>
                <p:nvPr/>
              </p:nvCxnSpPr>
              <p:spPr>
                <a:xfrm>
                  <a:off x="3650863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29507983-F357-482F-8B20-50B8CCB7FB02}"/>
                    </a:ext>
                  </a:extLst>
                </p:cNvPr>
                <p:cNvCxnSpPr/>
                <p:nvPr/>
              </p:nvCxnSpPr>
              <p:spPr>
                <a:xfrm>
                  <a:off x="4030234" y="2844117"/>
                  <a:ext cx="18779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56F575F7-1B82-44AE-914F-BB742EE24099}"/>
                    </a:ext>
                  </a:extLst>
                </p:cNvPr>
                <p:cNvCxnSpPr/>
                <p:nvPr/>
              </p:nvCxnSpPr>
              <p:spPr>
                <a:xfrm>
                  <a:off x="4218024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49AFC8C7-4C68-4267-9B35-CA4770F463D1}"/>
                    </a:ext>
                  </a:extLst>
                </p:cNvPr>
                <p:cNvCxnSpPr/>
                <p:nvPr/>
              </p:nvCxnSpPr>
              <p:spPr>
                <a:xfrm>
                  <a:off x="4218024" y="30607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2B18FF03-D6E7-4E61-8513-641F3A8F1050}"/>
                    </a:ext>
                  </a:extLst>
                </p:cNvPr>
                <p:cNvCxnSpPr/>
                <p:nvPr/>
              </p:nvCxnSpPr>
              <p:spPr>
                <a:xfrm>
                  <a:off x="4030234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69080533-726A-4D63-8CCB-7D1CA450AF6E}"/>
                    </a:ext>
                  </a:extLst>
                </p:cNvPr>
                <p:cNvCxnSpPr/>
                <p:nvPr/>
              </p:nvCxnSpPr>
              <p:spPr>
                <a:xfrm>
                  <a:off x="4407710" y="2844117"/>
                  <a:ext cx="18778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4BD45975-9EA5-420D-B068-AF95C66A7D78}"/>
                    </a:ext>
                  </a:extLst>
                </p:cNvPr>
                <p:cNvCxnSpPr/>
                <p:nvPr/>
              </p:nvCxnSpPr>
              <p:spPr>
                <a:xfrm>
                  <a:off x="4595498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005E7B7B-2FC8-48C4-9031-6AC41EAA3C87}"/>
                    </a:ext>
                  </a:extLst>
                </p:cNvPr>
                <p:cNvCxnSpPr/>
                <p:nvPr/>
              </p:nvCxnSpPr>
              <p:spPr>
                <a:xfrm>
                  <a:off x="4595498" y="3060724"/>
                  <a:ext cx="18968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B36BCF7A-7EF0-4349-B39F-0A25F97462D4}"/>
                    </a:ext>
                  </a:extLst>
                </p:cNvPr>
                <p:cNvCxnSpPr/>
                <p:nvPr/>
              </p:nvCxnSpPr>
              <p:spPr>
                <a:xfrm>
                  <a:off x="4407710" y="2844117"/>
                  <a:ext cx="0" cy="2166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502" name="Line 4">
              <a:extLst>
                <a:ext uri="{FF2B5EF4-FFF2-40B4-BE49-F238E27FC236}">
                  <a16:creationId xmlns:a16="http://schemas.microsoft.com/office/drawing/2014/main" id="{57BB9C58-B5CA-43B4-940E-8759E1727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4268" y="2127325"/>
              <a:ext cx="10857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5">
              <a:extLst>
                <a:ext uri="{FF2B5EF4-FFF2-40B4-BE49-F238E27FC236}">
                  <a16:creationId xmlns:a16="http://schemas.microsoft.com/office/drawing/2014/main" id="{ADF51686-F64F-4779-B2F8-E808BD607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4268" y="2127325"/>
              <a:ext cx="0" cy="2880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Text Box 325">
              <a:extLst>
                <a:ext uri="{FF2B5EF4-FFF2-40B4-BE49-F238E27FC236}">
                  <a16:creationId xmlns:a16="http://schemas.microsoft.com/office/drawing/2014/main" id="{8A4CD360-35B5-40EE-A150-C9969153F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705" y="2584095"/>
              <a:ext cx="7505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zh-CN" sz="1800" b="0">
                  <a:latin typeface="Arial" panose="020B0604020202020204" pitchFamily="34" charset="0"/>
                </a:rPr>
                <a:t>clk_rx</a:t>
              </a:r>
            </a:p>
          </p:txBody>
        </p:sp>
      </p:grpSp>
      <p:sp>
        <p:nvSpPr>
          <p:cNvPr id="124" name="日期占位符 3">
            <a:extLst>
              <a:ext uri="{FF2B5EF4-FFF2-40B4-BE49-F238E27FC236}">
                <a16:creationId xmlns:a16="http://schemas.microsoft.com/office/drawing/2014/main" id="{6533451C-D575-48F7-AD91-D49E03F2D8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29849-FACF-4588-8AD3-5CB8F3C26BCD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5" name="页脚占位符 4">
            <a:extLst>
              <a:ext uri="{FF2B5EF4-FFF2-40B4-BE49-F238E27FC236}">
                <a16:creationId xmlns:a16="http://schemas.microsoft.com/office/drawing/2014/main" id="{C234F017-04C1-44D2-BCF1-DB2EE424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26" name="灯片编号占位符 5">
            <a:extLst>
              <a:ext uri="{FF2B5EF4-FFF2-40B4-BE49-F238E27FC236}">
                <a16:creationId xmlns:a16="http://schemas.microsoft.com/office/drawing/2014/main" id="{B1229133-3A9F-48C3-A78D-B078E767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6AF8F-EE9D-4B1D-93DF-07C9ACE0B6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E6451-DACA-4182-B789-09E51898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082643"/>
          </a:xfrm>
        </p:spPr>
        <p:txBody>
          <a:bodyPr/>
          <a:lstStyle/>
          <a:p>
            <a:r>
              <a:rPr lang="en-US" altLang="zh-CN"/>
              <a:t>RX</a:t>
            </a:r>
            <a:r>
              <a:rPr lang="zh-CN" altLang="en-US"/>
              <a:t>数据</a:t>
            </a:r>
            <a:r>
              <a:rPr lang="zh-CN" altLang="en-US" dirty="0"/>
              <a:t>通路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A164A29-71D0-43CA-A986-844E9AAC55AF}"/>
              </a:ext>
            </a:extLst>
          </p:cNvPr>
          <p:cNvGrpSpPr/>
          <p:nvPr/>
        </p:nvGrpSpPr>
        <p:grpSpPr>
          <a:xfrm>
            <a:off x="5621876" y="1697270"/>
            <a:ext cx="2793516" cy="1188157"/>
            <a:chOff x="5693139" y="3068960"/>
            <a:chExt cx="2793516" cy="1188157"/>
          </a:xfrm>
        </p:grpSpPr>
        <p:sp>
          <p:nvSpPr>
            <p:cNvPr id="8" name="TextBox 32">
              <a:extLst>
                <a:ext uri="{FF2B5EF4-FFF2-40B4-BE49-F238E27FC236}">
                  <a16:creationId xmlns:a16="http://schemas.microsoft.com/office/drawing/2014/main" id="{C007EFED-F91F-460B-91DA-0CF038B0A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9143" y="3162180"/>
              <a:ext cx="49853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77412A5-DCF1-41D9-9835-820B498686B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37180" y="3351535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6EEBF7A-11D8-4D29-8BB3-814F4A7513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1942" y="3699198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34">
              <a:extLst>
                <a:ext uri="{FF2B5EF4-FFF2-40B4-BE49-F238E27FC236}">
                  <a16:creationId xmlns:a16="http://schemas.microsoft.com/office/drawing/2014/main" id="{9696E879-2837-4BBD-8BCF-CD3AB4CCB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4748" y="3458781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vld_rx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D65544A5-17C4-4001-9EE3-941DBC7C4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252" y="3068960"/>
              <a:ext cx="663917" cy="118815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73F079C-04B6-4543-BA6D-99BDF9DC6F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96055" y="3703960"/>
              <a:ext cx="50006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34">
              <a:extLst>
                <a:ext uri="{FF2B5EF4-FFF2-40B4-BE49-F238E27FC236}">
                  <a16:creationId xmlns:a16="http://schemas.microsoft.com/office/drawing/2014/main" id="{B84EBA44-1E79-4DA3-B043-566FE0C11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6578" y="3471733"/>
              <a:ext cx="370077" cy="38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06">
              <a:extLst>
                <a:ext uri="{FF2B5EF4-FFF2-40B4-BE49-F238E27FC236}">
                  <a16:creationId xmlns:a16="http://schemas.microsoft.com/office/drawing/2014/main" id="{7A7ACF0B-3D71-42C1-9476-4E11104D9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587" y="3537037"/>
              <a:ext cx="50526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RX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0B64BDB-C498-486B-8D44-D9D0803475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37180" y="4013523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34">
              <a:extLst>
                <a:ext uri="{FF2B5EF4-FFF2-40B4-BE49-F238E27FC236}">
                  <a16:creationId xmlns:a16="http://schemas.microsoft.com/office/drawing/2014/main" id="{9539CE33-D37A-414D-9CDD-1D6C03008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3139" y="3797125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rdy_rx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9D2341D-DAA1-4EBD-BC4D-F4772B79714A}"/>
              </a:ext>
            </a:extLst>
          </p:cNvPr>
          <p:cNvGrpSpPr/>
          <p:nvPr/>
        </p:nvGrpSpPr>
        <p:grpSpPr>
          <a:xfrm>
            <a:off x="5644884" y="3123016"/>
            <a:ext cx="2887556" cy="2763116"/>
            <a:chOff x="5699380" y="3383296"/>
            <a:chExt cx="2887556" cy="276311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5E444AB-EC7E-4815-8FD6-5D2FF8266017}"/>
                </a:ext>
              </a:extLst>
            </p:cNvPr>
            <p:cNvSpPr/>
            <p:nvPr/>
          </p:nvSpPr>
          <p:spPr bwMode="auto">
            <a:xfrm>
              <a:off x="6840252" y="4857793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SIR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ABA935B-2C87-4A5D-A6B4-48ED1732F6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6336" y="5037813"/>
              <a:ext cx="50006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99F20757-1674-48FC-908B-81DC1D07A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6859" y="4805586"/>
              <a:ext cx="370077" cy="38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0957695-A9F9-497C-9D86-3C372F9F8A61}"/>
                </a:ext>
              </a:extLst>
            </p:cNvPr>
            <p:cNvSpPr/>
            <p:nvPr/>
          </p:nvSpPr>
          <p:spPr bwMode="auto">
            <a:xfrm>
              <a:off x="6840252" y="5325845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CNTc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37207AE-5499-467D-A9C9-4AA2FA26CBEC}"/>
                </a:ext>
              </a:extLst>
            </p:cNvPr>
            <p:cNvSpPr/>
            <p:nvPr/>
          </p:nvSpPr>
          <p:spPr bwMode="auto">
            <a:xfrm>
              <a:off x="6840252" y="4230649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>
                  <a:solidFill>
                    <a:srgbClr val="000000"/>
                  </a:solidFill>
                  <a:latin typeface="Arial" charset="0"/>
                  <a:ea typeface="+mn-ea"/>
                </a:rPr>
                <a:t>IB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R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51DD9BE-BE3D-4553-A85C-DDA69122BA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0984" y="4419103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34">
              <a:extLst>
                <a:ext uri="{FF2B5EF4-FFF2-40B4-BE49-F238E27FC236}">
                  <a16:creationId xmlns:a16="http://schemas.microsoft.com/office/drawing/2014/main" id="{3F99AA18-58A8-4BED-9063-46CC9ED8F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420" y="4230649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2133A04-C972-4E02-B956-FDB24238D6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0191" y="3595769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34">
              <a:extLst>
                <a:ext uri="{FF2B5EF4-FFF2-40B4-BE49-F238E27FC236}">
                  <a16:creationId xmlns:a16="http://schemas.microsoft.com/office/drawing/2014/main" id="{9910506A-D8DF-415E-AD08-7CFBDFD15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380" y="3383296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rdy_rx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4F02DDF-FC0D-42C6-9C5C-5AFE128E203A}"/>
                </a:ext>
              </a:extLst>
            </p:cNvPr>
            <p:cNvSpPr/>
            <p:nvPr/>
          </p:nvSpPr>
          <p:spPr bwMode="auto">
            <a:xfrm>
              <a:off x="6840252" y="5786372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CNTb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FB5B622C-4CF1-48D7-9266-9AA2326968E9}"/>
                </a:ext>
              </a:extLst>
            </p:cNvPr>
            <p:cNvSpPr/>
            <p:nvPr/>
          </p:nvSpPr>
          <p:spPr bwMode="auto">
            <a:xfrm>
              <a:off x="6839459" y="3749195"/>
              <a:ext cx="756084" cy="36004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VLD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4FE8632E-D925-47C0-A672-2911A56F18C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0191" y="3937649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34">
              <a:extLst>
                <a:ext uri="{FF2B5EF4-FFF2-40B4-BE49-F238E27FC236}">
                  <a16:creationId xmlns:a16="http://schemas.microsoft.com/office/drawing/2014/main" id="{1821EE57-B9B7-46C9-8661-324F88005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376" y="3736906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vld_rx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30127269-CBAB-4275-BDC4-34C28CEF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4986"/>
            <a:ext cx="4654859" cy="368543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400"/>
              <a:t>IBR</a:t>
            </a:r>
            <a:r>
              <a:rPr lang="zh-CN" altLang="en-US" sz="2400"/>
              <a:t>：输入缓冲寄存器</a:t>
            </a:r>
            <a:r>
              <a:rPr lang="zh-CN" altLang="en-US" sz="2400" dirty="0"/>
              <a:t>，</a:t>
            </a:r>
            <a:r>
              <a:rPr lang="en-US" altLang="zh-CN" sz="2400" dirty="0"/>
              <a:t>8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en-US" altLang="zh-CN" sz="2400"/>
              <a:t>VLD</a:t>
            </a:r>
            <a:r>
              <a:rPr lang="zh-CN" altLang="en-US" sz="2400"/>
              <a:t>：</a:t>
            </a:r>
            <a:r>
              <a:rPr lang="en-US" altLang="zh-CN" sz="2400"/>
              <a:t>IBR</a:t>
            </a:r>
            <a:r>
              <a:rPr lang="zh-CN" altLang="en-US" sz="2400"/>
              <a:t>数据有效</a:t>
            </a:r>
            <a:r>
              <a:rPr lang="zh-CN" altLang="en-US" sz="2400" dirty="0"/>
              <a:t>标志，</a:t>
            </a:r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en-US" altLang="zh-CN" sz="2400"/>
              <a:t>SHR</a:t>
            </a:r>
            <a:r>
              <a:rPr lang="zh-CN" altLang="en-US" sz="2400" dirty="0"/>
              <a:t>：移位输入寄存器，</a:t>
            </a:r>
            <a:r>
              <a:rPr lang="en-US" altLang="zh-CN" sz="2400" dirty="0"/>
              <a:t>9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左移，保存</a:t>
            </a:r>
            <a:r>
              <a:rPr lang="en-US" altLang="zh-CN" sz="2000" dirty="0"/>
              <a:t>8</a:t>
            </a:r>
            <a:r>
              <a:rPr lang="zh-CN" altLang="en-US" sz="2000" dirty="0"/>
              <a:t>位数据和</a:t>
            </a:r>
            <a:r>
              <a:rPr lang="en-US" altLang="zh-CN" sz="2000" dirty="0"/>
              <a:t>1</a:t>
            </a:r>
            <a:r>
              <a:rPr lang="zh-CN" altLang="en-US" sz="2000" dirty="0"/>
              <a:t>停止位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400" dirty="0" err="1"/>
              <a:t>CNTc</a:t>
            </a:r>
            <a:r>
              <a:rPr lang="zh-CN" altLang="en-US" sz="2400" dirty="0"/>
              <a:t>：时钟计数器，</a:t>
            </a:r>
            <a:r>
              <a:rPr lang="en-US" altLang="zh-CN" sz="2400" dirty="0"/>
              <a:t>4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7 ~ 0</a:t>
            </a:r>
            <a:r>
              <a:rPr lang="zh-CN" altLang="en-US" sz="2000" dirty="0"/>
              <a:t>或</a:t>
            </a:r>
            <a:r>
              <a:rPr lang="en-US" altLang="zh-CN" sz="2000" dirty="0"/>
              <a:t>15 ~ 0</a:t>
            </a:r>
            <a:r>
              <a:rPr lang="zh-CN" altLang="en-US" sz="2000" dirty="0"/>
              <a:t>递减计数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400" dirty="0" err="1"/>
              <a:t>CNTb</a:t>
            </a:r>
            <a:r>
              <a:rPr lang="zh-CN" altLang="en-US" sz="2400" dirty="0"/>
              <a:t>：位计数器，</a:t>
            </a:r>
            <a:r>
              <a:rPr lang="en-US" altLang="zh-CN" sz="2400" dirty="0"/>
              <a:t>4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8 ~ 0</a:t>
            </a:r>
            <a:r>
              <a:rPr lang="zh-CN" altLang="en-US" sz="2000" dirty="0"/>
              <a:t>递减计数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C62722-AB2E-45F9-85B2-B9D87BE4C27E}"/>
              </a:ext>
            </a:extLst>
          </p:cNvPr>
          <p:cNvGrpSpPr/>
          <p:nvPr/>
        </p:nvGrpSpPr>
        <p:grpSpPr>
          <a:xfrm>
            <a:off x="907504" y="5245585"/>
            <a:ext cx="3808511" cy="791934"/>
            <a:chOff x="4903509" y="5373997"/>
            <a:chExt cx="3594068" cy="791934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6432D01-68FA-4D7C-AB18-95224A9463A7}"/>
                </a:ext>
              </a:extLst>
            </p:cNvPr>
            <p:cNvSpPr/>
            <p:nvPr/>
          </p:nvSpPr>
          <p:spPr bwMode="auto">
            <a:xfrm>
              <a:off x="5701570" y="5373997"/>
              <a:ext cx="447478" cy="43204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28EFF546-49EA-49B3-8DEA-CD91EB4AB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2921" y="5387069"/>
              <a:ext cx="83103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03351C1E-48BB-441B-9FC6-70633875F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41604" y="5375583"/>
              <a:ext cx="359025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91B23F90-ABF7-4B2E-B94E-3328307B4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8680" y="5807631"/>
              <a:ext cx="445555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Line 15">
              <a:extLst>
                <a:ext uri="{FF2B5EF4-FFF2-40B4-BE49-F238E27FC236}">
                  <a16:creationId xmlns:a16="http://schemas.microsoft.com/office/drawing/2014/main" id="{97A7090A-C16E-4DA3-954E-71116E62D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9949" y="5375583"/>
              <a:ext cx="0" cy="42353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Line 29">
              <a:extLst>
                <a:ext uri="{FF2B5EF4-FFF2-40B4-BE49-F238E27FC236}">
                  <a16:creationId xmlns:a16="http://schemas.microsoft.com/office/drawing/2014/main" id="{4C95CF41-C30A-445D-B07D-7480D761F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2273" y="5375583"/>
              <a:ext cx="549535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Line 39">
              <a:extLst>
                <a:ext uri="{FF2B5EF4-FFF2-40B4-BE49-F238E27FC236}">
                  <a16:creationId xmlns:a16="http://schemas.microsoft.com/office/drawing/2014/main" id="{67238AAF-51ED-4DB4-B88B-7E62FADE7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2274" y="5807631"/>
              <a:ext cx="549535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6056E9C8-C441-4CC0-A55A-6DA147D49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533" y="5412299"/>
              <a:ext cx="0" cy="39533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85BD8931-DC80-45C1-AB7C-616F711E0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6199" y="5806045"/>
              <a:ext cx="391378" cy="15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C2E811A-EF6D-4856-B9AC-70FB527C083D}"/>
                </a:ext>
              </a:extLst>
            </p:cNvPr>
            <p:cNvSpPr/>
            <p:nvPr/>
          </p:nvSpPr>
          <p:spPr bwMode="auto">
            <a:xfrm>
              <a:off x="6172635" y="5375583"/>
              <a:ext cx="447478" cy="432048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D0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B1F30002-A6F5-414C-9A3B-6BD2F2821960}"/>
                </a:ext>
              </a:extLst>
            </p:cNvPr>
            <p:cNvSpPr/>
            <p:nvPr/>
          </p:nvSpPr>
          <p:spPr bwMode="auto">
            <a:xfrm>
              <a:off x="7195443" y="5387069"/>
              <a:ext cx="447478" cy="435144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D7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547CA62-76BD-4EDE-B896-86DAAFDACF35}"/>
                </a:ext>
              </a:extLst>
            </p:cNvPr>
            <p:cNvSpPr/>
            <p:nvPr/>
          </p:nvSpPr>
          <p:spPr bwMode="auto">
            <a:xfrm>
              <a:off x="7627745" y="5387069"/>
              <a:ext cx="447478" cy="43204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9" name="TextBox 34">
              <a:extLst>
                <a:ext uri="{FF2B5EF4-FFF2-40B4-BE49-F238E27FC236}">
                  <a16:creationId xmlns:a16="http://schemas.microsoft.com/office/drawing/2014/main" id="{367F7324-A2B4-4954-B75B-97494602F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3509" y="5405794"/>
              <a:ext cx="370077" cy="38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1" name="Line 15">
              <a:extLst>
                <a:ext uri="{FF2B5EF4-FFF2-40B4-BE49-F238E27FC236}">
                  <a16:creationId xmlns:a16="http://schemas.microsoft.com/office/drawing/2014/main" id="{DDDDE649-9CE9-4A69-9403-EB9971FDB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8680" y="5879695"/>
              <a:ext cx="0" cy="26299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Line 15">
              <a:extLst>
                <a:ext uri="{FF2B5EF4-FFF2-40B4-BE49-F238E27FC236}">
                  <a16:creationId xmlns:a16="http://schemas.microsoft.com/office/drawing/2014/main" id="{82011AD6-3582-4635-85C1-993ADFC15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3356" y="5888932"/>
              <a:ext cx="0" cy="26299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Line 15">
              <a:extLst>
                <a:ext uri="{FF2B5EF4-FFF2-40B4-BE49-F238E27FC236}">
                  <a16:creationId xmlns:a16="http://schemas.microsoft.com/office/drawing/2014/main" id="{D8037A9C-E464-49B3-A968-11F5F3AB3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9281" y="5888932"/>
              <a:ext cx="0" cy="26299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87A83E5-71B6-45F3-A588-C300D5BF9C3C}"/>
                </a:ext>
              </a:extLst>
            </p:cNvPr>
            <p:cNvSpPr/>
            <p:nvPr/>
          </p:nvSpPr>
          <p:spPr bwMode="auto">
            <a:xfrm>
              <a:off x="5796104" y="5877666"/>
              <a:ext cx="128240" cy="276999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8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3D7B3D3-3CA5-4FBA-9A90-223D76F8160B}"/>
                </a:ext>
              </a:extLst>
            </p:cNvPr>
            <p:cNvSpPr/>
            <p:nvPr/>
          </p:nvSpPr>
          <p:spPr bwMode="auto">
            <a:xfrm>
              <a:off x="6069049" y="5877666"/>
              <a:ext cx="256480" cy="276999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7" name="Line 15">
              <a:extLst>
                <a:ext uri="{FF2B5EF4-FFF2-40B4-BE49-F238E27FC236}">
                  <a16:creationId xmlns:a16="http://schemas.microsoft.com/office/drawing/2014/main" id="{6485AED4-63E6-4B63-B520-B6DAC0EF6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7145" y="5900198"/>
              <a:ext cx="0" cy="26299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BB20F4BA-4187-4276-ABA4-47784D0ECAB5}"/>
                </a:ext>
              </a:extLst>
            </p:cNvPr>
            <p:cNvSpPr/>
            <p:nvPr/>
          </p:nvSpPr>
          <p:spPr bwMode="auto">
            <a:xfrm>
              <a:off x="6456913" y="5888932"/>
              <a:ext cx="256480" cy="276999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cxnSp>
        <p:nvCxnSpPr>
          <p:cNvPr id="73" name="直接箭头连接符 169">
            <a:extLst>
              <a:ext uri="{FF2B5EF4-FFF2-40B4-BE49-F238E27FC236}">
                <a16:creationId xmlns:a16="http://schemas.microsoft.com/office/drawing/2014/main" id="{9A30E457-3727-4CD7-A205-48847254F0FE}"/>
              </a:ext>
            </a:extLst>
          </p:cNvPr>
          <p:cNvCxnSpPr>
            <a:cxnSpLocks/>
            <a:stCxn id="35" idx="0"/>
            <a:endCxn id="42" idx="2"/>
          </p:cNvCxnSpPr>
          <p:nvPr/>
        </p:nvCxnSpPr>
        <p:spPr bwMode="auto">
          <a:xfrm flipV="1">
            <a:off x="7163798" y="4330409"/>
            <a:ext cx="0" cy="267104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页脚占位符 1">
            <a:extLst>
              <a:ext uri="{FF2B5EF4-FFF2-40B4-BE49-F238E27FC236}">
                <a16:creationId xmlns:a16="http://schemas.microsoft.com/office/drawing/2014/main" id="{BA259699-0AF9-499B-AA22-040FA9F8A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245225"/>
            <a:ext cx="4419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457200" rtl="0" eaLnBrk="1" latinLnBrk="0" hangingPunct="1">
              <a:spcBef>
                <a:spcPct val="20000"/>
              </a:spcBef>
              <a:buChar char="•"/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har char="–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har char="–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600" b="0">
                <a:solidFill>
                  <a:srgbClr val="000000"/>
                </a:solidFill>
                <a:latin typeface="Arial" panose="020B0604020202020204" pitchFamily="34" charset="0"/>
              </a:rPr>
              <a:t>2023</a:t>
            </a:r>
            <a:r>
              <a:rPr lang="zh-CN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春</a:t>
            </a:r>
            <a:r>
              <a:rPr lang="en-US" altLang="zh-CN" sz="1600" b="0">
                <a:solidFill>
                  <a:srgbClr val="000000"/>
                </a:solidFill>
                <a:latin typeface="Arial" panose="020B0604020202020204" pitchFamily="34" charset="0"/>
              </a:rPr>
              <a:t>_</a:t>
            </a:r>
            <a:r>
              <a:rPr lang="zh-CN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计算机组成原理</a:t>
            </a:r>
            <a:r>
              <a:rPr lang="en-US" altLang="zh-CN" sz="1600" b="0">
                <a:solidFill>
                  <a:srgbClr val="000000"/>
                </a:solidFill>
                <a:latin typeface="Arial" panose="020B0604020202020204" pitchFamily="34" charset="0"/>
              </a:rPr>
              <a:t>(C)</a:t>
            </a:r>
            <a:r>
              <a:rPr lang="zh-CN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实验 </a:t>
            </a:r>
            <a:endParaRPr lang="zh-CN" altLang="en-US" sz="16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8" name="灯片编号占位符 2">
            <a:extLst>
              <a:ext uri="{FF2B5EF4-FFF2-40B4-BE49-F238E27FC236}">
                <a16:creationId xmlns:a16="http://schemas.microsoft.com/office/drawing/2014/main" id="{E7C92D1A-0C2A-491D-AFBD-8486F0EF7AA6}"/>
              </a:ext>
            </a:extLst>
          </p:cNvPr>
          <p:cNvSpPr txBox="1">
            <a:spLocks noChangeArrowheads="1"/>
          </p:cNvSpPr>
          <p:nvPr/>
        </p:nvSpPr>
        <p:spPr>
          <a:xfrm>
            <a:off x="7010400" y="6245225"/>
            <a:ext cx="16764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marL="0" algn="ctr" defTabSz="457200" rtl="0" eaLnBrk="1" latinLnBrk="0" hangingPunct="1">
              <a:spcBef>
                <a:spcPct val="20000"/>
              </a:spcBef>
              <a:buChar char="•"/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har char="–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har char="–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fld id="{A7B0930E-2265-4A0B-94A4-F48B63590D63}" type="slidenum">
              <a:rPr lang="en-US" altLang="zh-CN" sz="1600" b="0" smtClean="0">
                <a:solidFill>
                  <a:srgbClr val="000000"/>
                </a:solidFill>
                <a:latin typeface="Arial" panose="020B0604020202020204" pitchFamily="34" charset="0"/>
              </a:rPr>
              <a:pPr algn="r" defTabSz="914400" fontAlgn="base"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t>10</a:t>
            </a:fld>
            <a:endParaRPr lang="en-US" altLang="zh-CN" sz="16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7" name="日期占位符 3">
            <a:extLst>
              <a:ext uri="{FF2B5EF4-FFF2-40B4-BE49-F238E27FC236}">
                <a16:creationId xmlns:a16="http://schemas.microsoft.com/office/drawing/2014/main" id="{36C91FB4-624F-4501-A29E-1B72CA3CCA7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2462D1-4A16-4DB1-9321-24EEE75FDC39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6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FF572E66-3D64-4BA8-AB0F-428EC5C19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/>
              <a:t>The</a:t>
            </a:r>
            <a:r>
              <a:rPr lang="zh-CN" altLang="en-US" sz="5400"/>
              <a:t> </a:t>
            </a:r>
            <a:r>
              <a:rPr lang="en-US" altLang="zh-CN" sz="5400"/>
              <a:t>End</a:t>
            </a:r>
            <a:endParaRPr lang="zh-CN" altLang="en-US" sz="5400"/>
          </a:p>
        </p:txBody>
      </p:sp>
      <p:sp>
        <p:nvSpPr>
          <p:cNvPr id="32771" name="日期占位符 3">
            <a:extLst>
              <a:ext uri="{FF2B5EF4-FFF2-40B4-BE49-F238E27FC236}">
                <a16:creationId xmlns:a16="http://schemas.microsoft.com/office/drawing/2014/main" id="{7F58C96C-8C56-44F3-BBDD-CE442442B0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02079C-0A5D-4699-B631-90F0DD6ECEA1}" type="datetime1">
              <a:rPr lang="zh-CN" altLang="en-US" sz="1800" b="0" smtClean="0">
                <a:latin typeface="Arial" panose="020B0604020202020204" pitchFamily="34" charset="0"/>
              </a:rPr>
              <a:t>2024/11/7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2772" name="页脚占位符 4">
            <a:extLst>
              <a:ext uri="{FF2B5EF4-FFF2-40B4-BE49-F238E27FC236}">
                <a16:creationId xmlns:a16="http://schemas.microsoft.com/office/drawing/2014/main" id="{AFAF67CB-7E38-4ADC-99D2-1E186355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32773" name="灯片编号占位符 5">
            <a:extLst>
              <a:ext uri="{FF2B5EF4-FFF2-40B4-BE49-F238E27FC236}">
                <a16:creationId xmlns:a16="http://schemas.microsoft.com/office/drawing/2014/main" id="{1B388EF7-3406-4D91-87E1-60D5F959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F9DE3F-849F-48DF-BAC2-78E870F1F7D9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33240</TotalTime>
  <Words>1442</Words>
  <Application>Microsoft Office PowerPoint</Application>
  <PresentationFormat>全屏显示(4:3)</PresentationFormat>
  <Paragraphs>574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黑体</vt:lpstr>
      <vt:lpstr>宋体</vt:lpstr>
      <vt:lpstr>微软雅黑</vt:lpstr>
      <vt:lpstr>Arial</vt:lpstr>
      <vt:lpstr>Times New Roman</vt:lpstr>
      <vt:lpstr>Office 主题</vt:lpstr>
      <vt:lpstr>数字逻辑设计进阶实验</vt:lpstr>
      <vt:lpstr>实验目的</vt:lpstr>
      <vt:lpstr>实验内容</vt:lpstr>
      <vt:lpstr>UART模块</vt:lpstr>
      <vt:lpstr>RS-232通信协议</vt:lpstr>
      <vt:lpstr>移位寄存器</vt:lpstr>
      <vt:lpstr>TX数据通路</vt:lpstr>
      <vt:lpstr>TX时序</vt:lpstr>
      <vt:lpstr>RX接收过程</vt:lpstr>
      <vt:lpstr>RX数据通路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ZJX</cp:lastModifiedBy>
  <cp:revision>646</cp:revision>
  <cp:lastPrinted>1601-01-01T00:00:00Z</cp:lastPrinted>
  <dcterms:created xsi:type="dcterms:W3CDTF">1601-01-01T00:00:00Z</dcterms:created>
  <dcterms:modified xsi:type="dcterms:W3CDTF">2024-11-07T05:56:25Z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