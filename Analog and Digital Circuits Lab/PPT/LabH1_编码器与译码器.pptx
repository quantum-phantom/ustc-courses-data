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735" r:id="rId3"/>
    <p:sldId id="736" r:id="rId4"/>
    <p:sldId id="546" r:id="rId5"/>
    <p:sldId id="547" r:id="rId6"/>
    <p:sldId id="273" r:id="rId7"/>
    <p:sldId id="543" r:id="rId8"/>
    <p:sldId id="537" r:id="rId9"/>
    <p:sldId id="538" r:id="rId10"/>
    <p:sldId id="539" r:id="rId11"/>
    <p:sldId id="540" r:id="rId12"/>
    <p:sldId id="542" r:id="rId13"/>
    <p:sldId id="541" r:id="rId14"/>
    <p:sldId id="281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3009" autoAdjust="0"/>
  </p:normalViewPr>
  <p:slideViewPr>
    <p:cSldViewPr>
      <p:cViewPr varScale="1">
        <p:scale>
          <a:sx n="95" d="100"/>
          <a:sy n="95" d="100"/>
        </p:scale>
        <p:origin x="633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B83BCF9-7A7E-4A10-9AB1-019FDF88BF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E5D0CD-6335-42C8-A7C4-496DF92DD0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3E8A0D7-5E8F-4A2C-85A4-142A5105366A}" type="datetimeFigureOut">
              <a:rPr lang="zh-CN" altLang="en-US"/>
              <a:pPr>
                <a:defRPr/>
              </a:pPr>
              <a:t>2025/10/16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2B18CB02-113C-40BA-B3A8-76D50E04C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3032A0A-EE6C-4DDF-BACD-615DA6CCC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DD923E-E33F-46E4-A618-9650EEEA07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3353A4-B247-460A-B358-822A05962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BADCA07-D198-4F4B-A79F-3DEF5020A9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15775906-5164-4C16-A1BF-46C5344DD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0853F48A-7887-4C59-BB33-24B8A5432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8FD0A61C-6972-4E9A-A16C-EDB9D523B0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3FD52F-DA8A-4F1A-90B0-B92D106FCC7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B8D9BF80-B760-4299-8F54-8B890EE2C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B2191-6C78-45BB-A3A8-2D778344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80853005-3210-4BA8-8810-EA5639CB2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4C919-1770-4D2D-9DA6-8689C7BD73A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8524FC-9E3F-464B-878A-6158F74471D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913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8524FC-9E3F-464B-878A-6158F74471D7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722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8524FC-9E3F-464B-878A-6158F74471D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426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B20CBF58-D7CD-40D2-87D2-64391AAD3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2239CF0C-A37F-4249-AB75-BE579F08B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55AB39EC-73E4-4F94-9AD9-62C1A18F5B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A08330-422B-486F-9E71-33663409287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1AD1CD5D-9E58-470A-82C9-5292C4C33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B615201D-2898-4C62-93A9-8C62B23C4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C881822D-D6A1-4B77-B89F-1F701B1594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2452FA3-5483-4125-B23F-9AC793932D6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用哪行就把哪行前的</a:t>
            </a:r>
            <a:r>
              <a:rPr lang="en-US" altLang="zh-CN" dirty="0"/>
              <a:t>#</a:t>
            </a:r>
            <a:r>
              <a:rPr lang="zh-CN" altLang="en-US" dirty="0"/>
              <a:t>去掉（</a:t>
            </a:r>
            <a:r>
              <a:rPr lang="en-US" altLang="zh-CN" dirty="0"/>
              <a:t>#</a:t>
            </a:r>
            <a:r>
              <a:rPr lang="zh-CN" altLang="en-US" dirty="0"/>
              <a:t>表示注释）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ADCA07-D198-4F4B-A79F-3DEF5020A9DE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236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84B38178-FDCE-4861-AE8C-1AB6C97EE60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A9BA36-4892-4E67-87F3-51DE0D70E4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7FA73C-47AB-45C6-B4F3-0DC0BDA183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B4F86-5ACF-4238-BBC1-4812BE72E8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181EFB5A-8B66-450A-BC5C-74799384F7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597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9F64D632-B4AE-4EF1-82D3-D3572B085C6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1B52E-AB4B-4CC7-8B69-0F8D187E5E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CFCEA-BB87-42C8-8710-110896D9D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AC5BF7-6D48-434C-B108-3EC261BCC1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1E59AB08-0FD1-4914-AA1A-311B9EE248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29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1F5894-2EE3-4399-99CB-D2611CE9CE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738AF2-D924-4222-BD16-7D68C763E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6277E1-7908-4F68-A902-8E8207F23F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E74D2-85CF-42B8-A955-A6779A03E2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178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1BF3F-D8B3-4908-BF31-BACE5DE44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322E1-7892-4D9F-A527-D4AB44D9E8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94FA3-38E8-4406-89BF-D0D695E97C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62BECC-188E-4F23-9843-5C5316F487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407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737B92C-4FBA-4684-A5A2-87D9E7A307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CE34390-ED5A-4A41-8A59-3C9A0CFD3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46E285-644E-48DA-BF6C-0766B5D16A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22EA0-4466-4D70-8518-F4019DD41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32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4C45819-B59A-48CF-9DDF-1C0AF63A0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D2E6C0C-BCAB-4641-99BF-084711C2E1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EDC0CCE-DF93-4BAE-B12F-FFC3C0D50C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4A624B-4024-45B0-B0F3-8C2CE45881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46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BE0FFE9A-AF2F-4BF1-8D05-261BA4F92D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381000"/>
            <a:ext cx="85756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03095A54-D1A4-449A-8691-2571C2699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2AD2171-3CB2-47FE-AA56-A6708056F3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8F3C90-A4FA-421C-89C3-2F74AA8A9C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32835-FABE-4BF5-91D5-EC0DB5AF58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19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1305B-1BF0-4E8C-9DE2-4E948C91D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24365-FF56-4A5C-8359-DF315C5285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72551-86A2-40F0-A8BD-5011D485B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8380E-CC38-428B-AD90-CDF3AF4F15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968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789B3-3C85-4E21-B3BA-553138A50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1DFFB2-5332-4366-9245-396AC9B686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B0E522-2CBD-4471-8A2F-4C4879B8F0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9D943-A781-4209-AE27-44C9303774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126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019B44-8EC3-4AC0-A124-5EA7B0CBAF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10DC75-3856-4B24-B7CB-67AC2F33EC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9DB736-D728-4C77-9C9D-84CF2FBCAB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D8F49-5D6A-4160-8883-3868F7A623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096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B2E159-A570-4953-A2DE-41826A98E7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A497C8-4A5E-477F-A697-A02E537FF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05909B-AC88-4E02-98F5-70F74B9FC2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4DBD3-922E-4FFF-97D7-679112A89B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253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1BD6DB-E347-4247-8854-015D764AC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0E7C94-7C2E-4C33-906C-6A562018E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6B78C18-ED47-4F8B-8E86-9DB4D79183B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4D5AA9-79BF-4C72-9F20-3370207195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DC802E-F0AA-4D79-8910-22EA2AE810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39C6A72-EEC5-492E-A552-1AE9741390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45" r:id="rId3"/>
    <p:sldLayoutId id="2147484146" r:id="rId4"/>
    <p:sldLayoutId id="2147484147" r:id="rId5"/>
    <p:sldLayoutId id="2147484148" r:id="rId6"/>
    <p:sldLayoutId id="2147484155" r:id="rId7"/>
    <p:sldLayoutId id="2147484149" r:id="rId8"/>
    <p:sldLayoutId id="2147484150" r:id="rId9"/>
    <p:sldLayoutId id="2147484151" r:id="rId10"/>
    <p:sldLayoutId id="2147484152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4DF766F1-792A-47B3-AF9F-630D649BEA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/>
          <a:p>
            <a:r>
              <a:rPr lang="zh-CN" altLang="en-US" sz="4800" b="1" dirty="0">
                <a:latin typeface="黑体" panose="02010609060101010101" pitchFamily="49" charset="-122"/>
                <a:ea typeface="黑体" panose="02010609060101010101" pitchFamily="49" charset="-122"/>
              </a:rPr>
              <a:t>数字逻辑设计进阶实验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副标题 2">
            <a:extLst>
              <a:ext uri="{FF2B5EF4-FFF2-40B4-BE49-F238E27FC236}">
                <a16:creationId xmlns:a16="http://schemas.microsoft.com/office/drawing/2014/main" id="{A29F91D7-2C8E-4253-B843-A525EA3E7E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371600"/>
          </a:xfrm>
        </p:spPr>
        <p:txBody>
          <a:bodyPr/>
          <a:lstStyle/>
          <a:p>
            <a:r>
              <a:rPr lang="zh-CN" altLang="en-US" sz="3600" b="1">
                <a:ea typeface="宋体" panose="02010600030101010101" pitchFamily="2" charset="-122"/>
              </a:rPr>
              <a:t>实验一</a:t>
            </a:r>
            <a:r>
              <a:rPr lang="en-US" altLang="zh-CN" sz="3600" b="1">
                <a:ea typeface="宋体" panose="02010600030101010101" pitchFamily="2" charset="-122"/>
              </a:rPr>
              <a:t> </a:t>
            </a:r>
            <a:r>
              <a:rPr lang="zh-CN" altLang="en-US" sz="3600" b="1">
                <a:ea typeface="宋体" panose="02010600030101010101" pitchFamily="2" charset="-122"/>
              </a:rPr>
              <a:t>编码器与译码器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A31F30B-2C4B-4FA2-B6C4-BE631311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" name="页脚占位符 1">
            <a:extLst>
              <a:ext uri="{FF2B5EF4-FFF2-40B4-BE49-F238E27FC236}">
                <a16:creationId xmlns:a16="http://schemas.microsoft.com/office/drawing/2014/main" id="{0672F65D-B2B0-4A2E-8D5B-A0F983F18F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566802F5-ADF4-4B16-95F7-83B3DAB6BA2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9C552A-E099-4805-8F86-8B63933F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</a:p>
        </p:txBody>
      </p:sp>
      <p:sp>
        <p:nvSpPr>
          <p:cNvPr id="8198" name="内容占位符 1">
            <a:extLst>
              <a:ext uri="{FF2B5EF4-FFF2-40B4-BE49-F238E27FC236}">
                <a16:creationId xmlns:a16="http://schemas.microsoft.com/office/drawing/2014/main" id="{DE3B3327-D4F7-443B-96A5-A9F133E28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72122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熟练掌握编码器和译码器的功能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描述组合逻辑电路的方法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掌握逻辑电路的模块化设计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掌握利用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工具，进行逻辑电路的设计、仿真、调试、下载测试等基本方法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了解查看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生成电路和资源使用情况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FF45893-B74D-4B7C-A57A-3CE37E35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" name="页脚占位符 1">
            <a:extLst>
              <a:ext uri="{FF2B5EF4-FFF2-40B4-BE49-F238E27FC236}">
                <a16:creationId xmlns:a16="http://schemas.microsoft.com/office/drawing/2014/main" id="{092D25FA-C49C-429D-8DC2-8939B33A02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1D3C0C0E-81EF-4EC6-BDEE-2528D444524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实验内容</a:t>
            </a:r>
          </a:p>
        </p:txBody>
      </p:sp>
      <p:sp>
        <p:nvSpPr>
          <p:cNvPr id="70" name="内容占位符 2">
            <a:extLst>
              <a:ext uri="{FF2B5EF4-FFF2-40B4-BE49-F238E27FC236}">
                <a16:creationId xmlns:a16="http://schemas.microsoft.com/office/drawing/2014/main" id="{CC93F1C2-6163-4EBB-ADEA-96BA41070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3000"/>
            <a:ext cx="8293468" cy="1679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zh-CN" altLang="en-US" sz="2800" b="1" kern="0">
                <a:ea typeface="宋体" panose="02010600030101010101" pitchFamily="2" charset="-122"/>
                <a:cs typeface="Times New Roman" panose="02020603050405020304" pitchFamily="18" charset="0"/>
              </a:rPr>
              <a:t>编码器：</a:t>
            </a:r>
            <a:r>
              <a:rPr lang="zh-CN" altLang="en-US" sz="2400" kern="0">
                <a:cs typeface="Times New Roman" panose="02020603050405020304" pitchFamily="18" charset="0"/>
              </a:rPr>
              <a:t>普通</a:t>
            </a:r>
            <a:r>
              <a:rPr lang="en-US" altLang="zh-CN" sz="2400" kern="0">
                <a:cs typeface="Times New Roman" panose="02020603050405020304" pitchFamily="18" charset="0"/>
              </a:rPr>
              <a:t>/</a:t>
            </a:r>
            <a:r>
              <a:rPr lang="zh-CN" altLang="en-US" sz="2400" kern="0">
                <a:cs typeface="Times New Roman" panose="02020603050405020304" pitchFamily="18" charset="0"/>
              </a:rPr>
              <a:t>优先编码器</a:t>
            </a:r>
            <a:r>
              <a:rPr lang="zh-CN" altLang="en-US" sz="2400" kern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0">
                <a:ea typeface="宋体" panose="02010600030101010101" pitchFamily="2" charset="-122"/>
                <a:cs typeface="Times New Roman" panose="02020603050405020304" pitchFamily="18" charset="0"/>
              </a:rPr>
              <a:t>ECD</a:t>
            </a:r>
            <a:r>
              <a:rPr lang="zh-CN" altLang="en-US" sz="2400" kern="0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kern="0" dirty="0"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800" b="1" kern="0">
                <a:ea typeface="宋体" panose="02010600030101010101" pitchFamily="2" charset="-122"/>
                <a:cs typeface="Times New Roman" panose="02020603050405020304" pitchFamily="18" charset="0"/>
              </a:rPr>
              <a:t>译码器：</a:t>
            </a:r>
            <a:r>
              <a:rPr lang="en-US" altLang="zh-CN" sz="2400" kern="0"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zh-CN" altLang="en-US" sz="2400">
                <a:ea typeface="宋体" panose="02010600030101010101" pitchFamily="2" charset="-122"/>
              </a:rPr>
              <a:t>译码器</a:t>
            </a:r>
            <a:r>
              <a:rPr lang="zh-CN" altLang="en-US" sz="2400" kern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0">
                <a:cs typeface="Times New Roman" panose="02020603050405020304" pitchFamily="18" charset="0"/>
              </a:rPr>
              <a:t>BCD</a:t>
            </a:r>
            <a:r>
              <a:rPr lang="zh-CN" altLang="en-US" sz="2400" kern="0" dirty="0">
                <a:cs typeface="Times New Roman" panose="02020603050405020304" pitchFamily="18" charset="0"/>
              </a:rPr>
              <a:t>）</a:t>
            </a:r>
            <a:r>
              <a:rPr lang="zh-CN" altLang="en-US" sz="2400" kern="0">
                <a:cs typeface="Times New Roman" panose="02020603050405020304" pitchFamily="18" charset="0"/>
              </a:rPr>
              <a:t>，</a:t>
            </a:r>
            <a:r>
              <a:rPr lang="en-US" altLang="zh-CN" sz="2400" kern="0">
                <a:cs typeface="Times New Roman" panose="02020603050405020304" pitchFamily="18" charset="0"/>
              </a:rPr>
              <a:t>7</a:t>
            </a:r>
            <a:r>
              <a:rPr lang="zh-CN" altLang="en-US" sz="2400" kern="0">
                <a:cs typeface="Times New Roman" panose="02020603050405020304" pitchFamily="18" charset="0"/>
              </a:rPr>
              <a:t>段译码器（</a:t>
            </a:r>
            <a:r>
              <a:rPr lang="en-US" altLang="zh-CN" sz="2400" kern="0">
                <a:cs typeface="Times New Roman" panose="02020603050405020304" pitchFamily="18" charset="0"/>
              </a:rPr>
              <a:t>SSD</a:t>
            </a:r>
            <a:r>
              <a:rPr lang="zh-CN" altLang="en-US" sz="2400" kern="0" dirty="0">
                <a:cs typeface="Times New Roman" panose="02020603050405020304" pitchFamily="18" charset="0"/>
              </a:rPr>
              <a:t>）</a:t>
            </a:r>
            <a:endParaRPr lang="en-US" altLang="zh-CN" sz="2400" kern="0" dirty="0"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800" b="1" kern="0" dirty="0">
                <a:cs typeface="Times New Roman" panose="02020603050405020304" pitchFamily="18" charset="0"/>
              </a:rPr>
              <a:t>数据选择器：</a:t>
            </a:r>
            <a:r>
              <a:rPr lang="en-US" altLang="zh-CN" sz="2400" kern="0" dirty="0">
                <a:cs typeface="Times New Roman" panose="02020603050405020304" pitchFamily="18" charset="0"/>
              </a:rPr>
              <a:t>2</a:t>
            </a:r>
            <a:r>
              <a:rPr lang="zh-CN" altLang="en-US" sz="2400" kern="0" dirty="0">
                <a:cs typeface="Times New Roman" panose="02020603050405020304" pitchFamily="18" charset="0"/>
              </a:rPr>
              <a:t>选</a:t>
            </a:r>
            <a:r>
              <a:rPr lang="en-US" altLang="zh-CN" sz="2400" kern="0" dirty="0"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cs typeface="Times New Roman" panose="02020603050405020304" pitchFamily="18" charset="0"/>
              </a:rPr>
              <a:t>数据选择器</a:t>
            </a:r>
            <a:r>
              <a:rPr lang="en-US" altLang="zh-CN" sz="2400" kern="0" dirty="0">
                <a:cs typeface="Times New Roman" panose="02020603050405020304" pitchFamily="18" charset="0"/>
              </a:rPr>
              <a:t>(</a:t>
            </a:r>
            <a:r>
              <a:rPr lang="en-US" altLang="zh-CN" sz="2400" kern="0">
                <a:cs typeface="Times New Roman" panose="02020603050405020304" pitchFamily="18" charset="0"/>
              </a:rPr>
              <a:t>MUX)</a:t>
            </a:r>
            <a:endParaRPr lang="en-US" altLang="zh-CN" sz="2800" kern="0" dirty="0"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1EA86A2-CE8A-4A9B-9276-C38966386015}"/>
              </a:ext>
            </a:extLst>
          </p:cNvPr>
          <p:cNvGrpSpPr/>
          <p:nvPr/>
        </p:nvGrpSpPr>
        <p:grpSpPr>
          <a:xfrm>
            <a:off x="475087" y="3141000"/>
            <a:ext cx="8234342" cy="2911892"/>
            <a:chOff x="475087" y="3114472"/>
            <a:chExt cx="8234342" cy="2911892"/>
          </a:xfrm>
        </p:grpSpPr>
        <p:sp>
          <p:nvSpPr>
            <p:cNvPr id="31" name="TextBox 32">
              <a:extLst>
                <a:ext uri="{FF2B5EF4-FFF2-40B4-BE49-F238E27FC236}">
                  <a16:creationId xmlns:a16="http://schemas.microsoft.com/office/drawing/2014/main" id="{CEF8C0F1-F868-4C30-BC41-65156B7C1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641" y="5195367"/>
              <a:ext cx="102648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cs typeface="Arial" panose="020B0604020202020204" pitchFamily="34" charset="0"/>
                </a:rPr>
                <a:t>注：括号内表示实验板外设</a:t>
              </a: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D3ED5BEB-C361-4763-8F1B-3615C435F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120" y="3504297"/>
              <a:ext cx="74058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(sw</a:t>
              </a:r>
              <a:r>
                <a:rPr lang="en-US" altLang="zh-CN" sz="1800" dirty="0">
                  <a:cs typeface="Arial" panose="020B0604020202020204" pitchFamily="34" charset="0"/>
                </a:rPr>
                <a:t>15</a:t>
              </a:r>
              <a:r>
                <a:rPr lang="en-US" altLang="zh-CN" sz="2000" dirty="0">
                  <a:cs typeface="Arial" panose="020B0604020202020204" pitchFamily="34" charset="0"/>
                </a:rPr>
                <a:t>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AE26D3-12AF-481F-B8A2-72A59ED5E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7623" y="4110621"/>
              <a:ext cx="793417" cy="307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(led9-0)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34" name="TextBox 32">
              <a:extLst>
                <a:ext uri="{FF2B5EF4-FFF2-40B4-BE49-F238E27FC236}">
                  <a16:creationId xmlns:a16="http://schemas.microsoft.com/office/drawing/2014/main" id="{E94B083A-9793-4FD6-A2DC-051E6262F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8727" y="4992536"/>
              <a:ext cx="715659" cy="307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(ca-cg)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35" name="TextBox 32">
              <a:extLst>
                <a:ext uri="{FF2B5EF4-FFF2-40B4-BE49-F238E27FC236}">
                  <a16:creationId xmlns:a16="http://schemas.microsoft.com/office/drawing/2014/main" id="{AB8238AA-F4FB-4A71-9EEB-37FB5F2CF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3683" y="3422249"/>
              <a:ext cx="108574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(led</a:t>
              </a:r>
              <a:r>
                <a:rPr lang="en-US" altLang="zh-CN" sz="1800" dirty="0">
                  <a:cs typeface="Arial" panose="020B0604020202020204" pitchFamily="34" charset="0"/>
                </a:rPr>
                <a:t>14-11</a:t>
              </a:r>
              <a:r>
                <a:rPr lang="en-US" altLang="zh-CN" sz="2000" dirty="0">
                  <a:cs typeface="Arial" panose="020B0604020202020204" pitchFamily="34" charset="0"/>
                </a:rPr>
                <a:t>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4120FBED-DFE5-4FFA-9C25-310954935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63" y="4124889"/>
              <a:ext cx="76753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(sw9-0)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37" name="TextBox 32">
              <a:extLst>
                <a:ext uri="{FF2B5EF4-FFF2-40B4-BE49-F238E27FC236}">
                  <a16:creationId xmlns:a16="http://schemas.microsoft.com/office/drawing/2014/main" id="{14852CBF-8126-4C72-92C5-427142843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9198" y="3114472"/>
              <a:ext cx="76944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(led</a:t>
              </a:r>
              <a:r>
                <a:rPr lang="en-US" altLang="zh-CN" sz="1800" dirty="0">
                  <a:cs typeface="Arial" panose="020B0604020202020204" pitchFamily="34" charset="0"/>
                </a:rPr>
                <a:t>15</a:t>
              </a:r>
              <a:r>
                <a:rPr lang="en-US" altLang="zh-CN" sz="2000" dirty="0">
                  <a:cs typeface="Arial" panose="020B0604020202020204" pitchFamily="34" charset="0"/>
                </a:rPr>
                <a:t>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39" name="TextBox 32">
              <a:extLst>
                <a:ext uri="{FF2B5EF4-FFF2-40B4-BE49-F238E27FC236}">
                  <a16:creationId xmlns:a16="http://schemas.microsoft.com/office/drawing/2014/main" id="{D852C4A6-B02D-4151-8A93-44DF9DE8E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087" y="4673225"/>
              <a:ext cx="10740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cs typeface="Arial" panose="020B0604020202020204" pitchFamily="34" charset="0"/>
                </a:rPr>
                <a:t>(sw</a:t>
              </a:r>
              <a:r>
                <a:rPr lang="en-US" altLang="zh-CN" sz="1800">
                  <a:cs typeface="Arial" panose="020B0604020202020204" pitchFamily="34" charset="0"/>
                </a:rPr>
                <a:t>13-10</a:t>
              </a:r>
              <a:r>
                <a:rPr lang="en-US" altLang="zh-CN" sz="2000">
                  <a:cs typeface="Arial" panose="020B0604020202020204" pitchFamily="34" charset="0"/>
                </a:rPr>
                <a:t>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110" name="TextBox 32">
              <a:extLst>
                <a:ext uri="{FF2B5EF4-FFF2-40B4-BE49-F238E27FC236}">
                  <a16:creationId xmlns:a16="http://schemas.microsoft.com/office/drawing/2014/main" id="{399F6ECD-5773-470F-9CA6-71BA365E1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085" y="3809254"/>
              <a:ext cx="74058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cs typeface="Arial" panose="020B0604020202020204" pitchFamily="34" charset="0"/>
                </a:rPr>
                <a:t>(sw</a:t>
              </a:r>
              <a:r>
                <a:rPr lang="en-US" altLang="zh-CN" sz="1800">
                  <a:cs typeface="Arial" panose="020B0604020202020204" pitchFamily="34" charset="0"/>
                </a:rPr>
                <a:t>14</a:t>
              </a:r>
              <a:r>
                <a:rPr lang="en-US" altLang="zh-CN" sz="2000">
                  <a:cs typeface="Arial" panose="020B0604020202020204" pitchFamily="34" charset="0"/>
                </a:rPr>
                <a:t>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</p:grpSp>
      <p:sp>
        <p:nvSpPr>
          <p:cNvPr id="103" name="灯片编号占位符 5">
            <a:extLst>
              <a:ext uri="{FF2B5EF4-FFF2-40B4-BE49-F238E27FC236}">
                <a16:creationId xmlns:a16="http://schemas.microsoft.com/office/drawing/2014/main" id="{0D468A0E-F797-48B0-AC1D-1F7E8FAA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04" name="页脚占位符 1">
            <a:extLst>
              <a:ext uri="{FF2B5EF4-FFF2-40B4-BE49-F238E27FC236}">
                <a16:creationId xmlns:a16="http://schemas.microsoft.com/office/drawing/2014/main" id="{9533F205-FE30-4B84-8185-835FE24DE5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05" name="日期占位符 3">
            <a:extLst>
              <a:ext uri="{FF2B5EF4-FFF2-40B4-BE49-F238E27FC236}">
                <a16:creationId xmlns:a16="http://schemas.microsoft.com/office/drawing/2014/main" id="{12891C35-119B-44E0-8C2D-AD85616C6C2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2D5DCE2-CBD1-459A-80CE-EB869901EDCE}"/>
              </a:ext>
            </a:extLst>
          </p:cNvPr>
          <p:cNvGrpSpPr/>
          <p:nvPr/>
        </p:nvGrpSpPr>
        <p:grpSpPr>
          <a:xfrm>
            <a:off x="2058147" y="3203361"/>
            <a:ext cx="5036923" cy="2803590"/>
            <a:chOff x="1868869" y="3176833"/>
            <a:chExt cx="5422966" cy="2803590"/>
          </a:xfrm>
        </p:grpSpPr>
        <p:sp>
          <p:nvSpPr>
            <p:cNvPr id="94" name="TextBox 32">
              <a:extLst>
                <a:ext uri="{FF2B5EF4-FFF2-40B4-BE49-F238E27FC236}">
                  <a16:creationId xmlns:a16="http://schemas.microsoft.com/office/drawing/2014/main" id="{AD60F230-A667-4C90-93B3-07571E9FC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6668" y="5547778"/>
              <a:ext cx="83356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cs typeface="Arial" panose="020B0604020202020204" pitchFamily="34" charset="0"/>
                </a:rPr>
                <a:t>CODER</a:t>
              </a:r>
              <a:endParaRPr lang="zh-CN" altLang="en-US" sz="1800" dirty="0">
                <a:cs typeface="Arial" panose="020B0604020202020204" pitchFamily="34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4048DEC-4B9A-408C-9F1F-8FCFC3DC0C5B}"/>
                </a:ext>
              </a:extLst>
            </p:cNvPr>
            <p:cNvSpPr/>
            <p:nvPr/>
          </p:nvSpPr>
          <p:spPr bwMode="auto">
            <a:xfrm>
              <a:off x="1868869" y="3176833"/>
              <a:ext cx="5422966" cy="280359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A3129E4-A2A1-4950-91B2-B9C87AB2BFF1}"/>
              </a:ext>
            </a:extLst>
          </p:cNvPr>
          <p:cNvGrpSpPr/>
          <p:nvPr/>
        </p:nvGrpSpPr>
        <p:grpSpPr>
          <a:xfrm>
            <a:off x="5358928" y="5543528"/>
            <a:ext cx="2906830" cy="315509"/>
            <a:chOff x="5358928" y="5517000"/>
            <a:chExt cx="2906830" cy="315509"/>
          </a:xfrm>
        </p:grpSpPr>
        <p:sp>
          <p:nvSpPr>
            <p:cNvPr id="38" name="TextBox 32">
              <a:extLst>
                <a:ext uri="{FF2B5EF4-FFF2-40B4-BE49-F238E27FC236}">
                  <a16:creationId xmlns:a16="http://schemas.microsoft.com/office/drawing/2014/main" id="{6EAF6C85-BC75-4D69-88A0-B5CEA2E7A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0505" y="5517000"/>
              <a:ext cx="4552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(an)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99" name="TextBox 32">
              <a:extLst>
                <a:ext uri="{FF2B5EF4-FFF2-40B4-BE49-F238E27FC236}">
                  <a16:creationId xmlns:a16="http://schemas.microsoft.com/office/drawing/2014/main" id="{E75EC89F-1CDE-4CF2-86E6-060227716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1733" y="5524732"/>
              <a:ext cx="28533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an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A96F4468-CCEB-4732-BBC6-75DA1CF9084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48118" y="5708002"/>
              <a:ext cx="4274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32">
              <a:extLst>
                <a:ext uri="{FF2B5EF4-FFF2-40B4-BE49-F238E27FC236}">
                  <a16:creationId xmlns:a16="http://schemas.microsoft.com/office/drawing/2014/main" id="{D1E37D3B-09AC-4CC3-9C8B-6AF50908D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8928" y="5550569"/>
              <a:ext cx="137633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cs typeface="Arial" panose="020B0604020202020204" pitchFamily="34" charset="0"/>
                </a:rPr>
                <a:t>8’b1111_1110</a:t>
              </a:r>
              <a:endParaRPr lang="zh-CN" altLang="en-US" sz="18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B5F9AB8-6F8B-49E8-B301-0B6F0554ECE3}"/>
              </a:ext>
            </a:extLst>
          </p:cNvPr>
          <p:cNvGrpSpPr/>
          <p:nvPr/>
        </p:nvGrpSpPr>
        <p:grpSpPr>
          <a:xfrm>
            <a:off x="1609239" y="3167528"/>
            <a:ext cx="6071523" cy="2253311"/>
            <a:chOff x="1609239" y="3141000"/>
            <a:chExt cx="6071523" cy="2253311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D20ECA88-8D1A-4A31-8785-77B1484EA902}"/>
                </a:ext>
              </a:extLst>
            </p:cNvPr>
            <p:cNvGrpSpPr/>
            <p:nvPr/>
          </p:nvGrpSpPr>
          <p:grpSpPr>
            <a:xfrm>
              <a:off x="5552974" y="4745299"/>
              <a:ext cx="1738861" cy="649012"/>
              <a:chOff x="5811131" y="3942374"/>
              <a:chExt cx="1903064" cy="649012"/>
            </a:xfrm>
          </p:grpSpPr>
          <p:sp>
            <p:nvSpPr>
              <p:cNvPr id="91" name="文本框 51">
                <a:extLst>
                  <a:ext uri="{FF2B5EF4-FFF2-40B4-BE49-F238E27FC236}">
                    <a16:creationId xmlns:a16="http://schemas.microsoft.com/office/drawing/2014/main" id="{1181F620-5C78-4304-8314-BC9F48DB4B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9503" y="3942374"/>
                <a:ext cx="1072368" cy="64901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/>
                  <a:t>SSD</a:t>
                </a:r>
                <a:endParaRPr lang="zh-CN" altLang="en-US" sz="1800" dirty="0"/>
              </a:p>
            </p:txBody>
          </p:sp>
          <p:sp>
            <p:nvSpPr>
              <p:cNvPr id="92" name="TextBox 32">
                <a:extLst>
                  <a:ext uri="{FF2B5EF4-FFF2-40B4-BE49-F238E27FC236}">
                    <a16:creationId xmlns:a16="http://schemas.microsoft.com/office/drawing/2014/main" id="{4745940E-4022-4224-8266-DF041A936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3617" y="4191006"/>
                <a:ext cx="14266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d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B0771EFD-8FE3-4F9A-925D-62FD48220EE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11131" y="4351250"/>
                <a:ext cx="3840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32">
                <a:extLst>
                  <a:ext uri="{FF2B5EF4-FFF2-40B4-BE49-F238E27FC236}">
                    <a16:creationId xmlns:a16="http://schemas.microsoft.com/office/drawing/2014/main" id="{8CE1A856-1E55-463C-9201-E7047026D1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4432" y="4178380"/>
                <a:ext cx="29649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 err="1">
                    <a:cs typeface="Arial" panose="020B0604020202020204" pitchFamily="34" charset="0"/>
                  </a:rPr>
                  <a:t>yn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58D3D61E-2DE5-43F0-9D4E-7C86A38B8D4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286718" y="4354938"/>
                <a:ext cx="42747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8FC69269-6F2C-42CE-A5CD-4C9009DD4E5E}"/>
                </a:ext>
              </a:extLst>
            </p:cNvPr>
            <p:cNvGrpSpPr/>
            <p:nvPr/>
          </p:nvGrpSpPr>
          <p:grpSpPr>
            <a:xfrm>
              <a:off x="1868869" y="3428999"/>
              <a:ext cx="2823229" cy="1092031"/>
              <a:chOff x="1116000" y="1866743"/>
              <a:chExt cx="3089832" cy="1092031"/>
            </a:xfrm>
          </p:grpSpPr>
          <p:sp>
            <p:nvSpPr>
              <p:cNvPr id="82" name="文本框 51">
                <a:extLst>
                  <a:ext uri="{FF2B5EF4-FFF2-40B4-BE49-F238E27FC236}">
                    <a16:creationId xmlns:a16="http://schemas.microsoft.com/office/drawing/2014/main" id="{C3F63556-41D4-4D36-AE26-A9301CAF41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0509" y="1866743"/>
                <a:ext cx="1072368" cy="109203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dirty="0"/>
                  <a:t>ECD</a:t>
                </a:r>
                <a:endParaRPr lang="zh-CN" altLang="en-US" sz="1800" dirty="0"/>
              </a:p>
            </p:txBody>
          </p:sp>
          <p:sp>
            <p:nvSpPr>
              <p:cNvPr id="83" name="TextBox 32">
                <a:extLst>
                  <a:ext uri="{FF2B5EF4-FFF2-40B4-BE49-F238E27FC236}">
                    <a16:creationId xmlns:a16="http://schemas.microsoft.com/office/drawing/2014/main" id="{8E3221C5-F27E-4AEC-A0F8-B6FA479075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4623" y="2272216"/>
                <a:ext cx="1561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p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D57DABE4-BC81-4281-BE28-5D337160F7C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116000" y="2445390"/>
                <a:ext cx="435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32">
                <a:extLst>
                  <a:ext uri="{FF2B5EF4-FFF2-40B4-BE49-F238E27FC236}">
                    <a16:creationId xmlns:a16="http://schemas.microsoft.com/office/drawing/2014/main" id="{408674A8-220A-4A16-AF3A-9D0703635C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4623" y="2533191"/>
                <a:ext cx="14035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x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0D2B0CFE-81BA-4376-8C34-23EC48D6057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116000" y="2716522"/>
                <a:ext cx="44021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32">
                <a:extLst>
                  <a:ext uri="{FF2B5EF4-FFF2-40B4-BE49-F238E27FC236}">
                    <a16:creationId xmlns:a16="http://schemas.microsoft.com/office/drawing/2014/main" id="{217DE3C1-AD18-40BD-9086-6AE5DEF3F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2913" y="2100358"/>
                <a:ext cx="7719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f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09869352-95BC-4403-8219-8597A9B5D15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42876" y="2280782"/>
                <a:ext cx="156295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32">
                <a:extLst>
                  <a:ext uri="{FF2B5EF4-FFF2-40B4-BE49-F238E27FC236}">
                    <a16:creationId xmlns:a16="http://schemas.microsoft.com/office/drawing/2014/main" id="{39AA2CB9-44E7-49A0-B594-C01EC59CD7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748" y="2501596"/>
                <a:ext cx="1282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y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EDD1121D-883A-4C0A-AE8B-C80B8C99A11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47724" y="2716522"/>
                <a:ext cx="6000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32">
                <a:extLst>
                  <a:ext uri="{FF2B5EF4-FFF2-40B4-BE49-F238E27FC236}">
                    <a16:creationId xmlns:a16="http://schemas.microsoft.com/office/drawing/2014/main" id="{F9638634-4A99-434E-ADBF-FCD2AC75C7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4679" y="2048779"/>
                <a:ext cx="14266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e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CB67EEE7-1309-4F35-9A20-353B3C5D94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116056" y="2221953"/>
                <a:ext cx="435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DAC5B61-C987-436C-8871-21F0D3720276}"/>
                </a:ext>
              </a:extLst>
            </p:cNvPr>
            <p:cNvGrpSpPr/>
            <p:nvPr/>
          </p:nvGrpSpPr>
          <p:grpSpPr>
            <a:xfrm>
              <a:off x="5552974" y="3824823"/>
              <a:ext cx="1738860" cy="649010"/>
              <a:chOff x="5811131" y="2873447"/>
              <a:chExt cx="1903063" cy="649010"/>
            </a:xfrm>
          </p:grpSpPr>
          <p:sp>
            <p:nvSpPr>
              <p:cNvPr id="77" name="文本框 51">
                <a:extLst>
                  <a:ext uri="{FF2B5EF4-FFF2-40B4-BE49-F238E27FC236}">
                    <a16:creationId xmlns:a16="http://schemas.microsoft.com/office/drawing/2014/main" id="{5D1EF306-06B7-4409-829D-1C5013B33D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9503" y="2873447"/>
                <a:ext cx="1072368" cy="64901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dirty="0"/>
                  <a:t>B</a:t>
                </a:r>
                <a:r>
                  <a:rPr lang="en-US" altLang="zh-CN" sz="1800"/>
                  <a:t>CD</a:t>
                </a:r>
                <a:endParaRPr lang="zh-CN" altLang="en-US" sz="1800" dirty="0"/>
              </a:p>
            </p:txBody>
          </p:sp>
          <p:sp>
            <p:nvSpPr>
              <p:cNvPr id="78" name="TextBox 32">
                <a:extLst>
                  <a:ext uri="{FF2B5EF4-FFF2-40B4-BE49-F238E27FC236}">
                    <a16:creationId xmlns:a16="http://schemas.microsoft.com/office/drawing/2014/main" id="{C2FAF38D-E5D2-44BB-A672-0DD0C93D12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6881" y="3120610"/>
                <a:ext cx="1561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d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1B8CA236-0F1D-4F29-A1B6-0F834BE67E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11131" y="3279568"/>
                <a:ext cx="3840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32">
                <a:extLst>
                  <a:ext uri="{FF2B5EF4-FFF2-40B4-BE49-F238E27FC236}">
                    <a16:creationId xmlns:a16="http://schemas.microsoft.com/office/drawing/2014/main" id="{CA2CC378-BE6C-4A30-832A-2A10F742D6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4894" y="3093929"/>
                <a:ext cx="1282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cs typeface="Arial" panose="020B0604020202020204" pitchFamily="34" charset="0"/>
                  </a:rPr>
                  <a:t>y</a:t>
                </a:r>
                <a:endParaRPr lang="zh-CN" altLang="en-US" sz="2000" dirty="0">
                  <a:cs typeface="Arial" panose="020B0604020202020204" pitchFamily="34" charset="0"/>
                </a:endParaRPr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3E8BE654-008E-4401-8242-523D11396C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281871" y="3279568"/>
                <a:ext cx="43232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BBCEEDA-D783-45BB-8E4C-97161E2F83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2974" y="4673953"/>
              <a:ext cx="0" cy="478737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AE185267-0BCE-4E01-9F7B-5C450FD14186}"/>
                </a:ext>
              </a:extLst>
            </p:cNvPr>
            <p:cNvGrpSpPr/>
            <p:nvPr/>
          </p:nvGrpSpPr>
          <p:grpSpPr>
            <a:xfrm>
              <a:off x="1868869" y="3843036"/>
              <a:ext cx="3684104" cy="1389597"/>
              <a:chOff x="1024968" y="2467755"/>
              <a:chExt cx="4032000" cy="1389597"/>
            </a:xfrm>
          </p:grpSpPr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223FC97E-975B-436C-A065-8F1F9D6687B8}"/>
                  </a:ext>
                </a:extLst>
              </p:cNvPr>
              <p:cNvGrpSpPr/>
              <p:nvPr/>
            </p:nvGrpSpPr>
            <p:grpSpPr>
              <a:xfrm>
                <a:off x="1024968" y="2850593"/>
                <a:ext cx="4032000" cy="1006759"/>
                <a:chOff x="959125" y="3359525"/>
                <a:chExt cx="4032000" cy="1006759"/>
              </a:xfrm>
            </p:grpSpPr>
            <p:sp>
              <p:nvSpPr>
                <p:cNvPr id="68" name="文本框 51">
                  <a:extLst>
                    <a:ext uri="{FF2B5EF4-FFF2-40B4-BE49-F238E27FC236}">
                      <a16:creationId xmlns:a16="http://schemas.microsoft.com/office/drawing/2014/main" id="{002501C0-4F78-403D-8C04-A5BAB40FDB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345" y="3404229"/>
                  <a:ext cx="1072368" cy="962055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b" anchorCtr="0">
                  <a:no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/>
                    <a:t>MUX</a:t>
                  </a:r>
                  <a:endParaRPr lang="zh-CN" altLang="en-US" sz="1800" dirty="0"/>
                </a:p>
              </p:txBody>
            </p:sp>
            <p:sp>
              <p:nvSpPr>
                <p:cNvPr id="69" name="TextBox 32">
                  <a:extLst>
                    <a:ext uri="{FF2B5EF4-FFF2-40B4-BE49-F238E27FC236}">
                      <a16:creationId xmlns:a16="http://schemas.microsoft.com/office/drawing/2014/main" id="{A0B3D80E-76CD-4DCB-A8F8-DFEFAC2BDC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7315" y="3474174"/>
                  <a:ext cx="156140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dirty="0">
                      <a:cs typeface="Arial" panose="020B0604020202020204" pitchFamily="34" charset="0"/>
                    </a:rPr>
                    <a:t>b</a:t>
                  </a:r>
                  <a:endParaRPr lang="zh-CN" altLang="en-US" sz="2000" dirty="0"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1BC000CB-5908-4FFB-AC6A-96190B97244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119125" y="3642694"/>
                  <a:ext cx="384075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TextBox 32">
                  <a:extLst>
                    <a:ext uri="{FF2B5EF4-FFF2-40B4-BE49-F238E27FC236}">
                      <a16:creationId xmlns:a16="http://schemas.microsoft.com/office/drawing/2014/main" id="{45E357C1-F0BD-4C6D-A02C-45E96E22A3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7315" y="3808301"/>
                  <a:ext cx="156140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dirty="0">
                      <a:cs typeface="Arial" panose="020B0604020202020204" pitchFamily="34" charset="0"/>
                    </a:rPr>
                    <a:t>a</a:t>
                  </a:r>
                  <a:endParaRPr lang="zh-CN" altLang="en-US" sz="2000" dirty="0"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CB4C49CF-C6CC-4BC0-BDC5-0CBF2B5365E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959125" y="3991632"/>
                  <a:ext cx="254892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TextBox 32">
                  <a:extLst>
                    <a:ext uri="{FF2B5EF4-FFF2-40B4-BE49-F238E27FC236}">
                      <a16:creationId xmlns:a16="http://schemas.microsoft.com/office/drawing/2014/main" id="{EC15BDB0-CC75-4C87-AD04-9B186FA4C6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47737" y="3620629"/>
                  <a:ext cx="128240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dirty="0">
                      <a:cs typeface="Arial" panose="020B0604020202020204" pitchFamily="34" charset="0"/>
                    </a:rPr>
                    <a:t>y</a:t>
                  </a:r>
                  <a:endParaRPr lang="zh-CN" altLang="en-US" sz="2000" dirty="0"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E0505E91-908D-4F9A-BDDE-FF273152EEA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594713" y="3806876"/>
                  <a:ext cx="39641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32">
                  <a:extLst>
                    <a:ext uri="{FF2B5EF4-FFF2-40B4-BE49-F238E27FC236}">
                      <a16:creationId xmlns:a16="http://schemas.microsoft.com/office/drawing/2014/main" id="{F6592A4D-1F2A-4652-B987-12B75E4009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836" y="3359525"/>
                  <a:ext cx="128240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dirty="0">
                      <a:cs typeface="Arial" panose="020B0604020202020204" pitchFamily="34" charset="0"/>
                    </a:rPr>
                    <a:t>s</a:t>
                  </a:r>
                  <a:endParaRPr lang="zh-CN" altLang="en-US" sz="2000" dirty="0"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33BAECBE-9662-4B6D-BD58-83631F3EAF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114800" y="2467755"/>
                <a:ext cx="0" cy="42754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F36B0CEE-A616-4EF0-999A-2EFFC25B0E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46302" y="3589026"/>
              <a:ext cx="34455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A2AABF5-ECF2-44AB-B1B4-FF0F767422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46302" y="3590477"/>
              <a:ext cx="0" cy="757526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0AACA39-0DFF-41FA-A041-ACE5ADEB820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51988" y="3357000"/>
              <a:ext cx="0" cy="486038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09F2409-57FD-4C05-811D-0357C3C0C28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51988" y="3357000"/>
              <a:ext cx="3739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9D0C42D-F122-4FE3-AE95-E6F8890CA91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42497" y="4278778"/>
              <a:ext cx="0" cy="242252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AF52581-1B1D-446F-8F4B-7766AB947E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2974" y="4226079"/>
              <a:ext cx="0" cy="437457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32">
              <a:extLst>
                <a:ext uri="{FF2B5EF4-FFF2-40B4-BE49-F238E27FC236}">
                  <a16:creationId xmlns:a16="http://schemas.microsoft.com/office/drawing/2014/main" id="{06B9C172-811A-4B1A-85F6-1F19AF65B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5861" y="4069835"/>
              <a:ext cx="13585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y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56" name="TextBox 32">
              <a:extLst>
                <a:ext uri="{FF2B5EF4-FFF2-40B4-BE49-F238E27FC236}">
                  <a16:creationId xmlns:a16="http://schemas.microsoft.com/office/drawing/2014/main" id="{31F4F049-EFDB-4DC2-976A-042E7F0FC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5861" y="3424311"/>
              <a:ext cx="1511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d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59" name="TextBox 32">
              <a:extLst>
                <a:ext uri="{FF2B5EF4-FFF2-40B4-BE49-F238E27FC236}">
                  <a16:creationId xmlns:a16="http://schemas.microsoft.com/office/drawing/2014/main" id="{9DBD14BE-4F63-4967-A36E-6BC07EA4A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8522" y="3141000"/>
              <a:ext cx="705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f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60" name="TextBox 32">
              <a:extLst>
                <a:ext uri="{FF2B5EF4-FFF2-40B4-BE49-F238E27FC236}">
                  <a16:creationId xmlns:a16="http://schemas.microsoft.com/office/drawing/2014/main" id="{D7B9CDB3-F159-43E3-BE23-646A3985D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239" y="4674041"/>
              <a:ext cx="1511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b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62" name="TextBox 32">
              <a:extLst>
                <a:ext uri="{FF2B5EF4-FFF2-40B4-BE49-F238E27FC236}">
                  <a16:creationId xmlns:a16="http://schemas.microsoft.com/office/drawing/2014/main" id="{0C1AF2A6-41A1-4901-AB3E-AFDF0F3DF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2891" y="4102695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x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63" name="TextBox 32">
              <a:extLst>
                <a:ext uri="{FF2B5EF4-FFF2-40B4-BE49-F238E27FC236}">
                  <a16:creationId xmlns:a16="http://schemas.microsoft.com/office/drawing/2014/main" id="{F8027FA1-F949-454D-97BA-88D23D138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328" y="3814695"/>
              <a:ext cx="1426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p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64" name="TextBox 32">
              <a:extLst>
                <a:ext uri="{FF2B5EF4-FFF2-40B4-BE49-F238E27FC236}">
                  <a16:creationId xmlns:a16="http://schemas.microsoft.com/office/drawing/2014/main" id="{BD4B7680-7F2D-4445-9E30-96F9C4C1B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9854" y="4983098"/>
              <a:ext cx="27090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cs typeface="Arial" panose="020B0604020202020204" pitchFamily="34" charset="0"/>
                </a:rPr>
                <a:t>cn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109" name="TextBox 32">
              <a:extLst>
                <a:ext uri="{FF2B5EF4-FFF2-40B4-BE49-F238E27FC236}">
                  <a16:creationId xmlns:a16="http://schemas.microsoft.com/office/drawing/2014/main" id="{6479F6D9-532A-46AB-B9A1-1D91DAAFA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983" y="3526695"/>
              <a:ext cx="1511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e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51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ea typeface="宋体" panose="02010600030101010101" pitchFamily="2" charset="-122"/>
                <a:cs typeface="Arial" panose="020B0604020202020204" pitchFamily="34" charset="0"/>
              </a:rPr>
              <a:t>编码器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70" name="内容占位符 2">
            <a:extLst>
              <a:ext uri="{FF2B5EF4-FFF2-40B4-BE49-F238E27FC236}">
                <a16:creationId xmlns:a16="http://schemas.microsoft.com/office/drawing/2014/main" id="{CC93F1C2-6163-4EBB-ADEA-96BA41070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498600"/>
            <a:ext cx="4070375" cy="474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1200"/>
              </a:spcBef>
              <a:defRPr/>
            </a:pPr>
            <a:r>
              <a:rPr lang="en-US" altLang="zh-CN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</a:t>
            </a:r>
            <a:r>
              <a:rPr lang="en-US" altLang="zh-CN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线编码器 </a:t>
            </a:r>
            <a:r>
              <a:rPr lang="en-US" altLang="zh-CN" sz="28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ECD)</a:t>
            </a:r>
          </a:p>
          <a:p>
            <a:pPr lvl="1" algn="just">
              <a:spcBef>
                <a:spcPts val="600"/>
              </a:spcBef>
              <a:defRPr/>
            </a:pP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位待编码信号</a:t>
            </a:r>
            <a:endParaRPr lang="en-US" altLang="zh-CN" sz="2400" ker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defRPr/>
            </a:pP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：使</a:t>
            </a:r>
            <a:r>
              <a:rPr lang="zh-CN" altLang="en-US" sz="24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能，等于</a:t>
            </a:r>
            <a:r>
              <a:rPr lang="en-US" altLang="zh-CN" sz="24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时，对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进行编码</a:t>
            </a:r>
            <a:endParaRPr lang="en-US" altLang="zh-CN" sz="2400" ker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defRPr/>
            </a:pP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：优先，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0-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普通，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优先，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x[9],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x[8],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…, x[0]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优先级依次降低</a:t>
            </a:r>
            <a:endParaRPr lang="en-US" altLang="zh-CN" sz="2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defRPr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</a:t>
            </a:r>
            <a:endParaRPr lang="en-US" altLang="zh-CN" sz="2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defRPr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标志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，等于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，指示</a:t>
            </a:r>
            <a:r>
              <a:rPr lang="en-US" altLang="zh-CN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为有效的编码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1200"/>
              </a:spcBef>
              <a:defRPr/>
            </a:pPr>
            <a:endParaRPr lang="en-US" altLang="zh-C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7C18A0D-3BBA-44AA-BA90-9080744C7EFE}"/>
              </a:ext>
            </a:extLst>
          </p:cNvPr>
          <p:cNvGrpSpPr/>
          <p:nvPr/>
        </p:nvGrpSpPr>
        <p:grpSpPr>
          <a:xfrm>
            <a:off x="5726700" y="1706598"/>
            <a:ext cx="2160000" cy="1296000"/>
            <a:chOff x="1116000" y="2027225"/>
            <a:chExt cx="2003712" cy="931549"/>
          </a:xfrm>
        </p:grpSpPr>
        <p:sp>
          <p:nvSpPr>
            <p:cNvPr id="81" name="文本框 51">
              <a:extLst>
                <a:ext uri="{FF2B5EF4-FFF2-40B4-BE49-F238E27FC236}">
                  <a16:creationId xmlns:a16="http://schemas.microsoft.com/office/drawing/2014/main" id="{46B6E69D-9325-447B-B647-D53AF346A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0509" y="2027225"/>
              <a:ext cx="1072368" cy="93154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/>
                <a:t> ECD</a:t>
              </a:r>
              <a:endParaRPr lang="zh-CN" altLang="en-US" sz="1800" dirty="0"/>
            </a:p>
          </p:txBody>
        </p:sp>
        <p:sp>
          <p:nvSpPr>
            <p:cNvPr id="82" name="TextBox 32">
              <a:extLst>
                <a:ext uri="{FF2B5EF4-FFF2-40B4-BE49-F238E27FC236}">
                  <a16:creationId xmlns:a16="http://schemas.microsoft.com/office/drawing/2014/main" id="{C49C6AE2-B686-487B-A8B0-8BFFE8B99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4623" y="2107608"/>
              <a:ext cx="1426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e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225D1773-C467-4324-9808-D663BD2B09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16000" y="2280782"/>
              <a:ext cx="4353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32">
              <a:extLst>
                <a:ext uri="{FF2B5EF4-FFF2-40B4-BE49-F238E27FC236}">
                  <a16:creationId xmlns:a16="http://schemas.microsoft.com/office/drawing/2014/main" id="{B7DDA5DF-2F8C-414D-AC3C-83DC55454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4623" y="2576467"/>
              <a:ext cx="118961" cy="221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x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DE28D81D-82F5-4DE8-960B-E59AFF0F259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16000" y="2716522"/>
              <a:ext cx="4402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32">
              <a:extLst>
                <a:ext uri="{FF2B5EF4-FFF2-40B4-BE49-F238E27FC236}">
                  <a16:creationId xmlns:a16="http://schemas.microsoft.com/office/drawing/2014/main" id="{DA64F0C4-7E09-4F04-9826-8E0733D1A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748" y="2100449"/>
              <a:ext cx="785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f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60908E7-0FEC-4B79-BBC9-6AF46D7BE9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42876" y="2280782"/>
              <a:ext cx="47683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32">
              <a:extLst>
                <a:ext uri="{FF2B5EF4-FFF2-40B4-BE49-F238E27FC236}">
                  <a16:creationId xmlns:a16="http://schemas.microsoft.com/office/drawing/2014/main" id="{272679EF-2375-4D35-AC19-68A5BB750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748" y="2539964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y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7FF9F1E-8023-424A-9F9B-4DD8B712DC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47724" y="2716522"/>
              <a:ext cx="4719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C4F2E571-6AE3-419D-A553-5463447C9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9471" y="2368550"/>
              <a:ext cx="132345" cy="221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p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B0F19A8-A20A-48B0-9E4D-4D9E3D9F8F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20848" y="2498449"/>
              <a:ext cx="4353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tangle 3">
            <a:extLst>
              <a:ext uri="{FF2B5EF4-FFF2-40B4-BE49-F238E27FC236}">
                <a16:creationId xmlns:a16="http://schemas.microsoft.com/office/drawing/2014/main" id="{A2B1C1E9-A559-460B-8890-1E7768305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731" y="3344155"/>
            <a:ext cx="3504069" cy="274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encoder10_4 (</a:t>
            </a: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</a:t>
            </a:r>
            <a:r>
              <a:rPr lang="en-US" altLang="zh-CN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e,	//</a:t>
            </a:r>
            <a:r>
              <a:rPr lang="zh-CN" altLang="en-US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使能</a:t>
            </a:r>
            <a:endParaRPr lang="en-US" altLang="zh-CN" sz="2000" ker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p,	//</a:t>
            </a:r>
            <a:r>
              <a:rPr lang="zh-CN" altLang="en-US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优先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[9:0</a:t>
            </a:r>
            <a:r>
              <a:rPr lang="en-US" altLang="zh-CN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x, 	//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待编码信号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</a:t>
            </a:r>
            <a:r>
              <a:rPr lang="en-US" altLang="zh-CN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f,	//</a:t>
            </a:r>
            <a:r>
              <a:rPr lang="zh-CN" altLang="en-US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标志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[3:0</a:t>
            </a:r>
            <a:r>
              <a:rPr lang="en-US" altLang="zh-CN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y	//BCD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>
              <a:buFontTx/>
              <a:buNone/>
            </a:pPr>
            <a:endParaRPr lang="en-US" altLang="zh-CN" sz="12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08FEEAF6-3FAF-4CC8-867E-691AC92C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95" name="页脚占位符 1">
            <a:extLst>
              <a:ext uri="{FF2B5EF4-FFF2-40B4-BE49-F238E27FC236}">
                <a16:creationId xmlns:a16="http://schemas.microsoft.com/office/drawing/2014/main" id="{1C181170-66E0-4CA5-B91D-1192E51BB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6" name="日期占位符 3">
            <a:extLst>
              <a:ext uri="{FF2B5EF4-FFF2-40B4-BE49-F238E27FC236}">
                <a16:creationId xmlns:a16="http://schemas.microsoft.com/office/drawing/2014/main" id="{3946BCBE-ECDE-4154-9753-6562706431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877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内容占位符 2">
            <a:extLst>
              <a:ext uri="{FF2B5EF4-FFF2-40B4-BE49-F238E27FC236}">
                <a16:creationId xmlns:a16="http://schemas.microsoft.com/office/drawing/2014/main" id="{CC93F1C2-6163-4EBB-ADEA-96BA41070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417638"/>
            <a:ext cx="4402801" cy="3091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zh-CN" altLang="en-US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译码器 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(BCD)</a:t>
            </a:r>
          </a:p>
          <a:p>
            <a:pPr lvl="1">
              <a:defRPr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线译码器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  <a:defRPr/>
            </a:pPr>
            <a:endParaRPr lang="en-US" altLang="zh-C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defRPr/>
            </a:pPr>
            <a:r>
              <a:rPr lang="en-US" altLang="zh-CN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段译码器 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(SSD)</a:t>
            </a:r>
          </a:p>
          <a:p>
            <a:pPr>
              <a:defRPr/>
            </a:pPr>
            <a:endParaRPr lang="en-US" altLang="zh-CN" sz="28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defRPr/>
            </a:pPr>
            <a:endParaRPr lang="zh-CN" altLang="en-US" sz="2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28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151C6286-8D17-4493-A1DF-8EFCD29B0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583" y="2419216"/>
            <a:ext cx="4978417" cy="1585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decoder4_10 (</a:t>
            </a: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[3:0] d,	//4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[9:0] y   //10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位译码，高电平有效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>
              <a:buFontTx/>
              <a:buNone/>
            </a:pPr>
            <a:endParaRPr lang="en-US" altLang="zh-CN" sz="12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ea typeface="宋体" panose="02010600030101010101" pitchFamily="2" charset="-122"/>
                <a:cs typeface="Arial" panose="020B0604020202020204" pitchFamily="34" charset="0"/>
              </a:rPr>
              <a:t>译码器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36B7B7ED-DC58-41C2-8807-0B48D0A266A4}"/>
              </a:ext>
            </a:extLst>
          </p:cNvPr>
          <p:cNvGrpSpPr/>
          <p:nvPr/>
        </p:nvGrpSpPr>
        <p:grpSpPr>
          <a:xfrm>
            <a:off x="6609589" y="1613675"/>
            <a:ext cx="1741509" cy="1023321"/>
            <a:chOff x="5811131" y="2873447"/>
            <a:chExt cx="1938600" cy="819938"/>
          </a:xfrm>
        </p:grpSpPr>
        <p:sp>
          <p:nvSpPr>
            <p:cNvPr id="56" name="文本框 51">
              <a:extLst>
                <a:ext uri="{FF2B5EF4-FFF2-40B4-BE49-F238E27FC236}">
                  <a16:creationId xmlns:a16="http://schemas.microsoft.com/office/drawing/2014/main" id="{A4DCD2CA-D00D-4846-A2AA-D11A2EC74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9503" y="2873447"/>
              <a:ext cx="1072368" cy="81993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/>
                <a:t>BCD</a:t>
              </a:r>
              <a:endParaRPr lang="zh-CN" altLang="en-US" sz="1800" dirty="0"/>
            </a:p>
          </p:txBody>
        </p:sp>
        <p:sp>
          <p:nvSpPr>
            <p:cNvPr id="59" name="TextBox 32">
              <a:extLst>
                <a:ext uri="{FF2B5EF4-FFF2-40B4-BE49-F238E27FC236}">
                  <a16:creationId xmlns:a16="http://schemas.microsoft.com/office/drawing/2014/main" id="{105642A4-25C8-4634-AF06-FEC5FF3B9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3617" y="3209520"/>
              <a:ext cx="158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d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7D857DD-5B9F-4E93-9483-73854F9AF6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11131" y="3395159"/>
              <a:ext cx="3840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32">
              <a:extLst>
                <a:ext uri="{FF2B5EF4-FFF2-40B4-BE49-F238E27FC236}">
                  <a16:creationId xmlns:a16="http://schemas.microsoft.com/office/drawing/2014/main" id="{0411BC08-3EBC-4434-84E5-0712F1241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4895" y="3187126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y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41D412B1-3BCA-4C1B-8343-490D305BD88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81871" y="3372765"/>
              <a:ext cx="4678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227EC5C-14DD-4167-9607-129096C699BD}"/>
              </a:ext>
            </a:extLst>
          </p:cNvPr>
          <p:cNvGrpSpPr/>
          <p:nvPr/>
        </p:nvGrpSpPr>
        <p:grpSpPr>
          <a:xfrm>
            <a:off x="6646491" y="4133675"/>
            <a:ext cx="1741509" cy="1023317"/>
            <a:chOff x="5811131" y="4044332"/>
            <a:chExt cx="1938600" cy="819938"/>
          </a:xfrm>
        </p:grpSpPr>
        <p:sp>
          <p:nvSpPr>
            <p:cNvPr id="71" name="文本框 51">
              <a:extLst>
                <a:ext uri="{FF2B5EF4-FFF2-40B4-BE49-F238E27FC236}">
                  <a16:creationId xmlns:a16="http://schemas.microsoft.com/office/drawing/2014/main" id="{1F5B67F6-2E26-4D3E-8E14-8E6BB8315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9503" y="4044332"/>
              <a:ext cx="1072368" cy="81993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/>
                <a:t>SSD</a:t>
              </a:r>
              <a:endParaRPr lang="zh-CN" altLang="en-US" sz="1800" dirty="0"/>
            </a:p>
          </p:txBody>
        </p:sp>
        <p:sp>
          <p:nvSpPr>
            <p:cNvPr id="72" name="TextBox 32">
              <a:extLst>
                <a:ext uri="{FF2B5EF4-FFF2-40B4-BE49-F238E27FC236}">
                  <a16:creationId xmlns:a16="http://schemas.microsoft.com/office/drawing/2014/main" id="{913BB56E-7C4F-4B97-BAA7-43E410EC2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3617" y="4385870"/>
              <a:ext cx="1426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d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2C0465F-7BA6-4B71-BF50-3DD8D49C3C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11131" y="4546114"/>
              <a:ext cx="3840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32">
              <a:extLst>
                <a:ext uri="{FF2B5EF4-FFF2-40B4-BE49-F238E27FC236}">
                  <a16:creationId xmlns:a16="http://schemas.microsoft.com/office/drawing/2014/main" id="{018412E2-D35B-4AFB-9147-C47D8DFB9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7153" y="4341172"/>
              <a:ext cx="301567" cy="343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 err="1">
                  <a:cs typeface="Arial" panose="020B0604020202020204" pitchFamily="34" charset="0"/>
                </a:rPr>
                <a:t>yn</a:t>
              </a:r>
              <a:endParaRPr lang="zh-CN" altLang="en-US" sz="2000" dirty="0">
                <a:cs typeface="Arial" panose="020B0604020202020204" pitchFamily="34" charset="0"/>
              </a:endParaRPr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F489964-2805-4E94-BF8A-67C2E7E43F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86718" y="4535438"/>
              <a:ext cx="46301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tangle 3">
            <a:extLst>
              <a:ext uri="{FF2B5EF4-FFF2-40B4-BE49-F238E27FC236}">
                <a16:creationId xmlns:a16="http://schemas.microsoft.com/office/drawing/2014/main" id="{14A8A54D-D1BA-4AAC-A447-CB4D29CAC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202" y="4513007"/>
            <a:ext cx="5553874" cy="157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</a:t>
            </a:r>
            <a:r>
              <a:rPr lang="en-US" altLang="zh-CN" sz="2000" kern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seven</a:t>
            </a:r>
            <a:r>
              <a:rPr lang="en-US" altLang="zh-CN" sz="2000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_seg_</a:t>
            </a:r>
            <a:r>
              <a:rPr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decoder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[3:0] d,	  //4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[6:0] </a:t>
            </a:r>
            <a:r>
              <a:rPr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yn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//7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段字形，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依次对应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              // y[6], y[5], … y[0],</a:t>
            </a:r>
            <a: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低电平有效 </a:t>
            </a: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zh-CN" sz="20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zh-CN" sz="12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灯片编号占位符 5">
            <a:extLst>
              <a:ext uri="{FF2B5EF4-FFF2-40B4-BE49-F238E27FC236}">
                <a16:creationId xmlns:a16="http://schemas.microsoft.com/office/drawing/2014/main" id="{39931928-170A-405D-A656-6E03CE1B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1" name="页脚占位符 1">
            <a:extLst>
              <a:ext uri="{FF2B5EF4-FFF2-40B4-BE49-F238E27FC236}">
                <a16:creationId xmlns:a16="http://schemas.microsoft.com/office/drawing/2014/main" id="{5E79B346-5FC9-4D12-92F3-4A0CE1EB32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82" name="日期占位符 3">
            <a:extLst>
              <a:ext uri="{FF2B5EF4-FFF2-40B4-BE49-F238E27FC236}">
                <a16:creationId xmlns:a16="http://schemas.microsoft.com/office/drawing/2014/main" id="{5194041E-44DC-4666-A30E-FCA07AF1B1C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68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59B97F26-CFCC-4C41-AA29-CAD60BBFB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实验要求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FE5370BA-1A5A-4B79-A5F1-E2D86713C8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3000"/>
            <a:ext cx="8229600" cy="2232686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编码器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(ECD)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电路仿真和下载测试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RTL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分析、综合和实现的电路图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(Schematic)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查看电路资源使用情况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19896BC-2F80-4950-B475-2623C70C7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37852"/>
            <a:ext cx="8229600" cy="2461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zh-CN" altLang="en-US" sz="28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设计编</a:t>
            </a:r>
            <a:r>
              <a:rPr lang="en-US" altLang="zh-CN" sz="28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译码器电路 </a:t>
            </a:r>
            <a:r>
              <a:rPr lang="en-US" altLang="zh-CN" sz="28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参见第</a:t>
            </a:r>
            <a:r>
              <a:rPr lang="en-US" altLang="zh-CN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</a:t>
            </a:r>
            <a:r>
              <a:rPr lang="en-US" altLang="zh-CN" sz="2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采用模块化设计</a:t>
            </a:r>
            <a:endParaRPr lang="en-US" altLang="zh-CN" sz="2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完成电路仿真和下载测试</a:t>
            </a:r>
            <a:endParaRPr lang="en-US" altLang="zh-CN" sz="2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RTL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分析和综合的电路图</a:t>
            </a:r>
            <a:r>
              <a:rPr lang="en-US" altLang="zh-CN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(Schematic)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查看电路资源使用情况</a:t>
            </a:r>
            <a:endParaRPr lang="en-US" altLang="zh-CN" sz="2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zh-CN" altLang="en-US" sz="28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endParaRPr lang="en-US" altLang="zh-CN" sz="28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33A6C00C-458C-4900-8E84-C563629F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20" name="页脚占位符 1">
            <a:extLst>
              <a:ext uri="{FF2B5EF4-FFF2-40B4-BE49-F238E27FC236}">
                <a16:creationId xmlns:a16="http://schemas.microsoft.com/office/drawing/2014/main" id="{DEBA7C3B-1D32-4150-A816-B99B5FF1CF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21" name="日期占位符 3">
            <a:extLst>
              <a:ext uri="{FF2B5EF4-FFF2-40B4-BE49-F238E27FC236}">
                <a16:creationId xmlns:a16="http://schemas.microsoft.com/office/drawing/2014/main" id="{3B2983F8-2C94-43BC-B667-0E5FF63D955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C621C484-124E-499A-8B6D-88F9B372E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查看电路图和资源使用情况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9AB585A0-D337-4EE5-8AEF-87625CADA3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64185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Vivado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生成电路图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RTL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Flow Navigator &gt;&gt; RTL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Analysys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&gt;&gt; Open Elaborated Design &gt;&gt; Schematic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综合电路：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Flow Navigator &gt;&gt; Synthesis &gt;&gt; Open Synthesized Design &gt;&gt; Schematic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查看电路资源使用情况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综合电路：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Flow Navigator &gt;&gt; Synthesis &gt;&gt; Open Synthesized Design &gt;&gt; Report Utilization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A4B6144-FA47-49DE-B64F-3D20A16A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" name="页脚占位符 1">
            <a:extLst>
              <a:ext uri="{FF2B5EF4-FFF2-40B4-BE49-F238E27FC236}">
                <a16:creationId xmlns:a16="http://schemas.microsoft.com/office/drawing/2014/main" id="{10706C4D-498B-4145-83F6-59B410BFB5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ADA402AD-B556-4356-A321-DFEA13ACCD8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855A50BA-B314-4C19-91ED-46587BC41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Nexys4-DDR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实验板外设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878FDDB8-7A86-43D9-A32F-D7B06D2C9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824412"/>
          </a:xfrm>
        </p:spPr>
        <p:txBody>
          <a:bodyPr/>
          <a:lstStyle/>
          <a:p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芯片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(XC7A100TCSG324-1) +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外设</a:t>
            </a:r>
          </a:p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40" name="文本框 3">
            <a:extLst>
              <a:ext uri="{FF2B5EF4-FFF2-40B4-BE49-F238E27FC236}">
                <a16:creationId xmlns:a16="http://schemas.microsoft.com/office/drawing/2014/main" id="{15EE7374-5FBB-40D0-A38A-FD6EE7DA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2338388"/>
            <a:ext cx="1309688" cy="35750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cs typeface="Arial" panose="020B0604020202020204" pitchFamily="34" charset="0"/>
              </a:rPr>
              <a:t>XC7A100TCSG324-1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64BA575-7139-457F-8593-C8F5B790496D}"/>
              </a:ext>
            </a:extLst>
          </p:cNvPr>
          <p:cNvCxnSpPr>
            <a:cxnSpLocks/>
          </p:cNvCxnSpPr>
          <p:nvPr/>
        </p:nvCxnSpPr>
        <p:spPr>
          <a:xfrm>
            <a:off x="3046413" y="2989263"/>
            <a:ext cx="554037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文本框 6">
            <a:extLst>
              <a:ext uri="{FF2B5EF4-FFF2-40B4-BE49-F238E27FC236}">
                <a16:creationId xmlns:a16="http://schemas.microsoft.com/office/drawing/2014/main" id="{1FB85A5D-0DBE-4A31-9BA6-171971CF2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75" y="2757488"/>
            <a:ext cx="1577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按键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开关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020817B-548D-4162-B212-F39FEFBE3C02}"/>
              </a:ext>
            </a:extLst>
          </p:cNvPr>
          <p:cNvCxnSpPr>
            <a:cxnSpLocks/>
          </p:cNvCxnSpPr>
          <p:nvPr/>
        </p:nvCxnSpPr>
        <p:spPr>
          <a:xfrm>
            <a:off x="3046413" y="3771900"/>
            <a:ext cx="554037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文本框 9">
            <a:extLst>
              <a:ext uri="{FF2B5EF4-FFF2-40B4-BE49-F238E27FC236}">
                <a16:creationId xmlns:a16="http://schemas.microsoft.com/office/drawing/2014/main" id="{5A6A425A-A9AB-4088-80CF-44988633B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3" y="3394075"/>
            <a:ext cx="20462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温度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加速度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麦克风传感器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FA016A2-6D67-4A86-BE08-BD99A155E8C2}"/>
              </a:ext>
            </a:extLst>
          </p:cNvPr>
          <p:cNvCxnSpPr>
            <a:cxnSpLocks/>
          </p:cNvCxnSpPr>
          <p:nvPr/>
        </p:nvCxnSpPr>
        <p:spPr>
          <a:xfrm>
            <a:off x="4902200" y="2782888"/>
            <a:ext cx="55403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6" name="文本框 11">
            <a:extLst>
              <a:ext uri="{FF2B5EF4-FFF2-40B4-BE49-F238E27FC236}">
                <a16:creationId xmlns:a16="http://schemas.microsoft.com/office/drawing/2014/main" id="{F1D414AC-0C57-4302-B26C-7C3320351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2351088"/>
            <a:ext cx="2413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单色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三色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灯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/7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段数码管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A923129-C9C8-45A9-BEF9-E95FEDD7A60A}"/>
              </a:ext>
            </a:extLst>
          </p:cNvPr>
          <p:cNvCxnSpPr>
            <a:cxnSpLocks/>
          </p:cNvCxnSpPr>
          <p:nvPr/>
        </p:nvCxnSpPr>
        <p:spPr>
          <a:xfrm>
            <a:off x="4902200" y="3549650"/>
            <a:ext cx="55403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8" name="文本框 13">
            <a:extLst>
              <a:ext uri="{FF2B5EF4-FFF2-40B4-BE49-F238E27FC236}">
                <a16:creationId xmlns:a16="http://schemas.microsoft.com/office/drawing/2014/main" id="{39F0E719-A3F0-450A-8681-57CE361D7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3287713"/>
            <a:ext cx="2184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视频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音频接口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A4677BF-EC70-450A-A5F3-2CEA08101BFE}"/>
              </a:ext>
            </a:extLst>
          </p:cNvPr>
          <p:cNvCxnSpPr>
            <a:cxnSpLocks/>
          </p:cNvCxnSpPr>
          <p:nvPr/>
        </p:nvCxnSpPr>
        <p:spPr>
          <a:xfrm>
            <a:off x="4902200" y="4259263"/>
            <a:ext cx="55403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 w="med" len="lg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0" name="文本框 15">
            <a:extLst>
              <a:ext uri="{FF2B5EF4-FFF2-40B4-BE49-F238E27FC236}">
                <a16:creationId xmlns:a16="http://schemas.microsoft.com/office/drawing/2014/main" id="{B9E6DE5F-57FC-44E1-AA83-431261C8D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3808413"/>
            <a:ext cx="24114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DDR2/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闪存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/SD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卡存储器</a:t>
            </a:r>
          </a:p>
        </p:txBody>
      </p:sp>
      <p:sp>
        <p:nvSpPr>
          <p:cNvPr id="14351" name="文本框 17">
            <a:extLst>
              <a:ext uri="{FF2B5EF4-FFF2-40B4-BE49-F238E27FC236}">
                <a16:creationId xmlns:a16="http://schemas.microsoft.com/office/drawing/2014/main" id="{2C249E09-947B-4A57-9BC9-9BDFFD0C6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4681538"/>
            <a:ext cx="21859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UART/USB/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网络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ADF57D7-75D9-4286-A97F-6B51C17A473C}"/>
              </a:ext>
            </a:extLst>
          </p:cNvPr>
          <p:cNvCxnSpPr>
            <a:cxnSpLocks/>
          </p:cNvCxnSpPr>
          <p:nvPr/>
        </p:nvCxnSpPr>
        <p:spPr>
          <a:xfrm>
            <a:off x="4902200" y="4911725"/>
            <a:ext cx="55403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 w="med" len="lg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D281FAB-A2A2-4A2B-ADC5-1700A9FEA9C2}"/>
              </a:ext>
            </a:extLst>
          </p:cNvPr>
          <p:cNvCxnSpPr>
            <a:cxnSpLocks/>
          </p:cNvCxnSpPr>
          <p:nvPr/>
        </p:nvCxnSpPr>
        <p:spPr>
          <a:xfrm>
            <a:off x="3046413" y="4659313"/>
            <a:ext cx="554037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436737F-8FD4-444F-9569-DCD76BEBB8A7}"/>
              </a:ext>
            </a:extLst>
          </p:cNvPr>
          <p:cNvCxnSpPr>
            <a:cxnSpLocks/>
          </p:cNvCxnSpPr>
          <p:nvPr/>
        </p:nvCxnSpPr>
        <p:spPr>
          <a:xfrm>
            <a:off x="3046413" y="5265738"/>
            <a:ext cx="554037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5" name="文本框 21">
            <a:extLst>
              <a:ext uri="{FF2B5EF4-FFF2-40B4-BE49-F238E27FC236}">
                <a16:creationId xmlns:a16="http://schemas.microsoft.com/office/drawing/2014/main" id="{01486C0A-4DE8-4E56-A2BF-180BC705F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4398963"/>
            <a:ext cx="1590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配置方式</a:t>
            </a:r>
          </a:p>
        </p:txBody>
      </p:sp>
      <p:sp>
        <p:nvSpPr>
          <p:cNvPr id="14356" name="文本框 22">
            <a:extLst>
              <a:ext uri="{FF2B5EF4-FFF2-40B4-BE49-F238E27FC236}">
                <a16:creationId xmlns:a16="http://schemas.microsoft.com/office/drawing/2014/main" id="{7E9E1411-35C5-4F84-93FB-ED91EADB0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5008563"/>
            <a:ext cx="2047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12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MHz</a:t>
            </a:r>
            <a:r>
              <a:rPr lang="en-US" altLang="zh-CN" sz="10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时钟</a:t>
            </a:r>
          </a:p>
        </p:txBody>
      </p:sp>
      <p:sp>
        <p:nvSpPr>
          <p:cNvPr id="14357" name="文本框 17">
            <a:extLst>
              <a:ext uri="{FF2B5EF4-FFF2-40B4-BE49-F238E27FC236}">
                <a16:creationId xmlns:a16="http://schemas.microsoft.com/office/drawing/2014/main" id="{C010DC93-2D9F-4135-84BB-52C066C60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5291138"/>
            <a:ext cx="2030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PMOD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扩展接口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81BFA71-0D05-47B8-94AD-1D5571F4B7E8}"/>
              </a:ext>
            </a:extLst>
          </p:cNvPr>
          <p:cNvCxnSpPr>
            <a:cxnSpLocks/>
          </p:cNvCxnSpPr>
          <p:nvPr/>
        </p:nvCxnSpPr>
        <p:spPr>
          <a:xfrm>
            <a:off x="4902200" y="5521325"/>
            <a:ext cx="55403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 w="med" len="lg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灯片编号占位符 5">
            <a:extLst>
              <a:ext uri="{FF2B5EF4-FFF2-40B4-BE49-F238E27FC236}">
                <a16:creationId xmlns:a16="http://schemas.microsoft.com/office/drawing/2014/main" id="{8F02B3F8-2799-4657-9CB3-DE6D4337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27" name="页脚占位符 1">
            <a:extLst>
              <a:ext uri="{FF2B5EF4-FFF2-40B4-BE49-F238E27FC236}">
                <a16:creationId xmlns:a16="http://schemas.microsoft.com/office/drawing/2014/main" id="{46DFFFA3-0078-42B6-9C1F-50B79F973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28" name="日期占位符 3">
            <a:extLst>
              <a:ext uri="{FF2B5EF4-FFF2-40B4-BE49-F238E27FC236}">
                <a16:creationId xmlns:a16="http://schemas.microsoft.com/office/drawing/2014/main" id="{DFA99B2E-8063-4369-97EC-FBEA44D2B39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344C43B2-764F-4976-8DED-8ADBD328A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基本输入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364" name="图片 1">
            <a:extLst>
              <a:ext uri="{FF2B5EF4-FFF2-40B4-BE49-F238E27FC236}">
                <a16:creationId xmlns:a16="http://schemas.microsoft.com/office/drawing/2014/main" id="{2F2F5C32-678F-4B7C-9B27-FAD943C85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88" y="1520825"/>
            <a:ext cx="6011862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8CC6931-96A0-43FE-ADEF-80456C398927}"/>
              </a:ext>
            </a:extLst>
          </p:cNvPr>
          <p:cNvSpPr txBox="1">
            <a:spLocks/>
          </p:cNvSpPr>
          <p:nvPr/>
        </p:nvSpPr>
        <p:spPr bwMode="auto">
          <a:xfrm>
            <a:off x="457200" y="1484313"/>
            <a:ext cx="2638425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按键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开关</a:t>
            </a: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个，按下为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个，拨到上为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  <a:spcAft>
                <a:spcPct val="2000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单色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  <a:buFont typeface="Times New Roman" panose="02020603050405020304" pitchFamily="18" charset="0"/>
              <a:buChar char="−"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时点亮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2D382B4-9CBC-4C6E-BD78-00C75B50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0" name="页脚占位符 1">
            <a:extLst>
              <a:ext uri="{FF2B5EF4-FFF2-40B4-BE49-F238E27FC236}">
                <a16:creationId xmlns:a16="http://schemas.microsoft.com/office/drawing/2014/main" id="{EBFBB637-C5BA-4824-82B5-F9A3245642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19B4FA83-B749-4AE6-A3C6-0E281117719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AD4D6715-EB14-4AD4-91A1-5DA46B476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"/>
            <a:ext cx="81676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基本输入</a:t>
            </a:r>
            <a:r>
              <a:rPr lang="en-US" altLang="zh-CN" sz="4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4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45EDEE1-163B-447C-A5CA-9D6C198EF57D}"/>
              </a:ext>
            </a:extLst>
          </p:cNvPr>
          <p:cNvSpPr txBox="1">
            <a:spLocks/>
          </p:cNvSpPr>
          <p:nvPr/>
        </p:nvSpPr>
        <p:spPr bwMode="auto">
          <a:xfrm>
            <a:off x="457200" y="1347788"/>
            <a:ext cx="3106738" cy="503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段数码管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：使能相应数位，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0—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CA~CG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：字形码和小数点，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0—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显示相应段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共阳极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ts val="1800"/>
              </a:spcBef>
              <a:spcAft>
                <a:spcPct val="2000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个三色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  <a:buFont typeface="Times New Roman" panose="02020603050405020304" pitchFamily="18" charset="0"/>
              <a:buChar char="−"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R17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1—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点亮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LD17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的红色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9" name="图片 1">
            <a:extLst>
              <a:ext uri="{FF2B5EF4-FFF2-40B4-BE49-F238E27FC236}">
                <a16:creationId xmlns:a16="http://schemas.microsoft.com/office/drawing/2014/main" id="{58CB13E3-68C7-4175-BADB-F28836054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236538"/>
            <a:ext cx="4646613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32D9DE7-73DB-4965-9F7D-ACCDEA96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0" name="页脚占位符 1">
            <a:extLst>
              <a:ext uri="{FF2B5EF4-FFF2-40B4-BE49-F238E27FC236}">
                <a16:creationId xmlns:a16="http://schemas.microsoft.com/office/drawing/2014/main" id="{766641AB-B47F-4A22-904E-A3DD3A2BF7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F8A376F7-599D-44F7-8081-FB184778AF6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E7A5EE74-A5AD-4D33-BF4E-3DFB57856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7475"/>
            <a:ext cx="8229600" cy="935038"/>
          </a:xfrm>
        </p:spPr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Nexys4-DDR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配置文件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88533097-5845-4F98-829B-77B6F9260C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09638"/>
            <a:ext cx="8229600" cy="5335587"/>
          </a:xfrm>
        </p:spPr>
        <p:txBody>
          <a:bodyPr/>
          <a:lstStyle/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#### Switches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J15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SW[0]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sw[0]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L16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SW[1]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sw[1]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M13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SW[2]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sw[2]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SW[3]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sw[3]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SW[4]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sw[4]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T18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SW[5]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sw[5]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U18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SW[6]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sw[6]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R13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SW[7]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sw[7]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T8    IOSTANDARD LVCMOS18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SW[8]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sw[8]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U8    IOSTANDARD LVCMOS18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SW[9]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sw[9]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SW[10]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sw[10]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T13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SW[11]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sw[11]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H6 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SW[12]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sw[12]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U12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SW[13]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sw[13]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U11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SW[14]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sw[14]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V10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SW[15]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sw[15]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US" altLang="zh-CN" sz="7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#### Buttons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C12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RESETN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resetn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N17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BTNC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btnc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M18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BTNU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btnu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P17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BTNL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btnl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M17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BTNR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btnr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P18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BTND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btnd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A454A39-3F2E-4463-BE24-8E43604E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" name="页脚占位符 1">
            <a:extLst>
              <a:ext uri="{FF2B5EF4-FFF2-40B4-BE49-F238E27FC236}">
                <a16:creationId xmlns:a16="http://schemas.microsoft.com/office/drawing/2014/main" id="{3AB6DCE5-DAF9-4E8F-9AA5-32BC4615C0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6A90D006-9C5A-4C28-B5A8-3A997AE9705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412455CB-3A7C-4911-B67C-6BD25C16C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7475"/>
            <a:ext cx="8229600" cy="935038"/>
          </a:xfrm>
        </p:spPr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Nexys4-DDR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配置文件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续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A2611CE7-F173-4867-BC2E-D3EAA21F94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578850" cy="5264150"/>
          </a:xfrm>
        </p:spPr>
        <p:txBody>
          <a:bodyPr/>
          <a:lstStyle/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#### LEDs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H17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LED[0]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led[0]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K15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LED[1]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led[1]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J13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LED[2]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led[2]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N14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LED[3]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led[3]</a:t>
            </a:r>
            <a:endParaRPr lang="zh-CN" altLang="en-US" sz="1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R18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LED[4]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led[4]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V17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LED[5]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led[5]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LED[6]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led[6]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LED[7]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led[7]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V16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LED[8]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led[8]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LED[9]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led[9]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U14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LED[10]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led[10]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LED[11]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led[11]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V15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LED[12]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led[12]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V14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LED[13]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led[13]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V12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LED[14]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led[14]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V11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LED[15]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led[15]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US" altLang="zh-CN" sz="1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R12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LED16_B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led16_b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M16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LED16_G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led16_g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N15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LED16_R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led16_r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G14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LED17_B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led17_b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R11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LED17_G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led17_g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N16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LED17_R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led17_r</a:t>
            </a:r>
            <a:endParaRPr lang="zh-CN" altLang="en-US" sz="1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61379FF-AA7C-47F6-BB06-5EAD534F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" name="页脚占位符 1">
            <a:extLst>
              <a:ext uri="{FF2B5EF4-FFF2-40B4-BE49-F238E27FC236}">
                <a16:creationId xmlns:a16="http://schemas.microsoft.com/office/drawing/2014/main" id="{CDC34C03-6E84-4BE5-BF22-EA8DD076A5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78BCE54C-DE85-4EDB-801A-E07F50CCF8D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A809CF30-62F7-4B39-9775-F39DC0F44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7475"/>
            <a:ext cx="8229600" cy="1008063"/>
          </a:xfrm>
        </p:spPr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Nexys4-DDR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配置文件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续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E2F3ED1D-9C4F-4B55-84FC-DA488735D2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147050" cy="5000625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#### 7-segment displays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T10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ca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R10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cb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K16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cc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K13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cd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P15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ce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T11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cf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L18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cg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H15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DP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}]; # dp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J17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AN[0]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an[0]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J18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AN[1]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an[1]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T9 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AN[2]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an[2]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J14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AN[3]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an[3]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P14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AN[4]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an[4]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T14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AN[5]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an[5]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K2 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AN[6]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an[6]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#set_property -dict { PACKAGE_PIN U13   IOSTANDARD LVCMOS33 } [get_ports {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AN[7]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}]; # an[7]</a:t>
            </a: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FontTx/>
              <a:buNone/>
            </a:pPr>
            <a:endParaRPr lang="zh-CN" altLang="en-US" sz="1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E8B5FDE-08A5-4778-BAFB-912F6290F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" name="页脚占位符 1">
            <a:extLst>
              <a:ext uri="{FF2B5EF4-FFF2-40B4-BE49-F238E27FC236}">
                <a16:creationId xmlns:a16="http://schemas.microsoft.com/office/drawing/2014/main" id="{CD904F62-149F-47C2-953E-54C5A578E8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2B7308A1-A4C9-4DD8-8EA8-7345720C200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1097F825-FC97-410D-9934-7081546FA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6838"/>
            <a:ext cx="8229600" cy="1477962"/>
          </a:xfrm>
        </p:spPr>
        <p:txBody>
          <a:bodyPr/>
          <a:lstStyle/>
          <a:p>
            <a:r>
              <a:rPr lang="en-US" altLang="zh-CN" sz="5400" b="1">
                <a:ea typeface="宋体" panose="02010600030101010101" pitchFamily="2" charset="-122"/>
              </a:rPr>
              <a:t>The</a:t>
            </a:r>
            <a:r>
              <a:rPr lang="zh-CN" altLang="en-US" sz="5400" b="1">
                <a:ea typeface="宋体" panose="02010600030101010101" pitchFamily="2" charset="-122"/>
              </a:rPr>
              <a:t> </a:t>
            </a:r>
            <a:r>
              <a:rPr lang="en-US" altLang="zh-CN" sz="5400" b="1">
                <a:ea typeface="宋体" panose="02010600030101010101" pitchFamily="2" charset="-122"/>
              </a:rPr>
              <a:t>End</a:t>
            </a:r>
            <a:endParaRPr lang="zh-CN" altLang="en-US" sz="5400" b="1">
              <a:ea typeface="宋体" panose="02010600030101010101" pitchFamily="2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502B9-D9BE-4553-BA83-A5419E5B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7" name="页脚占位符 1">
            <a:extLst>
              <a:ext uri="{FF2B5EF4-FFF2-40B4-BE49-F238E27FC236}">
                <a16:creationId xmlns:a16="http://schemas.microsoft.com/office/drawing/2014/main" id="{C1D0088F-FDC8-464E-9B36-AAB293508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427BB65-F9E0-4DDC-A40A-287EDD8A639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9E1AD-1D79-4E5F-827B-AF978A182FE6}" type="datetime1">
              <a:rPr lang="zh-CN" altLang="en-US" sz="160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2025/10/16</a:t>
            </a:fld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27428</TotalTime>
  <Words>2468</Words>
  <Application>Microsoft Office PowerPoint</Application>
  <PresentationFormat>全屏显示(4:3)</PresentationFormat>
  <Paragraphs>261</Paragraphs>
  <Slides>14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黑体</vt:lpstr>
      <vt:lpstr>宋体</vt:lpstr>
      <vt:lpstr>Arial</vt:lpstr>
      <vt:lpstr>Times New Roman</vt:lpstr>
      <vt:lpstr>Office 主题</vt:lpstr>
      <vt:lpstr>数字逻辑设计进阶实验</vt:lpstr>
      <vt:lpstr>实验目的</vt:lpstr>
      <vt:lpstr>实验内容</vt:lpstr>
      <vt:lpstr>编码器</vt:lpstr>
      <vt:lpstr>译码器</vt:lpstr>
      <vt:lpstr>实验要求</vt:lpstr>
      <vt:lpstr>查看电路图和资源使用情况</vt:lpstr>
      <vt:lpstr>Nexys4-DDR实验板外设</vt:lpstr>
      <vt:lpstr>基本输入/输出</vt:lpstr>
      <vt:lpstr>PowerPoint 演示文稿</vt:lpstr>
      <vt:lpstr>Nexys4-DDR配置文件</vt:lpstr>
      <vt:lpstr>Nexys4-DDR配置文件 (续1)</vt:lpstr>
      <vt:lpstr>Nexys4-DDR配置文件 (续2)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ZJX</dc:creator>
  <cp:lastModifiedBy>Wendy H</cp:lastModifiedBy>
  <cp:revision>392</cp:revision>
  <cp:lastPrinted>1601-01-01T00:00:00Z</cp:lastPrinted>
  <dcterms:created xsi:type="dcterms:W3CDTF">1601-01-01T00:00:00Z</dcterms:created>
  <dcterms:modified xsi:type="dcterms:W3CDTF">2025-10-16T15:09:11Z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