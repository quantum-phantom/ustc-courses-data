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56" r:id="rId2"/>
    <p:sldId id="278" r:id="rId3"/>
    <p:sldId id="757" r:id="rId4"/>
    <p:sldId id="759" r:id="rId5"/>
    <p:sldId id="275" r:id="rId6"/>
    <p:sldId id="758" r:id="rId7"/>
    <p:sldId id="281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4802" autoAdjust="0"/>
  </p:normalViewPr>
  <p:slideViewPr>
    <p:cSldViewPr>
      <p:cViewPr varScale="1">
        <p:scale>
          <a:sx n="96" d="100"/>
          <a:sy n="96" d="100"/>
        </p:scale>
        <p:origin x="7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B847E7-D6B4-4241-ABCD-026E6CD912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93ED4D-D534-400F-B471-B2C1323EDF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C321E60-80FE-4032-9C20-EB2D668F195D}" type="datetimeFigureOut">
              <a:rPr lang="zh-CN" altLang="en-US"/>
              <a:pPr>
                <a:defRPr/>
              </a:pPr>
              <a:t>2025/10/9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2FCDD4C8-5918-457F-A84B-2A50F9851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F448263-9918-4AB7-AAC6-F1C85FEB3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ACDFBD-D12A-4C85-8B60-F72042E4DF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02AE40-6318-4F4B-B41F-F48759613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3EB6A8A-C20C-4E61-B9C0-B178412B5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327412E2-0ADB-48EF-AFA9-698A5B4EA2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4107E120-D269-4EA0-9AA3-868118BB5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本班为学有余力且对芯片设计感兴趣的学生开设，目标是通过强化数字系统设计能力训练，为参加明年暑期的</a:t>
            </a:r>
            <a:r>
              <a:rPr lang="en-US" altLang="zh-CN"/>
              <a:t>CPU</a:t>
            </a:r>
            <a:r>
              <a:rPr lang="zh-CN" altLang="en-US"/>
              <a:t>设计大赛奠定基础。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实验定于下周四（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28</a:t>
            </a:r>
            <a:r>
              <a:rPr lang="zh-CN" altLang="en-US"/>
              <a:t>日）开始，计划招收</a:t>
            </a:r>
            <a:r>
              <a:rPr lang="en-US" altLang="zh-CN"/>
              <a:t>20</a:t>
            </a:r>
            <a:r>
              <a:rPr lang="zh-CN" altLang="en-US"/>
              <a:t>人。有意参加者，请于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日前与马子睿助教联系并提供</a:t>
            </a:r>
            <a:r>
              <a:rPr lang="en-US" altLang="zh-CN"/>
              <a:t>GPA</a:t>
            </a:r>
            <a:r>
              <a:rPr lang="zh-CN" altLang="en-US"/>
              <a:t>成绩。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时间地点：周四下午 </a:t>
            </a:r>
            <a:r>
              <a:rPr lang="en-US" altLang="zh-CN"/>
              <a:t>2:00~5:00</a:t>
            </a:r>
            <a:r>
              <a:rPr lang="zh-CN" altLang="en-US"/>
              <a:t>，电三楼</a:t>
            </a:r>
            <a:r>
              <a:rPr lang="en-US" altLang="zh-CN"/>
              <a:t>412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872F48B9-3B25-4DB5-97FF-E6EDD70056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CD9ED0-C7C5-49C9-97FC-300D47FBD84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0FE834D8-AEE9-4D2B-B864-DC390315E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0D87CDA9-2F56-47D1-AECE-A7CF53F8E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F7753427-45F8-4268-B4DC-90F22A2E4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E076D3-1116-4620-8BA3-90E8A7A7615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FBB7CE9C-A79C-4646-9058-48135D8C6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22410200-A27D-442B-8C6E-048CD7903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ACB245D1-2EE0-4EE8-990B-3D627D67E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8D2656-9605-4CEB-98E0-E032D278024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0FE834D8-AEE9-4D2B-B864-DC390315E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0D87CDA9-2F56-47D1-AECE-A7CF53F8E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Cache</a:t>
            </a:r>
            <a:r>
              <a:rPr lang="zh-CN" altLang="en-US" dirty="0"/>
              <a:t>是组成原理的内容</a:t>
            </a: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F7753427-45F8-4268-B4DC-90F22A2E4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E076D3-1116-4620-8BA3-90E8A7A7615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451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E1BFB979-93DB-429E-AD86-345EBD6FC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2987561D-712F-4FB8-8FED-ACAA3A18F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325A0E0A-9904-4A9D-B87F-4AC4868BE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DCB9C9-8FAB-45F6-A430-A3173E775EC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E1BFB979-93DB-429E-AD86-345EBD6FC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2987561D-712F-4FB8-8FED-ACAA3A18F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325A0E0A-9904-4A9D-B87F-4AC4868BE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DCB9C9-8FAB-45F6-A430-A3173E775ECA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569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C92099EF-BBB6-42B0-BDE4-A3E8FED9649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28447-B70C-4746-9133-A98881650D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 smtClean="0"/>
            </a:lvl1pPr>
          </a:lstStyle>
          <a:p>
            <a:pPr>
              <a:defRPr/>
            </a:pPr>
            <a:fld id="{99837DA7-33FD-435A-8DD3-212E2430E7A3}" type="datetime1">
              <a:rPr lang="zh-CN" altLang="en-US"/>
              <a:pPr>
                <a:defRPr/>
              </a:pPr>
              <a:t>2025/10/9</a:t>
            </a:fld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12A018-AAB9-436A-A9CD-4100A22462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55662-93F0-4F05-98F4-70C470DF75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65792C92-8131-41CE-A4B7-058F0B319B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40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D3436C6B-74D2-47E9-9550-70736227E32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FE6FB-2B52-4C5C-8E7E-EF49A1D1DA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 smtClean="0"/>
            </a:lvl1pPr>
          </a:lstStyle>
          <a:p>
            <a:pPr>
              <a:defRPr/>
            </a:pPr>
            <a:fld id="{FFD0628E-9E81-484A-93B0-7B98C37B8627}" type="datetime1">
              <a:rPr lang="zh-CN" altLang="en-US"/>
              <a:pPr>
                <a:defRPr/>
              </a:pPr>
              <a:t>2025/10/9</a:t>
            </a:fld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CE927C-F921-4CEE-B123-C87CCBCF9B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6CACD-0B15-4EB0-9E03-1F699396F2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F845A438-BB88-4834-ABD8-D355E27168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033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5C1981-E0FE-4263-AA91-EE2B13B75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36A9E9-2F86-4C16-A455-C0D782006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280B06-553A-4152-A87B-17EAB7ED25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45B5747-BA84-4338-B084-500E7DFAE4F8}" type="datetime1">
              <a:rPr lang="zh-CN" altLang="en-US"/>
              <a:pPr>
                <a:defRPr/>
              </a:pPr>
              <a:t>2025/10/9</a:t>
            </a:fld>
            <a:endParaRPr lang="zh-CN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8EECDA7-5BE8-43C2-B2DD-4CCC0D5A8A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5225"/>
            <a:ext cx="358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BCAE15-69A3-4878-A880-41106D2B3D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722E180-A6C5-4E12-89DD-EAF8D7BA38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2" r:id="rId1"/>
    <p:sldLayoutId id="2147484373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1A12AE97-75AA-4D14-9F01-EC38828960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</a:p>
        </p:txBody>
      </p:sp>
      <p:sp>
        <p:nvSpPr>
          <p:cNvPr id="5123" name="副标题 2">
            <a:extLst>
              <a:ext uri="{FF2B5EF4-FFF2-40B4-BE49-F238E27FC236}">
                <a16:creationId xmlns:a16="http://schemas.microsoft.com/office/drawing/2014/main" id="{D528DEC6-4253-42D0-BE49-DB2BCE3BA0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371600"/>
          </a:xfrm>
        </p:spPr>
        <p:txBody>
          <a:bodyPr/>
          <a:lstStyle/>
          <a:p>
            <a:r>
              <a:rPr lang="zh-CN" altLang="en-US" sz="3600" dirty="0">
                <a:latin typeface="宋体" panose="02010600030101010101" pitchFamily="2" charset="-122"/>
              </a:rPr>
              <a:t>实验简介</a:t>
            </a:r>
            <a:endParaRPr lang="en-US" altLang="zh-CN" sz="3600" dirty="0">
              <a:latin typeface="宋体" panose="02010600030101010101" pitchFamily="2" charset="-122"/>
            </a:endParaRPr>
          </a:p>
          <a:p>
            <a:endParaRPr lang="zh-CN" altLang="en-US" sz="3600" dirty="0"/>
          </a:p>
        </p:txBody>
      </p:sp>
      <p:sp>
        <p:nvSpPr>
          <p:cNvPr id="5124" name="日期占位符 1">
            <a:extLst>
              <a:ext uri="{FF2B5EF4-FFF2-40B4-BE49-F238E27FC236}">
                <a16:creationId xmlns:a16="http://schemas.microsoft.com/office/drawing/2014/main" id="{18C2B26B-2105-4634-A771-1910B249935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8D04D7-64A2-404F-BC81-8254F586B8F1}" type="datetime1">
              <a:rPr lang="zh-CN" altLang="en-US"/>
              <a:pPr/>
              <a:t>2025/10/9</a:t>
            </a:fld>
            <a:endParaRPr lang="zh-CN" altLang="en-US"/>
          </a:p>
        </p:txBody>
      </p:sp>
      <p:sp>
        <p:nvSpPr>
          <p:cNvPr id="5125" name="页脚占位符 2">
            <a:extLst>
              <a:ext uri="{FF2B5EF4-FFF2-40B4-BE49-F238E27FC236}">
                <a16:creationId xmlns:a16="http://schemas.microsoft.com/office/drawing/2014/main" id="{2482AD48-805F-40D7-A4A9-57BB519D3C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数字逻辑设计进阶实验</a:t>
            </a:r>
          </a:p>
        </p:txBody>
      </p:sp>
      <p:sp>
        <p:nvSpPr>
          <p:cNvPr id="5126" name="灯片编号占位符 3">
            <a:extLst>
              <a:ext uri="{FF2B5EF4-FFF2-40B4-BE49-F238E27FC236}">
                <a16:creationId xmlns:a16="http://schemas.microsoft.com/office/drawing/2014/main" id="{4D172A1C-746F-4E15-A889-E2E3C0B9DB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0CC7AE5-3E68-44BA-8D56-552F9D0963B1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5368121A-3287-4581-8405-09F226504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实验简介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54101224-1598-4401-923E-467B048D2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68425"/>
            <a:ext cx="8229600" cy="4876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实验目标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通过设计数字系统基本部件和简单数字系统，为后续设计计算机处理器</a:t>
            </a:r>
            <a:r>
              <a:rPr lang="en-US" altLang="zh-CN" dirty="0">
                <a:cs typeface="Arial" panose="020B0604020202020204" pitchFamily="34" charset="0"/>
              </a:rPr>
              <a:t>(CPU)</a:t>
            </a:r>
            <a:r>
              <a:rPr lang="zh-CN" altLang="en-US" dirty="0">
                <a:cs typeface="Arial" panose="020B0604020202020204" pitchFamily="34" charset="0"/>
              </a:rPr>
              <a:t>和硬件系统打下坚实基础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掌握利用</a:t>
            </a:r>
            <a:r>
              <a:rPr lang="zh-CN" altLang="en-US" dirty="0"/>
              <a:t>硬件描述语言、可编程逻辑器件和电子设计自动化</a:t>
            </a:r>
            <a:r>
              <a:rPr lang="en-US" altLang="zh-CN" dirty="0"/>
              <a:t>(EDA)</a:t>
            </a:r>
            <a:r>
              <a:rPr lang="zh-CN" altLang="en-US" dirty="0"/>
              <a:t>工具，设计实现数字系统的方法和技术</a:t>
            </a:r>
            <a:endParaRPr lang="en-US" altLang="zh-CN" dirty="0"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实验环境和工具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cs typeface="Arial" panose="020B0604020202020204" pitchFamily="34" charset="0"/>
              </a:rPr>
              <a:t>Verilog HDL-2001</a:t>
            </a:r>
            <a:r>
              <a:rPr lang="zh-CN" altLang="en-US" dirty="0">
                <a:cs typeface="Arial" panose="020B0604020202020204" pitchFamily="34" charset="0"/>
              </a:rPr>
              <a:t>，</a:t>
            </a:r>
            <a:r>
              <a:rPr lang="en-US" altLang="zh-CN" err="1">
                <a:cs typeface="Arial" panose="020B0604020202020204" pitchFamily="34" charset="0"/>
              </a:rPr>
              <a:t>Vivado</a:t>
            </a:r>
            <a:r>
              <a:rPr lang="en-US" altLang="zh-CN">
                <a:cs typeface="Arial" panose="020B0604020202020204" pitchFamily="34" charset="0"/>
              </a:rPr>
              <a:t> 2023.2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cs typeface="Arial" panose="020B0604020202020204" pitchFamily="34" charset="0"/>
              </a:rPr>
              <a:t>Nexys4-DDR</a:t>
            </a:r>
            <a:r>
              <a:rPr lang="zh-CN" altLang="en-US" dirty="0">
                <a:cs typeface="Arial" panose="020B0604020202020204" pitchFamily="34" charset="0"/>
              </a:rPr>
              <a:t>开发板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7172" name="日期占位符 3">
            <a:extLst>
              <a:ext uri="{FF2B5EF4-FFF2-40B4-BE49-F238E27FC236}">
                <a16:creationId xmlns:a16="http://schemas.microsoft.com/office/drawing/2014/main" id="{86643C63-7580-42C1-A12F-91672554DE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2EC27A-40A9-4325-B99F-1B732E0D58CE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7173" name="页脚占位符 4">
            <a:extLst>
              <a:ext uri="{FF2B5EF4-FFF2-40B4-BE49-F238E27FC236}">
                <a16:creationId xmlns:a16="http://schemas.microsoft.com/office/drawing/2014/main" id="{16A64447-4E3E-48DE-B10E-7BAB93284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7174" name="灯片编号占位符 5">
            <a:extLst>
              <a:ext uri="{FF2B5EF4-FFF2-40B4-BE49-F238E27FC236}">
                <a16:creationId xmlns:a16="http://schemas.microsoft.com/office/drawing/2014/main" id="{BD00C95E-6049-4AFA-9A05-1AFDABD12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1E6B0B-D177-4BCB-8975-711342A19616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3A5E435F-E2CD-4286-B04E-B901B1A07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实验简介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B49604EF-299B-4985-A4BD-E4C7BF072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0787"/>
            <a:ext cx="7895220" cy="472443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时间地点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周四</a:t>
            </a:r>
            <a:r>
              <a:rPr lang="zh-CN" altLang="en-US"/>
              <a:t>下午 </a:t>
            </a:r>
            <a:r>
              <a:rPr lang="en-US" altLang="zh-CN"/>
              <a:t>14:00 ~ 17:00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/>
              <a:t>电三楼</a:t>
            </a:r>
            <a:r>
              <a:rPr lang="en-US" altLang="zh-CN"/>
              <a:t>412</a:t>
            </a:r>
            <a:r>
              <a:rPr lang="zh-CN" altLang="en-US"/>
              <a:t>实验室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endParaRPr lang="en-US" altLang="zh-CN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zh-CN">
                <a:cs typeface="Arial" panose="020B0604020202020204" pitchFamily="34" charset="0"/>
              </a:rPr>
              <a:t>QQ</a:t>
            </a:r>
            <a:r>
              <a:rPr lang="zh-CN" altLang="en-US">
                <a:cs typeface="Arial" panose="020B0604020202020204" pitchFamily="34" charset="0"/>
              </a:rPr>
              <a:t>交流群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群</a:t>
            </a:r>
            <a:r>
              <a:rPr lang="zh-CN" altLang="en-US">
                <a:cs typeface="Arial" panose="020B0604020202020204" pitchFamily="34" charset="0"/>
              </a:rPr>
              <a:t>号：</a:t>
            </a:r>
            <a:r>
              <a:rPr lang="en-US" altLang="zh-CN">
                <a:cs typeface="Arial" panose="020B0604020202020204" pitchFamily="34" charset="0"/>
              </a:rPr>
              <a:t>683719801</a:t>
            </a:r>
            <a:endParaRPr lang="en-US" altLang="zh-CN" dirty="0"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dirty="0">
                <a:cs typeface="Arial" panose="020B0604020202020204" pitchFamily="34" charset="0"/>
              </a:rPr>
              <a:t>群</a:t>
            </a:r>
            <a:r>
              <a:rPr lang="zh-CN" altLang="en-US">
                <a:cs typeface="Arial" panose="020B0604020202020204" pitchFamily="34" charset="0"/>
              </a:rPr>
              <a:t>名称：</a:t>
            </a:r>
            <a:r>
              <a:rPr lang="en-US" altLang="zh-CN">
                <a:cs typeface="Arial" panose="020B0604020202020204" pitchFamily="34" charset="0"/>
              </a:rPr>
              <a:t>2025-CPU</a:t>
            </a:r>
            <a:r>
              <a:rPr lang="zh-CN" altLang="en-US">
                <a:cs typeface="Arial" panose="020B0604020202020204" pitchFamily="34" charset="0"/>
              </a:rPr>
              <a:t>设计竞赛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9220" name="日期占位符 3">
            <a:extLst>
              <a:ext uri="{FF2B5EF4-FFF2-40B4-BE49-F238E27FC236}">
                <a16:creationId xmlns:a16="http://schemas.microsoft.com/office/drawing/2014/main" id="{936555B2-8D28-494C-81D2-13A78F081B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C91AD-83EC-4CA3-BA67-D6CAED9753A8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9221" name="页脚占位符 4">
            <a:extLst>
              <a:ext uri="{FF2B5EF4-FFF2-40B4-BE49-F238E27FC236}">
                <a16:creationId xmlns:a16="http://schemas.microsoft.com/office/drawing/2014/main" id="{582645F0-5C32-47EE-80CE-FB4AD429A7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9222" name="灯片编号占位符 5">
            <a:extLst>
              <a:ext uri="{FF2B5EF4-FFF2-40B4-BE49-F238E27FC236}">
                <a16:creationId xmlns:a16="http://schemas.microsoft.com/office/drawing/2014/main" id="{12F33FF5-97ED-483B-AD62-8E38F39B76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303FAD-ED81-47B7-B6C0-27D95CEFC34E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5303FD-845A-441B-A01C-E184453CC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1520788"/>
            <a:ext cx="2609850" cy="3552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5368121A-3287-4581-8405-09F226504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实验项目与安排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54101224-1598-4401-923E-467B048D2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68425"/>
            <a:ext cx="7895220" cy="48768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>
                <a:cs typeface="Arial" panose="020B0604020202020204" pitchFamily="34" charset="0"/>
              </a:rPr>
              <a:t>实验</a:t>
            </a:r>
            <a:r>
              <a:rPr lang="en-US" altLang="zh-CN">
                <a:cs typeface="Arial" panose="020B0604020202020204" pitchFamily="34" charset="0"/>
              </a:rPr>
              <a:t>1  </a:t>
            </a:r>
            <a:r>
              <a:rPr lang="zh-CN" altLang="en-US">
                <a:cs typeface="Arial" panose="020B0604020202020204" pitchFamily="34" charset="0"/>
              </a:rPr>
              <a:t>编码器与译码器 </a:t>
            </a:r>
            <a:r>
              <a:rPr lang="en-US" altLang="zh-CN">
                <a:cs typeface="Arial" panose="020B0604020202020204" pitchFamily="34" charset="0"/>
              </a:rPr>
              <a:t>…..……………</a:t>
            </a:r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1</a:t>
            </a:r>
            <a:r>
              <a:rPr lang="zh-CN" altLang="en-US">
                <a:cs typeface="Arial" panose="020B0604020202020204" pitchFamily="34" charset="0"/>
              </a:rPr>
              <a:t>周）</a:t>
            </a:r>
            <a:endParaRPr lang="en-US" altLang="zh-CN">
              <a:cs typeface="Arial" panose="020B0604020202020204" pitchFamily="34" charset="0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/>
              <a:t>普通</a:t>
            </a:r>
            <a:r>
              <a:rPr lang="en-US" altLang="zh-CN"/>
              <a:t>/</a:t>
            </a:r>
            <a:r>
              <a:rPr lang="zh-CN" altLang="en-US"/>
              <a:t>优先编码器，普通</a:t>
            </a:r>
            <a:r>
              <a:rPr lang="en-US" altLang="zh-CN"/>
              <a:t>/</a:t>
            </a:r>
            <a:r>
              <a:rPr lang="zh-CN" altLang="en-US"/>
              <a:t>显示译码器</a:t>
            </a:r>
            <a:endParaRPr lang="zh-CN" altLang="en-US"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>
                <a:cs typeface="Arial" panose="020B0604020202020204" pitchFamily="34" charset="0"/>
              </a:rPr>
              <a:t>实验</a:t>
            </a:r>
            <a:r>
              <a:rPr lang="en-US" altLang="zh-CN">
                <a:cs typeface="Arial" panose="020B0604020202020204" pitchFamily="34" charset="0"/>
              </a:rPr>
              <a:t>2  </a:t>
            </a:r>
            <a:r>
              <a:rPr lang="zh-CN" altLang="en-US">
                <a:cs typeface="Arial" panose="020B0604020202020204" pitchFamily="34" charset="0"/>
              </a:rPr>
              <a:t>运算器与寄存器 </a:t>
            </a:r>
            <a:r>
              <a:rPr lang="en-US" altLang="zh-CN">
                <a:cs typeface="Arial" panose="020B0604020202020204" pitchFamily="34" charset="0"/>
              </a:rPr>
              <a:t>…..……………</a:t>
            </a:r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2</a:t>
            </a:r>
            <a:r>
              <a:rPr lang="zh-CN" altLang="en-US">
                <a:cs typeface="Arial" panose="020B0604020202020204" pitchFamily="34" charset="0"/>
              </a:rPr>
              <a:t>周）</a:t>
            </a:r>
            <a:endParaRPr lang="en-US" altLang="zh-CN">
              <a:cs typeface="Arial" panose="020B0604020202020204" pitchFamily="34" charset="0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/>
              <a:t>算术逻辑单元（</a:t>
            </a:r>
            <a:r>
              <a:rPr lang="en-US" altLang="zh-CN"/>
              <a:t>ALU</a:t>
            </a:r>
            <a:r>
              <a:rPr lang="zh-CN" altLang="en-US"/>
              <a:t>），乘法器</a:t>
            </a:r>
            <a:endParaRPr lang="zh-CN" altLang="en-US"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>
                <a:cs typeface="Arial" panose="020B0604020202020204" pitchFamily="34" charset="0"/>
              </a:rPr>
              <a:t>实验</a:t>
            </a:r>
            <a:r>
              <a:rPr lang="en-US" altLang="zh-CN">
                <a:cs typeface="Arial" panose="020B0604020202020204" pitchFamily="34" charset="0"/>
              </a:rPr>
              <a:t>3  </a:t>
            </a:r>
            <a:r>
              <a:rPr lang="zh-CN" altLang="en-US">
                <a:cs typeface="Arial" panose="020B0604020202020204" pitchFamily="34" charset="0"/>
              </a:rPr>
              <a:t>计数器与移位器 </a:t>
            </a:r>
            <a:r>
              <a:rPr lang="en-US" altLang="zh-CN">
                <a:cs typeface="Arial" panose="020B0604020202020204" pitchFamily="34" charset="0"/>
              </a:rPr>
              <a:t>…..…..…..……</a:t>
            </a:r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2</a:t>
            </a:r>
            <a:r>
              <a:rPr lang="zh-CN" altLang="en-US">
                <a:cs typeface="Arial" panose="020B0604020202020204" pitchFamily="34" charset="0"/>
              </a:rPr>
              <a:t>周）</a:t>
            </a:r>
            <a:endParaRPr lang="en-US" altLang="zh-CN">
              <a:cs typeface="Arial" panose="020B0604020202020204" pitchFamily="34" charset="0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/>
              <a:t>数码管动态扫描显示，开关信号去抖动和取边沿，串行通信</a:t>
            </a:r>
            <a:endParaRPr lang="zh-CN" altLang="en-US"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>
                <a:cs typeface="Arial" panose="020B0604020202020204" pitchFamily="34" charset="0"/>
              </a:rPr>
              <a:t>实验</a:t>
            </a:r>
            <a:r>
              <a:rPr lang="en-US" altLang="zh-CN">
                <a:cs typeface="Arial" panose="020B0604020202020204" pitchFamily="34" charset="0"/>
              </a:rPr>
              <a:t>4  </a:t>
            </a:r>
            <a:r>
              <a:rPr lang="zh-CN" altLang="en-US">
                <a:cs typeface="Arial" panose="020B0604020202020204" pitchFamily="34" charset="0"/>
              </a:rPr>
              <a:t>寄存器堆与存储器 </a:t>
            </a:r>
            <a:r>
              <a:rPr lang="en-US" altLang="zh-CN">
                <a:cs typeface="Arial" panose="020B0604020202020204" pitchFamily="34" charset="0"/>
              </a:rPr>
              <a:t>.…………… </a:t>
            </a:r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2</a:t>
            </a:r>
            <a:r>
              <a:rPr lang="zh-CN" altLang="en-US">
                <a:cs typeface="Arial" panose="020B0604020202020204" pitchFamily="34" charset="0"/>
              </a:rPr>
              <a:t>周）</a:t>
            </a:r>
            <a:endParaRPr lang="en-US" altLang="zh-CN">
              <a:cs typeface="Arial" panose="020B0604020202020204" pitchFamily="34" charset="0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/>
              <a:t>分布式</a:t>
            </a:r>
            <a:r>
              <a:rPr lang="en-US" altLang="zh-CN"/>
              <a:t>/</a:t>
            </a:r>
            <a:r>
              <a:rPr lang="zh-CN" altLang="en-US"/>
              <a:t>块式存储器，排序，</a:t>
            </a:r>
            <a:r>
              <a:rPr lang="en-US" altLang="zh-CN"/>
              <a:t>FIFO</a:t>
            </a:r>
            <a:r>
              <a:rPr lang="zh-CN" altLang="en-US"/>
              <a:t>队列</a:t>
            </a:r>
            <a:endParaRPr lang="zh-CN" altLang="en-US"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zh-CN" altLang="en-US">
                <a:cs typeface="Arial" panose="020B0604020202020204" pitchFamily="34" charset="0"/>
              </a:rPr>
              <a:t>实验</a:t>
            </a:r>
            <a:r>
              <a:rPr lang="en-US" altLang="zh-CN">
                <a:cs typeface="Arial" panose="020B0604020202020204" pitchFamily="34" charset="0"/>
              </a:rPr>
              <a:t>5  </a:t>
            </a:r>
            <a:r>
              <a:rPr lang="en-US" altLang="zh-CN" b="0">
                <a:cs typeface="Arial" panose="020B0604020202020204" pitchFamily="34" charset="0"/>
              </a:rPr>
              <a:t>AXI</a:t>
            </a:r>
            <a:r>
              <a:rPr lang="zh-CN" altLang="en-US">
                <a:cs typeface="Arial" panose="020B0604020202020204" pitchFamily="34" charset="0"/>
              </a:rPr>
              <a:t>总线与</a:t>
            </a:r>
            <a:r>
              <a:rPr lang="en-US" altLang="zh-CN" b="0">
                <a:cs typeface="Arial" panose="020B0604020202020204" pitchFamily="34" charset="0"/>
              </a:rPr>
              <a:t>Cache</a:t>
            </a:r>
            <a:r>
              <a:rPr lang="en-US" altLang="zh-CN">
                <a:cs typeface="Arial" panose="020B0604020202020204" pitchFamily="34" charset="0"/>
              </a:rPr>
              <a:t> .………..…… </a:t>
            </a:r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3</a:t>
            </a:r>
            <a:r>
              <a:rPr lang="zh-CN" altLang="en-US">
                <a:cs typeface="Arial" panose="020B0604020202020204" pitchFamily="34" charset="0"/>
              </a:rPr>
              <a:t>周）</a:t>
            </a:r>
          </a:p>
        </p:txBody>
      </p:sp>
      <p:sp>
        <p:nvSpPr>
          <p:cNvPr id="7172" name="日期占位符 3">
            <a:extLst>
              <a:ext uri="{FF2B5EF4-FFF2-40B4-BE49-F238E27FC236}">
                <a16:creationId xmlns:a16="http://schemas.microsoft.com/office/drawing/2014/main" id="{86643C63-7580-42C1-A12F-91672554DE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2EC27A-40A9-4325-B99F-1B732E0D58CE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7173" name="页脚占位符 4">
            <a:extLst>
              <a:ext uri="{FF2B5EF4-FFF2-40B4-BE49-F238E27FC236}">
                <a16:creationId xmlns:a16="http://schemas.microsoft.com/office/drawing/2014/main" id="{16A64447-4E3E-48DE-B10E-7BAB93284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7174" name="灯片编号占位符 5">
            <a:extLst>
              <a:ext uri="{FF2B5EF4-FFF2-40B4-BE49-F238E27FC236}">
                <a16:creationId xmlns:a16="http://schemas.microsoft.com/office/drawing/2014/main" id="{BD00C95E-6049-4AFA-9A05-1AFDABD12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1E6B0B-D177-4BCB-8975-711342A19616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3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B4E19D6A-415C-4568-9B06-B9579613C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实验成绩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455ADFE8-C6A7-4E9F-80FB-92186C0B89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0788"/>
            <a:ext cx="8229600" cy="456937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dirty="0">
                <a:cs typeface="Arial" panose="020B0604020202020204" pitchFamily="34" charset="0"/>
              </a:rPr>
              <a:t>实验检查：</a:t>
            </a:r>
            <a:r>
              <a:rPr lang="en-US" altLang="zh-CN" dirty="0">
                <a:cs typeface="Arial" panose="020B0604020202020204" pitchFamily="34" charset="0"/>
              </a:rPr>
              <a:t>80%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cs typeface="Arial" panose="020B0604020202020204" pitchFamily="34" charset="0"/>
              </a:rPr>
              <a:t>实验报告：</a:t>
            </a:r>
            <a:r>
              <a:rPr lang="en-US" altLang="zh-CN" dirty="0">
                <a:cs typeface="Arial" panose="020B0604020202020204" pitchFamily="34" charset="0"/>
              </a:rPr>
              <a:t>20%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cs typeface="Arial" panose="020B0604020202020204" pitchFamily="34" charset="0"/>
              </a:rPr>
              <a:t>按时检查和提交报告：延迟 ≤ </a:t>
            </a:r>
            <a:r>
              <a:rPr lang="en-US" altLang="zh-CN" dirty="0">
                <a:cs typeface="Arial" panose="020B0604020202020204" pitchFamily="34" charset="0"/>
              </a:rPr>
              <a:t>1</a:t>
            </a:r>
            <a:r>
              <a:rPr lang="zh-CN" altLang="en-US" dirty="0">
                <a:cs typeface="Arial" panose="020B0604020202020204" pitchFamily="34" charset="0"/>
              </a:rPr>
              <a:t>周，最多只能得分</a:t>
            </a:r>
            <a:r>
              <a:rPr lang="en-US" altLang="zh-CN" dirty="0">
                <a:cs typeface="Arial" panose="020B0604020202020204" pitchFamily="34" charset="0"/>
              </a:rPr>
              <a:t>80%</a:t>
            </a:r>
            <a:r>
              <a:rPr lang="zh-CN" altLang="en-US" dirty="0">
                <a:cs typeface="Arial" panose="020B0604020202020204" pitchFamily="34" charset="0"/>
              </a:rPr>
              <a:t>；延迟 ≤ </a:t>
            </a:r>
            <a:r>
              <a:rPr lang="en-US" altLang="zh-CN" dirty="0">
                <a:cs typeface="Arial" panose="020B0604020202020204" pitchFamily="34" charset="0"/>
              </a:rPr>
              <a:t>2</a:t>
            </a:r>
            <a:r>
              <a:rPr lang="zh-CN" altLang="en-US" dirty="0">
                <a:cs typeface="Arial" panose="020B0604020202020204" pitchFamily="34" charset="0"/>
              </a:rPr>
              <a:t>周，最多只能得分</a:t>
            </a:r>
            <a:r>
              <a:rPr lang="en-US" altLang="zh-CN" dirty="0">
                <a:cs typeface="Arial" panose="020B0604020202020204" pitchFamily="34" charset="0"/>
              </a:rPr>
              <a:t>60%</a:t>
            </a:r>
            <a:r>
              <a:rPr lang="zh-CN" altLang="en-US" dirty="0">
                <a:cs typeface="Arial" panose="020B0604020202020204" pitchFamily="34" charset="0"/>
              </a:rPr>
              <a:t>；延迟超过</a:t>
            </a:r>
            <a:r>
              <a:rPr lang="en-US" altLang="zh-CN" dirty="0">
                <a:cs typeface="Arial" panose="020B0604020202020204" pitchFamily="34" charset="0"/>
              </a:rPr>
              <a:t>2</a:t>
            </a:r>
            <a:r>
              <a:rPr lang="zh-CN" altLang="en-US" dirty="0">
                <a:cs typeface="Arial" panose="020B0604020202020204" pitchFamily="34" charset="0"/>
              </a:rPr>
              <a:t>周，不得分</a:t>
            </a:r>
            <a:endParaRPr lang="en-US" altLang="zh-CN" dirty="0"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cs typeface="Arial" panose="020B0604020202020204" pitchFamily="34" charset="0"/>
              </a:rPr>
              <a:t>奖励成绩：按时且超额完成实验内容，对超额部分的创意、检查和报告情况，奖励不超过满分的</a:t>
            </a:r>
            <a:r>
              <a:rPr lang="en-US" altLang="zh-CN" dirty="0">
                <a:cs typeface="Arial" panose="020B0604020202020204" pitchFamily="34" charset="0"/>
              </a:rPr>
              <a:t>10%</a:t>
            </a:r>
          </a:p>
          <a:p>
            <a:pPr eaLnBrk="1" hangingPunct="1"/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3316" name="灯片编号占位符 2">
            <a:extLst>
              <a:ext uri="{FF2B5EF4-FFF2-40B4-BE49-F238E27FC236}">
                <a16:creationId xmlns:a16="http://schemas.microsoft.com/office/drawing/2014/main" id="{AE73E5D2-BA7F-44AD-9268-B810C8EAC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AB8D94-E6F0-48A1-B0A6-034BFD597282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13317" name="日期占位符 3">
            <a:extLst>
              <a:ext uri="{FF2B5EF4-FFF2-40B4-BE49-F238E27FC236}">
                <a16:creationId xmlns:a16="http://schemas.microsoft.com/office/drawing/2014/main" id="{497DDE2D-1AB5-40EF-99F9-89544F9218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C408FB-7CEF-4B32-AFC4-28E265475C5B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zh-CN" altLang="en-US" sz="1600" b="0">
              <a:latin typeface="Arial" panose="020B0604020202020204" pitchFamily="34" charset="0"/>
            </a:endParaRPr>
          </a:p>
        </p:txBody>
      </p:sp>
      <p:sp>
        <p:nvSpPr>
          <p:cNvPr id="13318" name="页脚占位符 2">
            <a:extLst>
              <a:ext uri="{FF2B5EF4-FFF2-40B4-BE49-F238E27FC236}">
                <a16:creationId xmlns:a16="http://schemas.microsoft.com/office/drawing/2014/main" id="{02EB38F4-6205-458E-B200-1C0204E4C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数字逻辑设计进阶实验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B4E19D6A-415C-4568-9B06-B9579613C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实验</a:t>
            </a:r>
            <a:r>
              <a:rPr lang="zh-CN" altLang="en-US"/>
              <a:t>检查和报告</a:t>
            </a:r>
            <a:endParaRPr lang="zh-CN" altLang="en-US" dirty="0"/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455ADFE8-C6A7-4E9F-80FB-92186C0B89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0788"/>
            <a:ext cx="8229600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zh-CN"/>
              <a:t>实验</a:t>
            </a:r>
            <a:r>
              <a:rPr lang="zh-CN" altLang="en-US"/>
              <a:t>检查</a:t>
            </a:r>
            <a:endParaRPr lang="en-US" altLang="zh-CN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zh-CN"/>
              <a:t>实验仿真结果</a:t>
            </a:r>
            <a:endParaRPr lang="en-US" altLang="zh-CN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zh-CN"/>
              <a:t>实验下载后运行结果</a:t>
            </a:r>
            <a:endParaRPr lang="en-US" altLang="zh-CN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zh-CN"/>
              <a:t>回答问题</a:t>
            </a:r>
            <a:r>
              <a:rPr lang="zh-CN" altLang="en-US"/>
              <a:t>，</a:t>
            </a:r>
            <a:r>
              <a:rPr lang="zh-CN" altLang="zh-CN"/>
              <a:t>例如设计思路、解释代码</a:t>
            </a:r>
            <a:r>
              <a:rPr lang="en-US" altLang="zh-CN"/>
              <a:t>……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zh-CN"/>
              <a:t>实验报告</a:t>
            </a:r>
            <a:endParaRPr lang="en-US" altLang="zh-CN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zh-CN"/>
              <a:t>内容包括但不限于</a:t>
            </a:r>
            <a:r>
              <a:rPr lang="zh-CN" altLang="en-US"/>
              <a:t>：</a:t>
            </a:r>
            <a:r>
              <a:rPr lang="zh-CN" altLang="zh-CN"/>
              <a:t>逻辑设计（数据通路和状态图）、核心代码、仿真</a:t>
            </a:r>
            <a:r>
              <a:rPr lang="en-US" altLang="zh-CN"/>
              <a:t>/</a:t>
            </a:r>
            <a:r>
              <a:rPr lang="zh-CN" altLang="zh-CN"/>
              <a:t>下载结果、结果分析、实验总结、意见</a:t>
            </a:r>
            <a:r>
              <a:rPr lang="en-US" altLang="zh-CN"/>
              <a:t>/</a:t>
            </a:r>
            <a:r>
              <a:rPr lang="zh-CN" altLang="zh-CN"/>
              <a:t>建议等</a:t>
            </a:r>
            <a:r>
              <a:rPr lang="zh-CN" altLang="en-US"/>
              <a:t>，最后附上设计和测试文件</a:t>
            </a:r>
            <a:endParaRPr lang="en-US" altLang="zh-CN"/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zh-CN"/>
              <a:t>Word</a:t>
            </a:r>
            <a:r>
              <a:rPr lang="zh-CN" altLang="en-US"/>
              <a:t>或</a:t>
            </a:r>
            <a:r>
              <a:rPr lang="en-US" altLang="zh-CN"/>
              <a:t>PDF</a:t>
            </a:r>
            <a:r>
              <a:rPr lang="zh-CN" altLang="en-US"/>
              <a:t>格式，文件名：</a:t>
            </a:r>
            <a:r>
              <a:rPr lang="en-US" altLang="zh-CN"/>
              <a:t>LabHn_</a:t>
            </a:r>
            <a:r>
              <a:rPr lang="zh-CN" altLang="en-US"/>
              <a:t>学号</a:t>
            </a:r>
            <a:r>
              <a:rPr lang="en-US" altLang="zh-CN"/>
              <a:t>-</a:t>
            </a:r>
            <a:r>
              <a:rPr lang="zh-CN" altLang="en-US"/>
              <a:t>姓名</a:t>
            </a:r>
            <a:r>
              <a:rPr lang="en-US" altLang="zh-CN"/>
              <a:t>_vi</a:t>
            </a:r>
            <a:r>
              <a:rPr lang="zh-CN" altLang="en-US"/>
              <a:t>，其中</a:t>
            </a:r>
            <a:r>
              <a:rPr lang="en-US" altLang="zh-CN"/>
              <a:t>n</a:t>
            </a:r>
            <a:r>
              <a:rPr lang="zh-CN" altLang="en-US"/>
              <a:t>表示实验序号，</a:t>
            </a:r>
            <a:r>
              <a:rPr lang="en-US" altLang="zh-CN"/>
              <a:t>i</a:t>
            </a:r>
            <a:r>
              <a:rPr lang="zh-CN" altLang="en-US"/>
              <a:t>为报告版本号</a:t>
            </a:r>
          </a:p>
        </p:txBody>
      </p:sp>
      <p:sp>
        <p:nvSpPr>
          <p:cNvPr id="13316" name="灯片编号占位符 2">
            <a:extLst>
              <a:ext uri="{FF2B5EF4-FFF2-40B4-BE49-F238E27FC236}">
                <a16:creationId xmlns:a16="http://schemas.microsoft.com/office/drawing/2014/main" id="{AE73E5D2-BA7F-44AD-9268-B810C8EAC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AB8D94-E6F0-48A1-B0A6-034BFD597282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13317" name="日期占位符 3">
            <a:extLst>
              <a:ext uri="{FF2B5EF4-FFF2-40B4-BE49-F238E27FC236}">
                <a16:creationId xmlns:a16="http://schemas.microsoft.com/office/drawing/2014/main" id="{497DDE2D-1AB5-40EF-99F9-89544F9218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C408FB-7CEF-4B32-AFC4-28E265475C5B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zh-CN" altLang="en-US" sz="1600" b="0">
              <a:latin typeface="Arial" panose="020B0604020202020204" pitchFamily="34" charset="0"/>
            </a:endParaRPr>
          </a:p>
        </p:txBody>
      </p:sp>
      <p:sp>
        <p:nvSpPr>
          <p:cNvPr id="13318" name="页脚占位符 2">
            <a:extLst>
              <a:ext uri="{FF2B5EF4-FFF2-40B4-BE49-F238E27FC236}">
                <a16:creationId xmlns:a16="http://schemas.microsoft.com/office/drawing/2014/main" id="{02EB38F4-6205-458E-B200-1C0204E4C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数字逻辑设计进阶实验</a:t>
            </a:r>
          </a:p>
        </p:txBody>
      </p:sp>
    </p:spTree>
    <p:extLst>
      <p:ext uri="{BB962C8B-B14F-4D97-AF65-F5344CB8AC3E}">
        <p14:creationId xmlns:p14="http://schemas.microsoft.com/office/powerpoint/2010/main" val="220674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9C08499-E40D-4E3B-AF38-77EE4A40A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/>
              <a:t>The</a:t>
            </a:r>
            <a:r>
              <a:rPr lang="zh-CN" altLang="en-US" sz="5400"/>
              <a:t> </a:t>
            </a:r>
            <a:r>
              <a:rPr lang="en-US" altLang="zh-CN" sz="5400"/>
              <a:t>End</a:t>
            </a:r>
            <a:endParaRPr lang="zh-CN" altLang="en-US" sz="5400"/>
          </a:p>
        </p:txBody>
      </p:sp>
      <p:sp>
        <p:nvSpPr>
          <p:cNvPr id="17411" name="日期占位符 3">
            <a:extLst>
              <a:ext uri="{FF2B5EF4-FFF2-40B4-BE49-F238E27FC236}">
                <a16:creationId xmlns:a16="http://schemas.microsoft.com/office/drawing/2014/main" id="{B6579C2C-F4DC-47FA-8BF3-97E7517778F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0D6DA5-372A-4696-A2FC-E551BC709B22}" type="datetime1">
              <a:rPr lang="zh-CN" altLang="en-US" sz="16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2025/10/9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29C05D52-4891-4275-884E-DF59C70656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9362F4-397B-4E20-8146-99EA9D8358F3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17413" name="页脚占位符 1">
            <a:extLst>
              <a:ext uri="{FF2B5EF4-FFF2-40B4-BE49-F238E27FC236}">
                <a16:creationId xmlns:a16="http://schemas.microsoft.com/office/drawing/2014/main" id="{11C26509-F4D4-40A3-8ED4-20E3683D2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数字逻辑设计进阶实验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55224</TotalTime>
  <Words>506</Words>
  <Application>Microsoft Office PowerPoint</Application>
  <PresentationFormat>全屏显示(4:3)</PresentationFormat>
  <Paragraphs>72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黑体</vt:lpstr>
      <vt:lpstr>宋体</vt:lpstr>
      <vt:lpstr>Arial</vt:lpstr>
      <vt:lpstr>Times New Roman</vt:lpstr>
      <vt:lpstr>Office 主题</vt:lpstr>
      <vt:lpstr>数字逻辑设计进阶实验</vt:lpstr>
      <vt:lpstr>实验简介</vt:lpstr>
      <vt:lpstr>实验简介(续)</vt:lpstr>
      <vt:lpstr>实验项目与安排</vt:lpstr>
      <vt:lpstr>实验成绩</vt:lpstr>
      <vt:lpstr>实验检查和报告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Wendy H</cp:lastModifiedBy>
  <cp:revision>506</cp:revision>
  <cp:lastPrinted>1601-01-01T00:00:00Z</cp:lastPrinted>
  <dcterms:created xsi:type="dcterms:W3CDTF">1601-01-01T00:00:00Z</dcterms:created>
  <dcterms:modified xsi:type="dcterms:W3CDTF">2025-10-09T06:26:14Z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