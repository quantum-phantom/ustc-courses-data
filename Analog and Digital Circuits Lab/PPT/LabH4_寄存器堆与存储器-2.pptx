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528" r:id="rId2"/>
  </p:sldMasterIdLst>
  <p:notesMasterIdLst>
    <p:notesMasterId r:id="rId10"/>
  </p:notesMasterIdLst>
  <p:sldIdLst>
    <p:sldId id="536" r:id="rId3"/>
    <p:sldId id="735" r:id="rId4"/>
    <p:sldId id="282" r:id="rId5"/>
    <p:sldId id="840" r:id="rId6"/>
    <p:sldId id="841" r:id="rId7"/>
    <p:sldId id="844" r:id="rId8"/>
    <p:sldId id="539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802" autoAdjust="0"/>
  </p:normalViewPr>
  <p:slideViewPr>
    <p:cSldViewPr>
      <p:cViewPr varScale="1">
        <p:scale>
          <a:sx n="83" d="100"/>
          <a:sy n="83" d="100"/>
        </p:scale>
        <p:origin x="13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8001A61-1FCA-468B-A382-992914DBF1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58320D1-094D-46B2-9E35-0AA7F93FA6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2E46205-B45D-40CB-A9FB-5C94F8B3DC8B}" type="datetimeFigureOut">
              <a:rPr lang="zh-CN" altLang="en-US"/>
              <a:pPr>
                <a:defRPr/>
              </a:pPr>
              <a:t>2024/11/21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B8CD7F3-1167-43AB-8ADF-182AF2BB3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2D10AA84-7349-4108-A880-29DB629FD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284511-0F8F-4397-A28E-954A2A1DF8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AC5951-A31E-455A-AD3A-E1CDD1D5B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F500DD0-A66D-4187-BDD5-C824C4E636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B8D9BF80-B760-4299-8F54-8B890EE2C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B2191-6C78-45BB-A3A8-2D7783442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zh-CN" dirty="0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80853005-3210-4BA8-8810-EA5639CB2B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4C919-1770-4D2D-9DA6-8689C7BD73A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265A31C8-8975-4609-909C-294DEE1036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F4F3443B-2C4F-462E-8C26-9E3856A61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35192E07-DE31-43C5-8F9F-B2A7486BEC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738402-83FF-48D4-81FD-2D5849B03AA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A0FB62-F0C2-4A0B-A9CB-52D8A992FE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79CF1348-7FF9-45EA-AC26-F3C445ED2D03}" type="datetime1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18494F-EAC8-4D1E-836D-EF6A275B8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1728E5-6C0D-4907-9FDC-4B40E29CAD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1676400" cy="339725"/>
          </a:xfrm>
        </p:spPr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01068DAE-1BB7-4349-B4CD-2AF889D7C9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479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9000"/>
            <a:ext cx="8229600" cy="5040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3DF9C7-6ED0-4FE0-9093-4EA3D0C320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6AE9DE36-92C7-46B0-B418-4D802923D282}" type="datetime1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BD68E1-F9E4-4FC9-AD94-5442327996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86600" y="6381750"/>
            <a:ext cx="1600200" cy="339725"/>
          </a:xfrm>
        </p:spPr>
        <p:txBody>
          <a:bodyPr anchor="ctr"/>
          <a:lstStyle>
            <a:lvl1pPr>
              <a:defRPr sz="1800"/>
            </a:lvl1pPr>
          </a:lstStyle>
          <a:p>
            <a:pPr>
              <a:defRPr/>
            </a:pPr>
            <a:fld id="{758BA439-628B-4EB1-9181-2A24D7539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9700ED-6F09-4035-AAD3-82D72014585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</p:spTree>
    <p:extLst>
      <p:ext uri="{BB962C8B-B14F-4D97-AF65-F5344CB8AC3E}">
        <p14:creationId xmlns:p14="http://schemas.microsoft.com/office/powerpoint/2010/main" val="355061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3025BB-334B-4721-8906-90D8E73C14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D78EA749-3C4B-4405-B107-45A5A98B4F01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0C15F3-C403-49C0-94AF-107A5FC17A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196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B9C4CB-2A18-4684-A8D0-A702922ABB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381750"/>
            <a:ext cx="16764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AD4F34A6-D7C2-4715-9011-AD6A3624E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490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3000"/>
            <a:ext cx="8229600" cy="4896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0D0757D-6BE4-40E2-AFCA-9CAD8A395B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10FC046F-C8B0-4E23-B1AA-02926C53D775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BD6457-052B-4A54-A4B0-27C7DBEE89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958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36BB9A-6392-42A6-863C-B27F05446D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381750"/>
            <a:ext cx="1600200" cy="339725"/>
          </a:xfrm>
        </p:spPr>
        <p:txBody>
          <a:bodyPr anchor="ctr"/>
          <a:lstStyle>
            <a:lvl1pPr>
              <a:defRPr sz="1600"/>
            </a:lvl1pPr>
          </a:lstStyle>
          <a:p>
            <a:pPr>
              <a:defRPr/>
            </a:pPr>
            <a:fld id="{6D601D92-7DBD-45E5-8861-874C856BB5D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922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26532C-3D6E-40D4-A393-39A0F3ED59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0B073-89B5-4B5A-9E45-0B3B6D53DAA5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C94878-DC8C-4294-AC64-12D225B4D9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A5E9A4-2C67-4ADF-A69E-1B00BC33A8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F84C4-8774-46EC-A188-A8D0EAD98F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393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1643D8-18D6-4794-B4DA-CE32FBD5BD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C5ED3-5780-461A-92B8-181EB8E17BA6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52658-65F3-4A69-B87B-09C981042B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A9656B-9C73-4D23-B32F-90E695B630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1616E-E4A3-4E4A-B149-95C2FE8923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39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078B6E-4136-4D73-8E99-7DC5CC89C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423BD-57B5-42D1-ACAA-56D4915A9DE7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5639515-C955-4ACE-9E8B-608CD453FD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B1BE647-6CFD-4DB9-9834-49B62F497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C27D17-5BC0-4629-B6AD-9FB1E754C3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5212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A09DF53-94B5-4FE7-A513-8DAEAEB376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30928-766E-4227-A934-9BABC1E16E5F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EAB328E-AE24-4B8C-B41F-4C9A646CF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7E553A-EEB2-4274-8EBA-FFDF9736B2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E496C-A059-4B46-9D91-199232D9E7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26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>
            <a:extLst>
              <a:ext uri="{FF2B5EF4-FFF2-40B4-BE49-F238E27FC236}">
                <a16:creationId xmlns:a16="http://schemas.microsoft.com/office/drawing/2014/main" id="{92B59061-54F9-4285-B865-49BE12B4F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381000"/>
            <a:ext cx="8575675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29A4187E-5D4E-46BE-935D-A49D946C9D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8D4E4-82C8-4C16-A258-07FBF00A35FB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E2F496C-7F0D-4D90-9B1B-4E3DADEEBF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82AEEC-ED13-4563-B497-5514E42D9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206C4-345A-44F7-A3FE-9FB18F9C16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0763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8C6083-4893-49E0-BD51-22CAB0B16D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3B41B-3A6B-461D-AE54-46C3C2FCD612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22DE86-E1FB-4E1E-8491-39E7ECD106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66A6C2-F9D5-490E-A8ED-2839ED2F9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009E3-56A4-4F39-9F35-AB0F7C685C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1209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D8114-FCA0-49D4-A2C2-266BA6455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F85E0-0A24-4761-8111-3A408CD421DA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E86DAE-0B37-4067-89C5-17E907F388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ED3464-7A92-4F78-9F69-8F8378A21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F6682-7168-4E10-B33D-126E6908D7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5780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5D1B68-0E45-405B-BBD6-60A3B73C2B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EB3A6-11C8-42CD-9851-2F07AA96A768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EE0374-3F20-4507-8467-45720F720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13A18A-3783-4747-90B2-0346CE7782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81230-D201-4F28-B02B-CA60645BFE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424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D31877-D78A-406A-92D9-E463C38AC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A6349D-D360-45B3-A18E-58DAF749A7D2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F34CA4-9399-4AFF-ADF1-6DA2599B83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26ADBF-E96C-4AFC-BAC3-9695D2BDD2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9BF1F-A836-4607-825D-0688B9A0A1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091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AC7ED9-0A65-4459-AB3E-8D3B77BE84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E948675-63F1-49D3-A01C-ADC5932ED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0000"/>
            <a:ext cx="8229600" cy="511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1C9B55-13F1-4DF3-9659-303847C88A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00"/>
            </a:lvl1pPr>
          </a:lstStyle>
          <a:p>
            <a:pPr>
              <a:defRPr/>
            </a:pPr>
            <a:fld id="{D5C5A6FD-9A93-44FE-B954-6BF06D33095C}" type="datetime1">
              <a:rPr lang="zh-CN" altLang="en-US" smtClean="0"/>
              <a:t>2024/11/21</a:t>
            </a:fld>
            <a:endParaRPr lang="zh-CN" altLang="en-US" dirty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F0408F8-FD16-4DF0-BBBE-9E71CA4B44E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/>
            </a:lvl1pPr>
          </a:lstStyle>
          <a:p>
            <a:pPr>
              <a:defRPr/>
            </a:pPr>
            <a:fld id="{7D79F776-288D-4ADA-8801-5424589563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2" name="直接连接符 6">
            <a:extLst>
              <a:ext uri="{FF2B5EF4-FFF2-40B4-BE49-F238E27FC236}">
                <a16:creationId xmlns:a16="http://schemas.microsoft.com/office/drawing/2014/main" id="{813171D1-177C-4397-B66C-54B39DB52C3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3087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5">
            <a:extLst>
              <a:ext uri="{FF2B5EF4-FFF2-40B4-BE49-F238E27FC236}">
                <a16:creationId xmlns:a16="http://schemas.microsoft.com/office/drawing/2014/main" id="{34CBC483-9F41-4948-BC57-04364B57FB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381750"/>
            <a:ext cx="4419600" cy="339725"/>
          </a:xfrm>
          <a:prstGeom prst="rect">
            <a:avLst/>
          </a:prstGeom>
        </p:spPr>
        <p:txBody>
          <a:bodyPr anchor="ctr"/>
          <a:lstStyle>
            <a:lvl1pPr algn="ctr">
              <a:defRPr sz="18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6" r:id="rId1"/>
    <p:sldLayoutId id="2147484527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600"/>
        </a:spcAft>
        <a:buChar char="•"/>
        <a:defRPr sz="32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0"/>
        </a:spcBef>
        <a:spcAft>
          <a:spcPts val="60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0"/>
        </a:spcBef>
        <a:spcAft>
          <a:spcPts val="60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0"/>
        </a:spcBef>
        <a:spcAft>
          <a:spcPts val="60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0"/>
        </a:spcBef>
        <a:spcAft>
          <a:spcPts val="60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E9DD25-C14B-48E9-9550-32E34B13B8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4A08995-FA17-4909-BB6A-C759AE8E3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478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666F136-C1FD-4F09-B050-D4EE46BD49F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fld id="{4B11424E-960E-4D02-8688-136A1E7B595B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716FC9B-B7DC-4B10-9651-BD6A13FFB80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 dirty="0"/>
              <a:t>数字逻辑设计进阶实验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AA7B35-05C5-4B26-AA05-FA2B87934F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81750"/>
            <a:ext cx="2133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4432A76-D428-482F-9511-D8BD57B96E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1031" name="直接连接符 6">
            <a:extLst>
              <a:ext uri="{FF2B5EF4-FFF2-40B4-BE49-F238E27FC236}">
                <a16:creationId xmlns:a16="http://schemas.microsoft.com/office/drawing/2014/main" id="{C99F6052-7A8B-46AA-B5BF-77D7A077453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457200" y="6308725"/>
            <a:ext cx="8229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5615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30" r:id="rId2"/>
    <p:sldLayoutId id="2147484531" r:id="rId3"/>
    <p:sldLayoutId id="2147484532" r:id="rId4"/>
    <p:sldLayoutId id="2147484533" r:id="rId5"/>
    <p:sldLayoutId id="2147484534" r:id="rId6"/>
    <p:sldLayoutId id="2147484535" r:id="rId7"/>
    <p:sldLayoutId id="2147484536" r:id="rId8"/>
    <p:sldLayoutId id="2147484537" r:id="rId9"/>
    <p:sldLayoutId id="2147484538" r:id="rId10"/>
    <p:sldLayoutId id="214748453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6716CA5F-F192-494D-B51A-74E411609A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数字逻辑设计进阶实验</a:t>
            </a:r>
            <a:endParaRPr lang="zh-CN" altLang="en-US" dirty="0"/>
          </a:p>
        </p:txBody>
      </p:sp>
      <p:sp>
        <p:nvSpPr>
          <p:cNvPr id="5123" name="副标题 2">
            <a:extLst>
              <a:ext uri="{FF2B5EF4-FFF2-40B4-BE49-F238E27FC236}">
                <a16:creationId xmlns:a16="http://schemas.microsoft.com/office/drawing/2014/main" id="{2A0A3C03-EF5D-46C4-B6A5-8DE0E6C353C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实验四  寄存器堆与存储器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050897AF-4D61-47CE-B68E-3C58EFEED78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2024/11/21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7CEB62AF-A023-4AF8-B410-7C675ED4DC31}"/>
              </a:ext>
            </a:extLst>
          </p:cNvPr>
          <p:cNvSpPr txBox="1">
            <a:spLocks noChangeArrowheads="1"/>
          </p:cNvSpPr>
          <p:nvPr/>
        </p:nvSpPr>
        <p:spPr>
          <a:xfrm>
            <a:off x="7086600" y="6381750"/>
            <a:ext cx="1600200" cy="3397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r"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 algn="r">
                <a:spcAft>
                  <a:spcPct val="0"/>
                </a:spcAft>
                <a:buFontTx/>
                <a:buNone/>
              </a:pPr>
              <a:t>1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2" name="页脚占位符 5">
            <a:extLst>
              <a:ext uri="{FF2B5EF4-FFF2-40B4-BE49-F238E27FC236}">
                <a16:creationId xmlns:a16="http://schemas.microsoft.com/office/drawing/2014/main" id="{A722839D-0C5F-465A-ABF3-B028D11F1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381750"/>
            <a:ext cx="44196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ts val="600"/>
              </a:spcAft>
              <a:buChar char="•"/>
              <a:defRPr sz="32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zh-CN" altLang="en-US" sz="1800" b="0">
                <a:latin typeface="Arial" panose="020B0604020202020204" pitchFamily="34" charset="0"/>
              </a:rPr>
              <a:t>数字逻辑设计进阶实验</a:t>
            </a:r>
            <a:endParaRPr lang="zh-CN" altLang="en-US" sz="1800" b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7A9C552A-E099-4805-8F86-8B63933F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</a:p>
        </p:txBody>
      </p:sp>
      <p:sp>
        <p:nvSpPr>
          <p:cNvPr id="8198" name="内容占位符 1">
            <a:extLst>
              <a:ext uri="{FF2B5EF4-FFF2-40B4-BE49-F238E27FC236}">
                <a16:creationId xmlns:a16="http://schemas.microsoft.com/office/drawing/2014/main" id="{DE3B3327-D4F7-443B-96A5-A9F133E28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039236" cy="47212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dirty="0"/>
              <a:t>掌握</a:t>
            </a:r>
            <a:r>
              <a:rPr lang="zh-CN" altLang="en-US" sz="2400"/>
              <a:t>寄存器堆和存储器的</a:t>
            </a:r>
            <a:r>
              <a:rPr lang="zh-CN" altLang="en-US" sz="2400" dirty="0"/>
              <a:t>功能</a:t>
            </a:r>
            <a:r>
              <a:rPr lang="zh-CN" altLang="en-US" sz="2400"/>
              <a:t>及其应用</a:t>
            </a:r>
            <a:endParaRPr lang="en-US" altLang="zh-CN" sz="2400"/>
          </a:p>
          <a:p>
            <a:pPr>
              <a:spcBef>
                <a:spcPts val="600"/>
              </a:spcBef>
            </a:pPr>
            <a:r>
              <a:rPr lang="zh-CN" altLang="en-US" sz="2400"/>
              <a:t>掌握存储器</a:t>
            </a:r>
            <a:r>
              <a:rPr lang="en-US" altLang="zh-CN" sz="2400"/>
              <a:t>IP</a:t>
            </a:r>
            <a:r>
              <a:rPr lang="zh-CN" altLang="en-US" sz="2400"/>
              <a:t>核的使用，分布式与块式存储器的区别，以及存储器的读写时序</a:t>
            </a:r>
            <a:endParaRPr lang="en-US" altLang="zh-CN" sz="2400"/>
          </a:p>
          <a:p>
            <a:pPr>
              <a:spcBef>
                <a:spcPts val="600"/>
              </a:spcBef>
            </a:pPr>
            <a:r>
              <a:rPr lang="zh-CN" altLang="en-US" sz="2400"/>
              <a:t>掌握</a:t>
            </a:r>
            <a:r>
              <a:rPr lang="zh-CN" altLang="en-US" sz="2400" dirty="0"/>
              <a:t>数字系统的数据通路和控制器的设计方法</a:t>
            </a:r>
            <a:endParaRPr lang="en-US" altLang="zh-CN" sz="2400" dirty="0"/>
          </a:p>
          <a:p>
            <a:pPr>
              <a:spcBef>
                <a:spcPts val="600"/>
              </a:spcBef>
            </a:pPr>
            <a:r>
              <a:rPr lang="zh-CN" altLang="en-US" sz="2400" dirty="0"/>
              <a:t>熟练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Verilog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描述组合和时序逻辑电路的方法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熟练掌握利用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工具，进行逻辑电路的设计、仿真、调试、下载测试等基本方法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/>
              <a:t>熟练掌握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查看生成电路及其性能和资源使用情况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日期占位符 3">
            <a:extLst>
              <a:ext uri="{FF2B5EF4-FFF2-40B4-BE49-F238E27FC236}">
                <a16:creationId xmlns:a16="http://schemas.microsoft.com/office/drawing/2014/main" id="{E3780449-5446-4553-AC4C-2DDE50C33E5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2024/11/21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灯片编号占位符 4">
            <a:extLst>
              <a:ext uri="{FF2B5EF4-FFF2-40B4-BE49-F238E27FC236}">
                <a16:creationId xmlns:a16="http://schemas.microsoft.com/office/drawing/2014/main" id="{70714A48-1FA9-440B-9E80-34A52B5B5A5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2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15" name="页脚占位符 5">
            <a:extLst>
              <a:ext uri="{FF2B5EF4-FFF2-40B4-BE49-F238E27FC236}">
                <a16:creationId xmlns:a16="http://schemas.microsoft.com/office/drawing/2014/main" id="{699F6C6D-9731-4319-874C-40C5F9DDE95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xfrm>
            <a:off x="2590800" y="6381750"/>
            <a:ext cx="4419600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E75F6437-ED5D-49FA-B17F-DA084332C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实验内容 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  <a:endParaRPr lang="zh-CN" altLang="en-US" dirty="0"/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2FE8B70E-C927-417A-B565-AF3CDD6E59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9"/>
            <a:ext cx="8147248" cy="2871402"/>
          </a:xfrm>
        </p:spPr>
        <p:txBody>
          <a:bodyPr/>
          <a:lstStyle/>
          <a:p>
            <a:pPr marL="450850" indent="-450850" eaLnBrk="1" hangingPunct="1">
              <a:spcBef>
                <a:spcPts val="0"/>
              </a:spcBef>
              <a:spcAft>
                <a:spcPts val="600"/>
              </a:spcAft>
              <a:buFontTx/>
              <a:buAutoNum type="arabicPeriod" startAt="3"/>
              <a:defRPr/>
            </a:pPr>
            <a:r>
              <a:rPr lang="zh-CN" altLang="en-US" sz="2400"/>
              <a:t>数据排序 </a:t>
            </a:r>
            <a:r>
              <a:rPr lang="en-US" altLang="zh-CN" sz="2400"/>
              <a:t>(SRT)</a:t>
            </a:r>
            <a:r>
              <a:rPr lang="zh-CN" altLang="en-US" sz="2400" dirty="0"/>
              <a:t>：将</a:t>
            </a:r>
            <a:r>
              <a:rPr lang="zh-CN" altLang="en-US" sz="2400"/>
              <a:t>存储器中的数组按降序</a:t>
            </a:r>
            <a:r>
              <a:rPr lang="zh-CN" altLang="en-US" sz="2400" dirty="0"/>
              <a:t>排序</a:t>
            </a:r>
            <a:endParaRPr lang="en-US" altLang="zh-CN" sz="2400" dirty="0"/>
          </a:p>
          <a:p>
            <a:pPr lvl="1" indent="-342900" eaLnBrk="1" hangingPunct="1">
              <a:spcBef>
                <a:spcPts val="600"/>
              </a:spcBef>
              <a:spcAft>
                <a:spcPts val="0"/>
              </a:spcAft>
              <a:buFont typeface="微软雅黑" panose="020B0503020204020204" pitchFamily="34" charset="-122"/>
              <a:buChar char="−"/>
              <a:defRPr/>
            </a:pPr>
            <a:r>
              <a:rPr lang="zh-CN" altLang="en-US" sz="2000"/>
              <a:t>块式存储器，容量</a:t>
            </a:r>
            <a:r>
              <a:rPr lang="en-US" altLang="zh-CN" sz="2000"/>
              <a:t>1024 x 32</a:t>
            </a:r>
            <a:r>
              <a:rPr lang="zh-CN" altLang="en-US" sz="2000"/>
              <a:t>位，无符号数组</a:t>
            </a:r>
            <a:endParaRPr lang="en-US" altLang="zh-CN" sz="2000"/>
          </a:p>
          <a:p>
            <a:pPr lvl="1" indent="-342900" eaLnBrk="1" hangingPunct="1">
              <a:spcBef>
                <a:spcPts val="600"/>
              </a:spcBef>
              <a:spcAft>
                <a:spcPts val="0"/>
              </a:spcAft>
              <a:buFont typeface="微软雅黑" panose="020B0503020204020204" pitchFamily="34" charset="-122"/>
              <a:buChar char="−"/>
              <a:defRPr/>
            </a:pPr>
            <a:r>
              <a:rPr lang="zh-CN" altLang="en-US" sz="2000"/>
              <a:t>查看生成电路的资源和性能报告，并下载测试</a:t>
            </a:r>
            <a:endParaRPr lang="en-US" altLang="zh-CN" sz="2000" dirty="0"/>
          </a:p>
          <a:p>
            <a:pPr lvl="1" indent="-342900" eaLnBrk="1" hangingPunct="1">
              <a:spcBef>
                <a:spcPts val="600"/>
              </a:spcBef>
              <a:spcAft>
                <a:spcPts val="0"/>
              </a:spcAft>
              <a:buFont typeface="微软雅黑" panose="020B0503020204020204" pitchFamily="34" charset="-122"/>
              <a:buChar char="−"/>
              <a:defRPr/>
            </a:pPr>
            <a:r>
              <a:rPr lang="en-US" altLang="zh-CN" sz="2000"/>
              <a:t>start</a:t>
            </a:r>
            <a:r>
              <a:rPr lang="zh-CN" altLang="en-US" sz="2000"/>
              <a:t>：启动排序</a:t>
            </a:r>
            <a:endParaRPr lang="en-US" altLang="zh-CN" sz="2000"/>
          </a:p>
          <a:p>
            <a:pPr lvl="1" indent="-342900" eaLnBrk="1" hangingPunct="1">
              <a:spcBef>
                <a:spcPts val="600"/>
              </a:spcBef>
              <a:spcAft>
                <a:spcPts val="0"/>
              </a:spcAft>
              <a:buFont typeface="微软雅黑" panose="020B0503020204020204" pitchFamily="34" charset="-122"/>
              <a:buChar char="−"/>
              <a:defRPr/>
            </a:pPr>
            <a:r>
              <a:rPr lang="en-US" altLang="zh-CN" sz="2000"/>
              <a:t>done</a:t>
            </a:r>
            <a:r>
              <a:rPr lang="zh-CN" altLang="en-US" sz="2000" dirty="0"/>
              <a:t>：排序结束标志</a:t>
            </a:r>
            <a:endParaRPr lang="en-US" altLang="zh-CN" sz="2000" dirty="0"/>
          </a:p>
          <a:p>
            <a:pPr lvl="1" indent="-342900" eaLnBrk="1" hangingPunct="1">
              <a:spcBef>
                <a:spcPts val="600"/>
              </a:spcBef>
              <a:spcAft>
                <a:spcPts val="0"/>
              </a:spcAft>
              <a:buFont typeface="微软雅黑" panose="020B0503020204020204" pitchFamily="34" charset="-122"/>
              <a:buChar char="−"/>
              <a:defRPr/>
            </a:pPr>
            <a:r>
              <a:rPr lang="en-US" altLang="zh-CN" sz="2000"/>
              <a:t>count</a:t>
            </a:r>
            <a:r>
              <a:rPr lang="zh-CN" altLang="en-US" sz="2000"/>
              <a:t>：排序耗费时钟（</a:t>
            </a:r>
            <a:r>
              <a:rPr lang="en-US" altLang="zh-CN" sz="2000"/>
              <a:t>clk</a:t>
            </a:r>
            <a:r>
              <a:rPr lang="zh-CN" altLang="en-US" sz="2000"/>
              <a:t>）周期数</a:t>
            </a:r>
            <a:endParaRPr lang="en-US" altLang="zh-CN" sz="2000"/>
          </a:p>
          <a:p>
            <a:pPr lvl="1" indent="-342900" eaLnBrk="1" hangingPunct="1">
              <a:spcBef>
                <a:spcPts val="600"/>
              </a:spcBef>
              <a:spcAft>
                <a:spcPts val="0"/>
              </a:spcAft>
              <a:buFont typeface="微软雅黑" panose="020B0503020204020204" pitchFamily="34" charset="-122"/>
              <a:buChar char="−"/>
              <a:defRPr/>
            </a:pPr>
            <a:r>
              <a:rPr lang="en-US" altLang="zh-CN" sz="2000"/>
              <a:t>SDU</a:t>
            </a:r>
            <a:r>
              <a:rPr lang="zh-CN" altLang="en-US" sz="2000"/>
              <a:t>：</a:t>
            </a:r>
            <a:r>
              <a:rPr lang="zh-CN" altLang="en-US" sz="2000" dirty="0"/>
              <a:t>串行</a:t>
            </a:r>
            <a:r>
              <a:rPr lang="zh-CN" altLang="en-US" sz="2000"/>
              <a:t>调试单元，</a:t>
            </a:r>
            <a:r>
              <a:rPr lang="zh-CN" altLang="en-US" sz="2000" dirty="0"/>
              <a:t>查看</a:t>
            </a:r>
            <a:r>
              <a:rPr lang="en-US" altLang="zh-CN" sz="2000" dirty="0"/>
              <a:t>/</a:t>
            </a:r>
            <a:r>
              <a:rPr lang="zh-CN" altLang="en-US" sz="2000" dirty="0"/>
              <a:t>修改存储器数据</a:t>
            </a:r>
            <a:endParaRPr lang="en-US" altLang="zh-CN" sz="2000" dirty="0"/>
          </a:p>
          <a:p>
            <a:pPr marL="400050" lvl="1" indent="0" eaLnBrk="1" hangingPunct="1">
              <a:spcBef>
                <a:spcPts val="0"/>
              </a:spcBef>
              <a:spcAft>
                <a:spcPts val="600"/>
              </a:spcAft>
              <a:buFontTx/>
              <a:buNone/>
              <a:defRPr/>
            </a:pPr>
            <a:endParaRPr lang="en-US" altLang="zh-CN" sz="2000" b="1" dirty="0"/>
          </a:p>
        </p:txBody>
      </p:sp>
      <p:sp>
        <p:nvSpPr>
          <p:cNvPr id="12293" name="页脚占位符 1">
            <a:extLst>
              <a:ext uri="{FF2B5EF4-FFF2-40B4-BE49-F238E27FC236}">
                <a16:creationId xmlns:a16="http://schemas.microsoft.com/office/drawing/2014/main" id="{B8AC957E-015C-4E95-AE46-0DE1F1C0FC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245225"/>
            <a:ext cx="4419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2024</a:t>
            </a:r>
            <a:r>
              <a:rPr lang="zh-CN" altLang="en-US" sz="1600" b="0">
                <a:latin typeface="Arial" panose="020B0604020202020204" pitchFamily="34" charset="0"/>
              </a:rPr>
              <a:t>春</a:t>
            </a:r>
            <a:r>
              <a:rPr lang="en-US" altLang="zh-CN" sz="1600" b="0">
                <a:latin typeface="Arial" panose="020B0604020202020204" pitchFamily="34" charset="0"/>
              </a:rPr>
              <a:t>_</a:t>
            </a:r>
            <a:r>
              <a:rPr lang="zh-CN" altLang="en-US" sz="1600" b="0">
                <a:latin typeface="Arial" panose="020B0604020202020204" pitchFamily="34" charset="0"/>
              </a:rPr>
              <a:t>计算机组成原理</a:t>
            </a:r>
            <a:r>
              <a:rPr lang="en-US" altLang="zh-CN" sz="1600" b="0">
                <a:latin typeface="Arial" panose="020B0604020202020204" pitchFamily="34" charset="0"/>
              </a:rPr>
              <a:t>(H)</a:t>
            </a:r>
            <a:r>
              <a:rPr lang="zh-CN" altLang="en-US" sz="1600" b="0">
                <a:latin typeface="Arial" panose="020B0604020202020204" pitchFamily="34" charset="0"/>
              </a:rPr>
              <a:t>实验 </a:t>
            </a:r>
            <a:endParaRPr lang="zh-CN" altLang="en-US" sz="1600" b="0" dirty="0">
              <a:latin typeface="Arial" panose="020B0604020202020204" pitchFamily="34" charset="0"/>
            </a:endParaRPr>
          </a:p>
        </p:txBody>
      </p:sp>
      <p:sp>
        <p:nvSpPr>
          <p:cNvPr id="12294" name="灯片编号占位符 2">
            <a:extLst>
              <a:ext uri="{FF2B5EF4-FFF2-40B4-BE49-F238E27FC236}">
                <a16:creationId xmlns:a16="http://schemas.microsoft.com/office/drawing/2014/main" id="{070AEA95-2B86-48D3-BCDD-E0EB0A4146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45225"/>
            <a:ext cx="1676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14F38A8-CA72-4FEB-B28A-D9E279D20FAF}" type="slidenum">
              <a:rPr lang="en-US" altLang="zh-CN" sz="1600" b="0" smtClean="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600" b="0">
              <a:latin typeface="Arial" panose="020B0604020202020204" pitchFamily="34" charset="0"/>
            </a:endParaRPr>
          </a:p>
        </p:txBody>
      </p:sp>
      <p:sp>
        <p:nvSpPr>
          <p:cNvPr id="12295" name="日期占位符 3">
            <a:extLst>
              <a:ext uri="{FF2B5EF4-FFF2-40B4-BE49-F238E27FC236}">
                <a16:creationId xmlns:a16="http://schemas.microsoft.com/office/drawing/2014/main" id="{692181CD-CC0D-4226-89E4-A028D052393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1D66BA-82AB-4583-8902-FD1738580B47}" type="datetime1">
              <a:rPr lang="zh-CN" altLang="en-US" sz="1600" b="0" smtClean="0">
                <a:latin typeface="Arial" panose="020B0604020202020204" pitchFamily="34" charset="0"/>
              </a:rPr>
              <a:t>2024/11/21</a:t>
            </a:fld>
            <a:endParaRPr lang="zh-CN" altLang="en-US" sz="1600" b="0" dirty="0">
              <a:latin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A6F8844-4109-45EE-B527-4447BBD442CF}"/>
              </a:ext>
            </a:extLst>
          </p:cNvPr>
          <p:cNvGrpSpPr/>
          <p:nvPr/>
        </p:nvGrpSpPr>
        <p:grpSpPr>
          <a:xfrm>
            <a:off x="1470498" y="4473117"/>
            <a:ext cx="2488226" cy="1506907"/>
            <a:chOff x="1470498" y="4221089"/>
            <a:chExt cx="2488226" cy="1594317"/>
          </a:xfrm>
        </p:grpSpPr>
        <p:sp>
          <p:nvSpPr>
            <p:cNvPr id="78" name="文本框 149">
              <a:extLst>
                <a:ext uri="{FF2B5EF4-FFF2-40B4-BE49-F238E27FC236}">
                  <a16:creationId xmlns:a16="http://schemas.microsoft.com/office/drawing/2014/main" id="{E61BD92D-B55F-4250-A142-A7850D4B4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149" y="4221089"/>
              <a:ext cx="1413808" cy="15943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08000" rIns="0" bIns="0" anchor="ctr" anchorCtr="0"/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ctr">
                <a:spcBef>
                  <a:spcPts val="60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SRT </a:t>
              </a:r>
              <a:endParaRPr lang="en-US" altLang="zh-CN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TextBox 32">
              <a:extLst>
                <a:ext uri="{FF2B5EF4-FFF2-40B4-BE49-F238E27FC236}">
                  <a16:creationId xmlns:a16="http://schemas.microsoft.com/office/drawing/2014/main" id="{DA3A1B4C-E74D-4A39-BE5D-A95085BAA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7569" y="5413714"/>
              <a:ext cx="348233" cy="309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 dirty="0" err="1">
                  <a:latin typeface="Arial" panose="020B0604020202020204" pitchFamily="34" charset="0"/>
                  <a:cs typeface="Arial" panose="020B0604020202020204" pitchFamily="34" charset="0"/>
                </a:rPr>
                <a:t>clk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60595EE7-E6C6-4FD9-9778-F510F9775E9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77616" y="5597732"/>
              <a:ext cx="536891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32">
              <a:extLst>
                <a:ext uri="{FF2B5EF4-FFF2-40B4-BE49-F238E27FC236}">
                  <a16:creationId xmlns:a16="http://schemas.microsoft.com/office/drawing/2014/main" id="{7F9A551D-A978-4B49-8686-446EDE627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6070" y="5136715"/>
              <a:ext cx="25648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rst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80E7D66A-563F-4D01-BFFB-6B7801571A0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75656" y="5297662"/>
              <a:ext cx="53885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本框 155">
              <a:extLst>
                <a:ext uri="{FF2B5EF4-FFF2-40B4-BE49-F238E27FC236}">
                  <a16:creationId xmlns:a16="http://schemas.microsoft.com/office/drawing/2014/main" id="{D957E0D9-3394-47BB-8D59-560936857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3570" y="4229937"/>
              <a:ext cx="861084" cy="3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1800" b="0" dirty="0">
                  <a:latin typeface="Arial" panose="020B0604020202020204" pitchFamily="34" charset="0"/>
                  <a:cs typeface="Arial" panose="020B0604020202020204" pitchFamily="34" charset="0"/>
                </a:rPr>
                <a:t>done</a:t>
              </a:r>
            </a:p>
          </p:txBody>
        </p: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250CEC77-7BCA-443E-B26A-8E7E8CD3E39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35114" y="4485443"/>
              <a:ext cx="523610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文本框 155">
              <a:extLst>
                <a:ext uri="{FF2B5EF4-FFF2-40B4-BE49-F238E27FC236}">
                  <a16:creationId xmlns:a16="http://schemas.microsoft.com/office/drawing/2014/main" id="{CBF5CAC1-2A20-4C37-B7B0-F5270DA53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4985" y="4523169"/>
              <a:ext cx="748924" cy="44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algn="r">
                <a:lnSpc>
                  <a:spcPts val="2900"/>
                </a:lnSpc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count</a:t>
              </a:r>
              <a:endParaRPr lang="en-US" altLang="zh-CN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539B26CC-A0CB-4E0A-9726-F8647F831A1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19872" y="4774180"/>
              <a:ext cx="538852" cy="0"/>
            </a:xfrm>
            <a:prstGeom prst="line">
              <a:avLst/>
            </a:prstGeom>
            <a:ln w="28575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32">
              <a:extLst>
                <a:ext uri="{FF2B5EF4-FFF2-40B4-BE49-F238E27FC236}">
                  <a16:creationId xmlns:a16="http://schemas.microsoft.com/office/drawing/2014/main" id="{A26C0873-A059-44CF-BC9D-2530341FD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0912" y="4335365"/>
              <a:ext cx="448841" cy="293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Aft>
                  <a:spcPts val="600"/>
                </a:spcAft>
                <a:buChar char="•"/>
                <a:defRPr sz="32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Aft>
                  <a:spcPts val="600"/>
                </a:spcAft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Aft>
                  <a:spcPts val="600"/>
                </a:spcAft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Aft>
                  <a:spcPts val="6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ts val="6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  <a:cs typeface="Arial" panose="020B0604020202020204" pitchFamily="34" charset="0"/>
                </a:rPr>
                <a:t>start</a:t>
              </a:r>
              <a:endParaRPr lang="zh-CN" altLang="en-US" sz="1800" b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01ECE157-FA05-4569-B5B3-E70E0E0DC14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70498" y="4487735"/>
              <a:ext cx="538852" cy="0"/>
            </a:xfrm>
            <a:prstGeom prst="line">
              <a:avLst/>
            </a:prstGeom>
            <a:ln w="1905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9B27F22-D3BD-4080-BF5D-8493529A2DD4}"/>
              </a:ext>
            </a:extLst>
          </p:cNvPr>
          <p:cNvGrpSpPr/>
          <p:nvPr/>
        </p:nvGrpSpPr>
        <p:grpSpPr>
          <a:xfrm>
            <a:off x="3455876" y="5130151"/>
            <a:ext cx="3903739" cy="855743"/>
            <a:chOff x="3455876" y="4965533"/>
            <a:chExt cx="3903739" cy="855743"/>
          </a:xfrm>
        </p:grpSpPr>
        <p:sp>
          <p:nvSpPr>
            <p:cNvPr id="59" name="文本框 84">
              <a:extLst>
                <a:ext uri="{FF2B5EF4-FFF2-40B4-BE49-F238E27FC236}">
                  <a16:creationId xmlns:a16="http://schemas.microsoft.com/office/drawing/2014/main" id="{F7860286-9846-465C-9803-6278FA49E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669" y="4965533"/>
              <a:ext cx="1085542" cy="8498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08000" rIns="0" bIns="0" anchor="ctr" anchorCtr="0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ts val="1800"/>
                </a:lnSpc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SDU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3B2A566D-744E-45B7-9519-AB9CB4BF2E7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220072" y="5241003"/>
              <a:ext cx="87236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34">
              <a:extLst>
                <a:ext uri="{FF2B5EF4-FFF2-40B4-BE49-F238E27FC236}">
                  <a16:creationId xmlns:a16="http://schemas.microsoft.com/office/drawing/2014/main" id="{2510A0D6-717E-4004-ADB9-EB51F9B54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468059" y="5208025"/>
              <a:ext cx="77" cy="136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2" name="TextBox 34">
              <a:extLst>
                <a:ext uri="{FF2B5EF4-FFF2-40B4-BE49-F238E27FC236}">
                  <a16:creationId xmlns:a16="http://schemas.microsoft.com/office/drawing/2014/main" id="{B100D103-FCB1-4E92-854F-6CD2820518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442352" y="4983289"/>
              <a:ext cx="377760" cy="136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 b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rxd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3" name="TextBox 34">
              <a:extLst>
                <a:ext uri="{FF2B5EF4-FFF2-40B4-BE49-F238E27FC236}">
                  <a16:creationId xmlns:a16="http://schemas.microsoft.com/office/drawing/2014/main" id="{0C91AE4D-09A9-4C53-93ED-380745E88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437746" y="5327094"/>
              <a:ext cx="362651" cy="136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800" b="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txd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64" name="TextBox 34">
              <a:extLst>
                <a:ext uri="{FF2B5EF4-FFF2-40B4-BE49-F238E27FC236}">
                  <a16:creationId xmlns:a16="http://schemas.microsoft.com/office/drawing/2014/main" id="{81D14498-A490-4532-96C7-CB3D36D8E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5468059" y="5467818"/>
              <a:ext cx="77" cy="1367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6AA6963-85A5-4B91-96B3-C5DBD130D2FD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5220072" y="5580488"/>
              <a:ext cx="87236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med" len="lg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84">
              <a:extLst>
                <a:ext uri="{FF2B5EF4-FFF2-40B4-BE49-F238E27FC236}">
                  <a16:creationId xmlns:a16="http://schemas.microsoft.com/office/drawing/2014/main" id="{AE26B990-6CC6-4594-8F0C-6CE1D37E9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9701" y="4965533"/>
              <a:ext cx="1269914" cy="8557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ts val="1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800" b="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个人电脑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77" name="箭头: 左右 76">
              <a:extLst>
                <a:ext uri="{FF2B5EF4-FFF2-40B4-BE49-F238E27FC236}">
                  <a16:creationId xmlns:a16="http://schemas.microsoft.com/office/drawing/2014/main" id="{3D19ECA4-C148-4384-BF6B-7061F73FB003}"/>
                </a:ext>
              </a:extLst>
            </p:cNvPr>
            <p:cNvSpPr/>
            <p:nvPr/>
          </p:nvSpPr>
          <p:spPr bwMode="auto">
            <a:xfrm>
              <a:off x="3455876" y="5265204"/>
              <a:ext cx="636995" cy="303960"/>
            </a:xfrm>
            <a:prstGeom prst="leftRightArrow">
              <a:avLst>
                <a:gd name="adj1" fmla="val 40365"/>
                <a:gd name="adj2" fmla="val 71184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内容占位符 1">
            <a:extLst>
              <a:ext uri="{FF2B5EF4-FFF2-40B4-BE49-F238E27FC236}">
                <a16:creationId xmlns:a16="http://schemas.microsoft.com/office/drawing/2014/main" id="{946D2E59-5CA8-4A09-A0AD-BD62F12382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9439" y="1459880"/>
            <a:ext cx="7967663" cy="572273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2400"/>
              <a:t>冒泡排序</a:t>
            </a:r>
            <a:endParaRPr lang="en-US" altLang="zh-CN" sz="240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E6A99A8-8CDA-4614-BF5D-08493B7AB3BB}"/>
              </a:ext>
            </a:extLst>
          </p:cNvPr>
          <p:cNvSpPr txBox="1"/>
          <p:nvPr/>
        </p:nvSpPr>
        <p:spPr>
          <a:xfrm>
            <a:off x="2776184" y="2483305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+mn-ea"/>
                <a:ea typeface="+mn-ea"/>
                <a:cs typeface="Arial" panose="020B0604020202020204" pitchFamily="34" charset="0"/>
              </a:rPr>
              <a:t>&lt;</a:t>
            </a:r>
            <a:endParaRPr lang="zh-CN" altLang="en-US" sz="160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FFF66D6-E227-4BBD-87D6-6352BECD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SRT</a:t>
            </a:r>
            <a:r>
              <a:rPr lang="zh-CN" altLang="en-US"/>
              <a:t>：数据通路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390F30-7B10-462C-924C-4C5C5F38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FC046F-C8B0-4E23-B1AA-02926C53D775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F5E5D9-B72A-44B5-A5CE-55FD95FF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数字逻辑设计进阶实验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6D5CC-F1B3-447E-92A2-AB55A894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01D92-7DBD-45E5-8861-874C856BB5D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9" name="弧形 8">
            <a:extLst>
              <a:ext uri="{FF2B5EF4-FFF2-40B4-BE49-F238E27FC236}">
                <a16:creationId xmlns:a16="http://schemas.microsoft.com/office/drawing/2014/main" id="{F56ACF53-851F-43C7-8FE5-81E7AFB13E59}"/>
              </a:ext>
            </a:extLst>
          </p:cNvPr>
          <p:cNvSpPr/>
          <p:nvPr/>
        </p:nvSpPr>
        <p:spPr bwMode="auto">
          <a:xfrm>
            <a:off x="2742046" y="2482134"/>
            <a:ext cx="703744" cy="339725"/>
          </a:xfrm>
          <a:prstGeom prst="arc">
            <a:avLst>
              <a:gd name="adj1" fmla="val 16200000"/>
              <a:gd name="adj2" fmla="val 5453648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20C07A-EE98-465D-BD92-B394B3B536FE}"/>
              </a:ext>
            </a:extLst>
          </p:cNvPr>
          <p:cNvSpPr txBox="1"/>
          <p:nvPr/>
        </p:nvSpPr>
        <p:spPr>
          <a:xfrm>
            <a:off x="3453401" y="2483305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+mn-ea"/>
                <a:ea typeface="+mn-ea"/>
                <a:cs typeface="Arial" panose="020B0604020202020204" pitchFamily="34" charset="0"/>
              </a:rPr>
              <a:t>swap</a:t>
            </a:r>
            <a:endParaRPr lang="zh-CN" altLang="en-US" sz="160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A125C4-B15B-4D41-BA54-85D7A36E49E5}"/>
              </a:ext>
            </a:extLst>
          </p:cNvPr>
          <p:cNvSpPr txBox="1"/>
          <p:nvPr/>
        </p:nvSpPr>
        <p:spPr>
          <a:xfrm>
            <a:off x="1822964" y="2035972"/>
            <a:ext cx="35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+mn-ea"/>
                <a:ea typeface="+mn-ea"/>
                <a:cs typeface="Arial" panose="020B0604020202020204" pitchFamily="34" charset="0"/>
              </a:rPr>
              <a:t>M</a:t>
            </a:r>
            <a:endParaRPr lang="zh-CN" altLang="en-US" sz="1600">
              <a:latin typeface="+mn-ea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873EF45-A446-4DD4-BA42-FFD1A14F7F62}"/>
              </a:ext>
            </a:extLst>
          </p:cNvPr>
          <p:cNvGrpSpPr/>
          <p:nvPr/>
        </p:nvGrpSpPr>
        <p:grpSpPr>
          <a:xfrm>
            <a:off x="6373810" y="4051655"/>
            <a:ext cx="914400" cy="432048"/>
            <a:chOff x="1304925" y="1649413"/>
            <a:chExt cx="914400" cy="699467"/>
          </a:xfrm>
        </p:grpSpPr>
        <p:grpSp>
          <p:nvGrpSpPr>
            <p:cNvPr id="13" name="组合 131">
              <a:extLst>
                <a:ext uri="{FF2B5EF4-FFF2-40B4-BE49-F238E27FC236}">
                  <a16:creationId xmlns:a16="http://schemas.microsoft.com/office/drawing/2014/main" id="{0FE1B661-84BC-4D70-8890-884CBB3ED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4925" y="1649413"/>
              <a:ext cx="914400" cy="685800"/>
              <a:chOff x="3962400" y="935771"/>
              <a:chExt cx="914400" cy="686634"/>
            </a:xfrm>
          </p:grpSpPr>
          <p:sp>
            <p:nvSpPr>
              <p:cNvPr id="15" name="文本框 5">
                <a:extLst>
                  <a:ext uri="{FF2B5EF4-FFF2-40B4-BE49-F238E27FC236}">
                    <a16:creationId xmlns:a16="http://schemas.microsoft.com/office/drawing/2014/main" id="{D4063DD8-2543-46CD-95F6-034304344D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9739" y="935771"/>
                <a:ext cx="317500" cy="68663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36000" rIns="0" bIns="0" anchorCtr="1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ts val="12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endParaRPr lang="zh-CN" altLang="en-US" sz="1600" b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449B8730-3D3E-4FDE-A346-5B750B1E73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573588" y="1294982"/>
                <a:ext cx="30321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FA308995-8AF3-4498-98A7-8C84EB50FD0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962400" y="1294982"/>
                <a:ext cx="27781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515A4801-B57A-45F5-BA01-E1C4022A43A2}"/>
                </a:ext>
              </a:extLst>
            </p:cNvPr>
            <p:cNvSpPr/>
            <p:nvPr/>
          </p:nvSpPr>
          <p:spPr>
            <a:xfrm>
              <a:off x="1631504" y="2204864"/>
              <a:ext cx="216024" cy="144016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E416E99-9D3D-4B7C-9F99-F2EF81AF8679}"/>
              </a:ext>
            </a:extLst>
          </p:cNvPr>
          <p:cNvGrpSpPr/>
          <p:nvPr/>
        </p:nvGrpSpPr>
        <p:grpSpPr>
          <a:xfrm>
            <a:off x="6373810" y="4627720"/>
            <a:ext cx="914400" cy="432048"/>
            <a:chOff x="1304925" y="1649413"/>
            <a:chExt cx="914400" cy="699467"/>
          </a:xfrm>
        </p:grpSpPr>
        <p:grpSp>
          <p:nvGrpSpPr>
            <p:cNvPr id="19" name="组合 131">
              <a:extLst>
                <a:ext uri="{FF2B5EF4-FFF2-40B4-BE49-F238E27FC236}">
                  <a16:creationId xmlns:a16="http://schemas.microsoft.com/office/drawing/2014/main" id="{6161A5AD-B7D7-4639-B602-C139F72AC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4925" y="1649413"/>
              <a:ext cx="914400" cy="685800"/>
              <a:chOff x="3962400" y="935771"/>
              <a:chExt cx="914400" cy="686634"/>
            </a:xfrm>
          </p:grpSpPr>
          <p:sp>
            <p:nvSpPr>
              <p:cNvPr id="21" name="文本框 5">
                <a:extLst>
                  <a:ext uri="{FF2B5EF4-FFF2-40B4-BE49-F238E27FC236}">
                    <a16:creationId xmlns:a16="http://schemas.microsoft.com/office/drawing/2014/main" id="{F460576B-7360-4BE4-A280-2B44679C28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9739" y="935771"/>
                <a:ext cx="317500" cy="68663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36000" rIns="0" bIns="0" anchorCtr="1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ts val="12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zh-CN" altLang="en-US" sz="1600" b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62A75CC-9988-4BB4-AB17-99DE65A6850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573588" y="1294982"/>
                <a:ext cx="30321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7AA922D-28C2-4865-83C6-FBC2086468C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962400" y="1294982"/>
                <a:ext cx="27781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9E74C791-CE57-433F-9773-13D4D420FC73}"/>
                </a:ext>
              </a:extLst>
            </p:cNvPr>
            <p:cNvSpPr/>
            <p:nvPr/>
          </p:nvSpPr>
          <p:spPr>
            <a:xfrm>
              <a:off x="1631504" y="2204864"/>
              <a:ext cx="216024" cy="144016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文本框 5">
            <a:extLst>
              <a:ext uri="{FF2B5EF4-FFF2-40B4-BE49-F238E27FC236}">
                <a16:creationId xmlns:a16="http://schemas.microsoft.com/office/drawing/2014/main" id="{3A32F9AA-DC9B-4B3A-86E7-07F0AE58F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269" y="3547601"/>
            <a:ext cx="863884" cy="1615304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72000" rIns="0" bIns="0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ct val="0"/>
              </a:spcAft>
              <a:buFontTx/>
              <a:buNone/>
            </a:pPr>
            <a:r>
              <a:rPr lang="en-US" altLang="zh-CN" sz="1600" b="0">
                <a:latin typeface="Arial" panose="020B0604020202020204" pitchFamily="34" charset="0"/>
                <a:cs typeface="Arial" panose="020B0604020202020204" pitchFamily="34" charset="0"/>
              </a:rPr>
              <a:t>   M</a:t>
            </a:r>
            <a:endParaRPr lang="zh-CN" altLang="en-US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0975DAE-E155-4E95-B9A8-7DC166E399CA}"/>
              </a:ext>
            </a:extLst>
          </p:cNvPr>
          <p:cNvGrpSpPr/>
          <p:nvPr/>
        </p:nvGrpSpPr>
        <p:grpSpPr>
          <a:xfrm>
            <a:off x="3919583" y="3588463"/>
            <a:ext cx="914400" cy="432048"/>
            <a:chOff x="1304925" y="1649413"/>
            <a:chExt cx="914400" cy="699467"/>
          </a:xfrm>
        </p:grpSpPr>
        <p:grpSp>
          <p:nvGrpSpPr>
            <p:cNvPr id="28" name="组合 131">
              <a:extLst>
                <a:ext uri="{FF2B5EF4-FFF2-40B4-BE49-F238E27FC236}">
                  <a16:creationId xmlns:a16="http://schemas.microsoft.com/office/drawing/2014/main" id="{1BC15279-FE24-4CF3-994E-38FE0BA01A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4925" y="1649413"/>
              <a:ext cx="914400" cy="685800"/>
              <a:chOff x="3962400" y="935771"/>
              <a:chExt cx="914400" cy="686634"/>
            </a:xfrm>
          </p:grpSpPr>
          <p:sp>
            <p:nvSpPr>
              <p:cNvPr id="30" name="文本框 5">
                <a:extLst>
                  <a:ext uri="{FF2B5EF4-FFF2-40B4-BE49-F238E27FC236}">
                    <a16:creationId xmlns:a16="http://schemas.microsoft.com/office/drawing/2014/main" id="{D553DD4D-5F3D-4FCC-B594-F0A82DB458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9739" y="935771"/>
                <a:ext cx="317500" cy="686634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36000" rIns="0" bIns="0" anchorCtr="1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ts val="12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altLang="zh-CN" sz="1600" b="0">
                    <a:latin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endParaRPr lang="zh-CN" altLang="en-US" sz="1600" b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3215E8D-643E-4757-A9A6-252CBD704E0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573588" y="1294982"/>
                <a:ext cx="30321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FF4F7D3E-350E-4C12-8BF3-77C97C36907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962400" y="1294982"/>
                <a:ext cx="277813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等腰三角形 28">
              <a:extLst>
                <a:ext uri="{FF2B5EF4-FFF2-40B4-BE49-F238E27FC236}">
                  <a16:creationId xmlns:a16="http://schemas.microsoft.com/office/drawing/2014/main" id="{2DFDEA43-D257-427C-B9D6-C1C82BD9F7B5}"/>
                </a:ext>
              </a:extLst>
            </p:cNvPr>
            <p:cNvSpPr/>
            <p:nvPr/>
          </p:nvSpPr>
          <p:spPr>
            <a:xfrm>
              <a:off x="1631504" y="2204864"/>
              <a:ext cx="216024" cy="144016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4F74A1E-A726-4704-9B2B-5AC0EFAE4BFF}"/>
              </a:ext>
            </a:extLst>
          </p:cNvPr>
          <p:cNvSpPr/>
          <p:nvPr/>
        </p:nvSpPr>
        <p:spPr>
          <a:xfrm>
            <a:off x="7669954" y="4051655"/>
            <a:ext cx="268080" cy="999667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&lt;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AEE95F7A-9ECB-40EB-8534-E25F27C5606A}"/>
              </a:ext>
            </a:extLst>
          </p:cNvPr>
          <p:cNvCxnSpPr>
            <a:cxnSpLocks/>
          </p:cNvCxnSpPr>
          <p:nvPr/>
        </p:nvCxnSpPr>
        <p:spPr bwMode="auto">
          <a:xfrm>
            <a:off x="4837697" y="3810072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CE15AA7-442F-4D5D-9C4F-102733D9E4D8}"/>
              </a:ext>
            </a:extLst>
          </p:cNvPr>
          <p:cNvCxnSpPr>
            <a:cxnSpLocks/>
          </p:cNvCxnSpPr>
          <p:nvPr/>
        </p:nvCxnSpPr>
        <p:spPr bwMode="auto">
          <a:xfrm>
            <a:off x="7229623" y="4276949"/>
            <a:ext cx="44722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8E7C3D3-D66A-42FF-B418-629A681FC036}"/>
              </a:ext>
            </a:extLst>
          </p:cNvPr>
          <p:cNvCxnSpPr>
            <a:cxnSpLocks/>
          </p:cNvCxnSpPr>
          <p:nvPr/>
        </p:nvCxnSpPr>
        <p:spPr bwMode="auto">
          <a:xfrm>
            <a:off x="4859030" y="4954735"/>
            <a:ext cx="3600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23902727-877A-472E-97AB-3D1181829A42}"/>
              </a:ext>
            </a:extLst>
          </p:cNvPr>
          <p:cNvCxnSpPr>
            <a:cxnSpLocks/>
          </p:cNvCxnSpPr>
          <p:nvPr/>
        </p:nvCxnSpPr>
        <p:spPr bwMode="auto">
          <a:xfrm>
            <a:off x="7273910" y="4853013"/>
            <a:ext cx="411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C0EC15B-1EC8-4FB5-8B45-0F897DFD4AE9}"/>
              </a:ext>
            </a:extLst>
          </p:cNvPr>
          <p:cNvCxnSpPr>
            <a:cxnSpLocks/>
          </p:cNvCxnSpPr>
          <p:nvPr/>
        </p:nvCxnSpPr>
        <p:spPr bwMode="auto">
          <a:xfrm>
            <a:off x="7928879" y="4564981"/>
            <a:ext cx="28803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1CE631C-6B70-4937-83A1-DF3EEAF33896}"/>
              </a:ext>
            </a:extLst>
          </p:cNvPr>
          <p:cNvCxnSpPr>
            <a:cxnSpLocks/>
          </p:cNvCxnSpPr>
          <p:nvPr/>
        </p:nvCxnSpPr>
        <p:spPr bwMode="auto">
          <a:xfrm>
            <a:off x="6076590" y="4273264"/>
            <a:ext cx="29722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7C4CFC0E-85FA-4472-A548-23CA80AD469A}"/>
              </a:ext>
            </a:extLst>
          </p:cNvPr>
          <p:cNvCxnSpPr>
            <a:cxnSpLocks/>
          </p:cNvCxnSpPr>
          <p:nvPr/>
        </p:nvCxnSpPr>
        <p:spPr>
          <a:xfrm>
            <a:off x="6373810" y="4273264"/>
            <a:ext cx="0" cy="579749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D609C4E-ECE5-4B0C-86DD-4B3A38670BC9}"/>
              </a:ext>
            </a:extLst>
          </p:cNvPr>
          <p:cNvCxnSpPr>
            <a:cxnSpLocks/>
          </p:cNvCxnSpPr>
          <p:nvPr/>
        </p:nvCxnSpPr>
        <p:spPr bwMode="auto">
          <a:xfrm>
            <a:off x="4915858" y="4557026"/>
            <a:ext cx="3032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CF4B6898-6EEB-45E6-BCC1-291E2E003C59}"/>
              </a:ext>
            </a:extLst>
          </p:cNvPr>
          <p:cNvSpPr txBox="1"/>
          <p:nvPr/>
        </p:nvSpPr>
        <p:spPr>
          <a:xfrm>
            <a:off x="5202486" y="4761033"/>
            <a:ext cx="4571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din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19B95CA-C370-49E4-9589-BEC60A63F6EB}"/>
              </a:ext>
            </a:extLst>
          </p:cNvPr>
          <p:cNvSpPr txBox="1"/>
          <p:nvPr/>
        </p:nvSpPr>
        <p:spPr>
          <a:xfrm>
            <a:off x="5438646" y="4093023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dout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836D7F6-8A62-471B-800E-4889F7F8827A}"/>
              </a:ext>
            </a:extLst>
          </p:cNvPr>
          <p:cNvSpPr txBox="1"/>
          <p:nvPr/>
        </p:nvSpPr>
        <p:spPr>
          <a:xfrm>
            <a:off x="5226105" y="361581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20793D9-4C6C-4CDD-B46C-9A8EF1BCBC72}"/>
              </a:ext>
            </a:extLst>
          </p:cNvPr>
          <p:cNvSpPr txBox="1"/>
          <p:nvPr/>
        </p:nvSpPr>
        <p:spPr>
          <a:xfrm>
            <a:off x="5210402" y="4407146"/>
            <a:ext cx="445956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3546853-DEBD-45F1-B372-4106E978D2FE}"/>
              </a:ext>
            </a:extLst>
          </p:cNvPr>
          <p:cNvSpPr txBox="1"/>
          <p:nvPr/>
        </p:nvSpPr>
        <p:spPr>
          <a:xfrm>
            <a:off x="8196959" y="4369880"/>
            <a:ext cx="548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cs typeface="Arial" panose="020B0604020202020204" pitchFamily="34" charset="0"/>
              </a:rPr>
              <a:t>less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8D807860-340C-4C39-AFC5-6C996A136717}"/>
              </a:ext>
            </a:extLst>
          </p:cNvPr>
          <p:cNvCxnSpPr>
            <a:cxnSpLocks/>
          </p:cNvCxnSpPr>
          <p:nvPr/>
        </p:nvCxnSpPr>
        <p:spPr bwMode="auto">
          <a:xfrm>
            <a:off x="2827429" y="3806015"/>
            <a:ext cx="81110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2EB8E12B-13F6-431C-B5FD-3DE78C6F9136}"/>
              </a:ext>
            </a:extLst>
          </p:cNvPr>
          <p:cNvSpPr/>
          <p:nvPr/>
        </p:nvSpPr>
        <p:spPr>
          <a:xfrm>
            <a:off x="3638389" y="3389153"/>
            <a:ext cx="278976" cy="836745"/>
          </a:xfrm>
          <a:prstGeom prst="roundRect">
            <a:avLst>
              <a:gd name="adj" fmla="val 5000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ts val="2000"/>
              </a:lnSpc>
            </a:pPr>
            <a:r>
              <a:rPr lang="en-US" altLang="zh-CN" sz="1400">
                <a:solidFill>
                  <a:schemeClr val="tx1"/>
                </a:solidFill>
              </a:rPr>
              <a:t>0</a:t>
            </a:r>
          </a:p>
          <a:p>
            <a:pPr algn="ctr">
              <a:lnSpc>
                <a:spcPts val="2000"/>
              </a:lnSpc>
            </a:pPr>
            <a:r>
              <a:rPr lang="en-US" altLang="zh-CN" sz="1400">
                <a:solidFill>
                  <a:schemeClr val="tx1"/>
                </a:solidFill>
              </a:rPr>
              <a:t>1</a:t>
            </a:r>
          </a:p>
          <a:p>
            <a:pPr algn="ctr">
              <a:lnSpc>
                <a:spcPts val="2000"/>
              </a:lnSpc>
            </a:pPr>
            <a:r>
              <a:rPr lang="en-US" altLang="zh-CN" sz="1400">
                <a:solidFill>
                  <a:schemeClr val="tx1"/>
                </a:solidFill>
              </a:rPr>
              <a:t>2</a:t>
            </a:r>
            <a:endParaRPr lang="zh-CN" altLang="en-US" sz="1400">
              <a:solidFill>
                <a:schemeClr val="tx1"/>
              </a:solidFill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D2304D34-4AC9-4ECA-AF85-38665A008BF0}"/>
              </a:ext>
            </a:extLst>
          </p:cNvPr>
          <p:cNvCxnSpPr>
            <a:cxnSpLocks/>
          </p:cNvCxnSpPr>
          <p:nvPr/>
        </p:nvCxnSpPr>
        <p:spPr bwMode="auto">
          <a:xfrm>
            <a:off x="4837737" y="3806015"/>
            <a:ext cx="0" cy="538415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087662C4-ADCE-4364-B67D-2A49D6C30D16}"/>
              </a:ext>
            </a:extLst>
          </p:cNvPr>
          <p:cNvCxnSpPr>
            <a:cxnSpLocks/>
          </p:cNvCxnSpPr>
          <p:nvPr/>
        </p:nvCxnSpPr>
        <p:spPr bwMode="auto">
          <a:xfrm>
            <a:off x="2812669" y="4342285"/>
            <a:ext cx="202858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>
            <a:extLst>
              <a:ext uri="{FF2B5EF4-FFF2-40B4-BE49-F238E27FC236}">
                <a16:creationId xmlns:a16="http://schemas.microsoft.com/office/drawing/2014/main" id="{60F72BB4-3CAE-4EE7-9172-019F46EFEE63}"/>
              </a:ext>
            </a:extLst>
          </p:cNvPr>
          <p:cNvSpPr/>
          <p:nvPr/>
        </p:nvSpPr>
        <p:spPr bwMode="auto">
          <a:xfrm>
            <a:off x="3035548" y="3687748"/>
            <a:ext cx="385459" cy="232099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+1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A3FE0FB4-AFF0-4E56-9CFB-20FB1E84A4C1}"/>
              </a:ext>
            </a:extLst>
          </p:cNvPr>
          <p:cNvCxnSpPr>
            <a:cxnSpLocks/>
          </p:cNvCxnSpPr>
          <p:nvPr/>
        </p:nvCxnSpPr>
        <p:spPr>
          <a:xfrm>
            <a:off x="2827429" y="3806015"/>
            <a:ext cx="0" cy="527705"/>
          </a:xfrm>
          <a:prstGeom prst="line">
            <a:avLst/>
          </a:prstGeom>
          <a:ln w="28575">
            <a:solidFill>
              <a:schemeClr val="tx1"/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A1A4308F-93E2-484A-B714-650CF830AFC2}"/>
              </a:ext>
            </a:extLst>
          </p:cNvPr>
          <p:cNvCxnSpPr>
            <a:cxnSpLocks/>
          </p:cNvCxnSpPr>
          <p:nvPr/>
        </p:nvCxnSpPr>
        <p:spPr bwMode="auto">
          <a:xfrm>
            <a:off x="3376089" y="3541862"/>
            <a:ext cx="26340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F17101DB-5F84-4EC5-9D54-01530023F003}"/>
              </a:ext>
            </a:extLst>
          </p:cNvPr>
          <p:cNvSpPr txBox="1"/>
          <p:nvPr/>
        </p:nvSpPr>
        <p:spPr>
          <a:xfrm>
            <a:off x="3084853" y="3370177"/>
            <a:ext cx="248170" cy="343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>
                <a:cs typeface="Arial" panose="020B0604020202020204" pitchFamily="34" charset="0"/>
              </a:rPr>
              <a:t>0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62FB162-590B-4A4F-98B4-F6677C1924AA}"/>
              </a:ext>
            </a:extLst>
          </p:cNvPr>
          <p:cNvGrpSpPr/>
          <p:nvPr/>
        </p:nvGrpSpPr>
        <p:grpSpPr>
          <a:xfrm>
            <a:off x="4317123" y="2924943"/>
            <a:ext cx="1793707" cy="882582"/>
            <a:chOff x="4060483" y="3370312"/>
            <a:chExt cx="1793707" cy="882582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71CF3F7-2039-4BAE-9ED9-BBF7B623B489}"/>
                </a:ext>
              </a:extLst>
            </p:cNvPr>
            <p:cNvSpPr/>
            <p:nvPr/>
          </p:nvSpPr>
          <p:spPr>
            <a:xfrm>
              <a:off x="4847081" y="3370312"/>
              <a:ext cx="277760" cy="484332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=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2B30A8AC-6A5E-49E8-8B40-E3E4D7511F3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580480" y="3743250"/>
              <a:ext cx="0" cy="509644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28C6B1D-85F7-45F4-97B9-1B5EDCE8D65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16635" y="3635238"/>
              <a:ext cx="24149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8E23AE13-DD53-4D3C-936C-5426F2E5F71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85530" y="3743250"/>
              <a:ext cx="25202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CD632797-9C57-4751-B90E-9E3B5372F1D9}"/>
                </a:ext>
              </a:extLst>
            </p:cNvPr>
            <p:cNvSpPr txBox="1"/>
            <p:nvPr/>
          </p:nvSpPr>
          <p:spPr>
            <a:xfrm>
              <a:off x="4060483" y="3373880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>
                  <a:latin typeface="Arial" panose="020B0604020202020204" pitchFamily="34" charset="0"/>
                  <a:cs typeface="Arial" panose="020B0604020202020204" pitchFamily="34" charset="0"/>
                </a:rPr>
                <a:t>N-2</a:t>
              </a:r>
              <a:endParaRPr lang="zh-CN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06B80F88-14E6-4E5C-8499-8F3F1B082809}"/>
                </a:ext>
              </a:extLst>
            </p:cNvPr>
            <p:cNvSpPr txBox="1"/>
            <p:nvPr/>
          </p:nvSpPr>
          <p:spPr>
            <a:xfrm>
              <a:off x="5328084" y="3436919"/>
              <a:ext cx="5261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latin typeface="Arial" panose="020B0604020202020204" pitchFamily="34" charset="0"/>
                  <a:cs typeface="Arial" panose="020B0604020202020204" pitchFamily="34" charset="0"/>
                </a:rPr>
                <a:t>equ</a:t>
              </a:r>
              <a:endParaRPr lang="zh-CN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D7C02357-A6A3-4582-9A6C-8D0E6221B4B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528740" y="3521971"/>
              <a:ext cx="30376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D70D55FA-E56C-403C-BC8B-81406EDAE7DB}"/>
              </a:ext>
            </a:extLst>
          </p:cNvPr>
          <p:cNvGrpSpPr/>
          <p:nvPr/>
        </p:nvGrpSpPr>
        <p:grpSpPr>
          <a:xfrm>
            <a:off x="4152877" y="4273264"/>
            <a:ext cx="3271946" cy="1229126"/>
            <a:chOff x="4421284" y="4792950"/>
            <a:chExt cx="3271946" cy="1229126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D88D32A-8D53-45AD-A821-A04D7E5A7172}"/>
                </a:ext>
              </a:extLst>
            </p:cNvPr>
            <p:cNvCxnSpPr>
              <a:cxnSpLocks/>
            </p:cNvCxnSpPr>
            <p:nvPr/>
          </p:nvCxnSpPr>
          <p:spPr>
            <a:xfrm>
              <a:off x="7513210" y="4792950"/>
              <a:ext cx="0" cy="1085110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B201ACB-39AF-4D24-9F87-94FA8BA74AB7}"/>
                </a:ext>
              </a:extLst>
            </p:cNvPr>
            <p:cNvCxnSpPr>
              <a:cxnSpLocks/>
            </p:cNvCxnSpPr>
            <p:nvPr/>
          </p:nvCxnSpPr>
          <p:spPr>
            <a:xfrm>
              <a:off x="7693230" y="5369015"/>
              <a:ext cx="0" cy="653061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056E58D4-1D88-4CD8-9396-2C3E787D5C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08004" y="5878060"/>
              <a:ext cx="289002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C51D116-BC36-4E26-BCB8-D3DC4EBBBE14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04" y="5590028"/>
              <a:ext cx="0" cy="288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C002F2BA-E920-40F6-9864-4C554AFA33A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21284" y="6022076"/>
              <a:ext cx="327194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27160A45-5371-41E8-B356-07D698ED3837}"/>
                </a:ext>
              </a:extLst>
            </p:cNvPr>
            <p:cNvCxnSpPr>
              <a:cxnSpLocks/>
            </p:cNvCxnSpPr>
            <p:nvPr/>
          </p:nvCxnSpPr>
          <p:spPr>
            <a:xfrm>
              <a:off x="4427984" y="5384609"/>
              <a:ext cx="0" cy="63746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D42B30B7-ED11-4359-9227-449C7B643B4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08004" y="5585426"/>
              <a:ext cx="23061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90105BD0-69E9-41B4-B714-5FB03DBEF7EB}"/>
                </a:ext>
              </a:extLst>
            </p:cNvPr>
            <p:cNvSpPr/>
            <p:nvPr/>
          </p:nvSpPr>
          <p:spPr>
            <a:xfrm>
              <a:off x="4839313" y="5240594"/>
              <a:ext cx="287337" cy="436253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36000" rIns="0" bIns="0" rtlCol="0" anchor="ctr"/>
            <a:lstStyle/>
            <a:p>
              <a:pPr algn="ctr">
                <a:lnSpc>
                  <a:spcPts val="14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0</a:t>
              </a:r>
            </a:p>
            <a:p>
              <a:pPr algn="ctr">
                <a:lnSpc>
                  <a:spcPts val="14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1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6B76372-6631-4986-9516-43409BA2C9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27984" y="5384609"/>
              <a:ext cx="40983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FC8EBDB8-E1EE-4FD7-BA4C-7C28F623EEB3}"/>
              </a:ext>
            </a:extLst>
          </p:cNvPr>
          <p:cNvGrpSpPr/>
          <p:nvPr/>
        </p:nvGrpSpPr>
        <p:grpSpPr>
          <a:xfrm>
            <a:off x="6148602" y="2904272"/>
            <a:ext cx="2402586" cy="575970"/>
            <a:chOff x="5817528" y="3359859"/>
            <a:chExt cx="2402586" cy="575970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B12BB47C-C08B-4DF8-A50D-A1572F42AEAC}"/>
                </a:ext>
              </a:extLst>
            </p:cNvPr>
            <p:cNvGrpSpPr/>
            <p:nvPr/>
          </p:nvGrpSpPr>
          <p:grpSpPr>
            <a:xfrm>
              <a:off x="6643353" y="3409782"/>
              <a:ext cx="925228" cy="432048"/>
              <a:chOff x="1304925" y="1649413"/>
              <a:chExt cx="925228" cy="699467"/>
            </a:xfrm>
          </p:grpSpPr>
          <p:grpSp>
            <p:nvGrpSpPr>
              <p:cNvPr id="59" name="组合 131">
                <a:extLst>
                  <a:ext uri="{FF2B5EF4-FFF2-40B4-BE49-F238E27FC236}">
                    <a16:creationId xmlns:a16="http://schemas.microsoft.com/office/drawing/2014/main" id="{3502B60B-B060-42D9-A1A0-A687B16D79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4925" y="1649413"/>
                <a:ext cx="925228" cy="685800"/>
                <a:chOff x="3962400" y="935771"/>
                <a:chExt cx="925228" cy="686634"/>
              </a:xfrm>
            </p:grpSpPr>
            <p:sp>
              <p:nvSpPr>
                <p:cNvPr id="61" name="文本框 5">
                  <a:extLst>
                    <a:ext uri="{FF2B5EF4-FFF2-40B4-BE49-F238E27FC236}">
                      <a16:creationId xmlns:a16="http://schemas.microsoft.com/office/drawing/2014/main" id="{35C8740B-A875-4105-80B3-61BEE8DBDD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9739" y="935771"/>
                  <a:ext cx="317500" cy="68663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36000" rIns="0" bIns="0" anchorCtr="1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ts val="12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zh-CN" sz="1600" b="0">
                      <a:latin typeface="Arial" panose="020B0604020202020204" pitchFamily="34" charset="0"/>
                      <a:cs typeface="Arial" panose="020B0604020202020204" pitchFamily="34" charset="0"/>
                    </a:rPr>
                    <a:t>S</a:t>
                  </a:r>
                  <a:endParaRPr lang="zh-CN" altLang="en-US" sz="1600" b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B6EC2DC9-C4CE-45F1-B521-D21406143BC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573588" y="1294983"/>
                  <a:ext cx="31404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6B83FF50-7FE5-4B26-9A07-6F1665E68A8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962400" y="1294982"/>
                  <a:ext cx="277813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0" name="等腰三角形 59">
                <a:extLst>
                  <a:ext uri="{FF2B5EF4-FFF2-40B4-BE49-F238E27FC236}">
                    <a16:creationId xmlns:a16="http://schemas.microsoft.com/office/drawing/2014/main" id="{A7E9A5EC-7D4A-4D9C-8221-8EF7F1AFF180}"/>
                  </a:ext>
                </a:extLst>
              </p:cNvPr>
              <p:cNvSpPr/>
              <p:nvPr/>
            </p:nvSpPr>
            <p:spPr>
              <a:xfrm>
                <a:off x="1631504" y="2204864"/>
                <a:ext cx="216024" cy="144016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0874FB5-E949-4B78-AA2D-16C6EDF90647}"/>
                </a:ext>
              </a:extLst>
            </p:cNvPr>
            <p:cNvSpPr txBox="1"/>
            <p:nvPr/>
          </p:nvSpPr>
          <p:spPr>
            <a:xfrm>
              <a:off x="5817528" y="3359859"/>
              <a:ext cx="248170" cy="343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>
                  <a:cs typeface="Arial" panose="020B0604020202020204" pitchFamily="34" charset="0"/>
                </a:rPr>
                <a:t>0</a:t>
              </a:r>
              <a:endParaRPr lang="zh-CN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D666875-12F6-498A-B9D1-822D2414E72D}"/>
                </a:ext>
              </a:extLst>
            </p:cNvPr>
            <p:cNvSpPr txBox="1"/>
            <p:nvPr/>
          </p:nvSpPr>
          <p:spPr>
            <a:xfrm>
              <a:off x="5817528" y="3592459"/>
              <a:ext cx="248170" cy="343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C2B23BD3-FE9F-403B-B0A7-0808C5BF5A3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81594" y="3750409"/>
              <a:ext cx="2642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矩形: 圆角 78">
              <a:extLst>
                <a:ext uri="{FF2B5EF4-FFF2-40B4-BE49-F238E27FC236}">
                  <a16:creationId xmlns:a16="http://schemas.microsoft.com/office/drawing/2014/main" id="{B822683E-11AC-4F97-BCFC-4DEF7748030D}"/>
                </a:ext>
              </a:extLst>
            </p:cNvPr>
            <p:cNvSpPr/>
            <p:nvPr/>
          </p:nvSpPr>
          <p:spPr>
            <a:xfrm>
              <a:off x="6346490" y="3405577"/>
              <a:ext cx="287337" cy="436253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36000" rIns="0" bIns="0" rtlCol="0" anchor="ctr"/>
            <a:lstStyle/>
            <a:p>
              <a:pPr algn="ctr">
                <a:lnSpc>
                  <a:spcPts val="14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0</a:t>
              </a:r>
            </a:p>
            <a:p>
              <a:pPr algn="ctr">
                <a:lnSpc>
                  <a:spcPts val="14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1</a:t>
              </a:r>
              <a:endParaRPr lang="zh-CN" altLang="en-US" sz="1400">
                <a:solidFill>
                  <a:schemeClr val="tx1"/>
                </a:solidFill>
              </a:endParaRP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BF250223-F86E-4988-AE33-A2FD6518EBA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081594" y="3556455"/>
              <a:ext cx="26340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9833EBA3-7433-454B-B70D-29B68A908B17}"/>
                </a:ext>
              </a:extLst>
            </p:cNvPr>
            <p:cNvSpPr txBox="1"/>
            <p:nvPr/>
          </p:nvSpPr>
          <p:spPr>
            <a:xfrm>
              <a:off x="7557753" y="3447137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cs typeface="Arial" panose="020B0604020202020204" pitchFamily="34" charset="0"/>
                </a:rPr>
                <a:t>swap</a:t>
              </a:r>
              <a:endParaRPr lang="zh-CN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D916B66F-1D4D-4357-9DEA-063B62D31B9C}"/>
              </a:ext>
            </a:extLst>
          </p:cNvPr>
          <p:cNvGrpSpPr/>
          <p:nvPr/>
        </p:nvGrpSpPr>
        <p:grpSpPr>
          <a:xfrm>
            <a:off x="6693223" y="3519001"/>
            <a:ext cx="1884562" cy="432048"/>
            <a:chOff x="2447906" y="5250543"/>
            <a:chExt cx="1884562" cy="432048"/>
          </a:xfrm>
        </p:grpSpPr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CCA5E086-AF18-41FE-9FFE-11997AC67230}"/>
                </a:ext>
              </a:extLst>
            </p:cNvPr>
            <p:cNvGrpSpPr/>
            <p:nvPr/>
          </p:nvGrpSpPr>
          <p:grpSpPr>
            <a:xfrm>
              <a:off x="2739938" y="5250543"/>
              <a:ext cx="914400" cy="432048"/>
              <a:chOff x="1304925" y="1649413"/>
              <a:chExt cx="914400" cy="699467"/>
            </a:xfrm>
          </p:grpSpPr>
          <p:grpSp>
            <p:nvGrpSpPr>
              <p:cNvPr id="97" name="组合 131">
                <a:extLst>
                  <a:ext uri="{FF2B5EF4-FFF2-40B4-BE49-F238E27FC236}">
                    <a16:creationId xmlns:a16="http://schemas.microsoft.com/office/drawing/2014/main" id="{D60AEF68-99EE-4BE9-B43C-D115127FE5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4925" y="1649413"/>
                <a:ext cx="914400" cy="685800"/>
                <a:chOff x="3962400" y="935771"/>
                <a:chExt cx="914400" cy="686634"/>
              </a:xfrm>
            </p:grpSpPr>
            <p:sp>
              <p:nvSpPr>
                <p:cNvPr id="99" name="文本框 5">
                  <a:extLst>
                    <a:ext uri="{FF2B5EF4-FFF2-40B4-BE49-F238E27FC236}">
                      <a16:creationId xmlns:a16="http://schemas.microsoft.com/office/drawing/2014/main" id="{58F0863A-FFF8-4F08-A513-60E1E521E7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9739" y="935771"/>
                  <a:ext cx="317500" cy="68663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36000" rIns="0" bIns="0" anchorCtr="1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ts val="12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altLang="zh-CN" sz="1600" b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  <a:endParaRPr lang="zh-CN" altLang="en-US" sz="1600" b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049379C3-8791-473B-A383-E04893D55DC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573588" y="1294982"/>
                  <a:ext cx="30321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D2608252-9D0F-46F5-AF69-CFE4D73CE52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962400" y="1294982"/>
                  <a:ext cx="27781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" name="等腰三角形 97">
                <a:extLst>
                  <a:ext uri="{FF2B5EF4-FFF2-40B4-BE49-F238E27FC236}">
                    <a16:creationId xmlns:a16="http://schemas.microsoft.com/office/drawing/2014/main" id="{D686ECBC-E1B2-46EF-99AC-7C1EB3C2EA8C}"/>
                  </a:ext>
                </a:extLst>
              </p:cNvPr>
              <p:cNvSpPr/>
              <p:nvPr/>
            </p:nvSpPr>
            <p:spPr>
              <a:xfrm>
                <a:off x="1631504" y="2204864"/>
                <a:ext cx="216024" cy="144016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EDBF26D4-71B4-4D47-9A50-7A6C008DCD74}"/>
                </a:ext>
              </a:extLst>
            </p:cNvPr>
            <p:cNvSpPr txBox="1"/>
            <p:nvPr/>
          </p:nvSpPr>
          <p:spPr>
            <a:xfrm>
              <a:off x="2447906" y="5306109"/>
              <a:ext cx="248170" cy="343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>
                  <a:cs typeface="Arial" panose="020B0604020202020204" pitchFamily="34" charset="0"/>
                </a:rPr>
                <a:t>0</a:t>
              </a:r>
              <a:endParaRPr lang="zh-CN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5070D9F8-40EB-4D5D-A973-F17ACECAA8FD}"/>
                </a:ext>
              </a:extLst>
            </p:cNvPr>
            <p:cNvSpPr txBox="1"/>
            <p:nvPr/>
          </p:nvSpPr>
          <p:spPr>
            <a:xfrm>
              <a:off x="3550713" y="5297375"/>
              <a:ext cx="7817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600">
                  <a:latin typeface="Arial" panose="020B0604020202020204" pitchFamily="34" charset="0"/>
                  <a:cs typeface="Arial" panose="020B0604020202020204" pitchFamily="34" charset="0"/>
                </a:rPr>
                <a:t>coun</a:t>
              </a:r>
              <a:r>
                <a:rPr lang="en-US" altLang="zh-CN" sz="1600">
                  <a:cs typeface="Arial" panose="020B0604020202020204" pitchFamily="34" charset="0"/>
                </a:rPr>
                <a:t>t</a:t>
              </a:r>
              <a:endParaRPr lang="zh-CN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90" name="表格 89">
            <a:extLst>
              <a:ext uri="{FF2B5EF4-FFF2-40B4-BE49-F238E27FC236}">
                <a16:creationId xmlns:a16="http://schemas.microsoft.com/office/drawing/2014/main" id="{BECF2A21-1132-42DB-9EC7-57022DE8700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27584" y="2414206"/>
          <a:ext cx="1917700" cy="1662866"/>
        </p:xfrm>
        <a:graphic>
          <a:graphicData uri="http://schemas.openxmlformats.org/drawingml/2006/table">
            <a:tbl>
              <a:tblPr/>
              <a:tblGrid>
                <a:gridCol w="324036">
                  <a:extLst>
                    <a:ext uri="{9D8B030D-6E8A-4147-A177-3AD203B41FA5}">
                      <a16:colId xmlns:a16="http://schemas.microsoft.com/office/drawing/2014/main" val="4164011980"/>
                    </a:ext>
                  </a:extLst>
                </a:gridCol>
                <a:gridCol w="209364">
                  <a:extLst>
                    <a:ext uri="{9D8B030D-6E8A-4147-A177-3AD203B41FA5}">
                      <a16:colId xmlns:a16="http://schemas.microsoft.com/office/drawing/2014/main" val="2099359927"/>
                    </a:ext>
                  </a:extLst>
                </a:gridCol>
                <a:gridCol w="495492">
                  <a:extLst>
                    <a:ext uri="{9D8B030D-6E8A-4147-A177-3AD203B41FA5}">
                      <a16:colId xmlns:a16="http://schemas.microsoft.com/office/drawing/2014/main" val="2221176561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09386399"/>
                    </a:ext>
                  </a:extLst>
                </a:gridCol>
                <a:gridCol w="323472">
                  <a:extLst>
                    <a:ext uri="{9D8B030D-6E8A-4147-A177-3AD203B41FA5}">
                      <a16:colId xmlns:a16="http://schemas.microsoft.com/office/drawing/2014/main" val="44691217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9762268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5439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9770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40671"/>
                  </a:ext>
                </a:extLst>
              </a:tr>
              <a:tr h="411916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0906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N-2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502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N-1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9767"/>
                  </a:ext>
                </a:extLst>
              </a:tr>
            </a:tbl>
          </a:graphicData>
        </a:graphic>
      </p:graphicFrame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1A0511A-AC20-4350-A165-831A53404D3F}"/>
              </a:ext>
            </a:extLst>
          </p:cNvPr>
          <p:cNvCxnSpPr>
            <a:cxnSpLocks/>
          </p:cNvCxnSpPr>
          <p:nvPr/>
        </p:nvCxnSpPr>
        <p:spPr bwMode="auto">
          <a:xfrm>
            <a:off x="2827429" y="4098857"/>
            <a:ext cx="810960" cy="0"/>
          </a:xfrm>
          <a:prstGeom prst="line">
            <a:avLst/>
          </a:prstGeom>
          <a:ln w="28575">
            <a:solidFill>
              <a:schemeClr val="tx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F0A4114D-D7BE-48F5-BD97-B0F7A79CF2CF}"/>
              </a:ext>
            </a:extLst>
          </p:cNvPr>
          <p:cNvSpPr/>
          <p:nvPr/>
        </p:nvSpPr>
        <p:spPr bwMode="auto">
          <a:xfrm>
            <a:off x="3043453" y="3969860"/>
            <a:ext cx="385459" cy="232099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kumimoji="0" lang="en-US" altLang="zh-CN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</a:t>
            </a:r>
            <a:endParaRPr kumimoji="0" lang="zh-CN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214C74C7-A0D0-4F4A-9C37-018C6AABAF3D}"/>
              </a:ext>
            </a:extLst>
          </p:cNvPr>
          <p:cNvSpPr/>
          <p:nvPr/>
        </p:nvSpPr>
        <p:spPr>
          <a:xfrm>
            <a:off x="340368" y="5733256"/>
            <a:ext cx="42594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spcBef>
                <a:spcPts val="1800"/>
              </a:spcBef>
            </a:pPr>
            <a:r>
              <a:rPr lang="zh-CN" altLang="en-US" sz="2000" b="1"/>
              <a:t>选项：优化电路，降低排序时间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1379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9" grpId="0" animBg="1"/>
      <p:bldP spid="10" grpId="0"/>
      <p:bldP spid="9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F66D6-E227-4BBD-87D6-6352BECD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SRT</a:t>
            </a:r>
            <a:r>
              <a:rPr lang="zh-CN" altLang="en-US"/>
              <a:t>：状态与操作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390F30-7B10-462C-924C-4C5C5F38E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FC046F-C8B0-4E23-B1AA-02926C53D775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2024/11/21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F5E5D9-B72A-44B5-A5CE-55FD95FF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数字逻辑设计进阶实验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B6D5CC-F1B3-447E-92A2-AB55A894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D601D92-7DBD-45E5-8861-874C856BB5D7}" type="slidenum">
              <a:rPr kumimoji="0" lang="en-US" altLang="zh-CN" sz="1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8FCD13C-92BD-485D-979C-A00FA41DEE73}"/>
              </a:ext>
            </a:extLst>
          </p:cNvPr>
          <p:cNvGrpSpPr/>
          <p:nvPr/>
        </p:nvGrpSpPr>
        <p:grpSpPr>
          <a:xfrm>
            <a:off x="4175956" y="3531182"/>
            <a:ext cx="4505066" cy="2598118"/>
            <a:chOff x="3081076" y="2904272"/>
            <a:chExt cx="6114769" cy="2598118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873EF45-A446-4DD4-BA42-FFD1A14F7F62}"/>
                </a:ext>
              </a:extLst>
            </p:cNvPr>
            <p:cNvGrpSpPr/>
            <p:nvPr/>
          </p:nvGrpSpPr>
          <p:grpSpPr>
            <a:xfrm>
              <a:off x="6642217" y="4051655"/>
              <a:ext cx="914400" cy="432048"/>
              <a:chOff x="1304925" y="1649413"/>
              <a:chExt cx="914400" cy="699467"/>
            </a:xfrm>
          </p:grpSpPr>
          <p:grpSp>
            <p:nvGrpSpPr>
              <p:cNvPr id="13" name="组合 131">
                <a:extLst>
                  <a:ext uri="{FF2B5EF4-FFF2-40B4-BE49-F238E27FC236}">
                    <a16:creationId xmlns:a16="http://schemas.microsoft.com/office/drawing/2014/main" id="{0FE1B661-84BC-4D70-8890-884CBB3ED2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4925" y="1649413"/>
                <a:ext cx="914400" cy="685800"/>
                <a:chOff x="3962400" y="935771"/>
                <a:chExt cx="914400" cy="686634"/>
              </a:xfrm>
            </p:grpSpPr>
            <p:sp>
              <p:nvSpPr>
                <p:cNvPr id="15" name="文本框 5">
                  <a:extLst>
                    <a:ext uri="{FF2B5EF4-FFF2-40B4-BE49-F238E27FC236}">
                      <a16:creationId xmlns:a16="http://schemas.microsoft.com/office/drawing/2014/main" id="{D4063DD8-2543-46CD-95F6-034304344D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9739" y="935771"/>
                  <a:ext cx="317500" cy="68663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36000" rIns="0" bIns="0" anchorCtr="1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A</a:t>
                  </a: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449B8730-3D3E-4FDE-A346-5B750B1E73C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573588" y="1294982"/>
                  <a:ext cx="30321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FA308995-8AF3-4498-98A7-8C84EB50FD0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962400" y="1294982"/>
                  <a:ext cx="27781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等腰三角形 13">
                <a:extLst>
                  <a:ext uri="{FF2B5EF4-FFF2-40B4-BE49-F238E27FC236}">
                    <a16:creationId xmlns:a16="http://schemas.microsoft.com/office/drawing/2014/main" id="{515A4801-B57A-45F5-BA01-E1C4022A43A2}"/>
                  </a:ext>
                </a:extLst>
              </p:cNvPr>
              <p:cNvSpPr/>
              <p:nvPr/>
            </p:nvSpPr>
            <p:spPr>
              <a:xfrm>
                <a:off x="1631504" y="2204864"/>
                <a:ext cx="216024" cy="144016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9E416E99-9D3D-4B7C-9F99-F2EF81AF8679}"/>
                </a:ext>
              </a:extLst>
            </p:cNvPr>
            <p:cNvGrpSpPr/>
            <p:nvPr/>
          </p:nvGrpSpPr>
          <p:grpSpPr>
            <a:xfrm>
              <a:off x="6642217" y="4627720"/>
              <a:ext cx="914400" cy="432048"/>
              <a:chOff x="1304925" y="1649413"/>
              <a:chExt cx="914400" cy="699467"/>
            </a:xfrm>
          </p:grpSpPr>
          <p:grpSp>
            <p:nvGrpSpPr>
              <p:cNvPr id="19" name="组合 131">
                <a:extLst>
                  <a:ext uri="{FF2B5EF4-FFF2-40B4-BE49-F238E27FC236}">
                    <a16:creationId xmlns:a16="http://schemas.microsoft.com/office/drawing/2014/main" id="{6161A5AD-B7D7-4639-B602-C139F72AC7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4925" y="1649413"/>
                <a:ext cx="914400" cy="685800"/>
                <a:chOff x="3962400" y="935771"/>
                <a:chExt cx="914400" cy="686634"/>
              </a:xfrm>
            </p:grpSpPr>
            <p:sp>
              <p:nvSpPr>
                <p:cNvPr id="21" name="文本框 5">
                  <a:extLst>
                    <a:ext uri="{FF2B5EF4-FFF2-40B4-BE49-F238E27FC236}">
                      <a16:creationId xmlns:a16="http://schemas.microsoft.com/office/drawing/2014/main" id="{F460576B-7360-4BE4-A280-2B44679C282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9739" y="935771"/>
                  <a:ext cx="317500" cy="68663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36000" rIns="0" bIns="0" anchorCtr="1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B</a:t>
                  </a: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462A75CC-9988-4BB4-AB17-99DE65A6850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573588" y="1294982"/>
                  <a:ext cx="30321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97AA922D-28C2-4865-83C6-FBC2086468C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962400" y="1294982"/>
                  <a:ext cx="27781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等腰三角形 19">
                <a:extLst>
                  <a:ext uri="{FF2B5EF4-FFF2-40B4-BE49-F238E27FC236}">
                    <a16:creationId xmlns:a16="http://schemas.microsoft.com/office/drawing/2014/main" id="{9E74C791-CE57-433F-9773-13D4D420FC73}"/>
                  </a:ext>
                </a:extLst>
              </p:cNvPr>
              <p:cNvSpPr/>
              <p:nvPr/>
            </p:nvSpPr>
            <p:spPr>
              <a:xfrm>
                <a:off x="1631504" y="2204864"/>
                <a:ext cx="216024" cy="144016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6" name="文本框 5">
              <a:extLst>
                <a:ext uri="{FF2B5EF4-FFF2-40B4-BE49-F238E27FC236}">
                  <a16:creationId xmlns:a16="http://schemas.microsoft.com/office/drawing/2014/main" id="{3A32F9AA-DC9B-4B3A-86E7-07F0AE58F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6676" y="3547601"/>
              <a:ext cx="863884" cy="161530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72000" rIns="0" bIns="0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   M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0975DAE-E155-4E95-B9A8-7DC166E399CA}"/>
                </a:ext>
              </a:extLst>
            </p:cNvPr>
            <p:cNvGrpSpPr/>
            <p:nvPr/>
          </p:nvGrpSpPr>
          <p:grpSpPr>
            <a:xfrm>
              <a:off x="4187990" y="3588463"/>
              <a:ext cx="914400" cy="432048"/>
              <a:chOff x="1304925" y="1649413"/>
              <a:chExt cx="914400" cy="699467"/>
            </a:xfrm>
          </p:grpSpPr>
          <p:grpSp>
            <p:nvGrpSpPr>
              <p:cNvPr id="28" name="组合 131">
                <a:extLst>
                  <a:ext uri="{FF2B5EF4-FFF2-40B4-BE49-F238E27FC236}">
                    <a16:creationId xmlns:a16="http://schemas.microsoft.com/office/drawing/2014/main" id="{1BC15279-FE24-4CF3-994E-38FE0BA01A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04925" y="1649413"/>
                <a:ext cx="914400" cy="685800"/>
                <a:chOff x="3962400" y="935771"/>
                <a:chExt cx="914400" cy="686634"/>
              </a:xfrm>
            </p:grpSpPr>
            <p:sp>
              <p:nvSpPr>
                <p:cNvPr id="30" name="文本框 5">
                  <a:extLst>
                    <a:ext uri="{FF2B5EF4-FFF2-40B4-BE49-F238E27FC236}">
                      <a16:creationId xmlns:a16="http://schemas.microsoft.com/office/drawing/2014/main" id="{D553DD4D-5F3D-4FCC-B594-F0A82DB458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49739" y="935771"/>
                  <a:ext cx="317500" cy="686634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36000" rIns="0" bIns="0" anchorCtr="1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rPr>
                    <a:t>P</a:t>
                  </a:r>
                  <a:endParaRPr kumimoji="0" lang="zh-CN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A3215E8D-643E-4757-A9A6-252CBD704E0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573588" y="1294982"/>
                  <a:ext cx="30321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FF4F7D3E-350E-4C12-8BF3-77C97C36907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962400" y="1294982"/>
                  <a:ext cx="277813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等腰三角形 28">
                <a:extLst>
                  <a:ext uri="{FF2B5EF4-FFF2-40B4-BE49-F238E27FC236}">
                    <a16:creationId xmlns:a16="http://schemas.microsoft.com/office/drawing/2014/main" id="{2DFDEA43-D257-427C-B9D6-C1C82BD9F7B5}"/>
                  </a:ext>
                </a:extLst>
              </p:cNvPr>
              <p:cNvSpPr/>
              <p:nvPr/>
            </p:nvSpPr>
            <p:spPr>
              <a:xfrm>
                <a:off x="1631504" y="2204864"/>
                <a:ext cx="216024" cy="144016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74F74A1E-A726-4704-9B2B-5AC0EFAE4BFF}"/>
                </a:ext>
              </a:extLst>
            </p:cNvPr>
            <p:cNvSpPr/>
            <p:nvPr/>
          </p:nvSpPr>
          <p:spPr>
            <a:xfrm>
              <a:off x="7938361" y="4051655"/>
              <a:ext cx="268080" cy="999667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>
                  <a:solidFill>
                    <a:srgbClr val="000000"/>
                  </a:solidFill>
                  <a:latin typeface="Arial"/>
                </a:rPr>
                <a:t>&lt;</a:t>
              </a:r>
              <a:endPara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AEE95F7A-9ECB-40EB-8534-E25F27C5606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6104" y="3810072"/>
              <a:ext cx="36004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CE15AA7-442F-4D5D-9C4F-102733D9E4D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98030" y="4276949"/>
              <a:ext cx="44722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08E7C3D3-D66A-42FF-B418-629A681FC03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27437" y="4954735"/>
              <a:ext cx="36004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23902727-877A-472E-97AB-3D1181829A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42317" y="4853013"/>
              <a:ext cx="4112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BC0EC15B-1EC8-4FB5-8B45-0F897DFD4AE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97286" y="4564981"/>
              <a:ext cx="2880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1CE631C-6B70-4937-83A1-DF3EEAF3389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44997" y="4273264"/>
              <a:ext cx="29722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7C4CFC0E-85FA-4472-A548-23CA80AD469A}"/>
                </a:ext>
              </a:extLst>
            </p:cNvPr>
            <p:cNvCxnSpPr>
              <a:cxnSpLocks/>
            </p:cNvCxnSpPr>
            <p:nvPr/>
          </p:nvCxnSpPr>
          <p:spPr>
            <a:xfrm>
              <a:off x="6642217" y="4273264"/>
              <a:ext cx="0" cy="579749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D609C4E-ECE5-4B0C-86DD-4B3A38670BC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84265" y="4557026"/>
              <a:ext cx="30321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F4B6898-6EEB-45E6-BCC1-291E2E003C59}"/>
                </a:ext>
              </a:extLst>
            </p:cNvPr>
            <p:cNvSpPr txBox="1"/>
            <p:nvPr/>
          </p:nvSpPr>
          <p:spPr>
            <a:xfrm>
              <a:off x="5470894" y="4761033"/>
              <a:ext cx="6205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din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19B95CA-C370-49E4-9589-BEC60A63F6EB}"/>
                </a:ext>
              </a:extLst>
            </p:cNvPr>
            <p:cNvSpPr txBox="1"/>
            <p:nvPr/>
          </p:nvSpPr>
          <p:spPr>
            <a:xfrm>
              <a:off x="5546080" y="4093031"/>
              <a:ext cx="7924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dout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836D7F6-8A62-471B-800E-4889F7F8827A}"/>
                </a:ext>
              </a:extLst>
            </p:cNvPr>
            <p:cNvSpPr txBox="1"/>
            <p:nvPr/>
          </p:nvSpPr>
          <p:spPr>
            <a:xfrm>
              <a:off x="5494512" y="3615814"/>
              <a:ext cx="4051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a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20793D9-4C6C-4CDD-B46C-9A8EF1BCBC72}"/>
                </a:ext>
              </a:extLst>
            </p:cNvPr>
            <p:cNvSpPr txBox="1"/>
            <p:nvPr/>
          </p:nvSpPr>
          <p:spPr>
            <a:xfrm>
              <a:off x="5479485" y="4447251"/>
              <a:ext cx="605300" cy="2846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ts val="15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we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B3546853-DEBD-45F1-B372-4106E978D2FE}"/>
                </a:ext>
              </a:extLst>
            </p:cNvPr>
            <p:cNvSpPr txBox="1"/>
            <p:nvPr/>
          </p:nvSpPr>
          <p:spPr>
            <a:xfrm>
              <a:off x="8451296" y="4381847"/>
              <a:ext cx="7445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>
                  <a:solidFill>
                    <a:srgbClr val="000000"/>
                  </a:solidFill>
                  <a:cs typeface="Arial" panose="020B0604020202020204" pitchFamily="34" charset="0"/>
                </a:rPr>
                <a:t>less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8D807860-340C-4C39-AFC5-6C996A13671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95836" y="3806015"/>
              <a:ext cx="81110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2EB8E12B-13F6-431C-B5FD-3DE78C6F9136}"/>
                </a:ext>
              </a:extLst>
            </p:cNvPr>
            <p:cNvSpPr/>
            <p:nvPr/>
          </p:nvSpPr>
          <p:spPr>
            <a:xfrm>
              <a:off x="3906796" y="3389153"/>
              <a:ext cx="278976" cy="836745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0" fontAlgn="base" latinLnBrk="0" hangingPunct="0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</a:p>
            <a:p>
              <a:pPr marL="0" marR="0" lvl="0" indent="0" algn="ctr" defTabSz="914400" rtl="0" eaLnBrk="0" fontAlgn="base" latinLnBrk="0" hangingPunct="0">
                <a:lnSpc>
                  <a:spcPts val="2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2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D2304D34-4AC9-4ECA-AF85-38665A008BF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6144" y="3806015"/>
              <a:ext cx="0" cy="538415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087662C4-ADCE-4364-B67D-2A49D6C30D1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81076" y="4342285"/>
              <a:ext cx="202858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60F72BB4-3CAE-4EE7-9172-019F46EFEE63}"/>
                </a:ext>
              </a:extLst>
            </p:cNvPr>
            <p:cNvSpPr/>
            <p:nvPr/>
          </p:nvSpPr>
          <p:spPr bwMode="auto">
            <a:xfrm>
              <a:off x="3303955" y="3687748"/>
              <a:ext cx="385459" cy="23209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+1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A3FE0FB4-AFF0-4E56-9CFB-20FB1E84A4C1}"/>
                </a:ext>
              </a:extLst>
            </p:cNvPr>
            <p:cNvCxnSpPr>
              <a:cxnSpLocks/>
            </p:cNvCxnSpPr>
            <p:nvPr/>
          </p:nvCxnSpPr>
          <p:spPr>
            <a:xfrm>
              <a:off x="3095836" y="3806015"/>
              <a:ext cx="0" cy="527705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1A4308F-93E2-484A-B714-650CF830AFC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44496" y="3541862"/>
              <a:ext cx="26340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F17101DB-5F84-4EC5-9D54-01530023F003}"/>
                </a:ext>
              </a:extLst>
            </p:cNvPr>
            <p:cNvSpPr txBox="1"/>
            <p:nvPr/>
          </p:nvSpPr>
          <p:spPr>
            <a:xfrm>
              <a:off x="3353260" y="3370177"/>
              <a:ext cx="248170" cy="343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rPr>
                <a:t>0</a:t>
              </a: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E62FB162-590B-4A4F-98B4-F6677C1924AA}"/>
                </a:ext>
              </a:extLst>
            </p:cNvPr>
            <p:cNvGrpSpPr/>
            <p:nvPr/>
          </p:nvGrpSpPr>
          <p:grpSpPr>
            <a:xfrm>
              <a:off x="4585530" y="2924943"/>
              <a:ext cx="1981688" cy="882582"/>
              <a:chOff x="4060483" y="3370312"/>
              <a:chExt cx="1981688" cy="882582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171CF3F7-2039-4BAE-9ED9-BBF7B623B489}"/>
                  </a:ext>
                </a:extLst>
              </p:cNvPr>
              <p:cNvSpPr/>
              <p:nvPr/>
            </p:nvSpPr>
            <p:spPr>
              <a:xfrm>
                <a:off x="4847081" y="3370312"/>
                <a:ext cx="277760" cy="484332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=</a:t>
                </a:r>
              </a:p>
            </p:txBody>
          </p: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2B30A8AC-6A5E-49E8-8B40-E3E4D7511F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4580480" y="3743250"/>
                <a:ext cx="0" cy="509644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F28C6B1D-85F7-45F4-97B9-1B5EDCE8D65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116635" y="3635238"/>
                <a:ext cx="24149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8E23AE13-DD53-4D3C-936C-5426F2E5F71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585530" y="3743250"/>
                <a:ext cx="25202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CD632797-9C57-4751-B90E-9E3B5372F1D9}"/>
                  </a:ext>
                </a:extLst>
              </p:cNvPr>
              <p:cNvSpPr txBox="1"/>
              <p:nvPr/>
            </p:nvSpPr>
            <p:spPr>
              <a:xfrm>
                <a:off x="4060483" y="3373880"/>
                <a:ext cx="4732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N-2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06B80F88-14E6-4E5C-8499-8F3F1B082809}"/>
                  </a:ext>
                </a:extLst>
              </p:cNvPr>
              <p:cNvSpPr txBox="1"/>
              <p:nvPr/>
            </p:nvSpPr>
            <p:spPr>
              <a:xfrm>
                <a:off x="5328083" y="3436919"/>
                <a:ext cx="7140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equ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77" name="直接连接符 76">
                <a:extLst>
                  <a:ext uri="{FF2B5EF4-FFF2-40B4-BE49-F238E27FC236}">
                    <a16:creationId xmlns:a16="http://schemas.microsoft.com/office/drawing/2014/main" id="{D7C02357-A6A3-4582-9A6C-8D0E6221B4B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528740" y="3521971"/>
                <a:ext cx="30376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D70D55FA-E56C-403C-BC8B-81406EDAE7DB}"/>
                </a:ext>
              </a:extLst>
            </p:cNvPr>
            <p:cNvGrpSpPr/>
            <p:nvPr/>
          </p:nvGrpSpPr>
          <p:grpSpPr>
            <a:xfrm>
              <a:off x="4421284" y="4273264"/>
              <a:ext cx="3271946" cy="1229126"/>
              <a:chOff x="4421284" y="4792950"/>
              <a:chExt cx="3271946" cy="1229126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7D88D32A-8D53-45AD-A821-A04D7E5A71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3210" y="4792950"/>
                <a:ext cx="0" cy="1085110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8B201ACB-39AF-4D24-9F87-94FA8BA74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3230" y="5369015"/>
                <a:ext cx="0" cy="653061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056E58D4-1D88-4CD8-9396-2C3E787D5CA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608004" y="5878060"/>
                <a:ext cx="289002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0C51D116-BC36-4E26-BCB8-D3DC4EBBB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8004" y="5590028"/>
                <a:ext cx="0" cy="28803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C002F2BA-E920-40F6-9864-4C554AFA33A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421284" y="6022076"/>
                <a:ext cx="327194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27160A45-5371-41E8-B356-07D698ED38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7984" y="5384609"/>
                <a:ext cx="0" cy="63746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D42B30B7-ED11-4359-9227-449C7B643B4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608004" y="5585426"/>
                <a:ext cx="23061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90105BD0-69E9-41B4-B714-5FB03DBEF7EB}"/>
                  </a:ext>
                </a:extLst>
              </p:cNvPr>
              <p:cNvSpPr/>
              <p:nvPr/>
            </p:nvSpPr>
            <p:spPr>
              <a:xfrm>
                <a:off x="4839313" y="5240594"/>
                <a:ext cx="287337" cy="436253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36000" rIns="0" bIns="0"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56B76372-6631-4986-9516-43409BA2C9F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4427984" y="5384609"/>
                <a:ext cx="409836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C8EBDB8-E1EE-4FD7-BA4C-7C28F623EEB3}"/>
                </a:ext>
              </a:extLst>
            </p:cNvPr>
            <p:cNvGrpSpPr/>
            <p:nvPr/>
          </p:nvGrpSpPr>
          <p:grpSpPr>
            <a:xfrm>
              <a:off x="6417009" y="2904272"/>
              <a:ext cx="2603560" cy="575970"/>
              <a:chOff x="5817528" y="3359859"/>
              <a:chExt cx="2603560" cy="575970"/>
            </a:xfrm>
          </p:grpSpPr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12BB47C-C08B-4DF8-A50D-A1572F42AEAC}"/>
                  </a:ext>
                </a:extLst>
              </p:cNvPr>
              <p:cNvGrpSpPr/>
              <p:nvPr/>
            </p:nvGrpSpPr>
            <p:grpSpPr>
              <a:xfrm>
                <a:off x="6643353" y="3409782"/>
                <a:ext cx="925227" cy="432048"/>
                <a:chOff x="1304925" y="1649413"/>
                <a:chExt cx="925227" cy="699467"/>
              </a:xfrm>
            </p:grpSpPr>
            <p:grpSp>
              <p:nvGrpSpPr>
                <p:cNvPr id="59" name="组合 131">
                  <a:extLst>
                    <a:ext uri="{FF2B5EF4-FFF2-40B4-BE49-F238E27FC236}">
                      <a16:creationId xmlns:a16="http://schemas.microsoft.com/office/drawing/2014/main" id="{3502B60B-B060-42D9-A1A0-A687B16D79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4925" y="1649413"/>
                  <a:ext cx="925227" cy="685800"/>
                  <a:chOff x="3962400" y="935771"/>
                  <a:chExt cx="925227" cy="686634"/>
                </a:xfrm>
              </p:grpSpPr>
              <p:sp>
                <p:nvSpPr>
                  <p:cNvPr id="61" name="文本框 5">
                    <a:extLst>
                      <a:ext uri="{FF2B5EF4-FFF2-40B4-BE49-F238E27FC236}">
                        <a16:creationId xmlns:a16="http://schemas.microsoft.com/office/drawing/2014/main" id="{35C8740B-A875-4105-80B3-61BEE8DBDDE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49739" y="935771"/>
                    <a:ext cx="317500" cy="686634"/>
                  </a:xfrm>
                  <a:prstGeom prst="rect">
                    <a:avLst/>
                  </a:prstGeom>
                  <a:noFill/>
                  <a:ln w="2857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36000" rIns="0" bIns="0" anchorCtr="1"/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rPr>
                      <a:t>S</a:t>
                    </a: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62" name="直接连接符 61">
                    <a:extLst>
                      <a:ext uri="{FF2B5EF4-FFF2-40B4-BE49-F238E27FC236}">
                        <a16:creationId xmlns:a16="http://schemas.microsoft.com/office/drawing/2014/main" id="{B6EC2DC9-C4CE-45F1-B521-D21406143B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4573588" y="1294983"/>
                    <a:ext cx="314039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接连接符 62">
                    <a:extLst>
                      <a:ext uri="{FF2B5EF4-FFF2-40B4-BE49-F238E27FC236}">
                        <a16:creationId xmlns:a16="http://schemas.microsoft.com/office/drawing/2014/main" id="{6B83FF50-7FE5-4B26-9A07-6F1665E68A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962400" y="1294982"/>
                    <a:ext cx="277813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0" name="等腰三角形 59">
                  <a:extLst>
                    <a:ext uri="{FF2B5EF4-FFF2-40B4-BE49-F238E27FC236}">
                      <a16:creationId xmlns:a16="http://schemas.microsoft.com/office/drawing/2014/main" id="{A7E9A5EC-7D4A-4D9C-8221-8EF7F1AFF180}"/>
                    </a:ext>
                  </a:extLst>
                </p:cNvPr>
                <p:cNvSpPr/>
                <p:nvPr/>
              </p:nvSpPr>
              <p:spPr>
                <a:xfrm>
                  <a:off x="1631504" y="2204864"/>
                  <a:ext cx="216024" cy="144016"/>
                </a:xfrm>
                <a:prstGeom prst="triangl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0874FB5-E949-4B78-AA2D-16C6EDF90647}"/>
                  </a:ext>
                </a:extLst>
              </p:cNvPr>
              <p:cNvSpPr txBox="1"/>
              <p:nvPr/>
            </p:nvSpPr>
            <p:spPr>
              <a:xfrm>
                <a:off x="5817528" y="3359859"/>
                <a:ext cx="248170" cy="343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0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D666875-12F6-498A-B9D1-822D2414E72D}"/>
                  </a:ext>
                </a:extLst>
              </p:cNvPr>
              <p:cNvSpPr txBox="1"/>
              <p:nvPr/>
            </p:nvSpPr>
            <p:spPr>
              <a:xfrm>
                <a:off x="5817528" y="3592459"/>
                <a:ext cx="248170" cy="343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1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78" name="直接连接符 77">
                <a:extLst>
                  <a:ext uri="{FF2B5EF4-FFF2-40B4-BE49-F238E27FC236}">
                    <a16:creationId xmlns:a16="http://schemas.microsoft.com/office/drawing/2014/main" id="{C2B23BD3-FE9F-403B-B0A7-0808C5BF5A3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81594" y="3750409"/>
                <a:ext cx="26420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矩形: 圆角 78">
                <a:extLst>
                  <a:ext uri="{FF2B5EF4-FFF2-40B4-BE49-F238E27FC236}">
                    <a16:creationId xmlns:a16="http://schemas.microsoft.com/office/drawing/2014/main" id="{B822683E-11AC-4F97-BCFC-4DEF7748030D}"/>
                  </a:ext>
                </a:extLst>
              </p:cNvPr>
              <p:cNvSpPr/>
              <p:nvPr/>
            </p:nvSpPr>
            <p:spPr>
              <a:xfrm>
                <a:off x="6346490" y="3405577"/>
                <a:ext cx="287337" cy="436253"/>
              </a:xfrm>
              <a:prstGeom prst="roundRect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36000" rIns="0" bIns="0" rtlCol="0" anchor="ctr"/>
              <a:lstStyle/>
              <a:p>
                <a:pPr marL="0" marR="0" lvl="0" indent="0" algn="ctr" defTabSz="914400" rtl="0" eaLnBrk="0" fontAlgn="base" latinLnBrk="0" hangingPunct="0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ts val="14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</a:t>
                </a: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80" name="直接连接符 79">
                <a:extLst>
                  <a:ext uri="{FF2B5EF4-FFF2-40B4-BE49-F238E27FC236}">
                    <a16:creationId xmlns:a16="http://schemas.microsoft.com/office/drawing/2014/main" id="{BF250223-F86E-4988-AE33-A2FD6518EB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081594" y="3556455"/>
                <a:ext cx="2634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9833EBA3-7433-454B-B70D-29B68A908B17}"/>
                  </a:ext>
                </a:extLst>
              </p:cNvPr>
              <p:cNvSpPr txBox="1"/>
              <p:nvPr/>
            </p:nvSpPr>
            <p:spPr>
              <a:xfrm>
                <a:off x="7522059" y="3436767"/>
                <a:ext cx="8990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swap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D916B66F-1D4D-4357-9DEA-063B62D31B9C}"/>
                </a:ext>
              </a:extLst>
            </p:cNvPr>
            <p:cNvGrpSpPr/>
            <p:nvPr/>
          </p:nvGrpSpPr>
          <p:grpSpPr>
            <a:xfrm>
              <a:off x="6961630" y="3519001"/>
              <a:ext cx="2097312" cy="432048"/>
              <a:chOff x="2447906" y="5250543"/>
              <a:chExt cx="2097312" cy="432048"/>
            </a:xfrm>
          </p:grpSpPr>
          <p:grpSp>
            <p:nvGrpSpPr>
              <p:cNvPr id="96" name="组合 95">
                <a:extLst>
                  <a:ext uri="{FF2B5EF4-FFF2-40B4-BE49-F238E27FC236}">
                    <a16:creationId xmlns:a16="http://schemas.microsoft.com/office/drawing/2014/main" id="{CCA5E086-AF18-41FE-9FFE-11997AC67230}"/>
                  </a:ext>
                </a:extLst>
              </p:cNvPr>
              <p:cNvGrpSpPr/>
              <p:nvPr/>
            </p:nvGrpSpPr>
            <p:grpSpPr>
              <a:xfrm>
                <a:off x="2739938" y="5250543"/>
                <a:ext cx="914400" cy="432048"/>
                <a:chOff x="1304925" y="1649413"/>
                <a:chExt cx="914400" cy="699467"/>
              </a:xfrm>
            </p:grpSpPr>
            <p:grpSp>
              <p:nvGrpSpPr>
                <p:cNvPr id="97" name="组合 131">
                  <a:extLst>
                    <a:ext uri="{FF2B5EF4-FFF2-40B4-BE49-F238E27FC236}">
                      <a16:creationId xmlns:a16="http://schemas.microsoft.com/office/drawing/2014/main" id="{D60AEF68-99EE-4BE9-B43C-D115127FE52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04925" y="1649413"/>
                  <a:ext cx="914400" cy="685800"/>
                  <a:chOff x="3962400" y="935771"/>
                  <a:chExt cx="914400" cy="686634"/>
                </a:xfrm>
              </p:grpSpPr>
              <p:sp>
                <p:nvSpPr>
                  <p:cNvPr id="99" name="文本框 5">
                    <a:extLst>
                      <a:ext uri="{FF2B5EF4-FFF2-40B4-BE49-F238E27FC236}">
                        <a16:creationId xmlns:a16="http://schemas.microsoft.com/office/drawing/2014/main" id="{58F0863A-FFF8-4F08-A513-60E1E521E7C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49739" y="935771"/>
                    <a:ext cx="317500" cy="686634"/>
                  </a:xfrm>
                  <a:prstGeom prst="rect">
                    <a:avLst/>
                  </a:prstGeom>
                  <a:noFill/>
                  <a:ln w="2857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36000" rIns="0" bIns="0" anchorCtr="1"/>
                  <a:lstStyle>
                    <a:lvl1pPr>
                      <a:spcAft>
                        <a:spcPct val="20000"/>
                      </a:spcAft>
                      <a:buChar char="•"/>
                      <a:defRPr sz="28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Aft>
                        <a:spcPct val="20000"/>
                      </a:spcAft>
                      <a:buChar char="–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Aft>
                        <a:spcPct val="20000"/>
                      </a:spcAft>
                      <a:buChar char="•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Aft>
                        <a:spcPct val="20000"/>
                      </a:spcAft>
                      <a:buChar char="–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2000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lang="en-US" altLang="zh-CN" sz="1600" b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endParaRPr kumimoji="0" lang="zh-CN" alt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00" name="直接连接符 99">
                    <a:extLst>
                      <a:ext uri="{FF2B5EF4-FFF2-40B4-BE49-F238E27FC236}">
                        <a16:creationId xmlns:a16="http://schemas.microsoft.com/office/drawing/2014/main" id="{049379C3-8791-473B-A383-E04893D55D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4573588" y="1294982"/>
                    <a:ext cx="303212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接连接符 100">
                    <a:extLst>
                      <a:ext uri="{FF2B5EF4-FFF2-40B4-BE49-F238E27FC236}">
                        <a16:creationId xmlns:a16="http://schemas.microsoft.com/office/drawing/2014/main" id="{D2608252-9D0F-46F5-AF69-CFE4D73CE5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3962400" y="1294982"/>
                    <a:ext cx="277813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8" name="等腰三角形 97">
                  <a:extLst>
                    <a:ext uri="{FF2B5EF4-FFF2-40B4-BE49-F238E27FC236}">
                      <a16:creationId xmlns:a16="http://schemas.microsoft.com/office/drawing/2014/main" id="{D686ECBC-E1B2-46EF-99AC-7C1EB3C2EA8C}"/>
                    </a:ext>
                  </a:extLst>
                </p:cNvPr>
                <p:cNvSpPr/>
                <p:nvPr/>
              </p:nvSpPr>
              <p:spPr>
                <a:xfrm>
                  <a:off x="1631504" y="2204864"/>
                  <a:ext cx="216024" cy="144016"/>
                </a:xfrm>
                <a:prstGeom prst="triangl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 rtlCol="0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EDBF26D4-71B4-4D47-9A50-7A6C008DCD74}"/>
                  </a:ext>
                </a:extLst>
              </p:cNvPr>
              <p:cNvSpPr txBox="1"/>
              <p:nvPr/>
            </p:nvSpPr>
            <p:spPr>
              <a:xfrm>
                <a:off x="2447906" y="5306109"/>
                <a:ext cx="248170" cy="343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0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03" name="文本框 102">
                <a:extLst>
                  <a:ext uri="{FF2B5EF4-FFF2-40B4-BE49-F238E27FC236}">
                    <a16:creationId xmlns:a16="http://schemas.microsoft.com/office/drawing/2014/main" id="{5070D9F8-40EB-4D5D-A973-F17ACECAA8FD}"/>
                  </a:ext>
                </a:extLst>
              </p:cNvPr>
              <p:cNvSpPr txBox="1"/>
              <p:nvPr/>
            </p:nvSpPr>
            <p:spPr>
              <a:xfrm>
                <a:off x="3563888" y="5295584"/>
                <a:ext cx="9813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Arial" panose="020B0604020202020204" pitchFamily="34" charset="0"/>
                  </a:rPr>
                  <a:t>count</a:t>
                </a: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B1A0511A-AC20-4350-A165-831A53404D3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95836" y="4098857"/>
              <a:ext cx="810960" cy="0"/>
            </a:xfrm>
            <a:prstGeom prst="line">
              <a:avLst/>
            </a:prstGeom>
            <a:ln w="28575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F0A4114D-D7BE-48F5-BD97-B0F7A79CF2CF}"/>
                </a:ext>
              </a:extLst>
            </p:cNvPr>
            <p:cNvSpPr/>
            <p:nvPr/>
          </p:nvSpPr>
          <p:spPr bwMode="auto">
            <a:xfrm>
              <a:off x="3311860" y="3969860"/>
              <a:ext cx="385459" cy="232099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-</a:t>
              </a:r>
              <a:r>
                <a:rPr kumimoji="0" lang="en-US" altLang="zh-CN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8" name="内容占位符 2">
            <a:extLst>
              <a:ext uri="{FF2B5EF4-FFF2-40B4-BE49-F238E27FC236}">
                <a16:creationId xmlns:a16="http://schemas.microsoft.com/office/drawing/2014/main" id="{97736E46-D793-44F0-B257-C79E703F8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3000"/>
            <a:ext cx="3968759" cy="4896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INIT</a:t>
            </a:r>
            <a:r>
              <a:rPr lang="zh-CN" altLang="en-US" sz="2000"/>
              <a:t>：</a:t>
            </a:r>
            <a:r>
              <a:rPr lang="en-US" altLang="zh-CN" sz="2000"/>
              <a:t>P=0, S=0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RDA</a:t>
            </a:r>
            <a:r>
              <a:rPr lang="zh-CN" altLang="en-US" sz="2000"/>
              <a:t>：</a:t>
            </a:r>
            <a:r>
              <a:rPr lang="en-US" altLang="zh-CN" sz="2000"/>
              <a:t>A=M[P], P=P+1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RDB</a:t>
            </a:r>
            <a:r>
              <a:rPr lang="zh-CN" altLang="en-US" sz="2000"/>
              <a:t>：</a:t>
            </a:r>
            <a:r>
              <a:rPr lang="en-US" altLang="zh-CN" sz="2000"/>
              <a:t>B=M[P]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CMP</a:t>
            </a:r>
            <a:r>
              <a:rPr lang="zh-CN" altLang="en-US" sz="2000"/>
              <a:t>：</a:t>
            </a:r>
            <a:r>
              <a:rPr lang="en-US" altLang="zh-CN" sz="2000"/>
              <a:t>less = A&lt;B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200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STA</a:t>
            </a:r>
            <a:r>
              <a:rPr lang="zh-CN" altLang="en-US" sz="2000"/>
              <a:t>：</a:t>
            </a:r>
            <a:r>
              <a:rPr lang="en-US" altLang="zh-CN" sz="2000"/>
              <a:t>M[P]=A, P=P-1, S=1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STB</a:t>
            </a:r>
            <a:r>
              <a:rPr lang="zh-CN" altLang="pl-PL" sz="2000"/>
              <a:t>：</a:t>
            </a:r>
            <a:r>
              <a:rPr lang="pl-PL" altLang="zh-CN" sz="2000"/>
              <a:t>M[P]=B, P=P+1</a:t>
            </a:r>
            <a:endParaRPr lang="en-US" altLang="zh-CN" sz="200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zh-CN" sz="2000"/>
              <a:t>......</a:t>
            </a:r>
            <a:endParaRPr lang="pl-PL" altLang="zh-CN" sz="200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zh-CN" altLang="en-US" sz="200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99C32C3-4E3C-440B-933B-8491851F6323}"/>
              </a:ext>
            </a:extLst>
          </p:cNvPr>
          <p:cNvSpPr txBox="1"/>
          <p:nvPr/>
        </p:nvSpPr>
        <p:spPr>
          <a:xfrm>
            <a:off x="7285215" y="1718090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+mn-ea"/>
                <a:ea typeface="+mn-ea"/>
                <a:cs typeface="Arial" panose="020B0604020202020204" pitchFamily="34" charset="0"/>
              </a:rPr>
              <a:t>&lt;</a:t>
            </a:r>
            <a:endParaRPr lang="zh-CN" altLang="en-US" sz="160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13" name="弧形 112">
            <a:extLst>
              <a:ext uri="{FF2B5EF4-FFF2-40B4-BE49-F238E27FC236}">
                <a16:creationId xmlns:a16="http://schemas.microsoft.com/office/drawing/2014/main" id="{F6064A08-D45A-4A43-B353-FFF2FC46E1C7}"/>
              </a:ext>
            </a:extLst>
          </p:cNvPr>
          <p:cNvSpPr/>
          <p:nvPr/>
        </p:nvSpPr>
        <p:spPr bwMode="auto">
          <a:xfrm>
            <a:off x="7170538" y="1716919"/>
            <a:ext cx="703744" cy="339725"/>
          </a:xfrm>
          <a:prstGeom prst="arc">
            <a:avLst>
              <a:gd name="adj1" fmla="val 16200000"/>
              <a:gd name="adj2" fmla="val 5453648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sm" len="lg"/>
            <a:tailEnd type="triangle" w="sm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4377ECA-7F88-470E-B5A8-F09731F676CF}"/>
              </a:ext>
            </a:extLst>
          </p:cNvPr>
          <p:cNvSpPr txBox="1"/>
          <p:nvPr/>
        </p:nvSpPr>
        <p:spPr>
          <a:xfrm>
            <a:off x="7897751" y="1718090"/>
            <a:ext cx="6623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+mn-ea"/>
                <a:ea typeface="+mn-ea"/>
                <a:cs typeface="Arial" panose="020B0604020202020204" pitchFamily="34" charset="0"/>
              </a:rPr>
              <a:t>swap</a:t>
            </a:r>
            <a:endParaRPr lang="zh-CN" altLang="en-US" sz="1600"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A8DF223-B8D8-4CF2-8E8A-350ABC4CA291}"/>
              </a:ext>
            </a:extLst>
          </p:cNvPr>
          <p:cNvSpPr txBox="1"/>
          <p:nvPr/>
        </p:nvSpPr>
        <p:spPr>
          <a:xfrm>
            <a:off x="6331995" y="1270757"/>
            <a:ext cx="356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>
                <a:latin typeface="+mn-ea"/>
                <a:ea typeface="+mn-ea"/>
                <a:cs typeface="Arial" panose="020B0604020202020204" pitchFamily="34" charset="0"/>
              </a:rPr>
              <a:t>M</a:t>
            </a:r>
            <a:endParaRPr lang="zh-CN" altLang="en-US" sz="1600">
              <a:latin typeface="+mn-ea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16" name="表格 115">
            <a:extLst>
              <a:ext uri="{FF2B5EF4-FFF2-40B4-BE49-F238E27FC236}">
                <a16:creationId xmlns:a16="http://schemas.microsoft.com/office/drawing/2014/main" id="{CABD482E-FC34-4E98-9BA3-E654688AB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839601"/>
              </p:ext>
            </p:extLst>
          </p:nvPr>
        </p:nvGraphicFramePr>
        <p:xfrm>
          <a:off x="5336615" y="1648991"/>
          <a:ext cx="1917700" cy="1635993"/>
        </p:xfrm>
        <a:graphic>
          <a:graphicData uri="http://schemas.openxmlformats.org/drawingml/2006/table">
            <a:tbl>
              <a:tblPr/>
              <a:tblGrid>
                <a:gridCol w="324036">
                  <a:extLst>
                    <a:ext uri="{9D8B030D-6E8A-4147-A177-3AD203B41FA5}">
                      <a16:colId xmlns:a16="http://schemas.microsoft.com/office/drawing/2014/main" val="4164011980"/>
                    </a:ext>
                  </a:extLst>
                </a:gridCol>
                <a:gridCol w="209364">
                  <a:extLst>
                    <a:ext uri="{9D8B030D-6E8A-4147-A177-3AD203B41FA5}">
                      <a16:colId xmlns:a16="http://schemas.microsoft.com/office/drawing/2014/main" val="2099359927"/>
                    </a:ext>
                  </a:extLst>
                </a:gridCol>
                <a:gridCol w="495492">
                  <a:extLst>
                    <a:ext uri="{9D8B030D-6E8A-4147-A177-3AD203B41FA5}">
                      <a16:colId xmlns:a16="http://schemas.microsoft.com/office/drawing/2014/main" val="2221176561"/>
                    </a:ext>
                  </a:extLst>
                </a:gridCol>
                <a:gridCol w="324036">
                  <a:extLst>
                    <a:ext uri="{9D8B030D-6E8A-4147-A177-3AD203B41FA5}">
                      <a16:colId xmlns:a16="http://schemas.microsoft.com/office/drawing/2014/main" val="3909386399"/>
                    </a:ext>
                  </a:extLst>
                </a:gridCol>
                <a:gridCol w="323472">
                  <a:extLst>
                    <a:ext uri="{9D8B030D-6E8A-4147-A177-3AD203B41FA5}">
                      <a16:colId xmlns:a16="http://schemas.microsoft.com/office/drawing/2014/main" val="44691217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976226887"/>
                    </a:ext>
                  </a:extLst>
                </a:gridCol>
              </a:tblGrid>
              <a:tr h="2338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543935"/>
                  </a:ext>
                </a:extLst>
              </a:tr>
              <a:tr h="233868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→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977018"/>
                  </a:ext>
                </a:extLst>
              </a:tr>
              <a:tr h="233868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40671"/>
                  </a:ext>
                </a:extLst>
              </a:tr>
              <a:tr h="385043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090659"/>
                  </a:ext>
                </a:extLst>
              </a:tr>
              <a:tr h="233868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N-2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502684"/>
                  </a:ext>
                </a:extLst>
              </a:tr>
              <a:tr h="233868"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N-1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29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141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ACCE0A-39B1-4AAE-943F-196F4E39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SRT</a:t>
            </a:r>
            <a:r>
              <a:rPr lang="zh-CN" altLang="en-US"/>
              <a:t>：时序图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16C031-972A-4A0F-80A5-06687B1B9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FC046F-C8B0-4E23-B1AA-02926C53D775}" type="datetime1">
              <a:rPr lang="zh-CN" altLang="en-US" smtClean="0"/>
              <a:t>2024/11/21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AA90D-2976-47D2-9E3D-FAEF5028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数字逻辑设计进阶实验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ED9197-0B55-453E-A65F-EBBB2352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01D92-7DBD-45E5-8861-874C856BB5D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1077348-0882-47EC-AEB7-775BCE990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20972"/>
              </p:ext>
            </p:extLst>
          </p:nvPr>
        </p:nvGraphicFramePr>
        <p:xfrm>
          <a:off x="359532" y="1484784"/>
          <a:ext cx="8229591" cy="4154052"/>
        </p:xfrm>
        <a:graphic>
          <a:graphicData uri="http://schemas.openxmlformats.org/drawingml/2006/table">
            <a:tbl>
              <a:tblPr/>
              <a:tblGrid>
                <a:gridCol w="702753">
                  <a:extLst>
                    <a:ext uri="{9D8B030D-6E8A-4147-A177-3AD203B41FA5}">
                      <a16:colId xmlns:a16="http://schemas.microsoft.com/office/drawing/2014/main" val="55664025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227912453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470989531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2696827664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486630073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631528538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142900950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712869952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2936442600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290894427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2764151287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286142988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362046137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864122083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214258295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3500213521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535443100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3683589969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2218816557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3549526603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636217361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824484315"/>
                    </a:ext>
                  </a:extLst>
                </a:gridCol>
                <a:gridCol w="342129">
                  <a:extLst>
                    <a:ext uri="{9D8B030D-6E8A-4147-A177-3AD203B41FA5}">
                      <a16:colId xmlns:a16="http://schemas.microsoft.com/office/drawing/2014/main" val="1322248022"/>
                    </a:ext>
                  </a:extLst>
                </a:gridCol>
              </a:tblGrid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RMA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LDA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RMB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LDB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CMP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STA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STB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RMA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LDA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RMB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LDB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921889"/>
                  </a:ext>
                </a:extLst>
              </a:tr>
              <a:tr h="150144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945254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clk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256025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312585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 (a)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017418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866449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29526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503668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we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6097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197585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dout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M[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M[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M[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M[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170531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0417105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M[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M[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818648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40917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M[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590711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710194"/>
                  </a:ext>
                </a:extLst>
              </a:tr>
              <a:tr h="24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din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6292" marR="6292" marT="62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 w="6350" cap="flat" cmpd="sng" algn="ctr">
                      <a:solidFill>
                        <a:srgbClr val="0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6292" marR="6292" marT="629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985028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54EE55E-515A-45AB-912A-EE2252C5AAAD}"/>
              </a:ext>
            </a:extLst>
          </p:cNvPr>
          <p:cNvSpPr/>
          <p:nvPr/>
        </p:nvSpPr>
        <p:spPr>
          <a:xfrm>
            <a:off x="550967" y="5805264"/>
            <a:ext cx="42594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spcBef>
                <a:spcPts val="1800"/>
              </a:spcBef>
            </a:pPr>
            <a:r>
              <a:rPr lang="zh-CN" altLang="en-US" sz="2000" b="1"/>
              <a:t>选项：优化电路，降低排序时间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487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标题 1">
            <a:extLst>
              <a:ext uri="{FF2B5EF4-FFF2-40B4-BE49-F238E27FC236}">
                <a16:creationId xmlns:a16="http://schemas.microsoft.com/office/drawing/2014/main" id="{171451A5-2EAD-4A45-AE3C-11C4CF9F6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36838"/>
            <a:ext cx="8229600" cy="1477962"/>
          </a:xfrm>
        </p:spPr>
        <p:txBody>
          <a:bodyPr/>
          <a:lstStyle/>
          <a:p>
            <a:r>
              <a:rPr lang="en-US" altLang="zh-CN" sz="5400"/>
              <a:t>The</a:t>
            </a:r>
            <a:r>
              <a:rPr lang="zh-CN" altLang="en-US" sz="5400"/>
              <a:t> </a:t>
            </a:r>
            <a:r>
              <a:rPr lang="en-US" altLang="zh-CN" sz="5400"/>
              <a:t>End</a:t>
            </a:r>
            <a:endParaRPr lang="zh-CN" altLang="en-US" sz="5400"/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790F6311-C56B-4CE7-8A71-582BD728AF9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81750"/>
            <a:ext cx="21336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39E47A47-5E0B-48C9-BACB-FDBB76647581}" type="datetime1">
              <a:rPr lang="zh-CN" altLang="en-US" sz="1800" b="0" smtClean="0">
                <a:latin typeface="Arial" panose="020B0604020202020204" pitchFamily="34" charset="0"/>
              </a:rPr>
              <a:t>2024/11/21</a:t>
            </a:fld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795046CB-0900-4B0E-A8FF-0B286CCC54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86600" y="6381750"/>
            <a:ext cx="1600200" cy="3397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fld id="{2A96C5A2-D527-460A-A62D-9C91BE6F17DD}" type="slidenum">
              <a:rPr lang="en-US" altLang="zh-CN" sz="1800" b="0" smtClean="0">
                <a:latin typeface="Arial" panose="020B0604020202020204" pitchFamily="34" charset="0"/>
              </a:rPr>
              <a:pPr>
                <a:spcAft>
                  <a:spcPct val="0"/>
                </a:spcAft>
                <a:buFontTx/>
                <a:buNone/>
              </a:pPr>
              <a:t>7</a:t>
            </a:fld>
            <a:endParaRPr lang="en-US" altLang="zh-CN" sz="1800" b="0">
              <a:latin typeface="Arial" panose="020B0604020202020204" pitchFamily="34" charset="0"/>
            </a:endParaRPr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70DB6D0A-52FD-4C7D-8D05-4AD2841C2B7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xfrm>
            <a:off x="2590800" y="6381750"/>
            <a:ext cx="4419600" cy="339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spcAft>
                <a:spcPts val="600"/>
              </a:spcAft>
              <a:buChar char="•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  <a:lvl2pPr marL="742950" indent="-285750">
              <a:spcAft>
                <a:spcPts val="600"/>
              </a:spcAft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2pPr>
            <a:lvl3pPr marL="1143000" indent="-228600">
              <a:spcAft>
                <a:spcPts val="600"/>
              </a:spcAft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3pPr>
            <a:lvl4pPr marL="1600200" indent="-228600">
              <a:spcAft>
                <a:spcPts val="6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4pPr>
            <a:lvl5pPr marL="2057400" indent="-228600"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ts val="6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9pPr>
          </a:lstStyle>
          <a:p>
            <a:pPr>
              <a:spcAft>
                <a:spcPct val="0"/>
              </a:spcAft>
              <a:buFontTx/>
              <a:buNone/>
            </a:pPr>
            <a:r>
              <a:rPr lang="zh-CN" altLang="en-US" sz="1800" b="0" dirty="0">
                <a:latin typeface="Arial" panose="020B0604020202020204" pitchFamily="34" charset="0"/>
              </a:rPr>
              <a:t>数字逻辑设计进阶实验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">
  <a:themeElements>
    <a:clrScheme name="Office 主题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主题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 lIns="0" tIns="0" rIns="0" bIns="0" anchor="ctr" anchorCtr="1">
        <a:spAutoFit/>
      </a:bodyPr>
      <a:lstStyle>
        <a:defPPr algn="l" eaLnBrk="1" hangingPunct="1">
          <a:spcBef>
            <a:spcPct val="0"/>
          </a:spcBef>
          <a:buFontTx/>
          <a:buNone/>
          <a:defRPr sz="2000" dirty="0" smtClean="0">
            <a:cs typeface="Arial" panose="020B0604020202020204" pitchFamily="34" charset="0"/>
          </a:defRPr>
        </a:defPPr>
      </a:lstStyle>
    </a:tx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27390</TotalTime>
  <Words>739</Words>
  <Application>Microsoft Office PowerPoint</Application>
  <PresentationFormat>全屏显示(4:3)</PresentationFormat>
  <Paragraphs>442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黑体</vt:lpstr>
      <vt:lpstr>宋体</vt:lpstr>
      <vt:lpstr>微软雅黑</vt:lpstr>
      <vt:lpstr>Arial</vt:lpstr>
      <vt:lpstr>Times New Roman</vt:lpstr>
      <vt:lpstr>Office 主题</vt:lpstr>
      <vt:lpstr>1_Office 主题</vt:lpstr>
      <vt:lpstr>数字逻辑设计进阶实验</vt:lpstr>
      <vt:lpstr>实验目的</vt:lpstr>
      <vt:lpstr>实验内容 (续)</vt:lpstr>
      <vt:lpstr>SRT：数据通路</vt:lpstr>
      <vt:lpstr>SRT：状态与操作</vt:lpstr>
      <vt:lpstr>SRT：时序图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ZJX</dc:creator>
  <cp:lastModifiedBy>ZJX</cp:lastModifiedBy>
  <cp:revision>670</cp:revision>
  <cp:lastPrinted>1601-01-01T00:00:00Z</cp:lastPrinted>
  <dcterms:created xsi:type="dcterms:W3CDTF">1601-01-01T00:00:00Z</dcterms:created>
  <dcterms:modified xsi:type="dcterms:W3CDTF">2024-11-21T02:22:44Z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