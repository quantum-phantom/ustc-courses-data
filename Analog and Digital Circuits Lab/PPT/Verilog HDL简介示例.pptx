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1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4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5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6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7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8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9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0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1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2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3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24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5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6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27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28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9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30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31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2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33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34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35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36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37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38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39.xml" ContentType="application/vnd.openxmlformats-officedocument.presentationml.notesSl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40.xml" ContentType="application/vnd.openxmlformats-officedocument.presentationml.notesSlid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417" r:id="rId2"/>
    <p:sldId id="364" r:id="rId3"/>
    <p:sldId id="365" r:id="rId4"/>
    <p:sldId id="414" r:id="rId5"/>
    <p:sldId id="368" r:id="rId6"/>
    <p:sldId id="369" r:id="rId7"/>
    <p:sldId id="370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83" r:id="rId18"/>
    <p:sldId id="384" r:id="rId19"/>
    <p:sldId id="385" r:id="rId20"/>
    <p:sldId id="386" r:id="rId21"/>
    <p:sldId id="387" r:id="rId22"/>
    <p:sldId id="388" r:id="rId23"/>
    <p:sldId id="389" r:id="rId24"/>
    <p:sldId id="390" r:id="rId25"/>
    <p:sldId id="391" r:id="rId26"/>
    <p:sldId id="392" r:id="rId27"/>
    <p:sldId id="393" r:id="rId28"/>
    <p:sldId id="394" r:id="rId29"/>
    <p:sldId id="399" r:id="rId30"/>
    <p:sldId id="400" r:id="rId31"/>
    <p:sldId id="401" r:id="rId32"/>
    <p:sldId id="413" r:id="rId33"/>
    <p:sldId id="403" r:id="rId34"/>
    <p:sldId id="404" r:id="rId35"/>
    <p:sldId id="405" r:id="rId36"/>
    <p:sldId id="406" r:id="rId37"/>
    <p:sldId id="407" r:id="rId38"/>
    <p:sldId id="408" r:id="rId39"/>
    <p:sldId id="409" r:id="rId40"/>
    <p:sldId id="410" r:id="rId41"/>
    <p:sldId id="411" r:id="rId42"/>
    <p:sldId id="412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A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1" autoAdjust="0"/>
    <p:restoredTop sz="95549" autoAdjust="0"/>
  </p:normalViewPr>
  <p:slideViewPr>
    <p:cSldViewPr>
      <p:cViewPr varScale="1">
        <p:scale>
          <a:sx n="97" d="100"/>
          <a:sy n="97" d="100"/>
        </p:scale>
        <p:origin x="57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33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04C83-E7D8-4363-86ED-295A6212E605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7842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D5E47-F045-4C01-A154-66E3997AD16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C52C-64D1-4EF5-AC14-14AF6A3FC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C6430A-35D5-42FF-B152-2B38F4D2F3B0}" type="slidenum">
              <a:rPr lang="en-US"/>
              <a:pPr/>
              <a:t>2</a:t>
            </a:fld>
            <a:endParaRPr lang="en-US"/>
          </a:p>
        </p:txBody>
      </p:sp>
      <p:sp>
        <p:nvSpPr>
          <p:cNvPr id="92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617B21-DE23-49F8-9F81-B49F5D0F4A4E}" type="slidenum">
              <a:rPr lang="en-US"/>
              <a:pPr/>
              <a:t>3</a:t>
            </a:fld>
            <a:endParaRPr lang="en-US"/>
          </a:p>
        </p:txBody>
      </p:sp>
      <p:sp>
        <p:nvSpPr>
          <p:cNvPr id="921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1A5630-84D0-4BFD-9099-7C0B5668D29A}" type="slidenum">
              <a:rPr lang="en-US"/>
              <a:pPr/>
              <a:t>4</a:t>
            </a:fld>
            <a:endParaRPr lang="en-US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47676E-B0BB-46AB-8E1E-3F0297F87583}" type="slidenum">
              <a:rPr lang="en-US"/>
              <a:pPr/>
              <a:t>5</a:t>
            </a:fld>
            <a:endParaRPr lang="en-US"/>
          </a:p>
        </p:txBody>
      </p:sp>
      <p:sp>
        <p:nvSpPr>
          <p:cNvPr id="92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F87D5F-7FE5-45E5-A8FB-6808BE355092}" type="slidenum">
              <a:rPr lang="en-US"/>
              <a:pPr/>
              <a:t>6</a:t>
            </a:fld>
            <a:endParaRPr lang="en-US"/>
          </a:p>
        </p:txBody>
      </p:sp>
      <p:sp>
        <p:nvSpPr>
          <p:cNvPr id="925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5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0A7091-273C-4757-B866-F1179922AF90}" type="slidenum">
              <a:rPr lang="en-US"/>
              <a:pPr/>
              <a:t>7</a:t>
            </a:fld>
            <a:endParaRPr lang="en-US"/>
          </a:p>
        </p:txBody>
      </p:sp>
      <p:sp>
        <p:nvSpPr>
          <p:cNvPr id="926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B31FBF-D890-4227-94EA-B4D8E419F03F}" type="slidenum">
              <a:rPr lang="en-US"/>
              <a:pPr/>
              <a:t>8</a:t>
            </a:fld>
            <a:endParaRPr lang="en-US"/>
          </a:p>
        </p:txBody>
      </p:sp>
      <p:sp>
        <p:nvSpPr>
          <p:cNvPr id="92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9EDE69-5253-42DB-B9B4-79D543DC169D}" type="slidenum">
              <a:rPr lang="en-US"/>
              <a:pPr/>
              <a:t>9</a:t>
            </a:fld>
            <a:endParaRPr lang="en-US"/>
          </a:p>
        </p:txBody>
      </p:sp>
      <p:sp>
        <p:nvSpPr>
          <p:cNvPr id="92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01DDD4-F300-491D-8CA3-50B27CA72482}" type="slidenum">
              <a:rPr lang="en-US"/>
              <a:pPr/>
              <a:t>10</a:t>
            </a:fld>
            <a:endParaRPr lang="en-US"/>
          </a:p>
        </p:txBody>
      </p:sp>
      <p:sp>
        <p:nvSpPr>
          <p:cNvPr id="92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FAF869-D8B4-4E79-879D-680B6DFAF6DC}" type="slidenum">
              <a:rPr lang="en-US"/>
              <a:pPr/>
              <a:t>11</a:t>
            </a:fld>
            <a:endParaRPr lang="en-US"/>
          </a:p>
        </p:txBody>
      </p:sp>
      <p:sp>
        <p:nvSpPr>
          <p:cNvPr id="930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945B4F-6643-421D-A46C-C4ACF20FC24A}" type="slidenum">
              <a:rPr lang="en-US"/>
              <a:pPr/>
              <a:t>12</a:t>
            </a:fld>
            <a:endParaRPr lang="en-US"/>
          </a:p>
        </p:txBody>
      </p:sp>
      <p:sp>
        <p:nvSpPr>
          <p:cNvPr id="93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E42354-CBC9-4772-AEDB-7FC95D5B9ADE}" type="slidenum">
              <a:rPr lang="en-US"/>
              <a:pPr/>
              <a:t>13</a:t>
            </a:fld>
            <a:endParaRPr 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8547C0-C3CD-4BAB-991D-80CB59DF265B}" type="slidenum">
              <a:rPr lang="en-US"/>
              <a:pPr/>
              <a:t>14</a:t>
            </a:fld>
            <a:endParaRPr lang="en-US"/>
          </a:p>
        </p:txBody>
      </p:sp>
      <p:sp>
        <p:nvSpPr>
          <p:cNvPr id="93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CD624-DFAA-424B-A44F-0FA33AA0FFA8}" type="slidenum">
              <a:rPr lang="en-US"/>
              <a:pPr/>
              <a:t>15</a:t>
            </a:fld>
            <a:endParaRPr lang="en-US"/>
          </a:p>
        </p:txBody>
      </p:sp>
      <p:sp>
        <p:nvSpPr>
          <p:cNvPr id="93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18EFA4-336A-4508-B907-322DAF99DE65}" type="slidenum">
              <a:rPr lang="en-US"/>
              <a:pPr/>
              <a:t>16</a:t>
            </a:fld>
            <a:endParaRPr lang="en-US"/>
          </a:p>
        </p:txBody>
      </p:sp>
      <p:sp>
        <p:nvSpPr>
          <p:cNvPr id="93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20B0DC-77DF-415F-9F94-F6F4156B4EA3}" type="slidenum">
              <a:rPr lang="en-US"/>
              <a:pPr/>
              <a:t>17</a:t>
            </a:fld>
            <a:endParaRPr lang="en-US"/>
          </a:p>
        </p:txBody>
      </p:sp>
      <p:sp>
        <p:nvSpPr>
          <p:cNvPr id="94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8E2DCB-4571-46A1-956F-95662E1595FE}" type="slidenum">
              <a:rPr lang="en-US"/>
              <a:pPr/>
              <a:t>18</a:t>
            </a:fld>
            <a:endParaRPr lang="en-US"/>
          </a:p>
        </p:txBody>
      </p:sp>
      <p:sp>
        <p:nvSpPr>
          <p:cNvPr id="94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1CCFAA-1860-41F7-A390-23FA2CED6278}" type="slidenum">
              <a:rPr lang="en-US"/>
              <a:pPr/>
              <a:t>19</a:t>
            </a:fld>
            <a:endParaRPr lang="en-US"/>
          </a:p>
        </p:txBody>
      </p:sp>
      <p:sp>
        <p:nvSpPr>
          <p:cNvPr id="94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059647-4F11-467F-A331-45397E999E40}" type="slidenum">
              <a:rPr lang="en-US"/>
              <a:pPr/>
              <a:t>20</a:t>
            </a:fld>
            <a:endParaRPr lang="en-US"/>
          </a:p>
        </p:txBody>
      </p:sp>
      <p:sp>
        <p:nvSpPr>
          <p:cNvPr id="943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3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A24EB4-DDA1-4BEE-AA58-0486B74B0B4D}" type="slidenum">
              <a:rPr lang="en-US"/>
              <a:pPr/>
              <a:t>21</a:t>
            </a:fld>
            <a:endParaRPr lang="en-US"/>
          </a:p>
        </p:txBody>
      </p:sp>
      <p:sp>
        <p:nvSpPr>
          <p:cNvPr id="944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94704E-457B-42BF-918B-1C2936EBD3B4}" type="slidenum">
              <a:rPr lang="en-US"/>
              <a:pPr/>
              <a:t>22</a:t>
            </a:fld>
            <a:endParaRPr lang="en-US"/>
          </a:p>
        </p:txBody>
      </p:sp>
      <p:sp>
        <p:nvSpPr>
          <p:cNvPr id="945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5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F1A4EE-73C6-44A2-A5E9-C6FCE9A148AE}" type="slidenum">
              <a:rPr lang="en-US"/>
              <a:pPr/>
              <a:t>23</a:t>
            </a:fld>
            <a:endParaRPr lang="en-US"/>
          </a:p>
        </p:txBody>
      </p:sp>
      <p:sp>
        <p:nvSpPr>
          <p:cNvPr id="94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D43023-23D1-4250-9895-2A09B20FA834}" type="slidenum">
              <a:rPr lang="en-US"/>
              <a:pPr/>
              <a:t>24</a:t>
            </a:fld>
            <a:endParaRPr lang="en-US"/>
          </a:p>
        </p:txBody>
      </p:sp>
      <p:sp>
        <p:nvSpPr>
          <p:cNvPr id="94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BE7F7B-9493-4050-BFFB-27CFAD59287F}" type="slidenum">
              <a:rPr lang="en-US"/>
              <a:pPr/>
              <a:t>25</a:t>
            </a:fld>
            <a:endParaRPr lang="en-US"/>
          </a:p>
        </p:txBody>
      </p:sp>
      <p:sp>
        <p:nvSpPr>
          <p:cNvPr id="94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ED2065-F47C-4D77-807C-83D8BB6B42FD}" type="slidenum">
              <a:rPr lang="en-US"/>
              <a:pPr/>
              <a:t>26</a:t>
            </a:fld>
            <a:endParaRPr lang="en-US"/>
          </a:p>
        </p:txBody>
      </p:sp>
      <p:sp>
        <p:nvSpPr>
          <p:cNvPr id="949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020B28-2A55-4754-B819-C0D12CB8782D}" type="slidenum">
              <a:rPr lang="en-US"/>
              <a:pPr/>
              <a:t>27</a:t>
            </a:fld>
            <a:endParaRPr lang="en-US"/>
          </a:p>
        </p:txBody>
      </p:sp>
      <p:sp>
        <p:nvSpPr>
          <p:cNvPr id="95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E25FD0-999E-443D-8858-1F9C8BC53C9A}" type="slidenum">
              <a:rPr lang="en-US"/>
              <a:pPr/>
              <a:t>28</a:t>
            </a:fld>
            <a:endParaRPr lang="en-US"/>
          </a:p>
        </p:txBody>
      </p:sp>
      <p:sp>
        <p:nvSpPr>
          <p:cNvPr id="971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1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82A046-B1C6-4E51-84E8-31C17C1425D4}" type="slidenum">
              <a:rPr lang="en-US"/>
              <a:pPr/>
              <a:t>29</a:t>
            </a:fld>
            <a:endParaRPr lang="en-US"/>
          </a:p>
        </p:txBody>
      </p:sp>
      <p:sp>
        <p:nvSpPr>
          <p:cNvPr id="95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059D57-0100-4082-A151-1D6514E46006}" type="slidenum">
              <a:rPr lang="en-US"/>
              <a:pPr/>
              <a:t>30</a:t>
            </a:fld>
            <a:endParaRPr lang="en-US"/>
          </a:p>
        </p:txBody>
      </p:sp>
      <p:sp>
        <p:nvSpPr>
          <p:cNvPr id="95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DBBD8D-5805-4D73-BD92-61D2768ECA7A}" type="slidenum">
              <a:rPr lang="en-US"/>
              <a:pPr/>
              <a:t>31</a:t>
            </a:fld>
            <a:endParaRPr lang="en-US"/>
          </a:p>
        </p:txBody>
      </p:sp>
      <p:sp>
        <p:nvSpPr>
          <p:cNvPr id="957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DBBD8D-5805-4D73-BD92-61D2768ECA7A}" type="slidenum">
              <a:rPr lang="en-US"/>
              <a:pPr/>
              <a:t>32</a:t>
            </a:fld>
            <a:endParaRPr lang="en-US"/>
          </a:p>
        </p:txBody>
      </p:sp>
      <p:sp>
        <p:nvSpPr>
          <p:cNvPr id="957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4A5738-752E-4EE2-B881-07E573FC4461}" type="slidenum">
              <a:rPr lang="en-US"/>
              <a:pPr/>
              <a:t>33</a:t>
            </a:fld>
            <a:endParaRPr lang="en-US"/>
          </a:p>
        </p:txBody>
      </p:sp>
      <p:sp>
        <p:nvSpPr>
          <p:cNvPr id="95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9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8F177F-227E-40BB-B535-4FC8FE4C0B40}" type="slidenum">
              <a:rPr lang="en-US"/>
              <a:pPr/>
              <a:t>34</a:t>
            </a:fld>
            <a:endParaRPr lang="en-US"/>
          </a:p>
        </p:txBody>
      </p:sp>
      <p:sp>
        <p:nvSpPr>
          <p:cNvPr id="960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0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A1B4EC-5E73-4E12-BB7E-8CC6037318BB}" type="slidenum">
              <a:rPr lang="en-US"/>
              <a:pPr/>
              <a:t>35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6057D3-4D81-4693-B03B-C9FC3C7C9AC7}" type="slidenum">
              <a:rPr lang="en-US"/>
              <a:pPr/>
              <a:t>36</a:t>
            </a:fld>
            <a:endParaRPr lang="en-US"/>
          </a:p>
        </p:txBody>
      </p:sp>
      <p:sp>
        <p:nvSpPr>
          <p:cNvPr id="963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2E92F6-DC1F-4224-8175-473390ED3B87}" type="slidenum">
              <a:rPr lang="en-US"/>
              <a:pPr/>
              <a:t>37</a:t>
            </a:fld>
            <a:endParaRPr lang="en-US"/>
          </a:p>
        </p:txBody>
      </p:sp>
      <p:sp>
        <p:nvSpPr>
          <p:cNvPr id="96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09EB63-ADF0-44B8-A43E-CCFE1FD16D5D}" type="slidenum">
              <a:rPr lang="en-US"/>
              <a:pPr/>
              <a:t>38</a:t>
            </a:fld>
            <a:endParaRPr lang="en-US"/>
          </a:p>
        </p:txBody>
      </p:sp>
      <p:sp>
        <p:nvSpPr>
          <p:cNvPr id="965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5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E4D08D-CC22-4B6C-A876-AB23B632DB03}" type="slidenum">
              <a:rPr lang="en-US"/>
              <a:pPr/>
              <a:t>39</a:t>
            </a:fld>
            <a:endParaRPr lang="en-US"/>
          </a:p>
        </p:txBody>
      </p:sp>
      <p:sp>
        <p:nvSpPr>
          <p:cNvPr id="96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6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89CC81-449C-445C-85F2-DA402502BE41}" type="slidenum">
              <a:rPr lang="en-US"/>
              <a:pPr/>
              <a:t>40</a:t>
            </a:fld>
            <a:endParaRPr lang="en-US"/>
          </a:p>
        </p:txBody>
      </p:sp>
      <p:sp>
        <p:nvSpPr>
          <p:cNvPr id="967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7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411AF2-C03F-43BF-9687-E6C2C87CA51D}" type="slidenum">
              <a:rPr lang="en-US"/>
              <a:pPr/>
              <a:t>41</a:t>
            </a:fld>
            <a:endParaRPr lang="en-US"/>
          </a:p>
        </p:txBody>
      </p:sp>
      <p:sp>
        <p:nvSpPr>
          <p:cNvPr id="96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8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CF2C90-415D-4F6A-A711-8658D1B49D82}" type="slidenum">
              <a:rPr lang="en-US"/>
              <a:pPr/>
              <a:t>42</a:t>
            </a:fld>
            <a:endParaRPr lang="en-US"/>
          </a:p>
        </p:txBody>
      </p:sp>
      <p:sp>
        <p:nvSpPr>
          <p:cNvPr id="969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9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13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30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219200"/>
            <a:ext cx="77724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68946159-E475-47D9-8550-A9F0B445C79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77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2007 Elsevier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96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2-&lt;</a:t>
            </a:r>
            <a:fld id="{3D7F715D-3209-482A-ABCD-4F9C0036FCD6}" type="slidenum">
              <a:rPr lang="en-US"/>
              <a:pPr/>
              <a:t>‹#›</a:t>
            </a:fld>
            <a:r>
              <a:rPr lang="en-US"/>
              <a:t>&gt;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991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77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2007 Elsevier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096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2-&lt;</a:t>
            </a:r>
            <a:fld id="{DD0BCF35-A1C1-47C4-BF2B-8B9B8D4EBCAE}" type="slidenum">
              <a:rPr lang="en-US"/>
              <a:pPr/>
              <a:t>‹#›</a:t>
            </a:fld>
            <a:r>
              <a:rPr lang="en-US"/>
              <a:t>&gt;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24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2007 Elsevier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2-&lt;</a:t>
            </a:r>
            <a:fld id="{C0FBBB96-A630-4B05-BA47-6FDCC80A2530}" type="slidenum">
              <a:rPr lang="en-US"/>
              <a:pPr/>
              <a:t>‹#›</a:t>
            </a:fld>
            <a:r>
              <a:rPr lang="en-US"/>
              <a:t>&gt;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66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77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2007 Elsevier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096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2-&lt;</a:t>
            </a:r>
            <a:fld id="{B8D13B05-696B-43F3-A133-03DEFFF24850}" type="slidenum">
              <a:rPr lang="en-US"/>
              <a:pPr/>
              <a:t>‹#›</a:t>
            </a:fld>
            <a:r>
              <a:rPr lang="en-US"/>
              <a:t>&gt;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70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77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2007 Elsevier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096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2-&lt;</a:t>
            </a:r>
            <a:fld id="{ABE97F21-FF4B-4B80-811E-C7802C99A8A5}" type="slidenum">
              <a:rPr lang="en-US"/>
              <a:pPr/>
              <a:t>‹#›</a:t>
            </a:fld>
            <a:r>
              <a:rPr lang="en-US"/>
              <a:t>&gt;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51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46080-453C-4BEF-9A1F-F094B996EB7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2EFE9-D440-4A3B-858C-5FEDF5DD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0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1.wmf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1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10" Type="http://schemas.openxmlformats.org/officeDocument/2006/relationships/image" Target="../media/image2.emf"/><Relationship Id="rId4" Type="http://schemas.openxmlformats.org/officeDocument/2006/relationships/tags" Target="../tags/tag13.xml"/><Relationship Id="rId9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30.xml"/><Relationship Id="rId7" Type="http://schemas.openxmlformats.org/officeDocument/2006/relationships/oleObject" Target="../embeddings/oleObject3.bin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openxmlformats.org/officeDocument/2006/relationships/tags" Target="../tags/tag3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tags" Target="../tags/tag46.xml"/><Relationship Id="rId7" Type="http://schemas.openxmlformats.org/officeDocument/2006/relationships/oleObject" Target="../embeddings/oleObject4.bin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tags" Target="../tags/tag50.xml"/><Relationship Id="rId7" Type="http://schemas.openxmlformats.org/officeDocument/2006/relationships/oleObject" Target="../embeddings/oleObject5.bin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7" Type="http://schemas.openxmlformats.org/officeDocument/2006/relationships/image" Target="../media/image10.wmf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oleObject" Target="../embeddings/oleObject6.bin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7" Type="http://schemas.openxmlformats.org/officeDocument/2006/relationships/image" Target="../media/image11.wmf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oleObject" Target="../embeddings/oleObject7.bin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4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14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81.xml"/><Relationship Id="rId7" Type="http://schemas.openxmlformats.org/officeDocument/2006/relationships/notesSlide" Target="../notesSlides/notesSlide27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9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4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4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7" Type="http://schemas.openxmlformats.org/officeDocument/2006/relationships/notesSlide" Target="../notesSlides/notesSlide3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2.xml"/><Relationship Id="rId4" Type="http://schemas.openxmlformats.org/officeDocument/2006/relationships/tags" Target="../tags/tag9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notesSlide" Target="../notesSlides/notesSlide31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7.xml"/><Relationship Id="rId4" Type="http://schemas.openxmlformats.org/officeDocument/2006/relationships/tags" Target="../tags/tag9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4" Type="http://schemas.openxmlformats.org/officeDocument/2006/relationships/notesSlide" Target="../notesSlides/notesSlide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4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17.w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oleObject" Target="../embeddings/oleObject9.bin"/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4" Type="http://schemas.openxmlformats.org/officeDocument/2006/relationships/notesSlide" Target="../notesSlides/notesSlide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notesSlide" Target="../notesSlides/notesSlide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4" Type="http://schemas.openxmlformats.org/officeDocument/2006/relationships/notesSlide" Target="../notesSlides/notesSlide3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4" Type="http://schemas.openxmlformats.org/officeDocument/2006/relationships/notesSlide" Target="../notesSlides/notesSlide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4" Type="http://schemas.openxmlformats.org/officeDocument/2006/relationships/notesSlide" Target="../notesSlides/notesSlide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5443" y="2701498"/>
            <a:ext cx="55433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/>
              <a:t>Verilog HDL</a:t>
            </a:r>
            <a:r>
              <a:rPr lang="zh-CN" altLang="en-US" sz="4800"/>
              <a:t>简介示例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91615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93959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200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Simulation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Inputs applied to circuit</a:t>
            </a:r>
            <a:endParaRPr lang="en-US" sz="2200" i="1" dirty="0">
              <a:latin typeface="Times New Roman" pitchFamily="18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Outputs checked for correctness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Millions of dollars saved by debugging in simulation instead of hardware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Synthesis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Transforms HDL code into a </a:t>
            </a:r>
            <a:r>
              <a:rPr lang="en-US" sz="2200" i="1" dirty="0" err="1">
                <a:latin typeface="Times New Roman" pitchFamily="18" charset="0"/>
                <a:cs typeface="Arial" charset="0"/>
              </a:rPr>
              <a:t>netlist</a:t>
            </a:r>
            <a:r>
              <a:rPr lang="en-US" sz="2200" dirty="0">
                <a:latin typeface="Times New Roman" pitchFamily="18" charset="0"/>
                <a:cs typeface="Arial" charset="0"/>
              </a:rPr>
              <a:t> describing the hardware (i.e., a list of gates and the wires connecting them)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IMPORTANT: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FF3300"/>
                </a:solidFill>
                <a:latin typeface="Times New Roman" pitchFamily="18" charset="0"/>
                <a:cs typeface="Arial" charset="0"/>
              </a:rPr>
              <a:t>	</a:t>
            </a:r>
            <a:r>
              <a:rPr lang="en-US" sz="2400" dirty="0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When using an HDL, think of the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hardware</a:t>
            </a:r>
            <a:r>
              <a:rPr lang="en-US" sz="2400" dirty="0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 the HDL should produce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HDL to Gates</a:t>
            </a:r>
          </a:p>
        </p:txBody>
      </p:sp>
    </p:spTree>
    <p:extLst>
      <p:ext uri="{BB962C8B-B14F-4D97-AF65-F5344CB8AC3E}">
        <p14:creationId xmlns:p14="http://schemas.microsoft.com/office/powerpoint/2010/main" val="391439400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77573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7145386"/>
              </p:ext>
            </p:extLst>
          </p:nvPr>
        </p:nvGraphicFramePr>
        <p:xfrm>
          <a:off x="2057400" y="1371600"/>
          <a:ext cx="4605337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285920" imgH="491760" progId="Visio.Drawing.6">
                  <p:embed/>
                </p:oleObj>
              </mc:Choice>
              <mc:Fallback>
                <p:oleObj name="VISIO" r:id="rId6" imgW="1285920" imgH="491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371600"/>
                        <a:ext cx="4605337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757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96108" y="3637085"/>
            <a:ext cx="7620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Two types of Modules: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latin typeface="Times New Roman" pitchFamily="18" charset="0"/>
                <a:cs typeface="Arial" charset="0"/>
              </a:rPr>
              <a:t>Behavioral: </a:t>
            </a:r>
            <a:r>
              <a:rPr lang="en-US" sz="2600" dirty="0">
                <a:latin typeface="Times New Roman" pitchFamily="18" charset="0"/>
                <a:cs typeface="Arial" charset="0"/>
              </a:rPr>
              <a:t>describe what a module does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latin typeface="Times New Roman" pitchFamily="18" charset="0"/>
                <a:cs typeface="Arial" charset="0"/>
              </a:rPr>
              <a:t>Structural: </a:t>
            </a:r>
            <a:r>
              <a:rPr lang="en-US" sz="2600" dirty="0">
                <a:latin typeface="Times New Roman" pitchFamily="18" charset="0"/>
                <a:cs typeface="Arial" charset="0"/>
              </a:rPr>
              <a:t>describe how it is built from simpler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Verilog Modules</a:t>
            </a:r>
          </a:p>
        </p:txBody>
      </p:sp>
    </p:spTree>
    <p:extLst>
      <p:ext uri="{BB962C8B-B14F-4D97-AF65-F5344CB8AC3E}">
        <p14:creationId xmlns:p14="http://schemas.microsoft.com/office/powerpoint/2010/main" val="365550168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7859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600200"/>
            <a:ext cx="8305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example(input  a, b, c,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output y);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assign y = ~a &amp; ~b &amp; ~c | a &amp; ~b &amp; ~c | a &amp; ~b &amp;  c;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878597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22823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8598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081087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/>
              <a:t>Verilog: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Behavioral Verilog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600200" y="3474010"/>
            <a:ext cx="6858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module/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r>
              <a:rPr lang="en-US" sz="2200" dirty="0"/>
              <a:t>:  required to begin/end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example</a:t>
            </a:r>
            <a:r>
              <a:rPr lang="en-US" sz="2200" dirty="0"/>
              <a:t>:  name of the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Operators: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sz="2200" dirty="0"/>
              <a:t>:  NOT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2200" dirty="0"/>
              <a:t>:  AND</a:t>
            </a:r>
          </a:p>
          <a:p>
            <a:pPr lvl="1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2200" dirty="0"/>
              <a:t>:  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7646401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1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79621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22823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79622" name="Object 6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25525440"/>
              </p:ext>
            </p:extLst>
          </p:nvPr>
        </p:nvGraphicFramePr>
        <p:xfrm>
          <a:off x="2590800" y="3683000"/>
          <a:ext cx="4724400" cy="256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3024762" imgH="1641175" progId="Visio.Drawing.11">
                  <p:embed/>
                </p:oleObj>
              </mc:Choice>
              <mc:Fallback>
                <p:oleObj name="Visio" r:id="rId9" imgW="3024762" imgH="164117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683000"/>
                        <a:ext cx="4724400" cy="256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90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HDL Synthesis</a:t>
            </a:r>
          </a:p>
        </p:txBody>
      </p:sp>
      <p:sp>
        <p:nvSpPr>
          <p:cNvPr id="1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600200"/>
            <a:ext cx="8305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example(input  a, b, c,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output y);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assign y = ~a &amp; ~b &amp; ~c | a &amp; ~b &amp; ~c | a &amp; ~b &amp;  c;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1081087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/>
              <a:t>Verilog:</a:t>
            </a:r>
          </a:p>
        </p:txBody>
      </p:sp>
      <p:sp>
        <p:nvSpPr>
          <p:cNvPr id="14" name="Text Box 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14400" y="3084181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/>
              <a:t>Synthesis:</a:t>
            </a:r>
          </a:p>
        </p:txBody>
      </p:sp>
    </p:spTree>
    <p:extLst>
      <p:ext uri="{BB962C8B-B14F-4D97-AF65-F5344CB8AC3E}">
        <p14:creationId xmlns:p14="http://schemas.microsoft.com/office/powerpoint/2010/main" val="224574153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411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90600" y="1219200"/>
            <a:ext cx="7772400" cy="4953000"/>
          </a:xfrm>
        </p:spPr>
        <p:txBody>
          <a:bodyPr/>
          <a:lstStyle/>
          <a:p>
            <a:r>
              <a:rPr lang="en-US" dirty="0"/>
              <a:t>Case sensitive</a:t>
            </a:r>
          </a:p>
          <a:p>
            <a:pPr lvl="1"/>
            <a:r>
              <a:rPr lang="en-US" sz="2400" b="1" dirty="0">
                <a:latin typeface="+mj-lt"/>
              </a:rPr>
              <a:t>Example:</a:t>
            </a:r>
            <a:r>
              <a:rPr lang="en-US" sz="2400" dirty="0">
                <a:latin typeface="Times" pitchFamily="18" charset="0"/>
              </a:rPr>
              <a:t> </a:t>
            </a:r>
            <a:r>
              <a:rPr lang="en-US" sz="2400" dirty="0">
                <a:latin typeface="Courier New" pitchFamily="49" charset="0"/>
              </a:rPr>
              <a:t>reset</a:t>
            </a:r>
            <a:r>
              <a:rPr lang="en-US" sz="2400" dirty="0"/>
              <a:t> and </a:t>
            </a:r>
            <a:r>
              <a:rPr lang="en-US" sz="2400" dirty="0">
                <a:latin typeface="Courier New" pitchFamily="49" charset="0"/>
              </a:rPr>
              <a:t>Reset</a:t>
            </a:r>
            <a:r>
              <a:rPr lang="en-US" sz="2400" dirty="0"/>
              <a:t> are not the same signal.</a:t>
            </a:r>
          </a:p>
          <a:p>
            <a:r>
              <a:rPr lang="en-US" dirty="0"/>
              <a:t>No names that start with numbers </a:t>
            </a:r>
          </a:p>
          <a:p>
            <a:pPr lvl="1"/>
            <a:r>
              <a:rPr lang="en-US" sz="2400" b="1" dirty="0"/>
              <a:t>Example: </a:t>
            </a:r>
            <a:r>
              <a:rPr lang="en-US" sz="2400" dirty="0">
                <a:latin typeface="Courier New" pitchFamily="49" charset="0"/>
              </a:rPr>
              <a:t>2mux</a:t>
            </a:r>
            <a:r>
              <a:rPr lang="en-US" sz="2400" dirty="0"/>
              <a:t> is an invalid name</a:t>
            </a:r>
          </a:p>
          <a:p>
            <a:r>
              <a:rPr lang="en-US" dirty="0"/>
              <a:t>Whitespace ignored</a:t>
            </a:r>
          </a:p>
          <a:p>
            <a:r>
              <a:rPr lang="en-US" dirty="0"/>
              <a:t>Comments:</a:t>
            </a:r>
          </a:p>
          <a:p>
            <a:pPr lvl="1"/>
            <a:r>
              <a:rPr lang="en-US" sz="2000" dirty="0">
                <a:latin typeface="Courier New" pitchFamily="49" charset="0"/>
                <a:cs typeface="Courier New" pitchFamily="49" charset="0"/>
              </a:rPr>
              <a:t>// single line comment</a:t>
            </a:r>
          </a:p>
          <a:p>
            <a:pPr lvl="1"/>
            <a:r>
              <a:rPr lang="en-US" sz="2000" dirty="0">
                <a:latin typeface="Courier New" pitchFamily="49" charset="0"/>
                <a:cs typeface="Courier New" pitchFamily="49" charset="0"/>
              </a:rPr>
              <a:t>/* multiline</a:t>
            </a:r>
          </a:p>
          <a:p>
            <a:pPr lvl="1"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comment */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Verilog Syntax</a:t>
            </a:r>
          </a:p>
        </p:txBody>
      </p:sp>
    </p:spTree>
    <p:extLst>
      <p:ext uri="{BB962C8B-B14F-4D97-AF65-F5344CB8AC3E}">
        <p14:creationId xmlns:p14="http://schemas.microsoft.com/office/powerpoint/2010/main" val="1637822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80644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07477"/>
            <a:ext cx="8458200" cy="506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700" dirty="0">
                <a:latin typeface="Courier New" pitchFamily="49" charset="0"/>
              </a:rPr>
              <a:t>module and3(input  a, b, c,</a:t>
            </a:r>
          </a:p>
          <a:p>
            <a:r>
              <a:rPr lang="en-US" sz="1700" dirty="0">
                <a:latin typeface="Courier New" pitchFamily="49" charset="0"/>
              </a:rPr>
              <a:t>            output y);</a:t>
            </a:r>
          </a:p>
          <a:p>
            <a:r>
              <a:rPr lang="en-US" sz="1700" dirty="0">
                <a:latin typeface="Courier New" pitchFamily="49" charset="0"/>
              </a:rPr>
              <a:t>  assign y = a &amp; b &amp; c;</a:t>
            </a:r>
          </a:p>
          <a:p>
            <a:r>
              <a:rPr lang="en-US" sz="1700" dirty="0" err="1">
                <a:latin typeface="Courier New" pitchFamily="49" charset="0"/>
              </a:rPr>
              <a:t>endmodule</a:t>
            </a:r>
            <a:endParaRPr lang="en-US" sz="1700" dirty="0">
              <a:latin typeface="Courier New" pitchFamily="49" charset="0"/>
            </a:endParaRPr>
          </a:p>
          <a:p>
            <a:endParaRPr lang="en-US" sz="1700" dirty="0">
              <a:latin typeface="Courier New" pitchFamily="49" charset="0"/>
            </a:endParaRPr>
          </a:p>
          <a:p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module </a:t>
            </a:r>
            <a:r>
              <a:rPr lang="en-US" sz="1700" dirty="0" err="1">
                <a:latin typeface="Courier New" pitchFamily="49" charset="0"/>
              </a:rPr>
              <a:t>inv</a:t>
            </a:r>
            <a:r>
              <a:rPr lang="en-US" sz="1700" dirty="0">
                <a:latin typeface="Courier New" pitchFamily="49" charset="0"/>
              </a:rPr>
              <a:t>(input  a,</a:t>
            </a:r>
          </a:p>
          <a:p>
            <a:r>
              <a:rPr lang="en-US" sz="1700" dirty="0">
                <a:latin typeface="Courier New" pitchFamily="49" charset="0"/>
              </a:rPr>
              <a:t>           output y);</a:t>
            </a:r>
          </a:p>
          <a:p>
            <a:r>
              <a:rPr lang="en-US" sz="1700" dirty="0">
                <a:latin typeface="Courier New" pitchFamily="49" charset="0"/>
              </a:rPr>
              <a:t>  assign y = ~a;</a:t>
            </a:r>
          </a:p>
          <a:p>
            <a:r>
              <a:rPr lang="en-US" sz="1700" dirty="0" err="1">
                <a:latin typeface="Courier New" pitchFamily="49" charset="0"/>
              </a:rPr>
              <a:t>endmodule</a:t>
            </a:r>
            <a:endParaRPr lang="en-US" sz="1700" dirty="0">
              <a:latin typeface="Courier New" pitchFamily="49" charset="0"/>
            </a:endParaRPr>
          </a:p>
          <a:p>
            <a:endParaRPr lang="en-US" sz="1700" dirty="0">
              <a:latin typeface="Courier New" pitchFamily="49" charset="0"/>
            </a:endParaRPr>
          </a:p>
          <a:p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module nand3(input  a, b, c</a:t>
            </a:r>
          </a:p>
          <a:p>
            <a:r>
              <a:rPr lang="en-US" sz="1700" dirty="0">
                <a:latin typeface="Courier New" pitchFamily="49" charset="0"/>
              </a:rPr>
              <a:t>             output y);</a:t>
            </a:r>
          </a:p>
          <a:p>
            <a:r>
              <a:rPr lang="en-US" sz="1700" dirty="0">
                <a:latin typeface="Courier New" pitchFamily="49" charset="0"/>
              </a:rPr>
              <a:t>  wire n1;                   </a:t>
            </a:r>
            <a:r>
              <a:rPr lang="en-US" sz="1700" b="1" dirty="0">
                <a:latin typeface="Courier New" pitchFamily="49" charset="0"/>
              </a:rPr>
              <a:t>// internal signal</a:t>
            </a:r>
          </a:p>
          <a:p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  and3 </a:t>
            </a:r>
            <a:r>
              <a:rPr lang="en-US" sz="1700" dirty="0" err="1">
                <a:latin typeface="Courier New" pitchFamily="49" charset="0"/>
              </a:rPr>
              <a:t>andgate</a:t>
            </a:r>
            <a:r>
              <a:rPr lang="en-US" sz="1700" dirty="0">
                <a:latin typeface="Courier New" pitchFamily="49" charset="0"/>
              </a:rPr>
              <a:t>(a, b, c, n1);  </a:t>
            </a:r>
            <a:r>
              <a:rPr lang="en-US" sz="1700" b="1" dirty="0">
                <a:latin typeface="Courier New" pitchFamily="49" charset="0"/>
              </a:rPr>
              <a:t>// instance of and3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inv</a:t>
            </a:r>
            <a:r>
              <a:rPr lang="en-US" sz="1700" dirty="0">
                <a:latin typeface="Courier New" pitchFamily="49" charset="0"/>
              </a:rPr>
              <a:t>  inverter(n1, y);       </a:t>
            </a:r>
            <a:r>
              <a:rPr lang="en-US" sz="1700" b="1" dirty="0">
                <a:latin typeface="Courier New" pitchFamily="49" charset="0"/>
              </a:rPr>
              <a:t>// instance of </a:t>
            </a:r>
            <a:r>
              <a:rPr lang="en-US" sz="1700" b="1" dirty="0" err="1">
                <a:latin typeface="Courier New" pitchFamily="49" charset="0"/>
              </a:rPr>
              <a:t>inv</a:t>
            </a:r>
            <a:endParaRPr lang="en-US" sz="1700" b="1" dirty="0">
              <a:latin typeface="Courier New" pitchFamily="49" charset="0"/>
            </a:endParaRPr>
          </a:p>
          <a:p>
            <a:r>
              <a:rPr lang="en-US" sz="1700" dirty="0" err="1">
                <a:latin typeface="Courier New" pitchFamily="49" charset="0"/>
              </a:rPr>
              <a:t>endmodule</a:t>
            </a:r>
            <a:endParaRPr lang="en-US" sz="1700" dirty="0">
              <a:latin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Structural Modeling - Hierarchy</a:t>
            </a:r>
          </a:p>
        </p:txBody>
      </p:sp>
    </p:spTree>
    <p:extLst>
      <p:ext uri="{BB962C8B-B14F-4D97-AF65-F5344CB8AC3E}">
        <p14:creationId xmlns:p14="http://schemas.microsoft.com/office/powerpoint/2010/main" val="192933970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8166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gates(input  [3:0] a, b,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output [3:0] y1, y2, y3, y4, y5);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/* Five different two-input logic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gates acting on 4 bit busses */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assign y1 = a &amp; b;    // AND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assign y2 = a | b;    // OR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assign y3 = a ^ b;    // XOR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assign y4 = ~(a &amp; b); // NAND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assign y5 = ~(a | b); // NOR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b="1" dirty="0">
                <a:latin typeface="Courier New" pitchFamily="49" charset="0"/>
                <a:cs typeface="Arial" charset="0"/>
              </a:rPr>
              <a:t>//</a:t>
            </a:r>
            <a:r>
              <a:rPr lang="en-US" sz="2400" dirty="0">
                <a:cs typeface="Arial" charset="0"/>
              </a:rPr>
              <a:t>            single line comment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dirty="0">
                <a:latin typeface="Courier New" pitchFamily="49" charset="0"/>
                <a:cs typeface="Arial" charset="0"/>
              </a:rPr>
              <a:t>/*…*/</a:t>
            </a:r>
            <a:r>
              <a:rPr lang="en-US" sz="2400" dirty="0">
                <a:cs typeface="Arial" charset="0"/>
              </a:rPr>
              <a:t>    multiline comment </a:t>
            </a:r>
          </a:p>
        </p:txBody>
      </p:sp>
      <p:pic>
        <p:nvPicPr>
          <p:cNvPr id="881669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895600"/>
            <a:ext cx="3200400" cy="2428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90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Bitwise Operators</a:t>
            </a:r>
          </a:p>
        </p:txBody>
      </p:sp>
    </p:spTree>
    <p:extLst>
      <p:ext uri="{BB962C8B-B14F-4D97-AF65-F5344CB8AC3E}">
        <p14:creationId xmlns:p14="http://schemas.microsoft.com/office/powerpoint/2010/main" val="341773715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82692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14400" y="1319212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module and8(input [7:0] a,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      output y);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assign y = &amp;a;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// &amp;a is much easier to write than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// assign y = a[7] &amp; a[6] &amp; a[5] &amp; a[4] &amp;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//            a[3] &amp; a[2] &amp; a[1] &amp; a[0];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1800" dirty="0">
              <a:latin typeface="Courier New" pitchFamily="49" charset="0"/>
            </a:endParaRPr>
          </a:p>
        </p:txBody>
      </p:sp>
      <p:pic>
        <p:nvPicPr>
          <p:cNvPr id="882693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962400"/>
            <a:ext cx="3581400" cy="188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0668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Reduction Operators</a:t>
            </a:r>
          </a:p>
        </p:txBody>
      </p:sp>
    </p:spTree>
    <p:extLst>
      <p:ext uri="{BB962C8B-B14F-4D97-AF65-F5344CB8AC3E}">
        <p14:creationId xmlns:p14="http://schemas.microsoft.com/office/powerpoint/2010/main" val="374344322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83716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14400" y="12954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module mux2(input [3:0] d0, d1,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      input  s,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      output [3:0] y);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assign y = s ? d1 : d0; 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400" dirty="0">
                <a:latin typeface="Courier New" pitchFamily="49" charset="0"/>
              </a:rPr>
              <a:t>? :</a:t>
            </a:r>
            <a:r>
              <a:rPr lang="en-US" sz="2400" dirty="0">
                <a:latin typeface="Arial" charset="0"/>
              </a:rPr>
              <a:t>      is also called a </a:t>
            </a:r>
            <a:r>
              <a:rPr lang="en-US" sz="2400" i="1" dirty="0">
                <a:latin typeface="Arial" charset="0"/>
              </a:rPr>
              <a:t>ternary operator</a:t>
            </a:r>
            <a:r>
              <a:rPr lang="en-US" sz="2400" dirty="0">
                <a:latin typeface="Arial" charset="0"/>
              </a:rPr>
              <a:t> because it   </a:t>
            </a:r>
          </a:p>
          <a:p>
            <a:pPr>
              <a:buFontTx/>
              <a:buNone/>
            </a:pPr>
            <a:r>
              <a:rPr lang="en-US" sz="2400" dirty="0">
                <a:latin typeface="Arial" charset="0"/>
              </a:rPr>
              <a:t>            operates on 3 inputs: </a:t>
            </a:r>
            <a:r>
              <a:rPr lang="en-US" sz="2400" dirty="0">
                <a:latin typeface="Courier New" pitchFamily="49" charset="0"/>
              </a:rPr>
              <a:t>s</a:t>
            </a:r>
            <a:r>
              <a:rPr lang="en-US" sz="2400" dirty="0">
                <a:latin typeface="Arial" charset="0"/>
              </a:rPr>
              <a:t>, </a:t>
            </a:r>
            <a:r>
              <a:rPr lang="en-US" sz="2400" dirty="0">
                <a:latin typeface="Courier New" pitchFamily="49" charset="0"/>
              </a:rPr>
              <a:t>d1</a:t>
            </a:r>
            <a:r>
              <a:rPr lang="en-US" sz="2400" dirty="0">
                <a:latin typeface="Arial" charset="0"/>
              </a:rPr>
              <a:t>, and </a:t>
            </a:r>
            <a:r>
              <a:rPr lang="en-US" sz="2400" dirty="0">
                <a:latin typeface="Courier New" pitchFamily="49" charset="0"/>
              </a:rPr>
              <a:t>d0</a:t>
            </a:r>
            <a:r>
              <a:rPr lang="en-US" sz="2400" dirty="0">
                <a:latin typeface="Arial" charset="0"/>
              </a:rPr>
              <a:t>.</a:t>
            </a: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</p:txBody>
      </p:sp>
      <p:pic>
        <p:nvPicPr>
          <p:cNvPr id="883717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501" y="3124200"/>
            <a:ext cx="3987299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0668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Conditional Assignment</a:t>
            </a:r>
          </a:p>
        </p:txBody>
      </p:sp>
    </p:spTree>
    <p:extLst>
      <p:ext uri="{BB962C8B-B14F-4D97-AF65-F5344CB8AC3E}">
        <p14:creationId xmlns:p14="http://schemas.microsoft.com/office/powerpoint/2010/main" val="112011197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3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84740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49569" y="12192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module </a:t>
            </a:r>
            <a:r>
              <a:rPr lang="en-US" sz="1800" dirty="0" err="1">
                <a:latin typeface="Courier New" pitchFamily="49" charset="0"/>
              </a:rPr>
              <a:t>fulladder</a:t>
            </a:r>
            <a:r>
              <a:rPr lang="en-US" sz="1800" dirty="0">
                <a:latin typeface="Courier New" pitchFamily="49" charset="0"/>
              </a:rPr>
              <a:t>(input  a, b, </a:t>
            </a:r>
            <a:r>
              <a:rPr lang="en-US" sz="1800" dirty="0" err="1">
                <a:latin typeface="Courier New" pitchFamily="49" charset="0"/>
              </a:rPr>
              <a:t>cin</a:t>
            </a:r>
            <a:r>
              <a:rPr lang="en-US" sz="1800" dirty="0">
                <a:latin typeface="Courier New" pitchFamily="49" charset="0"/>
              </a:rPr>
              <a:t>,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           output s, </a:t>
            </a:r>
            <a:r>
              <a:rPr lang="en-US" sz="1800" dirty="0" err="1">
                <a:latin typeface="Courier New" pitchFamily="49" charset="0"/>
              </a:rPr>
              <a:t>cout</a:t>
            </a:r>
            <a:r>
              <a:rPr lang="en-US" sz="1800" dirty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wire p, g;   // internal nodes</a:t>
            </a: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assign p = a ^ b;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assign g = a &amp; b;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assign s = p ^ </a:t>
            </a:r>
            <a:r>
              <a:rPr lang="en-US" sz="1800" dirty="0" err="1">
                <a:latin typeface="Courier New" pitchFamily="49" charset="0"/>
              </a:rPr>
              <a:t>cin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assign </a:t>
            </a:r>
            <a:r>
              <a:rPr lang="en-US" sz="1800" dirty="0" err="1">
                <a:latin typeface="Courier New" pitchFamily="49" charset="0"/>
              </a:rPr>
              <a:t>cout</a:t>
            </a:r>
            <a:r>
              <a:rPr lang="en-US" sz="1800" dirty="0">
                <a:latin typeface="Courier New" pitchFamily="49" charset="0"/>
              </a:rPr>
              <a:t> = g | (p &amp; </a:t>
            </a:r>
            <a:r>
              <a:rPr lang="en-US" sz="1800" dirty="0" err="1">
                <a:latin typeface="Courier New" pitchFamily="49" charset="0"/>
              </a:rPr>
              <a:t>cin</a:t>
            </a:r>
            <a:r>
              <a:rPr lang="en-US" sz="1800" dirty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88474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2482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84742" name="Object 6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914716910"/>
              </p:ext>
            </p:extLst>
          </p:nvPr>
        </p:nvGraphicFramePr>
        <p:xfrm>
          <a:off x="2057400" y="4114800"/>
          <a:ext cx="5867400" cy="248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3604320" imgH="1526040" progId="Visio.Drawing.6">
                  <p:embed/>
                </p:oleObj>
              </mc:Choice>
              <mc:Fallback>
                <p:oleObj name="VISIO" r:id="rId7" imgW="3604320" imgH="15260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114800"/>
                        <a:ext cx="5867400" cy="2484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Internal Variables</a:t>
            </a:r>
          </a:p>
        </p:txBody>
      </p:sp>
    </p:spTree>
    <p:extLst>
      <p:ext uri="{BB962C8B-B14F-4D97-AF65-F5344CB8AC3E}">
        <p14:creationId xmlns:p14="http://schemas.microsoft.com/office/powerpoint/2010/main" val="57276494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85813" name="Group 53"/>
          <p:cNvGraphicFramePr>
            <a:graphicFrameLocks noGrp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73425507"/>
              </p:ext>
            </p:extLst>
          </p:nvPr>
        </p:nvGraphicFramePr>
        <p:xfrm>
          <a:off x="2819400" y="1546098"/>
          <a:ext cx="4876800" cy="4684717"/>
        </p:xfrm>
        <a:graphic>
          <a:graphicData uri="http://schemas.openxmlformats.org/drawingml/2006/table">
            <a:tbl>
              <a:tblPr/>
              <a:tblGrid>
                <a:gridCol w="206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4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~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NOT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*, /, 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mult, div, mod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+, 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add,sub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&lt;&lt;, &gt;&gt;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shift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&lt;&lt;&lt;, &gt;&gt;&gt;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arithmetic shift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&lt;, &lt;=, &gt;, &gt;=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comparison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==, !=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equal, not equal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&amp;, ~&amp;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AND, NAND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^, ~^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XOR, XNOR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|, ~|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OR, NOR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?: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ternary operator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8576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2482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85804" name="Rectangle 4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971800" y="990600"/>
            <a:ext cx="5181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600" b="1" dirty="0">
                <a:latin typeface="Times New Roman" pitchFamily="18" charset="0"/>
                <a:cs typeface="Arial" charset="0"/>
              </a:rPr>
              <a:t>Order of operations</a:t>
            </a:r>
          </a:p>
        </p:txBody>
      </p:sp>
      <p:sp>
        <p:nvSpPr>
          <p:cNvPr id="885811" name="Text Box 5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03131" y="1524000"/>
            <a:ext cx="1752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Highest</a:t>
            </a:r>
          </a:p>
        </p:txBody>
      </p:sp>
      <p:sp>
        <p:nvSpPr>
          <p:cNvPr id="885812" name="Text Box 5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00200" y="5715000"/>
            <a:ext cx="1752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Lowest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Precedence</a:t>
            </a:r>
          </a:p>
        </p:txBody>
      </p:sp>
    </p:spTree>
    <p:extLst>
      <p:ext uri="{BB962C8B-B14F-4D97-AF65-F5344CB8AC3E}">
        <p14:creationId xmlns:p14="http://schemas.microsoft.com/office/powerpoint/2010/main" val="374318775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86868" name="Group 84"/>
          <p:cNvGraphicFramePr>
            <a:graphicFrameLocks noGrp="1"/>
          </p:cNvGraphicFramePr>
          <p:nvPr>
            <p:ph type="tbl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3701952"/>
              </p:ext>
            </p:extLst>
          </p:nvPr>
        </p:nvGraphicFramePr>
        <p:xfrm>
          <a:off x="990600" y="2438400"/>
          <a:ext cx="7162800" cy="3628073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#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Decimal Equivalent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Stored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unsized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00…0011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00000011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b1010_1011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171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10101011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octal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Courier New" pitchFamily="49" charset="0"/>
                        </a:rPr>
                        <a:t>'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hAB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hexadecimal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171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10101011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Unsized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00…0101010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8678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2482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86860" name="Rectangle 7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143000"/>
            <a:ext cx="7772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600" b="1" dirty="0">
                <a:latin typeface="Times New Roman" pitchFamily="18" charset="0"/>
                <a:cs typeface="Arial" charset="0"/>
              </a:rPr>
              <a:t>Format: </a:t>
            </a:r>
            <a:r>
              <a:rPr lang="en-US" sz="2600" b="1" dirty="0" err="1">
                <a:latin typeface="Times New Roman" pitchFamily="18" charset="0"/>
                <a:cs typeface="Arial" charset="0"/>
              </a:rPr>
              <a:t>N</a:t>
            </a:r>
            <a:r>
              <a:rPr lang="en-US" sz="2600" b="1" dirty="0" err="1">
                <a:latin typeface="Times New Roman" pitchFamily="18" charset="0"/>
                <a:cs typeface="Courier New" pitchFamily="49" charset="0"/>
              </a:rPr>
              <a:t>'Bvalue</a:t>
            </a:r>
            <a:endParaRPr lang="en-US" sz="2600" b="1" dirty="0">
              <a:latin typeface="Times New Roman" pitchFamily="18" charset="0"/>
              <a:cs typeface="Courier New" pitchFamily="49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  <a:cs typeface="Courier New" pitchFamily="49" charset="0"/>
              </a:rPr>
              <a:t>		</a:t>
            </a:r>
            <a:r>
              <a:rPr lang="en-US" sz="2000" b="1" dirty="0">
                <a:latin typeface="Times New Roman" pitchFamily="18" charset="0"/>
                <a:cs typeface="Courier New" pitchFamily="49" charset="0"/>
              </a:rPr>
              <a:t>N</a:t>
            </a:r>
            <a:r>
              <a:rPr lang="en-US" sz="2000" dirty="0">
                <a:latin typeface="Times New Roman" pitchFamily="18" charset="0"/>
                <a:cs typeface="Courier New" pitchFamily="49" charset="0"/>
              </a:rPr>
              <a:t> = number of bits, </a:t>
            </a:r>
            <a:r>
              <a:rPr lang="en-US" sz="2000" b="1" dirty="0">
                <a:latin typeface="Times New Roman" pitchFamily="18" charset="0"/>
                <a:cs typeface="Courier New" pitchFamily="49" charset="0"/>
              </a:rPr>
              <a:t>B</a:t>
            </a:r>
            <a:r>
              <a:rPr lang="en-US" sz="2000" dirty="0">
                <a:latin typeface="Times New Roman" pitchFamily="18" charset="0"/>
                <a:cs typeface="Courier New" pitchFamily="49" charset="0"/>
              </a:rPr>
              <a:t> = base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  <a:cs typeface="Courier New" pitchFamily="49" charset="0"/>
              </a:rPr>
              <a:t>		</a:t>
            </a:r>
            <a:r>
              <a:rPr lang="en-US" sz="2000" b="1" dirty="0">
                <a:latin typeface="Times New Roman" pitchFamily="18" charset="0"/>
                <a:cs typeface="Arial" charset="0"/>
              </a:rPr>
              <a:t>N</a:t>
            </a:r>
            <a:r>
              <a:rPr lang="en-US" sz="2000" b="1" dirty="0">
                <a:latin typeface="Times New Roman" pitchFamily="18" charset="0"/>
                <a:cs typeface="Courier New" pitchFamily="49" charset="0"/>
              </a:rPr>
              <a:t>'B</a:t>
            </a:r>
            <a:r>
              <a:rPr lang="en-US" sz="2000" dirty="0">
                <a:latin typeface="Times New Roman" pitchFamily="18" charset="0"/>
                <a:cs typeface="Courier New" pitchFamily="49" charset="0"/>
              </a:rPr>
              <a:t> is optional but recommended (default is decimal)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Numbers</a:t>
            </a:r>
          </a:p>
        </p:txBody>
      </p:sp>
    </p:spTree>
    <p:extLst>
      <p:ext uri="{BB962C8B-B14F-4D97-AF65-F5344CB8AC3E}">
        <p14:creationId xmlns:p14="http://schemas.microsoft.com/office/powerpoint/2010/main" val="110235808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8781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06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>
                <a:latin typeface="Courier New" pitchFamily="49" charset="0"/>
                <a:cs typeface="Arial" charset="0"/>
              </a:rPr>
              <a:t>assignVerilog </a:t>
            </a:r>
            <a:r>
              <a:rPr lang="en-US" sz="1800" dirty="0">
                <a:latin typeface="Courier New" pitchFamily="49" charset="0"/>
                <a:cs typeface="Arial" charset="0"/>
              </a:rPr>
              <a:t>{3{b[0]}}, a[0], 6</a:t>
            </a:r>
            <a:r>
              <a:rPr lang="en-US" b="1" dirty="0">
                <a:latin typeface="Times New Roman" pitchFamily="18" charset="0"/>
                <a:cs typeface="Courier New" pitchFamily="49" charset="0"/>
              </a:rPr>
              <a:t>'</a:t>
            </a:r>
            <a:r>
              <a:rPr lang="en-US" sz="1800" dirty="0">
                <a:latin typeface="Courier New" pitchFamily="49" charset="0"/>
                <a:cs typeface="Arial" charset="0"/>
              </a:rPr>
              <a:t>b100_010};</a:t>
            </a: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800" b="1" dirty="0">
                <a:latin typeface="Courier New" pitchFamily="49" charset="0"/>
                <a:cs typeface="Arial" charset="0"/>
              </a:rPr>
              <a:t>// if y is a 12-bit signal, the above statement produces: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y = a[2] a[1] b[0] b[0] b[0] a[0] 1 0 0 0 1 0</a:t>
            </a: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// underscores (_) are used for formatting only to make it easier to read</a:t>
            </a:r>
            <a:r>
              <a:rPr lang="en-US" sz="1800">
                <a:latin typeface="Courier New" pitchFamily="49" charset="0"/>
                <a:cs typeface="Arial" charset="0"/>
              </a:rPr>
              <a:t>. Verilog </a:t>
            </a:r>
            <a:r>
              <a:rPr lang="en-US" sz="1800" dirty="0">
                <a:latin typeface="Courier New" pitchFamily="49" charset="0"/>
                <a:cs typeface="Arial" charset="0"/>
              </a:rPr>
              <a:t>ignores them.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Bit Manipulations: Example 1</a:t>
            </a:r>
          </a:p>
        </p:txBody>
      </p:sp>
    </p:spTree>
    <p:extLst>
      <p:ext uri="{BB962C8B-B14F-4D97-AF65-F5344CB8AC3E}">
        <p14:creationId xmlns:p14="http://schemas.microsoft.com/office/powerpoint/2010/main" val="74208486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88836" name="Rectangle 4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914400" y="1219200"/>
            <a:ext cx="7696200" cy="4953000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module mux2_8(input [7:0] d0, d1,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input  s,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output [7:0] y);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mux2 </a:t>
            </a:r>
            <a:r>
              <a:rPr lang="en-US" sz="1600" dirty="0" err="1">
                <a:latin typeface="Courier New" pitchFamily="49" charset="0"/>
              </a:rPr>
              <a:t>lsbmux</a:t>
            </a:r>
            <a:r>
              <a:rPr lang="en-US" sz="1600" dirty="0">
                <a:latin typeface="Courier New" pitchFamily="49" charset="0"/>
              </a:rPr>
              <a:t>(d0[3:0], d1[3:0], s, y[3:0]);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mux2 </a:t>
            </a:r>
            <a:r>
              <a:rPr lang="en-US" sz="1600" dirty="0" err="1">
                <a:latin typeface="Courier New" pitchFamily="49" charset="0"/>
              </a:rPr>
              <a:t>msbmux</a:t>
            </a:r>
            <a:r>
              <a:rPr lang="en-US" sz="1600" dirty="0">
                <a:latin typeface="Courier New" pitchFamily="49" charset="0"/>
              </a:rPr>
              <a:t>(d0[7:4], d1[7:4], s, y[7:4]);</a:t>
            </a: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endmodule</a:t>
            </a: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</p:txBody>
      </p:sp>
      <p:graphicFrame>
        <p:nvGraphicFramePr>
          <p:cNvPr id="888837" name="Object 5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497047407"/>
              </p:ext>
            </p:extLst>
          </p:nvPr>
        </p:nvGraphicFramePr>
        <p:xfrm>
          <a:off x="2492375" y="3392487"/>
          <a:ext cx="4137025" cy="300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332800" imgH="1695600" progId="Visio.Drawing.6">
                  <p:embed/>
                </p:oleObj>
              </mc:Choice>
              <mc:Fallback>
                <p:oleObj name="VISIO" r:id="rId7" imgW="2332800" imgH="16956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3392487"/>
                        <a:ext cx="4137025" cy="300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Bit Manipulations: Example 2</a:t>
            </a:r>
          </a:p>
        </p:txBody>
      </p:sp>
      <p:sp>
        <p:nvSpPr>
          <p:cNvPr id="8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081087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/>
              <a:t>Verilog:</a:t>
            </a:r>
          </a:p>
        </p:txBody>
      </p:sp>
    </p:spTree>
    <p:extLst>
      <p:ext uri="{BB962C8B-B14F-4D97-AF65-F5344CB8AC3E}">
        <p14:creationId xmlns:p14="http://schemas.microsoft.com/office/powerpoint/2010/main" val="343948381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89863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11847893"/>
              </p:ext>
            </p:extLst>
          </p:nvPr>
        </p:nvGraphicFramePr>
        <p:xfrm>
          <a:off x="2057400" y="4290646"/>
          <a:ext cx="5638800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332800" imgH="576360" progId="Visio.Drawing.6">
                  <p:embed/>
                </p:oleObj>
              </mc:Choice>
              <mc:Fallback>
                <p:oleObj name="VISIO" r:id="rId7" imgW="2332800" imgH="5763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290646"/>
                        <a:ext cx="5638800" cy="139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986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tristate</a:t>
            </a:r>
            <a:r>
              <a:rPr lang="en-US" sz="1800" dirty="0">
                <a:latin typeface="Courier New" pitchFamily="49" charset="0"/>
                <a:cs typeface="Arial" charset="0"/>
              </a:rPr>
              <a:t>(input [3:0] a,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 input  en,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 output [3:0] y);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assign y = en ? a : 4'bz;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0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Z: Floating Output</a:t>
            </a:r>
          </a:p>
        </p:txBody>
      </p:sp>
      <p:sp>
        <p:nvSpPr>
          <p:cNvPr id="8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081087"/>
            <a:ext cx="426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/>
              <a:t>Verilog:</a:t>
            </a:r>
          </a:p>
        </p:txBody>
      </p:sp>
    </p:spTree>
    <p:extLst>
      <p:ext uri="{BB962C8B-B14F-4D97-AF65-F5344CB8AC3E}">
        <p14:creationId xmlns:p14="http://schemas.microsoft.com/office/powerpoint/2010/main" val="426038491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9600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305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General Structure:</a:t>
            </a:r>
          </a:p>
          <a:p>
            <a:pPr marL="342900" indent="-342900">
              <a:spcBef>
                <a:spcPct val="20000"/>
              </a:spcBef>
            </a:pPr>
            <a:endParaRPr lang="en-US" sz="2400" b="1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	</a:t>
            </a:r>
            <a:r>
              <a:rPr lang="en-US" sz="2600" dirty="0">
                <a:latin typeface="Courier New" pitchFamily="49" charset="0"/>
                <a:cs typeface="Arial" charset="0"/>
              </a:rPr>
              <a:t>always @(sensitivity list)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600" dirty="0">
                <a:latin typeface="Courier New" pitchFamily="49" charset="0"/>
                <a:cs typeface="Arial" charset="0"/>
              </a:rPr>
              <a:t>	  statement;</a:t>
            </a: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600" dirty="0">
                <a:latin typeface="Times New Roman" pitchFamily="18" charset="0"/>
                <a:cs typeface="Arial" charset="0"/>
              </a:rPr>
              <a:t>Whenever the event in </a:t>
            </a:r>
            <a:r>
              <a:rPr lang="en-US" sz="2600" dirty="0">
                <a:latin typeface="Courier New" pitchFamily="49" charset="0"/>
                <a:cs typeface="Arial" charset="0"/>
              </a:rPr>
              <a:t>sensitivity list</a:t>
            </a:r>
            <a:r>
              <a:rPr lang="en-US" sz="2600" dirty="0">
                <a:latin typeface="Times New Roman" pitchFamily="18" charset="0"/>
                <a:cs typeface="Arial" charset="0"/>
              </a:rPr>
              <a:t> occurs, </a:t>
            </a:r>
            <a:r>
              <a:rPr lang="en-US" sz="2600" dirty="0">
                <a:latin typeface="Courier New" pitchFamily="49" charset="0"/>
                <a:cs typeface="Arial" charset="0"/>
              </a:rPr>
              <a:t>statement</a:t>
            </a:r>
            <a:r>
              <a:rPr lang="en-US" sz="2600" dirty="0">
                <a:latin typeface="Times New Roman" pitchFamily="18" charset="0"/>
                <a:cs typeface="Arial" charset="0"/>
              </a:rPr>
              <a:t> is executed</a:t>
            </a:r>
          </a:p>
        </p:txBody>
      </p:sp>
      <p:sp>
        <p:nvSpPr>
          <p:cNvPr id="89600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22823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Always Statement</a:t>
            </a:r>
          </a:p>
        </p:txBody>
      </p:sp>
    </p:spTree>
    <p:extLst>
      <p:ext uri="{BB962C8B-B14F-4D97-AF65-F5344CB8AC3E}">
        <p14:creationId xmlns:p14="http://schemas.microsoft.com/office/powerpoint/2010/main" val="282914939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21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219200"/>
            <a:ext cx="78486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module flop(input       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 </a:t>
            </a:r>
          </a:p>
          <a:p>
            <a:r>
              <a:rPr lang="en-US" sz="1800" dirty="0">
                <a:latin typeface="Courier New" pitchFamily="49" charset="0"/>
              </a:rPr>
              <a:t>            input  [3:0] d, </a:t>
            </a:r>
          </a:p>
          <a:p>
            <a:r>
              <a:rPr lang="en-US" sz="1800" dirty="0">
                <a:latin typeface="Courier New" pitchFamily="49" charset="0"/>
              </a:rPr>
              <a:t>            output [3:0] q);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always@(</a:t>
            </a:r>
            <a:r>
              <a:rPr lang="en-US" sz="1800" dirty="0" err="1">
                <a:latin typeface="Courier New" pitchFamily="49" charset="0"/>
              </a:rPr>
              <a:t>posedge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r>
              <a:rPr lang="en-US" sz="1800" dirty="0">
                <a:latin typeface="Courier New" pitchFamily="49" charset="0"/>
              </a:rPr>
              <a:t>    q &lt;= d;                // pronounced “q gets d”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</p:txBody>
      </p:sp>
      <p:pic>
        <p:nvPicPr>
          <p:cNvPr id="862213" name="Picture 5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168775"/>
            <a:ext cx="4808538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27869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D Flip-Flop</a:t>
            </a:r>
          </a:p>
        </p:txBody>
      </p:sp>
    </p:spTree>
    <p:extLst>
      <p:ext uri="{BB962C8B-B14F-4D97-AF65-F5344CB8AC3E}">
        <p14:creationId xmlns:p14="http://schemas.microsoft.com/office/powerpoint/2010/main" val="177660694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4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066800"/>
            <a:ext cx="8458200" cy="31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module </a:t>
            </a:r>
            <a:r>
              <a:rPr lang="en-US" sz="1800" dirty="0" err="1">
                <a:latin typeface="Courier New" pitchFamily="49" charset="0"/>
              </a:rPr>
              <a:t>flopr</a:t>
            </a:r>
            <a:r>
              <a:rPr lang="en-US" sz="1800" dirty="0">
                <a:latin typeface="Courier New" pitchFamily="49" charset="0"/>
              </a:rPr>
              <a:t>(input 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</a:t>
            </a:r>
          </a:p>
          <a:p>
            <a:r>
              <a:rPr lang="en-US" sz="1800" dirty="0">
                <a:latin typeface="Courier New" pitchFamily="49" charset="0"/>
              </a:rPr>
              <a:t>             input  reset, </a:t>
            </a:r>
          </a:p>
          <a:p>
            <a:r>
              <a:rPr lang="en-US" sz="1800" dirty="0">
                <a:latin typeface="Courier New" pitchFamily="49" charset="0"/>
              </a:rPr>
              <a:t>             input [3:0] d, </a:t>
            </a:r>
          </a:p>
          <a:p>
            <a:r>
              <a:rPr lang="en-US" sz="1800" dirty="0">
                <a:latin typeface="Courier New" pitchFamily="49" charset="0"/>
              </a:rPr>
              <a:t>             output [3:0] q);</a:t>
            </a:r>
          </a:p>
          <a:p>
            <a:r>
              <a:rPr lang="en-US" sz="1800" dirty="0">
                <a:latin typeface="Courier New" pitchFamily="49" charset="0"/>
              </a:rPr>
              <a:t> </a:t>
            </a:r>
          </a:p>
          <a:p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>
                <a:latin typeface="Courier New" pitchFamily="49" charset="0"/>
              </a:rPr>
              <a:t>// synchronous reset</a:t>
            </a:r>
          </a:p>
          <a:p>
            <a:r>
              <a:rPr lang="en-US" sz="1800" dirty="0">
                <a:latin typeface="Courier New" pitchFamily="49" charset="0"/>
              </a:rPr>
              <a:t>  always@(</a:t>
            </a:r>
            <a:r>
              <a:rPr lang="en-US" sz="1800" dirty="0" err="1">
                <a:latin typeface="Courier New" pitchFamily="49" charset="0"/>
              </a:rPr>
              <a:t>posedge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r>
              <a:rPr lang="en-US" sz="1800" dirty="0">
                <a:latin typeface="Courier New" pitchFamily="49" charset="0"/>
              </a:rPr>
              <a:t>    if (reset) q &lt;= 4'b0;</a:t>
            </a:r>
          </a:p>
          <a:p>
            <a:r>
              <a:rPr lang="en-US" sz="1800" dirty="0">
                <a:latin typeface="Courier New" pitchFamily="49" charset="0"/>
              </a:rPr>
              <a:t>    else       q &lt;= d;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1800" dirty="0">
              <a:latin typeface="Courier New" pitchFamily="49" charset="0"/>
            </a:endParaRPr>
          </a:p>
        </p:txBody>
      </p:sp>
      <p:graphicFrame>
        <p:nvGraphicFramePr>
          <p:cNvPr id="863237" name="Object 5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47454300"/>
              </p:ext>
            </p:extLst>
          </p:nvPr>
        </p:nvGraphicFramePr>
        <p:xfrm>
          <a:off x="1905000" y="4343400"/>
          <a:ext cx="640080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332800" imgH="560520" progId="Visio.Drawing.6">
                  <p:embed/>
                </p:oleObj>
              </mc:Choice>
              <mc:Fallback>
                <p:oleObj name="VISIO" r:id="rId6" imgW="2332800" imgH="560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343400"/>
                        <a:ext cx="6400800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323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Resettable D Flip-Flop</a:t>
            </a:r>
          </a:p>
        </p:txBody>
      </p:sp>
    </p:spTree>
    <p:extLst>
      <p:ext uri="{BB962C8B-B14F-4D97-AF65-F5344CB8AC3E}">
        <p14:creationId xmlns:p14="http://schemas.microsoft.com/office/powerpoint/2010/main" val="390909496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8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066800"/>
            <a:ext cx="8458200" cy="338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module </a:t>
            </a:r>
            <a:r>
              <a:rPr lang="en-US" sz="1800" dirty="0" err="1">
                <a:latin typeface="Courier New" pitchFamily="49" charset="0"/>
              </a:rPr>
              <a:t>flopr</a:t>
            </a:r>
            <a:r>
              <a:rPr lang="en-US" sz="1800" dirty="0">
                <a:latin typeface="Courier New" pitchFamily="49" charset="0"/>
              </a:rPr>
              <a:t>(input 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</a:t>
            </a:r>
          </a:p>
          <a:p>
            <a:r>
              <a:rPr lang="en-US" sz="1800" dirty="0">
                <a:latin typeface="Courier New" pitchFamily="49" charset="0"/>
              </a:rPr>
              <a:t>             input  reset, </a:t>
            </a:r>
          </a:p>
          <a:p>
            <a:r>
              <a:rPr lang="en-US" sz="1800" dirty="0">
                <a:latin typeface="Courier New" pitchFamily="49" charset="0"/>
              </a:rPr>
              <a:t>             input [3:0] d, </a:t>
            </a:r>
          </a:p>
          <a:p>
            <a:r>
              <a:rPr lang="en-US" sz="1800" dirty="0">
                <a:latin typeface="Courier New" pitchFamily="49" charset="0"/>
              </a:rPr>
              <a:t>             output [3:0] q);</a:t>
            </a:r>
          </a:p>
          <a:p>
            <a:r>
              <a:rPr lang="en-US" sz="1800" dirty="0">
                <a:latin typeface="Courier New" pitchFamily="49" charset="0"/>
              </a:rPr>
              <a:t>   </a:t>
            </a:r>
          </a:p>
          <a:p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>
                <a:latin typeface="Courier New" pitchFamily="49" charset="0"/>
              </a:rPr>
              <a:t>// asynchronous reset</a:t>
            </a:r>
          </a:p>
          <a:p>
            <a:r>
              <a:rPr lang="en-US" sz="1800" dirty="0">
                <a:latin typeface="Courier New" pitchFamily="49" charset="0"/>
              </a:rPr>
              <a:t>  always @(</a:t>
            </a:r>
            <a:r>
              <a:rPr lang="en-US" sz="1800" dirty="0" err="1">
                <a:latin typeface="Courier New" pitchFamily="49" charset="0"/>
              </a:rPr>
              <a:t>posedge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posedge</a:t>
            </a:r>
            <a:r>
              <a:rPr lang="en-US" sz="1800" dirty="0">
                <a:latin typeface="Courier New" pitchFamily="49" charset="0"/>
              </a:rPr>
              <a:t> reset)</a:t>
            </a:r>
          </a:p>
          <a:p>
            <a:r>
              <a:rPr lang="en-US" sz="1800" dirty="0">
                <a:latin typeface="Courier New" pitchFamily="49" charset="0"/>
              </a:rPr>
              <a:t>    if (reset) q &lt;= 4'b0;</a:t>
            </a:r>
          </a:p>
          <a:p>
            <a:r>
              <a:rPr lang="en-US" sz="1800" dirty="0">
                <a:latin typeface="Courier New" pitchFamily="49" charset="0"/>
              </a:rPr>
              <a:t>    else       q &lt;= d;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</p:txBody>
      </p:sp>
      <p:graphicFrame>
        <p:nvGraphicFramePr>
          <p:cNvPr id="864260" name="Object 4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88059920"/>
              </p:ext>
            </p:extLst>
          </p:nvPr>
        </p:nvGraphicFramePr>
        <p:xfrm>
          <a:off x="1600200" y="4267200"/>
          <a:ext cx="624840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332800" imgH="653040" progId="Visio.Drawing.6">
                  <p:embed/>
                </p:oleObj>
              </mc:Choice>
              <mc:Fallback>
                <p:oleObj name="VISIO" r:id="rId6" imgW="2332800" imgH="6530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267200"/>
                        <a:ext cx="6248400" cy="167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426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Resettable D Flip-Flop</a:t>
            </a:r>
          </a:p>
        </p:txBody>
      </p:sp>
    </p:spTree>
    <p:extLst>
      <p:ext uri="{BB962C8B-B14F-4D97-AF65-F5344CB8AC3E}">
        <p14:creationId xmlns:p14="http://schemas.microsoft.com/office/powerpoint/2010/main" val="376801915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2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066800"/>
            <a:ext cx="8458200" cy="366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module </a:t>
            </a:r>
            <a:r>
              <a:rPr lang="en-US" sz="1800" dirty="0" err="1">
                <a:latin typeface="Courier New" pitchFamily="49" charset="0"/>
              </a:rPr>
              <a:t>flopren</a:t>
            </a:r>
            <a:r>
              <a:rPr lang="en-US" sz="1800" dirty="0">
                <a:latin typeface="Courier New" pitchFamily="49" charset="0"/>
              </a:rPr>
              <a:t>(input 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</a:t>
            </a:r>
          </a:p>
          <a:p>
            <a:r>
              <a:rPr lang="en-US" sz="1800" dirty="0">
                <a:latin typeface="Courier New" pitchFamily="49" charset="0"/>
              </a:rPr>
              <a:t>               input  reset, </a:t>
            </a:r>
          </a:p>
          <a:p>
            <a:r>
              <a:rPr lang="en-US" sz="1800" dirty="0">
                <a:latin typeface="Courier New" pitchFamily="49" charset="0"/>
              </a:rPr>
              <a:t>               input  en, </a:t>
            </a:r>
          </a:p>
          <a:p>
            <a:r>
              <a:rPr lang="en-US" sz="1800" dirty="0">
                <a:latin typeface="Courier New" pitchFamily="49" charset="0"/>
              </a:rPr>
              <a:t>               input [3:0] d, </a:t>
            </a:r>
          </a:p>
          <a:p>
            <a:r>
              <a:rPr lang="en-US" sz="1800" dirty="0">
                <a:latin typeface="Courier New" pitchFamily="49" charset="0"/>
              </a:rPr>
              <a:t>               output [3:0] q);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>
                <a:latin typeface="Courier New" pitchFamily="49" charset="0"/>
              </a:rPr>
              <a:t>// asynchronous reset and enable </a:t>
            </a:r>
          </a:p>
          <a:p>
            <a:r>
              <a:rPr lang="en-US" sz="1800" dirty="0">
                <a:latin typeface="Courier New" pitchFamily="49" charset="0"/>
              </a:rPr>
              <a:t>  always@(</a:t>
            </a:r>
            <a:r>
              <a:rPr lang="en-US" sz="1800" dirty="0" err="1">
                <a:latin typeface="Courier New" pitchFamily="49" charset="0"/>
              </a:rPr>
              <a:t>posedge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posedge</a:t>
            </a:r>
            <a:r>
              <a:rPr lang="en-US" sz="1800" dirty="0">
                <a:latin typeface="Courier New" pitchFamily="49" charset="0"/>
              </a:rPr>
              <a:t> reset)</a:t>
            </a:r>
          </a:p>
          <a:p>
            <a:r>
              <a:rPr lang="en-US" sz="1800" dirty="0">
                <a:latin typeface="Courier New" pitchFamily="49" charset="0"/>
              </a:rPr>
              <a:t>    if      (reset) q &lt;= 4'b0;</a:t>
            </a:r>
          </a:p>
          <a:p>
            <a:r>
              <a:rPr lang="en-US" sz="1800" dirty="0">
                <a:latin typeface="Courier New" pitchFamily="49" charset="0"/>
              </a:rPr>
              <a:t>    else if (en)    q &lt;= d;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 err="1">
                <a:latin typeface="Courier New" pitchFamily="49" charset="0"/>
              </a:rPr>
              <a:t>endmodule</a:t>
            </a:r>
            <a:r>
              <a:rPr lang="en-US" sz="1800" dirty="0">
                <a:latin typeface="Courier New" pitchFamily="49" charset="0"/>
              </a:rPr>
              <a:t> </a:t>
            </a:r>
          </a:p>
          <a:p>
            <a:endParaRPr lang="en-US" sz="1800" dirty="0">
              <a:latin typeface="Courier New" pitchFamily="49" charset="0"/>
            </a:endParaRPr>
          </a:p>
        </p:txBody>
      </p:sp>
      <p:sp>
        <p:nvSpPr>
          <p:cNvPr id="86528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pic>
        <p:nvPicPr>
          <p:cNvPr id="865285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267200"/>
            <a:ext cx="6095312" cy="178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62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D Flip-Flop with Enable</a:t>
            </a:r>
          </a:p>
        </p:txBody>
      </p:sp>
    </p:spTree>
    <p:extLst>
      <p:ext uri="{BB962C8B-B14F-4D97-AF65-F5344CB8AC3E}">
        <p14:creationId xmlns:p14="http://schemas.microsoft.com/office/powerpoint/2010/main" val="316140584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6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7200" y="1185863"/>
            <a:ext cx="8458200" cy="512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module latch(input           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, </a:t>
            </a:r>
          </a:p>
          <a:p>
            <a:r>
              <a:rPr lang="en-US" sz="1800" dirty="0">
                <a:latin typeface="Courier New" pitchFamily="49" charset="0"/>
              </a:rPr>
              <a:t>             input      [3:0] d, </a:t>
            </a:r>
          </a:p>
          <a:p>
            <a:r>
              <a:rPr lang="en-US" sz="1800" dirty="0">
                <a:latin typeface="Courier New" pitchFamily="49" charset="0"/>
              </a:rPr>
              <a:t>             output </a:t>
            </a:r>
            <a:r>
              <a:rPr lang="en-US" sz="1800" dirty="0" err="1">
                <a:latin typeface="Courier New" pitchFamily="49" charset="0"/>
              </a:rPr>
              <a:t>reg</a:t>
            </a:r>
            <a:r>
              <a:rPr lang="en-US" sz="1800" dirty="0">
                <a:latin typeface="Courier New" pitchFamily="49" charset="0"/>
              </a:rPr>
              <a:t> [3:0] q);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  always@(*)</a:t>
            </a:r>
          </a:p>
          <a:p>
            <a:r>
              <a:rPr lang="en-US" sz="1800" dirty="0">
                <a:latin typeface="Courier New" pitchFamily="49" charset="0"/>
              </a:rPr>
              <a:t>    if (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) q &lt;= d;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 err="1">
                <a:latin typeface="Courier New" pitchFamily="49" charset="0"/>
              </a:rPr>
              <a:t>endmodule</a:t>
            </a:r>
            <a:endParaRPr lang="en-US" sz="2000" dirty="0">
              <a:latin typeface="Times New Roman" pitchFamily="18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2000" b="1" dirty="0">
                <a:latin typeface="Times New Roman" pitchFamily="18" charset="0"/>
              </a:rPr>
              <a:t>Warning</a:t>
            </a:r>
            <a:r>
              <a:rPr lang="en-US" sz="2000" dirty="0">
                <a:latin typeface="Times New Roman" pitchFamily="18" charset="0"/>
              </a:rPr>
              <a:t>: We don’t use latches in this text. But you might write code that inadvertently implies a latch. Check synthesized hardware – if it has latches</a:t>
            </a:r>
          </a:p>
          <a:p>
            <a:r>
              <a:rPr lang="en-US" sz="2000" dirty="0">
                <a:latin typeface="Times New Roman" pitchFamily="18" charset="0"/>
              </a:rPr>
              <a:t>in it, there’s an error.</a:t>
            </a:r>
          </a:p>
          <a:p>
            <a:endParaRPr lang="en-US" sz="1800" dirty="0">
              <a:latin typeface="Courier New" pitchFamily="49" charset="0"/>
            </a:endParaRPr>
          </a:p>
        </p:txBody>
      </p:sp>
      <p:graphicFrame>
        <p:nvGraphicFramePr>
          <p:cNvPr id="866308" name="Object 4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44345710"/>
              </p:ext>
            </p:extLst>
          </p:nvPr>
        </p:nvGraphicFramePr>
        <p:xfrm>
          <a:off x="2971800" y="3429000"/>
          <a:ext cx="5432425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332800" imgH="648360" progId="Visio.Drawing.6">
                  <p:embed/>
                </p:oleObj>
              </mc:Choice>
              <mc:Fallback>
                <p:oleObj name="VISIO" r:id="rId5" imgW="2332800" imgH="6483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429000"/>
                        <a:ext cx="5432425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39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Latch</a:t>
            </a:r>
          </a:p>
        </p:txBody>
      </p:sp>
    </p:spTree>
    <p:extLst>
      <p:ext uri="{BB962C8B-B14F-4D97-AF65-F5344CB8AC3E}">
        <p14:creationId xmlns:p14="http://schemas.microsoft.com/office/powerpoint/2010/main" val="159362712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6733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Statements that must be inside </a:t>
            </a:r>
            <a:r>
              <a:rPr lang="en-US" sz="3200" dirty="0">
                <a:latin typeface="Courier New" pitchFamily="49" charset="0"/>
                <a:cs typeface="Arial" charset="0"/>
              </a:rPr>
              <a:t>always</a:t>
            </a:r>
            <a:r>
              <a:rPr lang="en-US" sz="3200" dirty="0">
                <a:latin typeface="Times New Roman" pitchFamily="18" charset="0"/>
                <a:cs typeface="Arial" charset="0"/>
              </a:rPr>
              <a:t> statements: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Arial" charset="0"/>
              </a:rPr>
              <a:t>if</a:t>
            </a:r>
            <a:r>
              <a:rPr lang="en-US" sz="2600" dirty="0">
                <a:latin typeface="Times New Roman" pitchFamily="18" charset="0"/>
                <a:cs typeface="Arial" charset="0"/>
              </a:rPr>
              <a:t> / </a:t>
            </a:r>
            <a:r>
              <a:rPr lang="en-US" sz="2600" dirty="0">
                <a:latin typeface="Courier New" pitchFamily="49" charset="0"/>
                <a:cs typeface="Arial" charset="0"/>
              </a:rPr>
              <a:t>else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Arial" charset="0"/>
              </a:rPr>
              <a:t>case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casez</a:t>
            </a:r>
            <a:endParaRPr lang="en-US" sz="2600" dirty="0">
              <a:latin typeface="Courier New" pitchFamily="49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Other Behavioral Statements</a:t>
            </a:r>
          </a:p>
        </p:txBody>
      </p:sp>
    </p:spTree>
    <p:extLst>
      <p:ext uri="{BB962C8B-B14F-4D97-AF65-F5344CB8AC3E}">
        <p14:creationId xmlns:p14="http://schemas.microsoft.com/office/powerpoint/2010/main" val="129037040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6835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// combinational logic using an always statement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gates(input      [3:0] a, b,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output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reg</a:t>
            </a:r>
            <a:r>
              <a:rPr lang="en-US" sz="1800" dirty="0">
                <a:latin typeface="Courier New" pitchFamily="49" charset="0"/>
                <a:cs typeface="Arial" charset="0"/>
              </a:rPr>
              <a:t> [3:0] y1, y2, y3, y4, y5);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always@(*)       // need begin/end because there is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begin            // more than one statement in always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y1 = a &amp; b;    // AND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y2 = a | b;    // OR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y3 = a ^ b;    // XOR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y4 = ~(a &amp; b); // NAND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y5 = ~(a | b); // NOR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end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1000" dirty="0">
              <a:latin typeface="Courier New" pitchFamily="49" charset="0"/>
              <a:cs typeface="Arial" charset="0"/>
            </a:endParaRPr>
          </a:p>
          <a:p>
            <a:pPr indent="-342900">
              <a:spcBef>
                <a:spcPct val="20000"/>
              </a:spcBef>
            </a:pPr>
            <a:r>
              <a:rPr lang="en-US" sz="2000" b="1" dirty="0">
                <a:latin typeface="Times New Roman" pitchFamily="18" charset="0"/>
                <a:cs typeface="Arial" charset="0"/>
              </a:rPr>
              <a:t>This hardware could be described with assign statements using fewer lines of code, so it’s better to use assign statements in this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Combinational Logic using always</a:t>
            </a:r>
          </a:p>
        </p:txBody>
      </p:sp>
    </p:spTree>
    <p:extLst>
      <p:ext uri="{BB962C8B-B14F-4D97-AF65-F5344CB8AC3E}">
        <p14:creationId xmlns:p14="http://schemas.microsoft.com/office/powerpoint/2010/main" val="208715911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6938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0668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module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sevenseg</a:t>
            </a:r>
            <a:r>
              <a:rPr lang="en-US" sz="1500" dirty="0">
                <a:latin typeface="Courier New" pitchFamily="49" charset="0"/>
                <a:cs typeface="Arial" charset="0"/>
              </a:rPr>
              <a:t>(input      [3:0] data,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          output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reg</a:t>
            </a:r>
            <a:r>
              <a:rPr lang="en-US" sz="1500" dirty="0">
                <a:latin typeface="Courier New" pitchFamily="49" charset="0"/>
                <a:cs typeface="Arial" charset="0"/>
              </a:rPr>
              <a:t> [6:0] segments);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always@(*)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case (data)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//                   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abc_defg</a:t>
            </a:r>
            <a:r>
              <a:rPr lang="en-US" sz="1500" dirty="0">
                <a:latin typeface="Courier New" pitchFamily="49" charset="0"/>
                <a:cs typeface="Arial" charset="0"/>
              </a:rPr>
              <a:t>    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0: segments =       7'b111_1110;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1: segments =       7'b011_0000;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2: segments =       7'b110_1101;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3: segments =       7'b111_1001;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4: segments =       7'b011_0011;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5: segments =       7'b101_1011;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6: segments =       7'b101_1111;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7: segments =       7'b111_0000;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8: segments =       7'b111_1111;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9: segments =       7'b111_0011;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  default: segments = 7'b000_0000; </a:t>
            </a:r>
            <a:r>
              <a:rPr lang="en-US" sz="1500" b="1" dirty="0">
                <a:latin typeface="Courier New" pitchFamily="49" charset="0"/>
                <a:cs typeface="Arial" charset="0"/>
              </a:rPr>
              <a:t>// required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endcase</a:t>
            </a:r>
            <a:endParaRPr lang="en-US" sz="15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500" dirty="0" err="1">
                <a:latin typeface="Courier New" pitchFamily="49" charset="0"/>
                <a:cs typeface="Arial" charset="0"/>
              </a:rPr>
              <a:t>endmodule</a:t>
            </a: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Combinational Logic using case</a:t>
            </a:r>
          </a:p>
        </p:txBody>
      </p:sp>
    </p:spTree>
    <p:extLst>
      <p:ext uri="{BB962C8B-B14F-4D97-AF65-F5344CB8AC3E}">
        <p14:creationId xmlns:p14="http://schemas.microsoft.com/office/powerpoint/2010/main" val="349811108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9702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7724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Courier New" pitchFamily="49" charset="0"/>
                <a:cs typeface="Arial" charset="0"/>
              </a:rPr>
              <a:t>case </a:t>
            </a:r>
            <a:r>
              <a:rPr lang="en-US" sz="2800" dirty="0">
                <a:latin typeface="Times New Roman" pitchFamily="18" charset="0"/>
                <a:cs typeface="Arial" charset="0"/>
              </a:rPr>
              <a:t>statement  implies combinational logic </a:t>
            </a:r>
            <a:r>
              <a:rPr lang="en-US" sz="2800" b="1" dirty="0">
                <a:latin typeface="Times New Roman" pitchFamily="18" charset="0"/>
                <a:cs typeface="Arial" charset="0"/>
              </a:rPr>
              <a:t>only if</a:t>
            </a:r>
            <a:r>
              <a:rPr lang="en-US" sz="2800" dirty="0">
                <a:latin typeface="Times New Roman" pitchFamily="18" charset="0"/>
                <a:cs typeface="Arial" charset="0"/>
              </a:rPr>
              <a:t> all possible input combinations described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Remember to use </a:t>
            </a:r>
            <a:r>
              <a:rPr lang="en-US" sz="2800" b="1" dirty="0">
                <a:latin typeface="Courier New" pitchFamily="49" charset="0"/>
                <a:cs typeface="Arial" charset="0"/>
              </a:rPr>
              <a:t>default</a:t>
            </a:r>
            <a:r>
              <a:rPr lang="en-US" sz="2800" dirty="0">
                <a:latin typeface="Times New Roman" pitchFamily="18" charset="0"/>
                <a:cs typeface="Arial" charset="0"/>
              </a:rPr>
              <a:t>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Combinational Logic using </a:t>
            </a:r>
            <a:r>
              <a:rPr lang="en-US" sz="4400" dirty="0">
                <a:latin typeface="Courier New" pitchFamily="49" charset="0"/>
                <a:cs typeface="Courier New" pitchFamily="49" charset="0"/>
              </a:rPr>
              <a:t>case</a:t>
            </a:r>
          </a:p>
        </p:txBody>
      </p:sp>
    </p:spTree>
    <p:extLst>
      <p:ext uri="{BB962C8B-B14F-4D97-AF65-F5344CB8AC3E}">
        <p14:creationId xmlns:p14="http://schemas.microsoft.com/office/powerpoint/2010/main" val="222093297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7040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module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priority_casez</a:t>
            </a:r>
            <a:r>
              <a:rPr lang="en-US" sz="1800">
                <a:latin typeface="Courier New" pitchFamily="49" charset="0"/>
                <a:cs typeface="Arial" charset="0"/>
              </a:rPr>
              <a:t>(input      [</a:t>
            </a:r>
            <a:r>
              <a:rPr lang="en-US" sz="1800" dirty="0">
                <a:latin typeface="Courier New" pitchFamily="49" charset="0"/>
                <a:cs typeface="Arial" charset="0"/>
              </a:rPr>
              <a:t>3:0] a,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       output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reg</a:t>
            </a:r>
            <a:r>
              <a:rPr lang="en-US" sz="1800" dirty="0">
                <a:latin typeface="Courier New" pitchFamily="49" charset="0"/>
                <a:cs typeface="Arial" charset="0"/>
              </a:rPr>
              <a:t> [3:0] y);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always@(*)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  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casez</a:t>
            </a:r>
            <a:r>
              <a:rPr lang="en-US" sz="1800" dirty="0">
                <a:latin typeface="Courier New" pitchFamily="49" charset="0"/>
                <a:cs typeface="Arial" charset="0"/>
              </a:rPr>
              <a:t>(a)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4'b1???: y = 4'b1000;  </a:t>
            </a:r>
            <a:r>
              <a:rPr lang="en-US" sz="1800" b="1" dirty="0">
                <a:latin typeface="Courier New" pitchFamily="49" charset="0"/>
                <a:cs typeface="Arial" charset="0"/>
              </a:rPr>
              <a:t>// ? = don’t care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4'b01??: y = 4'b0100;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4'b001?: y = 4'b0010;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4'b0001: y = 4'b0001;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default: y = 4'b0000;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endcase</a:t>
            </a: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endmodule</a:t>
            </a:r>
            <a:r>
              <a:rPr lang="en-US" sz="1800" dirty="0">
                <a:latin typeface="Courier New" pitchFamily="49" charset="0"/>
                <a:cs typeface="Arial" charset="0"/>
              </a:rPr>
              <a:t> </a:t>
            </a:r>
            <a:r>
              <a:rPr lang="en-US" sz="1700" dirty="0">
                <a:latin typeface="Courier New" pitchFamily="49" charset="0"/>
                <a:cs typeface="Arial" charset="0"/>
              </a:rPr>
              <a:t> </a:t>
            </a:r>
            <a:r>
              <a:rPr lang="en-US" sz="1800" dirty="0">
                <a:latin typeface="Courier New" pitchFamily="49" charset="0"/>
                <a:cs typeface="Arial" charset="0"/>
              </a:rPr>
              <a:t> </a:t>
            </a:r>
          </a:p>
        </p:txBody>
      </p:sp>
      <p:pic>
        <p:nvPicPr>
          <p:cNvPr id="870405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124200"/>
            <a:ext cx="2635250" cy="338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Combinational Logic using </a:t>
            </a:r>
            <a:r>
              <a:rPr lang="en-US" sz="4400" dirty="0" err="1">
                <a:latin typeface="+mj-lt"/>
              </a:rPr>
              <a:t>casez</a:t>
            </a:r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768120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063014"/>
            <a:ext cx="8229600" cy="4525963"/>
          </a:xfrm>
        </p:spPr>
        <p:txBody>
          <a:bodyPr>
            <a:normAutofit/>
          </a:bodyPr>
          <a:lstStyle/>
          <a:p>
            <a:r>
              <a:rPr lang="en-US" sz="3000" dirty="0"/>
              <a:t>&lt;= is </a:t>
            </a:r>
            <a:r>
              <a:rPr lang="en-US" sz="3000" b="1" dirty="0" err="1"/>
              <a:t>nonblocking</a:t>
            </a:r>
            <a:r>
              <a:rPr lang="en-US" sz="3000" dirty="0"/>
              <a:t> assignment</a:t>
            </a:r>
          </a:p>
          <a:p>
            <a:pPr lvl="1"/>
            <a:r>
              <a:rPr lang="en-US" sz="2400" dirty="0"/>
              <a:t>Occurs simultaneously with others</a:t>
            </a:r>
          </a:p>
          <a:p>
            <a:r>
              <a:rPr lang="en-US" sz="3000" dirty="0"/>
              <a:t>= is </a:t>
            </a:r>
            <a:r>
              <a:rPr lang="en-US" sz="3000" b="1" dirty="0"/>
              <a:t>blocking</a:t>
            </a:r>
            <a:r>
              <a:rPr lang="en-US" sz="3000" dirty="0"/>
              <a:t> assignment</a:t>
            </a:r>
          </a:p>
          <a:p>
            <a:pPr lvl="1"/>
            <a:r>
              <a:rPr lang="en-US" sz="2400" dirty="0"/>
              <a:t>Occurs in order it appears in file</a:t>
            </a:r>
          </a:p>
        </p:txBody>
      </p:sp>
      <p:pic>
        <p:nvPicPr>
          <p:cNvPr id="970756" name="Picture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5715000"/>
            <a:ext cx="2332038" cy="75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70758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2971800"/>
            <a:ext cx="3733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// Good synchronizer using 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//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nonblocking</a:t>
            </a:r>
            <a:r>
              <a:rPr lang="en-US" sz="1400" dirty="0">
                <a:latin typeface="Courier10 BT" pitchFamily="49" charset="0"/>
                <a:cs typeface="Arial" charset="0"/>
              </a:rPr>
              <a:t> assignments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module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syncgood</a:t>
            </a:r>
            <a:r>
              <a:rPr lang="en-US" sz="1400" dirty="0">
                <a:latin typeface="Courier10 BT" pitchFamily="49" charset="0"/>
                <a:cs typeface="Arial" charset="0"/>
              </a:rPr>
              <a:t>(input     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clk</a:t>
            </a:r>
            <a:r>
              <a:rPr lang="en-US" sz="1400" dirty="0">
                <a:latin typeface="Courier10 BT" pitchFamily="49" charset="0"/>
                <a:cs typeface="Arial" charset="0"/>
              </a:rPr>
              <a:t>,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          input      d,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          output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reg</a:t>
            </a:r>
            <a:r>
              <a:rPr lang="en-US" sz="1400" dirty="0">
                <a:latin typeface="Courier10 BT" pitchFamily="49" charset="0"/>
                <a:cs typeface="Arial" charset="0"/>
              </a:rPr>
              <a:t> q);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reg</a:t>
            </a:r>
            <a:r>
              <a:rPr lang="en-US" sz="1400" dirty="0">
                <a:latin typeface="Courier10 BT" pitchFamily="49" charset="0"/>
                <a:cs typeface="Arial" charset="0"/>
              </a:rPr>
              <a:t> n1;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always@(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posedge</a:t>
            </a:r>
            <a:r>
              <a:rPr lang="en-US" sz="1400" dirty="0">
                <a:latin typeface="Courier10 BT" pitchFamily="49" charset="0"/>
                <a:cs typeface="Arial" charset="0"/>
              </a:rPr>
              <a:t>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clk</a:t>
            </a:r>
            <a:r>
              <a:rPr lang="en-US" sz="1400" dirty="0">
                <a:latin typeface="Courier10 BT" pitchFamily="49" charset="0"/>
                <a:cs typeface="Arial" charset="0"/>
              </a:rPr>
              <a:t>)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begin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n1 &lt;= d;  //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nonblocking</a:t>
            </a:r>
            <a:endParaRPr lang="en-US" sz="1400" dirty="0">
              <a:latin typeface="Courier10 BT" pitchFamily="49" charset="0"/>
              <a:cs typeface="Arial" charset="0"/>
            </a:endParaRP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q  &lt;= n1; //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nonblocking</a:t>
            </a:r>
            <a:endParaRPr lang="en-US" sz="1400" dirty="0">
              <a:latin typeface="Courier10 BT" pitchFamily="49" charset="0"/>
              <a:cs typeface="Arial" charset="0"/>
            </a:endParaRP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end</a:t>
            </a:r>
          </a:p>
          <a:p>
            <a:pPr marL="342900" indent="-342900"/>
            <a:r>
              <a:rPr lang="en-US" sz="1400" dirty="0" err="1">
                <a:latin typeface="Courier10 BT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  <p:pic>
        <p:nvPicPr>
          <p:cNvPr id="970759" name="Picture 7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562600"/>
            <a:ext cx="2286000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70760" name="Rectangle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876800" y="2971800"/>
            <a:ext cx="36576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// Bad synchronizer using 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// blocking assignments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module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syncbad</a:t>
            </a:r>
            <a:r>
              <a:rPr lang="en-US" sz="1400" dirty="0">
                <a:latin typeface="Courier10 BT" pitchFamily="49" charset="0"/>
                <a:cs typeface="Arial" charset="0"/>
              </a:rPr>
              <a:t>(input     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clk</a:t>
            </a:r>
            <a:r>
              <a:rPr lang="en-US" sz="1400" dirty="0">
                <a:latin typeface="Courier10 BT" pitchFamily="49" charset="0"/>
                <a:cs typeface="Arial" charset="0"/>
              </a:rPr>
              <a:t>,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         input      d,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         output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reg</a:t>
            </a:r>
            <a:r>
              <a:rPr lang="en-US" sz="1400" dirty="0">
                <a:latin typeface="Courier10 BT" pitchFamily="49" charset="0"/>
                <a:cs typeface="Arial" charset="0"/>
              </a:rPr>
              <a:t> q);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reg</a:t>
            </a:r>
            <a:r>
              <a:rPr lang="en-US" sz="1400" dirty="0">
                <a:latin typeface="Courier10 BT" pitchFamily="49" charset="0"/>
                <a:cs typeface="Arial" charset="0"/>
              </a:rPr>
              <a:t> n1;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always@(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posedge</a:t>
            </a:r>
            <a:r>
              <a:rPr lang="en-US" sz="1400" dirty="0">
                <a:latin typeface="Courier10 BT" pitchFamily="49" charset="0"/>
                <a:cs typeface="Arial" charset="0"/>
              </a:rPr>
              <a:t> </a:t>
            </a:r>
            <a:r>
              <a:rPr lang="en-US" sz="1400" dirty="0" err="1">
                <a:latin typeface="Courier10 BT" pitchFamily="49" charset="0"/>
                <a:cs typeface="Arial" charset="0"/>
              </a:rPr>
              <a:t>clk</a:t>
            </a:r>
            <a:r>
              <a:rPr lang="en-US" sz="1400" dirty="0">
                <a:latin typeface="Courier10 BT" pitchFamily="49" charset="0"/>
                <a:cs typeface="Arial" charset="0"/>
              </a:rPr>
              <a:t>)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begin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n1 = d;  // blocking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  q  = n1; // blocking</a:t>
            </a:r>
          </a:p>
          <a:p>
            <a:pPr marL="342900" indent="-342900"/>
            <a:r>
              <a:rPr lang="en-US" sz="1400" dirty="0">
                <a:latin typeface="Courier10 BT" pitchFamily="49" charset="0"/>
                <a:cs typeface="Arial" charset="0"/>
              </a:rPr>
              <a:t>    end</a:t>
            </a:r>
          </a:p>
          <a:p>
            <a:pPr marL="342900" indent="-342900"/>
            <a:r>
              <a:rPr lang="en-US" sz="1400" dirty="0" err="1">
                <a:latin typeface="Courier10 BT" pitchFamily="49" charset="0"/>
                <a:cs typeface="Arial" charset="0"/>
              </a:rPr>
              <a:t>endmodule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68759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Blocking vs. </a:t>
            </a:r>
            <a:r>
              <a:rPr lang="en-US" sz="4000" dirty="0" err="1">
                <a:latin typeface="+mj-lt"/>
              </a:rPr>
              <a:t>Nonblocking</a:t>
            </a:r>
            <a:r>
              <a:rPr lang="en-US" sz="4000" dirty="0">
                <a:latin typeface="+mj-lt"/>
              </a:rPr>
              <a:t> Assignment</a:t>
            </a:r>
          </a:p>
        </p:txBody>
      </p:sp>
    </p:spTree>
    <p:extLst>
      <p:ext uri="{BB962C8B-B14F-4D97-AF65-F5344CB8AC3E}">
        <p14:creationId xmlns:p14="http://schemas.microsoft.com/office/powerpoint/2010/main" val="28731864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75524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14400" y="12954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2400" b="1" dirty="0"/>
              <a:t>2:1 mux: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module mux2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#(parameter width = 8)  // name and default value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(input  [width-1:0] d0, d1,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input              s,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output [width-1:0] y);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assign y = s ? d1 : d0; 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endmodule</a:t>
            </a:r>
            <a:r>
              <a:rPr lang="en-US" sz="1800" dirty="0">
                <a:latin typeface="Courier New" pitchFamily="49" charset="0"/>
              </a:rPr>
              <a:t> </a:t>
            </a: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400" b="1" dirty="0"/>
              <a:t>Instance with 8-bit bus width (uses default):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mux2 </a:t>
            </a:r>
            <a:r>
              <a:rPr lang="en-US" sz="1800" dirty="0" err="1">
                <a:latin typeface="Courier New" pitchFamily="49" charset="0"/>
              </a:rPr>
              <a:t>myMux</a:t>
            </a:r>
            <a:r>
              <a:rPr lang="en-US" sz="1800" dirty="0">
                <a:latin typeface="Courier New" pitchFamily="49" charset="0"/>
              </a:rPr>
              <a:t>(d0, d1, s, out);</a:t>
            </a:r>
            <a:endParaRPr lang="en-US" dirty="0"/>
          </a:p>
          <a:p>
            <a:pPr>
              <a:buFontTx/>
              <a:buNone/>
            </a:pPr>
            <a:endParaRPr lang="en-US" sz="1400" dirty="0"/>
          </a:p>
          <a:p>
            <a:pPr>
              <a:buFontTx/>
              <a:buNone/>
            </a:pPr>
            <a:r>
              <a:rPr lang="en-US" sz="2400" b="1" dirty="0"/>
              <a:t>Instance with 12-bit bus width: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	mux2 #(12) </a:t>
            </a:r>
            <a:r>
              <a:rPr lang="en-US" sz="1800" dirty="0" err="1">
                <a:latin typeface="Courier New" pitchFamily="49" charset="0"/>
              </a:rPr>
              <a:t>lowmux</a:t>
            </a:r>
            <a:r>
              <a:rPr lang="en-US" sz="1800" dirty="0">
                <a:latin typeface="Courier New" pitchFamily="49" charset="0"/>
              </a:rPr>
              <a:t>(d0, d1, s, out);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Parameterized Modules</a:t>
            </a:r>
          </a:p>
        </p:txBody>
      </p:sp>
    </p:spTree>
    <p:extLst>
      <p:ext uri="{BB962C8B-B14F-4D97-AF65-F5344CB8AC3E}">
        <p14:creationId xmlns:p14="http://schemas.microsoft.com/office/powerpoint/2010/main" val="358373965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99076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14400" y="1219200"/>
            <a:ext cx="7772400" cy="5181600"/>
          </a:xfrm>
        </p:spPr>
        <p:txBody>
          <a:bodyPr/>
          <a:lstStyle/>
          <a:p>
            <a:r>
              <a:rPr lang="en-US" dirty="0"/>
              <a:t>HDL that tests another module: </a:t>
            </a:r>
            <a:r>
              <a:rPr lang="en-US" i="1" dirty="0"/>
              <a:t>device under test</a:t>
            </a:r>
            <a:r>
              <a:rPr lang="en-US" dirty="0"/>
              <a:t> (</a:t>
            </a:r>
            <a:r>
              <a:rPr lang="en-US" dirty="0" err="1"/>
              <a:t>dut</a:t>
            </a:r>
            <a:r>
              <a:rPr lang="en-US" dirty="0"/>
              <a:t>)</a:t>
            </a:r>
          </a:p>
          <a:p>
            <a:r>
              <a:rPr lang="en-US" dirty="0"/>
              <a:t>Not </a:t>
            </a:r>
            <a:r>
              <a:rPr lang="en-US" dirty="0" err="1"/>
              <a:t>synthesizeable</a:t>
            </a:r>
            <a:endParaRPr lang="en-US" dirty="0"/>
          </a:p>
          <a:p>
            <a:r>
              <a:rPr lang="en-US" dirty="0"/>
              <a:t>Types:</a:t>
            </a:r>
          </a:p>
          <a:p>
            <a:pPr lvl="1"/>
            <a:r>
              <a:rPr lang="en-US" dirty="0"/>
              <a:t>Simple</a:t>
            </a:r>
          </a:p>
          <a:p>
            <a:pPr lvl="1"/>
            <a:r>
              <a:rPr lang="en-US" dirty="0"/>
              <a:t>Self-checking</a:t>
            </a:r>
          </a:p>
          <a:p>
            <a:pPr lvl="1"/>
            <a:r>
              <a:rPr lang="en-US" dirty="0"/>
              <a:t>Self-checking with </a:t>
            </a:r>
            <a:r>
              <a:rPr lang="en-US" dirty="0" err="1"/>
              <a:t>testvectors</a:t>
            </a:r>
            <a:r>
              <a:rPr lang="en-US"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latin typeface="+mj-lt"/>
              </a:rPr>
              <a:t>Testbenches</a:t>
            </a:r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833160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05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98052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144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/>
              <a:t>Write Verilog </a:t>
            </a:r>
            <a:r>
              <a:rPr lang="en-US" dirty="0"/>
              <a:t>code to implement the following function in hardware: </a:t>
            </a:r>
          </a:p>
          <a:p>
            <a:pPr>
              <a:buFontTx/>
              <a:buNone/>
            </a:pPr>
            <a:r>
              <a:rPr lang="en-US" dirty="0"/>
              <a:t>			</a:t>
            </a:r>
            <a:r>
              <a:rPr lang="en-US" sz="2600" dirty="0">
                <a:latin typeface="Courier New" pitchFamily="49" charset="0"/>
              </a:rPr>
              <a:t>y = </a:t>
            </a:r>
            <a:r>
              <a:rPr lang="en-US" sz="2600" dirty="0" err="1">
                <a:latin typeface="Courier New" pitchFamily="49" charset="0"/>
              </a:rPr>
              <a:t>bc</a:t>
            </a:r>
            <a:r>
              <a:rPr lang="en-US" sz="2600" dirty="0">
                <a:latin typeface="Courier New" pitchFamily="49" charset="0"/>
              </a:rPr>
              <a:t> + </a:t>
            </a:r>
            <a:r>
              <a:rPr lang="en-US" sz="2600" dirty="0" err="1">
                <a:latin typeface="Courier New" pitchFamily="49" charset="0"/>
              </a:rPr>
              <a:t>ab</a:t>
            </a:r>
            <a:endParaRPr lang="en-US" sz="2600" dirty="0">
              <a:latin typeface="Courier New" pitchFamily="49" charset="0"/>
            </a:endParaRPr>
          </a:p>
          <a:p>
            <a:r>
              <a:rPr lang="en-US" dirty="0"/>
              <a:t>Name the module </a:t>
            </a:r>
            <a:r>
              <a:rPr lang="en-US" dirty="0" err="1">
                <a:latin typeface="Courier New" pitchFamily="49" charset="0"/>
              </a:rPr>
              <a:t>sillyfunction</a:t>
            </a:r>
            <a:endParaRPr lang="en-US" dirty="0"/>
          </a:p>
        </p:txBody>
      </p:sp>
      <p:sp>
        <p:nvSpPr>
          <p:cNvPr id="898053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3581400" y="2514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8054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3886200" y="2514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8055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4800600" y="2514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latin typeface="+mj-lt"/>
              </a:rPr>
              <a:t>Testbench</a:t>
            </a:r>
            <a:r>
              <a:rPr lang="en-US" sz="4400" dirty="0">
                <a:latin typeface="+mj-lt"/>
              </a:rPr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151434824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05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98052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14400" y="1295400"/>
            <a:ext cx="7696200" cy="4953000"/>
          </a:xfrm>
        </p:spPr>
        <p:txBody>
          <a:bodyPr>
            <a:normAutofit/>
          </a:bodyPr>
          <a:lstStyle/>
          <a:p>
            <a:r>
              <a:rPr lang="en-US"/>
              <a:t>Write Verilog </a:t>
            </a:r>
            <a:r>
              <a:rPr lang="en-US" dirty="0"/>
              <a:t>code to implement the following function in hardware: </a:t>
            </a:r>
          </a:p>
          <a:p>
            <a:pPr>
              <a:buFontTx/>
              <a:buNone/>
            </a:pPr>
            <a:r>
              <a:rPr lang="en-US" dirty="0"/>
              <a:t>			</a:t>
            </a:r>
            <a:r>
              <a:rPr lang="en-US" sz="2600" dirty="0">
                <a:latin typeface="Courier New" pitchFamily="49" charset="0"/>
              </a:rPr>
              <a:t>y = </a:t>
            </a:r>
            <a:r>
              <a:rPr lang="en-US" sz="2600" dirty="0" err="1">
                <a:latin typeface="Courier New" pitchFamily="49" charset="0"/>
              </a:rPr>
              <a:t>bc</a:t>
            </a:r>
            <a:r>
              <a:rPr lang="en-US" sz="2600" dirty="0">
                <a:latin typeface="Courier New" pitchFamily="49" charset="0"/>
              </a:rPr>
              <a:t> + </a:t>
            </a:r>
            <a:r>
              <a:rPr lang="en-US" sz="2600" dirty="0" err="1">
                <a:latin typeface="Courier New" pitchFamily="49" charset="0"/>
              </a:rPr>
              <a:t>ab</a:t>
            </a:r>
            <a:endParaRPr lang="en-US" sz="2600" dirty="0">
              <a:latin typeface="Courier New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sz="2200" dirty="0">
                <a:latin typeface="Courier New" pitchFamily="49" charset="0"/>
              </a:rPr>
              <a:t>module </a:t>
            </a:r>
            <a:r>
              <a:rPr lang="en-US" sz="2200" dirty="0" err="1">
                <a:latin typeface="Courier New" pitchFamily="49" charset="0"/>
              </a:rPr>
              <a:t>sillyfunction</a:t>
            </a:r>
            <a:r>
              <a:rPr lang="en-US" sz="2200" dirty="0">
                <a:latin typeface="Courier New" pitchFamily="49" charset="0"/>
              </a:rPr>
              <a:t>(input  a, b, c, </a:t>
            </a:r>
          </a:p>
          <a:p>
            <a:pPr>
              <a:buFontTx/>
              <a:buNone/>
            </a:pPr>
            <a:r>
              <a:rPr lang="en-US" sz="2200" dirty="0">
                <a:latin typeface="Courier New" pitchFamily="49" charset="0"/>
              </a:rPr>
              <a:t>                     output y);</a:t>
            </a:r>
          </a:p>
          <a:p>
            <a:pPr>
              <a:buFontTx/>
              <a:buNone/>
            </a:pPr>
            <a:r>
              <a:rPr lang="en-US" sz="2200" dirty="0">
                <a:latin typeface="Courier New" pitchFamily="49" charset="0"/>
              </a:rPr>
              <a:t>  assign y = ~b &amp; ~c | a &amp; ~b;</a:t>
            </a:r>
          </a:p>
          <a:p>
            <a:pPr>
              <a:buFontTx/>
              <a:buNone/>
            </a:pPr>
            <a:r>
              <a:rPr lang="en-US" sz="2200" dirty="0" err="1">
                <a:latin typeface="Courier New" pitchFamily="49" charset="0"/>
              </a:rPr>
              <a:t>endmodule</a:t>
            </a:r>
            <a:endParaRPr lang="en-US" sz="2200" dirty="0">
              <a:latin typeface="Courier New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98053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3581400" y="2514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8054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3886200" y="2514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8055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4800600" y="2514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latin typeface="+mj-lt"/>
              </a:rPr>
              <a:t>Testbench</a:t>
            </a:r>
            <a:r>
              <a:rPr lang="en-US" sz="4400" dirty="0">
                <a:latin typeface="+mj-lt"/>
              </a:rPr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241262015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00100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1371600" y="1072662"/>
            <a:ext cx="5486400" cy="51816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module testbench1();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reg</a:t>
            </a:r>
            <a:r>
              <a:rPr lang="en-US" sz="1800" dirty="0">
                <a:latin typeface="Courier New" pitchFamily="49" charset="0"/>
              </a:rPr>
              <a:t>  a, b, c;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wire y;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>
                <a:latin typeface="Courier New" pitchFamily="49" charset="0"/>
              </a:rPr>
              <a:t>// instantiate device under test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sillyfunction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dut</a:t>
            </a:r>
            <a:r>
              <a:rPr lang="en-US" sz="1800" dirty="0">
                <a:latin typeface="Courier New" pitchFamily="49" charset="0"/>
              </a:rPr>
              <a:t>(a, b, c, y);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>
                <a:latin typeface="Courier New" pitchFamily="49" charset="0"/>
              </a:rPr>
              <a:t>// apply inputs one at a time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initial begin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a = 0; b = 0; c = 0; #10;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c = 1; #10;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b = 1; c = 0; #10;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c = 1; #10;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a = 1; b = 0; c = 0; #10;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c = 1; #10;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b = 1; c = 0; #10;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c = 1; #10;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end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endmodule</a:t>
            </a:r>
            <a:r>
              <a:rPr lang="en-US" sz="1800" dirty="0">
                <a:latin typeface="Courier New" pitchFamily="49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Simple </a:t>
            </a:r>
            <a:r>
              <a:rPr lang="en-US" sz="4400" dirty="0" err="1">
                <a:latin typeface="+mj-lt"/>
              </a:rPr>
              <a:t>Testbench</a:t>
            </a:r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13080192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01124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1676400" y="990600"/>
            <a:ext cx="6553200" cy="5181600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module testbench2();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</a:t>
            </a:r>
            <a:r>
              <a:rPr lang="en-US" sz="1300" dirty="0" err="1">
                <a:latin typeface="Courier New" pitchFamily="49" charset="0"/>
              </a:rPr>
              <a:t>reg</a:t>
            </a:r>
            <a:r>
              <a:rPr lang="en-US" sz="1300" dirty="0">
                <a:latin typeface="Courier New" pitchFamily="49" charset="0"/>
              </a:rPr>
              <a:t>  a, b, c;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wire y;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</a:t>
            </a:r>
            <a:r>
              <a:rPr lang="en-US" sz="1300" dirty="0" err="1">
                <a:latin typeface="Courier New" pitchFamily="49" charset="0"/>
              </a:rPr>
              <a:t>sillyfunction</a:t>
            </a:r>
            <a:r>
              <a:rPr lang="en-US" sz="1300" dirty="0">
                <a:latin typeface="Courier New" pitchFamily="49" charset="0"/>
              </a:rPr>
              <a:t> </a:t>
            </a:r>
            <a:r>
              <a:rPr lang="en-US" sz="1300" dirty="0" err="1">
                <a:latin typeface="Courier New" pitchFamily="49" charset="0"/>
              </a:rPr>
              <a:t>dut</a:t>
            </a:r>
            <a:r>
              <a:rPr lang="en-US" sz="1300" dirty="0">
                <a:latin typeface="Courier New" pitchFamily="49" charset="0"/>
              </a:rPr>
              <a:t>(a, b, c, y);  </a:t>
            </a:r>
            <a:r>
              <a:rPr lang="en-US" sz="1300" b="1" dirty="0">
                <a:latin typeface="Courier New" pitchFamily="49" charset="0"/>
              </a:rPr>
              <a:t>// instantiate </a:t>
            </a:r>
            <a:r>
              <a:rPr lang="en-US" sz="1300" b="1" dirty="0" err="1">
                <a:latin typeface="Courier New" pitchFamily="49" charset="0"/>
              </a:rPr>
              <a:t>dut</a:t>
            </a:r>
            <a:endParaRPr lang="en-US" sz="1300" b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initial begin </a:t>
            </a:r>
            <a:r>
              <a:rPr lang="en-US" sz="1300" b="1" dirty="0">
                <a:latin typeface="Courier New" pitchFamily="49" charset="0"/>
              </a:rPr>
              <a:t>// apply inputs, check results one at a time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a = 0; b = 0; c = 0; #10;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if (y !== 1) $display("000 failed.");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c = 1; #10;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if (y !== 0) $display("001 failed.");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b = 1; c = 0; #10;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if (y !== 0) $display("010 failed.");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c = 1; #10;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if (y !== 0) $display("011 failed.");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a = 1; b = 0; c = 0; #10;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if (y !== 1) $display("100 failed.");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c = 1; #10;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if (y !== 1) $display("101 failed.");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b = 1; c = 0; #10;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if (y !== 0) $display("110 failed.");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c = 1; #10;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  if (y !== 0) $display("111 failed.");</a:t>
            </a:r>
          </a:p>
          <a:p>
            <a:pPr>
              <a:buFontTx/>
              <a:buNone/>
            </a:pPr>
            <a:r>
              <a:rPr lang="en-US" sz="1300" dirty="0">
                <a:latin typeface="Courier New" pitchFamily="49" charset="0"/>
              </a:rPr>
              <a:t>  end</a:t>
            </a:r>
          </a:p>
          <a:p>
            <a:pPr>
              <a:buFontTx/>
              <a:buNone/>
            </a:pPr>
            <a:r>
              <a:rPr lang="en-US" sz="1300" dirty="0" err="1">
                <a:latin typeface="Courier New" pitchFamily="49" charset="0"/>
              </a:rPr>
              <a:t>endmodule</a:t>
            </a:r>
            <a:r>
              <a:rPr lang="en-US" sz="1300" dirty="0">
                <a:latin typeface="Courier New" pitchFamily="49" charset="0"/>
              </a:rPr>
              <a:t>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Self-checking </a:t>
            </a:r>
            <a:r>
              <a:rPr lang="en-US" sz="4400" dirty="0" err="1">
                <a:latin typeface="+mj-lt"/>
              </a:rPr>
              <a:t>Testbench</a:t>
            </a:r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5655852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03172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14400" y="1295400"/>
            <a:ext cx="8458200" cy="5181600"/>
          </a:xfrm>
        </p:spPr>
        <p:txBody>
          <a:bodyPr/>
          <a:lstStyle/>
          <a:p>
            <a:pPr marL="533400" indent="-533400"/>
            <a:r>
              <a:rPr lang="en-US" dirty="0" err="1"/>
              <a:t>Testvector</a:t>
            </a:r>
            <a:r>
              <a:rPr lang="en-US" dirty="0"/>
              <a:t> file: inputs and expected outputs</a:t>
            </a:r>
          </a:p>
          <a:p>
            <a:pPr marL="533400" indent="-533400"/>
            <a:r>
              <a:rPr lang="en-US" dirty="0" err="1"/>
              <a:t>Testbench</a:t>
            </a:r>
            <a:r>
              <a:rPr lang="en-US" dirty="0"/>
              <a:t>:</a:t>
            </a:r>
          </a:p>
          <a:p>
            <a:pPr marL="914400" lvl="1" indent="-457200">
              <a:buFontTx/>
              <a:buAutoNum type="arabicPeriod"/>
            </a:pPr>
            <a:r>
              <a:rPr lang="en-US" sz="2600" dirty="0"/>
              <a:t>Generate clock for assigning inputs, reading outputs</a:t>
            </a:r>
          </a:p>
          <a:p>
            <a:pPr marL="914400" lvl="1" indent="-457200">
              <a:buFontTx/>
              <a:buAutoNum type="arabicPeriod"/>
            </a:pPr>
            <a:r>
              <a:rPr lang="en-US" sz="2600" dirty="0"/>
              <a:t>Read </a:t>
            </a:r>
            <a:r>
              <a:rPr lang="en-US" sz="2600" dirty="0" err="1"/>
              <a:t>testvectors</a:t>
            </a:r>
            <a:r>
              <a:rPr lang="en-US" sz="2600" dirty="0"/>
              <a:t> file into array</a:t>
            </a:r>
          </a:p>
          <a:p>
            <a:pPr marL="914400" lvl="1" indent="-457200">
              <a:buFontTx/>
              <a:buAutoNum type="arabicPeriod"/>
            </a:pPr>
            <a:r>
              <a:rPr lang="en-US" sz="2600" dirty="0"/>
              <a:t>Assign inputs, expected outputs</a:t>
            </a:r>
          </a:p>
          <a:p>
            <a:pPr marL="914400" lvl="1" indent="-457200">
              <a:buFontTx/>
              <a:buAutoNum type="arabicPeriod"/>
            </a:pPr>
            <a:r>
              <a:rPr lang="en-US" sz="2600" dirty="0"/>
              <a:t>Compare outputs with expected outputs and report errors</a:t>
            </a:r>
          </a:p>
          <a:p>
            <a:pPr marL="533400" indent="-533400">
              <a:buFontTx/>
              <a:buNone/>
            </a:pPr>
            <a:endParaRPr lang="en-US" dirty="0"/>
          </a:p>
          <a:p>
            <a:pPr marL="533400" indent="-533400">
              <a:buFontTx/>
              <a:buNone/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latin typeface="+mj-lt"/>
              </a:rPr>
              <a:t>Testbench</a:t>
            </a:r>
            <a:r>
              <a:rPr lang="en-US" sz="4400" dirty="0">
                <a:latin typeface="+mj-lt"/>
              </a:rPr>
              <a:t> with </a:t>
            </a:r>
            <a:r>
              <a:rPr lang="en-US" sz="4400" dirty="0" err="1">
                <a:latin typeface="+mj-lt"/>
              </a:rPr>
              <a:t>Testvectors</a:t>
            </a:r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9379761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3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14436" name="Rectangle 4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914400" y="1181100"/>
            <a:ext cx="7543800" cy="4953000"/>
          </a:xfrm>
        </p:spPr>
        <p:txBody>
          <a:bodyPr/>
          <a:lstStyle/>
          <a:p>
            <a:pPr marL="533400" indent="-533400"/>
            <a:r>
              <a:rPr lang="en-US" dirty="0" err="1"/>
              <a:t>Testbench</a:t>
            </a:r>
            <a:r>
              <a:rPr lang="en-US" dirty="0"/>
              <a:t> clock: </a:t>
            </a:r>
          </a:p>
          <a:p>
            <a:pPr marL="933450" lvl="1" indent="-533400"/>
            <a:r>
              <a:rPr lang="en-US" sz="2400" dirty="0"/>
              <a:t>assign inputs (on rising edge)</a:t>
            </a:r>
          </a:p>
          <a:p>
            <a:pPr marL="933450" lvl="1" indent="-533400"/>
            <a:r>
              <a:rPr lang="en-US" sz="2400" dirty="0"/>
              <a:t>compare outputs with expected outputs (on falling edge).</a:t>
            </a:r>
          </a:p>
          <a:p>
            <a:pPr marL="533400" indent="-533400"/>
            <a:endParaRPr lang="en-US" sz="2400" dirty="0"/>
          </a:p>
          <a:p>
            <a:pPr marL="533400" indent="-533400"/>
            <a:endParaRPr lang="en-US" sz="2400" dirty="0"/>
          </a:p>
          <a:p>
            <a:pPr marL="533400" indent="-533400"/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533400" indent="-533400"/>
            <a:r>
              <a:rPr lang="en-US" sz="2400" dirty="0" err="1"/>
              <a:t>Testbench</a:t>
            </a:r>
            <a:r>
              <a:rPr lang="en-US" sz="2400" dirty="0"/>
              <a:t> clock also used as clock for synchronous sequential circuits</a:t>
            </a:r>
          </a:p>
        </p:txBody>
      </p:sp>
      <p:graphicFrame>
        <p:nvGraphicFramePr>
          <p:cNvPr id="914437" name="Object 5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478159801"/>
              </p:ext>
            </p:extLst>
          </p:nvPr>
        </p:nvGraphicFramePr>
        <p:xfrm>
          <a:off x="2209800" y="2895600"/>
          <a:ext cx="487680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437920" imgH="905040" progId="Visio.Drawing.6">
                  <p:embed/>
                </p:oleObj>
              </mc:Choice>
              <mc:Fallback>
                <p:oleObj name="VISIO" r:id="rId6" imgW="2437920" imgH="9050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895600"/>
                        <a:ext cx="4876800" cy="180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latin typeface="+mj-lt"/>
              </a:rPr>
              <a:t>Testbench</a:t>
            </a:r>
            <a:r>
              <a:rPr lang="en-US" sz="4400" dirty="0">
                <a:latin typeface="+mj-lt"/>
              </a:rPr>
              <a:t> with </a:t>
            </a:r>
            <a:r>
              <a:rPr lang="en-US" sz="4400" dirty="0" err="1">
                <a:latin typeface="+mj-lt"/>
              </a:rPr>
              <a:t>Testvectors</a:t>
            </a:r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8649542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04196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14400" y="1295400"/>
            <a:ext cx="7772400" cy="5181600"/>
          </a:xfrm>
        </p:spPr>
        <p:txBody>
          <a:bodyPr/>
          <a:lstStyle/>
          <a:p>
            <a:r>
              <a:rPr lang="en-US" dirty="0"/>
              <a:t>File: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2600" dirty="0">
                <a:latin typeface="Courier New" pitchFamily="49" charset="0"/>
              </a:rPr>
              <a:t>example.tv </a:t>
            </a:r>
          </a:p>
          <a:p>
            <a:r>
              <a:rPr lang="en-US" dirty="0">
                <a:latin typeface="+mj-lt"/>
              </a:rPr>
              <a:t>contains vectors of </a:t>
            </a:r>
            <a:r>
              <a:rPr lang="en-US" dirty="0" err="1">
                <a:latin typeface="+mj-lt"/>
              </a:rPr>
              <a:t>abc_yexpected</a:t>
            </a:r>
            <a:endParaRPr lang="en-US" dirty="0">
              <a:latin typeface="+mj-lt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000_1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001_0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010_0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011_0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100_1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101_1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110_0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111_0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latin typeface="+mj-lt"/>
              </a:rPr>
              <a:t>Testvectors</a:t>
            </a:r>
            <a:r>
              <a:rPr lang="en-US" sz="4400" dirty="0">
                <a:latin typeface="+mj-lt"/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90684538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05220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381000" y="1295400"/>
            <a:ext cx="8534400" cy="51816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module testbench3();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reg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clk</a:t>
            </a:r>
            <a:r>
              <a:rPr lang="en-US" sz="1600" dirty="0">
                <a:latin typeface="Courier New" pitchFamily="49" charset="0"/>
              </a:rPr>
              <a:t>, reset;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reg</a:t>
            </a:r>
            <a:r>
              <a:rPr lang="en-US" sz="1600" dirty="0">
                <a:latin typeface="Courier New" pitchFamily="49" charset="0"/>
              </a:rPr>
              <a:t>  a, b, c, </a:t>
            </a:r>
            <a:r>
              <a:rPr lang="en-US" sz="1600" dirty="0" err="1">
                <a:latin typeface="Courier New" pitchFamily="49" charset="0"/>
              </a:rPr>
              <a:t>yexpected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wire y;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reg</a:t>
            </a:r>
            <a:r>
              <a:rPr lang="en-US" sz="1600" dirty="0">
                <a:latin typeface="Courier New" pitchFamily="49" charset="0"/>
              </a:rPr>
              <a:t> [31:0] </a:t>
            </a:r>
            <a:r>
              <a:rPr lang="en-US" sz="1600" dirty="0" err="1">
                <a:latin typeface="Courier New" pitchFamily="49" charset="0"/>
              </a:rPr>
              <a:t>vectornum</a:t>
            </a:r>
            <a:r>
              <a:rPr lang="en-US" sz="1600" dirty="0">
                <a:latin typeface="Courier New" pitchFamily="49" charset="0"/>
              </a:rPr>
              <a:t>, errors;    // bookkeeping variables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reg</a:t>
            </a:r>
            <a:r>
              <a:rPr lang="en-US" sz="1600" dirty="0">
                <a:latin typeface="Courier New" pitchFamily="49" charset="0"/>
              </a:rPr>
              <a:t> [3:0]  </a:t>
            </a:r>
            <a:r>
              <a:rPr lang="en-US" sz="1600" dirty="0" err="1">
                <a:latin typeface="Courier New" pitchFamily="49" charset="0"/>
              </a:rPr>
              <a:t>testvectors</a:t>
            </a:r>
            <a:r>
              <a:rPr lang="en-US" sz="1600" dirty="0">
                <a:latin typeface="Courier New" pitchFamily="49" charset="0"/>
              </a:rPr>
              <a:t>[10000:0]; // array of </a:t>
            </a:r>
            <a:r>
              <a:rPr lang="en-US" sz="1600" dirty="0" err="1">
                <a:latin typeface="Courier New" pitchFamily="49" charset="0"/>
              </a:rPr>
              <a:t>testvectors</a:t>
            </a: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b="1" dirty="0">
                <a:latin typeface="Courier New" pitchFamily="49" charset="0"/>
              </a:rPr>
              <a:t>// instantiate device under test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sillyfunction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dut</a:t>
            </a:r>
            <a:r>
              <a:rPr lang="en-US" sz="1600" dirty="0">
                <a:latin typeface="Courier New" pitchFamily="49" charset="0"/>
              </a:rPr>
              <a:t>(a, b, c, y);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b="1" dirty="0">
                <a:latin typeface="Courier New" pitchFamily="49" charset="0"/>
              </a:rPr>
              <a:t>// generate clock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always     // no sensitivity list, so it always executes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begin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</a:t>
            </a:r>
            <a:r>
              <a:rPr lang="en-US" sz="1600" dirty="0" err="1">
                <a:latin typeface="Courier New" pitchFamily="49" charset="0"/>
              </a:rPr>
              <a:t>clk</a:t>
            </a:r>
            <a:r>
              <a:rPr lang="en-US" sz="1600" dirty="0">
                <a:latin typeface="Courier New" pitchFamily="49" charset="0"/>
              </a:rPr>
              <a:t> = 1; #5; </a:t>
            </a:r>
            <a:r>
              <a:rPr lang="en-US" sz="1600" dirty="0" err="1">
                <a:latin typeface="Courier New" pitchFamily="49" charset="0"/>
              </a:rPr>
              <a:t>clk</a:t>
            </a:r>
            <a:r>
              <a:rPr lang="en-US" sz="1600" dirty="0">
                <a:latin typeface="Courier New" pitchFamily="49" charset="0"/>
              </a:rPr>
              <a:t> = 0; #5;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1. Generate Clock</a:t>
            </a:r>
          </a:p>
        </p:txBody>
      </p:sp>
    </p:spTree>
    <p:extLst>
      <p:ext uri="{BB962C8B-B14F-4D97-AF65-F5344CB8AC3E}">
        <p14:creationId xmlns:p14="http://schemas.microsoft.com/office/powerpoint/2010/main" val="238723449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24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06244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14400" y="1295400"/>
            <a:ext cx="77724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b="1" dirty="0">
                <a:latin typeface="Courier New" pitchFamily="49" charset="0"/>
              </a:rPr>
              <a:t>// at start of test, load vectors and pulse reset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initial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begin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$</a:t>
            </a:r>
            <a:r>
              <a:rPr lang="en-US" sz="1800" dirty="0" err="1">
                <a:latin typeface="Courier New" pitchFamily="49" charset="0"/>
              </a:rPr>
              <a:t>readmemb</a:t>
            </a:r>
            <a:r>
              <a:rPr lang="en-US" sz="1800" dirty="0">
                <a:latin typeface="Courier New" pitchFamily="49" charset="0"/>
              </a:rPr>
              <a:t>("example.tv", </a:t>
            </a:r>
            <a:r>
              <a:rPr lang="en-US" sz="1800" dirty="0" err="1">
                <a:latin typeface="Courier New" pitchFamily="49" charset="0"/>
              </a:rPr>
              <a:t>testvectors</a:t>
            </a:r>
            <a:r>
              <a:rPr lang="en-US" sz="1800" dirty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</a:t>
            </a:r>
            <a:r>
              <a:rPr lang="en-US" sz="1800" dirty="0" err="1">
                <a:latin typeface="Courier New" pitchFamily="49" charset="0"/>
              </a:rPr>
              <a:t>vectornum</a:t>
            </a:r>
            <a:r>
              <a:rPr lang="en-US" sz="1800" dirty="0">
                <a:latin typeface="Courier New" pitchFamily="49" charset="0"/>
              </a:rPr>
              <a:t> = 0; errors = 0;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reset = 1; #27; reset = 0;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end</a:t>
            </a: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// </a:t>
            </a:r>
            <a:r>
              <a:rPr lang="en-US" sz="1800" b="1" dirty="0">
                <a:latin typeface="Courier New" pitchFamily="49" charset="0"/>
              </a:rPr>
              <a:t>Note: </a:t>
            </a:r>
            <a:r>
              <a:rPr lang="en-US" sz="1800" dirty="0">
                <a:latin typeface="Courier New" pitchFamily="49" charset="0"/>
              </a:rPr>
              <a:t>$</a:t>
            </a:r>
            <a:r>
              <a:rPr lang="en-US" sz="1800" dirty="0" err="1">
                <a:latin typeface="Courier New" pitchFamily="49" charset="0"/>
              </a:rPr>
              <a:t>readmemh</a:t>
            </a:r>
            <a:r>
              <a:rPr lang="en-US" sz="1800" dirty="0">
                <a:latin typeface="Courier New" pitchFamily="49" charset="0"/>
              </a:rPr>
              <a:t> reads </a:t>
            </a:r>
            <a:r>
              <a:rPr lang="en-US" sz="1800" dirty="0" err="1">
                <a:latin typeface="Courier New" pitchFamily="49" charset="0"/>
              </a:rPr>
              <a:t>testvector</a:t>
            </a:r>
            <a:r>
              <a:rPr lang="en-US" sz="1800" dirty="0">
                <a:latin typeface="Courier New" pitchFamily="49" charset="0"/>
              </a:rPr>
              <a:t> files written in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// hexadecimal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2. Read </a:t>
            </a:r>
            <a:r>
              <a:rPr lang="en-US" sz="4400" dirty="0" err="1">
                <a:latin typeface="+mj-lt"/>
              </a:rPr>
              <a:t>Testvectors</a:t>
            </a:r>
            <a:r>
              <a:rPr lang="en-US" sz="4400" dirty="0">
                <a:latin typeface="+mj-lt"/>
              </a:rPr>
              <a:t> into Array</a:t>
            </a:r>
          </a:p>
        </p:txBody>
      </p:sp>
    </p:spTree>
    <p:extLst>
      <p:ext uri="{BB962C8B-B14F-4D97-AF65-F5344CB8AC3E}">
        <p14:creationId xmlns:p14="http://schemas.microsoft.com/office/powerpoint/2010/main" val="89863019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07268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14400" y="1371600"/>
            <a:ext cx="8001000" cy="4953000"/>
          </a:xfrm>
        </p:spPr>
        <p:txBody>
          <a:bodyPr/>
          <a:lstStyle/>
          <a:p>
            <a:pPr>
              <a:buFontTx/>
              <a:buNone/>
            </a:pPr>
            <a:r>
              <a:rPr lang="en-US" sz="1800" b="1" dirty="0">
                <a:latin typeface="Courier New" pitchFamily="49" charset="0"/>
              </a:rPr>
              <a:t>  // apply test vectors on rising edge of </a:t>
            </a:r>
            <a:r>
              <a:rPr lang="en-US" sz="1800" b="1" dirty="0" err="1">
                <a:latin typeface="Courier New" pitchFamily="49" charset="0"/>
              </a:rPr>
              <a:t>clk</a:t>
            </a:r>
            <a:endParaRPr lang="en-US" sz="1800" b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always @(</a:t>
            </a:r>
            <a:r>
              <a:rPr lang="en-US" sz="1800" dirty="0" err="1">
                <a:latin typeface="Courier New" pitchFamily="49" charset="0"/>
              </a:rPr>
              <a:t>posedge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clk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begin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#1; {a, b, c, </a:t>
            </a:r>
            <a:r>
              <a:rPr lang="en-US" sz="1800" dirty="0" err="1">
                <a:latin typeface="Courier New" pitchFamily="49" charset="0"/>
              </a:rPr>
              <a:t>yexpected</a:t>
            </a:r>
            <a:r>
              <a:rPr lang="en-US" sz="1800" dirty="0">
                <a:latin typeface="Courier New" pitchFamily="49" charset="0"/>
              </a:rPr>
              <a:t>} = </a:t>
            </a:r>
            <a:r>
              <a:rPr lang="en-US" sz="1800" dirty="0" err="1">
                <a:latin typeface="Courier New" pitchFamily="49" charset="0"/>
              </a:rPr>
              <a:t>testvectors</a:t>
            </a:r>
            <a:r>
              <a:rPr lang="en-US" sz="1800" dirty="0">
                <a:latin typeface="Courier New" pitchFamily="49" charset="0"/>
              </a:rPr>
              <a:t>[</a:t>
            </a:r>
            <a:r>
              <a:rPr lang="en-US" sz="1800" dirty="0" err="1">
                <a:latin typeface="Courier New" pitchFamily="49" charset="0"/>
              </a:rPr>
              <a:t>vectornum</a:t>
            </a:r>
            <a:r>
              <a:rPr lang="en-US" sz="1800" dirty="0">
                <a:latin typeface="Courier New" pitchFamily="49" charset="0"/>
              </a:rPr>
              <a:t>];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end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68759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3. Assign Inputs &amp;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171148064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08292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14400" y="1295400"/>
            <a:ext cx="81534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sz="1700" b="1" dirty="0">
                <a:latin typeface="Courier New" pitchFamily="49" charset="0"/>
              </a:rPr>
              <a:t>// check results on falling edge of </a:t>
            </a:r>
            <a:r>
              <a:rPr lang="en-US" sz="1700" b="1" dirty="0" err="1">
                <a:latin typeface="Courier New" pitchFamily="49" charset="0"/>
              </a:rPr>
              <a:t>clk</a:t>
            </a:r>
            <a:endParaRPr lang="en-US" sz="1700" b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always @(</a:t>
            </a:r>
            <a:r>
              <a:rPr lang="en-US" sz="1700" dirty="0" err="1">
                <a:latin typeface="Courier New" pitchFamily="49" charset="0"/>
              </a:rPr>
              <a:t>negedge</a:t>
            </a:r>
            <a:r>
              <a:rPr lang="en-US" sz="1700" dirty="0">
                <a:latin typeface="Courier New" pitchFamily="49" charset="0"/>
              </a:rPr>
              <a:t> </a:t>
            </a:r>
            <a:r>
              <a:rPr lang="en-US" sz="1700" dirty="0" err="1">
                <a:latin typeface="Courier New" pitchFamily="49" charset="0"/>
              </a:rPr>
              <a:t>clk</a:t>
            </a:r>
            <a:r>
              <a:rPr lang="en-US" sz="17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if (~reset) begin // skip during reset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if (y !== </a:t>
            </a:r>
            <a:r>
              <a:rPr lang="en-US" sz="1700" dirty="0" err="1">
                <a:latin typeface="Courier New" pitchFamily="49" charset="0"/>
              </a:rPr>
              <a:t>yexpected</a:t>
            </a:r>
            <a:r>
              <a:rPr lang="en-US" sz="1700" dirty="0">
                <a:latin typeface="Courier New" pitchFamily="49" charset="0"/>
              </a:rPr>
              <a:t>) begin  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  $display("Error: inputs = %b", {a, b, c});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  $display("  outputs = %b (%b expected)",</a:t>
            </a:r>
            <a:r>
              <a:rPr lang="en-US" sz="1700" dirty="0" err="1">
                <a:latin typeface="Courier New" pitchFamily="49" charset="0"/>
              </a:rPr>
              <a:t>y,yexpected</a:t>
            </a:r>
            <a:r>
              <a:rPr lang="en-US" sz="1700" dirty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  errors = errors + 1;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end</a:t>
            </a:r>
          </a:p>
          <a:p>
            <a:pPr>
              <a:buFontTx/>
              <a:buNone/>
            </a:pPr>
            <a:endParaRPr lang="en-US" sz="17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// </a:t>
            </a:r>
            <a:r>
              <a:rPr lang="en-US" sz="1700" b="1" dirty="0">
                <a:latin typeface="Courier New" pitchFamily="49" charset="0"/>
              </a:rPr>
              <a:t>Note:</a:t>
            </a:r>
            <a:r>
              <a:rPr lang="en-US" sz="1700" dirty="0">
                <a:latin typeface="Courier New" pitchFamily="49" charset="0"/>
              </a:rPr>
              <a:t> to print in hexadecimal, use %h. For example,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//       $display(“Error: inputs = %h”, {a, b, c});</a:t>
            </a:r>
          </a:p>
          <a:p>
            <a:pPr>
              <a:buFontTx/>
              <a:buNone/>
            </a:pPr>
            <a:r>
              <a:rPr lang="en-US" sz="1700" dirty="0"/>
              <a:t>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latin typeface="+mj-lt"/>
              </a:rPr>
              <a:t>4. Compare with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382913484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16484" name="Rectangle 4"/>
          <p:cNvSpPr>
            <a:spLocks noGrp="1" noChangeArrowheads="1"/>
          </p:cNvSpPr>
          <p:nvPr>
            <p:ph idx="4294967295"/>
            <p:custDataLst>
              <p:tags r:id="rId2"/>
            </p:custDataLst>
          </p:nvPr>
        </p:nvSpPr>
        <p:spPr>
          <a:xfrm>
            <a:off x="914400" y="1371600"/>
            <a:ext cx="77724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sz="1700" b="1" dirty="0">
                <a:latin typeface="Courier New" pitchFamily="49" charset="0"/>
              </a:rPr>
              <a:t>// increment array index and read next </a:t>
            </a:r>
            <a:r>
              <a:rPr lang="en-US" sz="1700" b="1" dirty="0" err="1">
                <a:latin typeface="Courier New" pitchFamily="49" charset="0"/>
              </a:rPr>
              <a:t>testvector</a:t>
            </a:r>
            <a:endParaRPr lang="en-US" sz="1700" b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</a:t>
            </a:r>
            <a:r>
              <a:rPr lang="en-US" sz="1700" dirty="0" err="1">
                <a:latin typeface="Courier New" pitchFamily="49" charset="0"/>
              </a:rPr>
              <a:t>vectornum</a:t>
            </a:r>
            <a:r>
              <a:rPr lang="en-US" sz="1700" dirty="0">
                <a:latin typeface="Courier New" pitchFamily="49" charset="0"/>
              </a:rPr>
              <a:t> = </a:t>
            </a:r>
            <a:r>
              <a:rPr lang="en-US" sz="1700" dirty="0" err="1">
                <a:latin typeface="Courier New" pitchFamily="49" charset="0"/>
              </a:rPr>
              <a:t>vectornum</a:t>
            </a:r>
            <a:r>
              <a:rPr lang="en-US" sz="1700" dirty="0">
                <a:latin typeface="Courier New" pitchFamily="49" charset="0"/>
              </a:rPr>
              <a:t> + 1;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if (</a:t>
            </a:r>
            <a:r>
              <a:rPr lang="en-US" sz="1700" dirty="0" err="1">
                <a:latin typeface="Courier New" pitchFamily="49" charset="0"/>
              </a:rPr>
              <a:t>testvectors</a:t>
            </a:r>
            <a:r>
              <a:rPr lang="en-US" sz="1700" dirty="0">
                <a:latin typeface="Courier New" pitchFamily="49" charset="0"/>
              </a:rPr>
              <a:t>[</a:t>
            </a:r>
            <a:r>
              <a:rPr lang="en-US" sz="1700" dirty="0" err="1">
                <a:latin typeface="Courier New" pitchFamily="49" charset="0"/>
              </a:rPr>
              <a:t>vectornum</a:t>
            </a:r>
            <a:r>
              <a:rPr lang="en-US" sz="1700" dirty="0">
                <a:latin typeface="Courier New" pitchFamily="49" charset="0"/>
              </a:rPr>
              <a:t>] === 4'bx) begin 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    $display("%d tests completed with %d errors", 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          </a:t>
            </a:r>
            <a:r>
              <a:rPr lang="en-US" sz="1700" dirty="0" err="1">
                <a:latin typeface="Courier New" pitchFamily="49" charset="0"/>
              </a:rPr>
              <a:t>vectornum</a:t>
            </a:r>
            <a:r>
              <a:rPr lang="en-US" sz="1700" dirty="0">
                <a:latin typeface="Courier New" pitchFamily="49" charset="0"/>
              </a:rPr>
              <a:t>, errors);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  $finish;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  end</a:t>
            </a:r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    end</a:t>
            </a:r>
          </a:p>
          <a:p>
            <a:pPr>
              <a:buFontTx/>
              <a:buNone/>
            </a:pPr>
            <a:r>
              <a:rPr lang="en-US" sz="1700" dirty="0" err="1">
                <a:latin typeface="Courier New" pitchFamily="49" charset="0"/>
              </a:rPr>
              <a:t>endmodule</a:t>
            </a:r>
            <a:endParaRPr lang="en-US" sz="17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700" dirty="0"/>
          </a:p>
          <a:p>
            <a:pPr>
              <a:buFontTx/>
              <a:buNone/>
            </a:pPr>
            <a:endParaRPr lang="en-US" sz="1700" dirty="0"/>
          </a:p>
          <a:p>
            <a:pPr>
              <a:buFontTx/>
              <a:buNone/>
            </a:pPr>
            <a:r>
              <a:rPr lang="en-US" sz="1700" dirty="0">
                <a:latin typeface="Courier New" pitchFamily="49" charset="0"/>
              </a:rPr>
              <a:t>// </a:t>
            </a:r>
            <a:r>
              <a:rPr lang="en-US" sz="1700" b="1" dirty="0">
                <a:latin typeface="Courier New" pitchFamily="49" charset="0"/>
              </a:rPr>
              <a:t>===</a:t>
            </a:r>
            <a:r>
              <a:rPr lang="en-US" sz="1700" dirty="0">
                <a:latin typeface="Courier New" pitchFamily="49" charset="0"/>
              </a:rPr>
              <a:t> and </a:t>
            </a:r>
            <a:r>
              <a:rPr lang="en-US" sz="1700" b="1" dirty="0">
                <a:latin typeface="Courier New" pitchFamily="49" charset="0"/>
              </a:rPr>
              <a:t>!==</a:t>
            </a:r>
            <a:r>
              <a:rPr lang="en-US" sz="1700" dirty="0">
                <a:latin typeface="Courier New" pitchFamily="49" charset="0"/>
              </a:rPr>
              <a:t> can compare values that are 1, 0, x, or 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latin typeface="+mj-lt"/>
              </a:rPr>
              <a:t>4. Compare with 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281165331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11286</TotalTime>
  <Words>2877</Words>
  <Application>Microsoft Office PowerPoint</Application>
  <PresentationFormat>全屏显示(4:3)</PresentationFormat>
  <Paragraphs>608</Paragraphs>
  <Slides>42</Slides>
  <Notes>41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1" baseType="lpstr">
      <vt:lpstr>Courier10 BT</vt:lpstr>
      <vt:lpstr>Arial</vt:lpstr>
      <vt:lpstr>Calibri</vt:lpstr>
      <vt:lpstr>Courier New</vt:lpstr>
      <vt:lpstr>Times</vt:lpstr>
      <vt:lpstr>Times New Roman</vt:lpstr>
      <vt:lpstr>Office Theme</vt:lpstr>
      <vt:lpstr>VISIO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Harvey Mudd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sharris</dc:creator>
  <cp:lastModifiedBy>Wendy H</cp:lastModifiedBy>
  <cp:revision>152</cp:revision>
  <dcterms:created xsi:type="dcterms:W3CDTF">2012-08-07T04:56:47Z</dcterms:created>
  <dcterms:modified xsi:type="dcterms:W3CDTF">2025-10-16T08:06:52Z</dcterms:modified>
</cp:coreProperties>
</file>