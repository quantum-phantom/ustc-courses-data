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256" r:id="rId2"/>
    <p:sldId id="610" r:id="rId3"/>
    <p:sldId id="694" r:id="rId4"/>
    <p:sldId id="695" r:id="rId5"/>
    <p:sldId id="696" r:id="rId6"/>
    <p:sldId id="697" r:id="rId7"/>
    <p:sldId id="698" r:id="rId8"/>
    <p:sldId id="699" r:id="rId9"/>
    <p:sldId id="700" r:id="rId10"/>
    <p:sldId id="674" r:id="rId11"/>
    <p:sldId id="617" r:id="rId12"/>
    <p:sldId id="620" r:id="rId13"/>
    <p:sldId id="728" r:id="rId14"/>
    <p:sldId id="675" r:id="rId15"/>
    <p:sldId id="724" r:id="rId16"/>
    <p:sldId id="677" r:id="rId17"/>
    <p:sldId id="678" r:id="rId18"/>
    <p:sldId id="679" r:id="rId19"/>
    <p:sldId id="680" r:id="rId20"/>
    <p:sldId id="681" r:id="rId21"/>
    <p:sldId id="763" r:id="rId22"/>
    <p:sldId id="760" r:id="rId23"/>
    <p:sldId id="761" r:id="rId24"/>
    <p:sldId id="762" r:id="rId25"/>
    <p:sldId id="477" r:id="rId26"/>
  </p:sldIdLst>
  <p:sldSz cx="9144000" cy="6858000" type="screen4x3"/>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33"/>
    <a:srgbClr val="0000FF"/>
    <a:srgbClr val="008000"/>
    <a:srgbClr val="9900FF"/>
    <a:srgbClr val="CC3300"/>
    <a:srgbClr val="FFFF00"/>
    <a:srgbClr val="996633"/>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21" autoAdjust="0"/>
    <p:restoredTop sz="76435" autoAdjust="0"/>
  </p:normalViewPr>
  <p:slideViewPr>
    <p:cSldViewPr>
      <p:cViewPr>
        <p:scale>
          <a:sx n="63" d="100"/>
          <a:sy n="63" d="100"/>
        </p:scale>
        <p:origin x="-351" y="31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2702"/>
    </p:cViewPr>
  </p:sorterViewPr>
  <p:notesViewPr>
    <p:cSldViewPr>
      <p:cViewPr varScale="1">
        <p:scale>
          <a:sx n="60" d="100"/>
          <a:sy n="60" d="100"/>
        </p:scale>
        <p:origin x="-2268" y="-90"/>
      </p:cViewPr>
      <p:guideLst>
        <p:guide orient="horz" pos="3223"/>
        <p:guide pos="223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3B0AFAA-33D1-4A5B-9922-2A6B99013164}"/>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eaLnBrk="1" hangingPunct="1">
              <a:defRPr sz="1300">
                <a:latin typeface="Arial" pitchFamily="34" charset="0"/>
              </a:defRPr>
            </a:lvl1pPr>
          </a:lstStyle>
          <a:p>
            <a:pPr>
              <a:defRPr/>
            </a:pPr>
            <a:endParaRPr lang="en-US" altLang="zh-CN"/>
          </a:p>
        </p:txBody>
      </p:sp>
      <p:sp>
        <p:nvSpPr>
          <p:cNvPr id="60419" name="Rectangle 3">
            <a:extLst>
              <a:ext uri="{FF2B5EF4-FFF2-40B4-BE49-F238E27FC236}">
                <a16:creationId xmlns:a16="http://schemas.microsoft.com/office/drawing/2014/main" id="{FE7F1F1B-A652-4D57-A01C-31B40447E46D}"/>
              </a:ext>
            </a:extLst>
          </p:cNvPr>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eaLnBrk="1" hangingPunct="1">
              <a:defRPr sz="1300">
                <a:latin typeface="Arial" pitchFamily="34" charset="0"/>
              </a:defRPr>
            </a:lvl1pPr>
          </a:lstStyle>
          <a:p>
            <a:pPr>
              <a:defRPr/>
            </a:pPr>
            <a:endParaRPr lang="en-US" altLang="zh-CN"/>
          </a:p>
        </p:txBody>
      </p:sp>
      <p:sp>
        <p:nvSpPr>
          <p:cNvPr id="60420" name="Rectangle 4">
            <a:extLst>
              <a:ext uri="{FF2B5EF4-FFF2-40B4-BE49-F238E27FC236}">
                <a16:creationId xmlns:a16="http://schemas.microsoft.com/office/drawing/2014/main" id="{ACA49073-4492-4314-A3AA-B41280B920B0}"/>
              </a:ext>
            </a:extLst>
          </p:cNvPr>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eaLnBrk="1" hangingPunct="1">
              <a:defRPr sz="1300">
                <a:latin typeface="Arial" pitchFamily="34" charset="0"/>
              </a:defRPr>
            </a:lvl1pPr>
          </a:lstStyle>
          <a:p>
            <a:pPr>
              <a:defRPr/>
            </a:pPr>
            <a:endParaRPr lang="en-US" altLang="zh-CN"/>
          </a:p>
        </p:txBody>
      </p:sp>
      <p:sp>
        <p:nvSpPr>
          <p:cNvPr id="60421" name="Rectangle 5">
            <a:extLst>
              <a:ext uri="{FF2B5EF4-FFF2-40B4-BE49-F238E27FC236}">
                <a16:creationId xmlns:a16="http://schemas.microsoft.com/office/drawing/2014/main" id="{D0AAF3CD-5615-4376-B11B-83673DE52598}"/>
              </a:ext>
            </a:extLst>
          </p:cNvPr>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eaLnBrk="1" hangingPunct="1">
              <a:defRPr sz="1300"/>
            </a:lvl1pPr>
          </a:lstStyle>
          <a:p>
            <a:pPr>
              <a:defRPr/>
            </a:pPr>
            <a:fld id="{B9E112C7-544A-490C-80C4-CE02AD540AFB}"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FD45B00-2E15-465C-80A4-74525870D1B4}"/>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eaLnBrk="1" hangingPunct="1">
              <a:defRPr sz="1300">
                <a:latin typeface="Arial" pitchFamily="34" charset="0"/>
              </a:defRPr>
            </a:lvl1pPr>
          </a:lstStyle>
          <a:p>
            <a:pPr>
              <a:defRPr/>
            </a:pPr>
            <a:endParaRPr lang="en-US" altLang="zh-CN"/>
          </a:p>
        </p:txBody>
      </p:sp>
      <p:sp>
        <p:nvSpPr>
          <p:cNvPr id="62467" name="Rectangle 3">
            <a:extLst>
              <a:ext uri="{FF2B5EF4-FFF2-40B4-BE49-F238E27FC236}">
                <a16:creationId xmlns:a16="http://schemas.microsoft.com/office/drawing/2014/main" id="{61737033-AEB5-4A63-83DA-965D7D396F71}"/>
              </a:ext>
            </a:extLst>
          </p:cNvPr>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eaLnBrk="1" hangingPunct="1">
              <a:defRPr sz="1300">
                <a:latin typeface="Arial" pitchFamily="34" charset="0"/>
              </a:defRPr>
            </a:lvl1pPr>
          </a:lstStyle>
          <a:p>
            <a:pPr>
              <a:defRPr/>
            </a:pPr>
            <a:endParaRPr lang="en-US" altLang="zh-CN"/>
          </a:p>
        </p:txBody>
      </p:sp>
      <p:sp>
        <p:nvSpPr>
          <p:cNvPr id="4100" name="Rectangle 4">
            <a:extLst>
              <a:ext uri="{FF2B5EF4-FFF2-40B4-BE49-F238E27FC236}">
                <a16:creationId xmlns:a16="http://schemas.microsoft.com/office/drawing/2014/main" id="{2D83CA88-FD71-4F88-8A3A-F604E6221521}"/>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9" name="Rectangle 5">
            <a:extLst>
              <a:ext uri="{FF2B5EF4-FFF2-40B4-BE49-F238E27FC236}">
                <a16:creationId xmlns:a16="http://schemas.microsoft.com/office/drawing/2014/main" id="{8C79D471-FAA3-479D-9557-2A779AB83B08}"/>
              </a:ext>
            </a:extLst>
          </p:cNvPr>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2470" name="Rectangle 6">
            <a:extLst>
              <a:ext uri="{FF2B5EF4-FFF2-40B4-BE49-F238E27FC236}">
                <a16:creationId xmlns:a16="http://schemas.microsoft.com/office/drawing/2014/main" id="{1106D2B9-4F46-4B03-85C0-61CD95FFC682}"/>
              </a:ext>
            </a:extLst>
          </p:cNvPr>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eaLnBrk="1" hangingPunct="1">
              <a:defRPr sz="1300">
                <a:latin typeface="Arial" pitchFamily="34" charset="0"/>
              </a:defRPr>
            </a:lvl1pPr>
          </a:lstStyle>
          <a:p>
            <a:pPr>
              <a:defRPr/>
            </a:pPr>
            <a:endParaRPr lang="en-US" altLang="zh-CN"/>
          </a:p>
        </p:txBody>
      </p:sp>
      <p:sp>
        <p:nvSpPr>
          <p:cNvPr id="62471" name="Rectangle 7">
            <a:extLst>
              <a:ext uri="{FF2B5EF4-FFF2-40B4-BE49-F238E27FC236}">
                <a16:creationId xmlns:a16="http://schemas.microsoft.com/office/drawing/2014/main" id="{DD3A5E17-F0F4-4268-BD63-36DAF4439149}"/>
              </a:ext>
            </a:extLst>
          </p:cNvPr>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eaLnBrk="1" hangingPunct="1">
              <a:defRPr sz="1300"/>
            </a:lvl1pPr>
          </a:lstStyle>
          <a:p>
            <a:pPr>
              <a:defRPr/>
            </a:pPr>
            <a:fld id="{EE4918B0-C164-464E-98A7-35919081764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8AD60ED6-A1B0-421B-8004-790FF0F0F8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DA49CC6-F4FC-4D12-A0F6-681919E9A579}" type="slidenum">
              <a:rPr lang="en-US" altLang="zh-CN" sz="1300" smtClean="0"/>
              <a:pPr>
                <a:spcBef>
                  <a:spcPct val="0"/>
                </a:spcBef>
              </a:pPr>
              <a:t>1</a:t>
            </a:fld>
            <a:endParaRPr lang="en-US" altLang="zh-CN" sz="1300"/>
          </a:p>
        </p:txBody>
      </p:sp>
      <p:sp>
        <p:nvSpPr>
          <p:cNvPr id="7171" name="Rectangle 2">
            <a:extLst>
              <a:ext uri="{FF2B5EF4-FFF2-40B4-BE49-F238E27FC236}">
                <a16:creationId xmlns:a16="http://schemas.microsoft.com/office/drawing/2014/main" id="{6B827851-0612-400F-99F5-393C35E854E4}"/>
              </a:ext>
            </a:extLst>
          </p:cNvPr>
          <p:cNvSpPr>
            <a:spLocks noGrp="1" noRot="1" noChangeAspect="1" noChangeArrowheads="1" noTextEdit="1"/>
          </p:cNvSpPr>
          <p:nvPr>
            <p:ph type="sldImg"/>
          </p:nvPr>
        </p:nvSpPr>
        <p:spPr>
          <a:xfrm>
            <a:off x="992188" y="768350"/>
            <a:ext cx="5114925" cy="3836988"/>
          </a:xfrm>
          <a:ln/>
        </p:spPr>
      </p:sp>
      <p:sp>
        <p:nvSpPr>
          <p:cNvPr id="7172" name="Rectangle 3">
            <a:extLst>
              <a:ext uri="{FF2B5EF4-FFF2-40B4-BE49-F238E27FC236}">
                <a16:creationId xmlns:a16="http://schemas.microsoft.com/office/drawing/2014/main" id="{ECAD994A-7342-4DFA-8502-65C89308B8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9B8901B-9FCA-46FC-B9E1-331259492E52}"/>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2819742-9CB3-4098-8407-CDB2650C6F12}" type="slidenum">
              <a:rPr lang="en-US" altLang="zh-CN" sz="1300"/>
              <a:pPr algn="r" eaLnBrk="1" hangingPunct="1">
                <a:spcBef>
                  <a:spcPct val="0"/>
                </a:spcBef>
              </a:pPr>
              <a:t>2</a:t>
            </a:fld>
            <a:endParaRPr lang="en-US" altLang="zh-CN" sz="1300"/>
          </a:p>
        </p:txBody>
      </p:sp>
      <p:sp>
        <p:nvSpPr>
          <p:cNvPr id="9219" name="Rectangle 2">
            <a:extLst>
              <a:ext uri="{FF2B5EF4-FFF2-40B4-BE49-F238E27FC236}">
                <a16:creationId xmlns:a16="http://schemas.microsoft.com/office/drawing/2014/main" id="{784B928C-0CDA-47CB-992D-FED2B8C32EEC}"/>
              </a:ext>
            </a:extLst>
          </p:cNvPr>
          <p:cNvSpPr>
            <a:spLocks noGrp="1" noRot="1" noChangeAspect="1" noChangeArrowheads="1" noTextEdit="1"/>
          </p:cNvSpPr>
          <p:nvPr>
            <p:ph type="sldImg"/>
          </p:nvPr>
        </p:nvSpPr>
        <p:spPr>
          <a:xfrm>
            <a:off x="992188" y="768350"/>
            <a:ext cx="5114925" cy="3836988"/>
          </a:xfrm>
          <a:ln/>
        </p:spPr>
      </p:sp>
      <p:sp>
        <p:nvSpPr>
          <p:cNvPr id="9220" name="Rectangle 3">
            <a:extLst>
              <a:ext uri="{FF2B5EF4-FFF2-40B4-BE49-F238E27FC236}">
                <a16:creationId xmlns:a16="http://schemas.microsoft.com/office/drawing/2014/main" id="{4C7E21C5-0F4E-402D-809A-51431809BD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2AC7D49-AC23-4540-B65A-ED5A255B6AA3}"/>
              </a:ext>
            </a:extLst>
          </p:cNvPr>
          <p:cNvSpPr>
            <a:spLocks noGrp="1" noRot="1" noChangeAspect="1" noChangeArrowheads="1" noTextEdit="1"/>
          </p:cNvSpPr>
          <p:nvPr>
            <p:ph type="sldImg"/>
          </p:nvPr>
        </p:nvSpPr>
        <p:spPr>
          <a:xfrm>
            <a:off x="992188" y="768350"/>
            <a:ext cx="5114925" cy="3836988"/>
          </a:xfrm>
          <a:ln/>
        </p:spPr>
      </p:sp>
      <p:sp>
        <p:nvSpPr>
          <p:cNvPr id="11267" name="Rectangle 3">
            <a:extLst>
              <a:ext uri="{FF2B5EF4-FFF2-40B4-BE49-F238E27FC236}">
                <a16:creationId xmlns:a16="http://schemas.microsoft.com/office/drawing/2014/main" id="{DBE741C5-1A07-40CC-BCE3-CF52BDA236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b="1"/>
              <a:t>always</a:t>
            </a:r>
            <a:r>
              <a:rPr lang="zh-CN" altLang="en-US" b="1"/>
              <a:t>：</a:t>
            </a:r>
          </a:p>
          <a:p>
            <a:pPr eaLnBrk="1" hangingPunct="1"/>
            <a:r>
              <a:rPr lang="en-US" altLang="zh-CN" b="1"/>
              <a:t>Runs when simulation starts</a:t>
            </a:r>
          </a:p>
          <a:p>
            <a:pPr eaLnBrk="1" hangingPunct="1"/>
            <a:r>
              <a:rPr lang="en-US" altLang="zh-CN" b="1"/>
              <a:t>Restarts when control reaches the end</a:t>
            </a:r>
          </a:p>
          <a:p>
            <a:pPr eaLnBrk="1" hangingPunct="1"/>
            <a:r>
              <a:rPr lang="en-US" altLang="zh-CN" b="1"/>
              <a:t>Good for modeling/specifying hardware</a:t>
            </a:r>
          </a:p>
          <a:p>
            <a:pPr eaLnBrk="1" hangingPunct="1"/>
            <a:endParaRPr lang="zh-CN" altLang="en-US" b="1"/>
          </a:p>
          <a:p>
            <a:pPr eaLnBrk="1" hangingPunct="1"/>
            <a:r>
              <a:rPr lang="en-US" altLang="zh-CN" b="1"/>
              <a:t>initial</a:t>
            </a:r>
            <a:r>
              <a:rPr lang="zh-CN" altLang="en-US" b="1"/>
              <a:t>：</a:t>
            </a:r>
          </a:p>
          <a:p>
            <a:pPr eaLnBrk="1" hangingPunct="1"/>
            <a:r>
              <a:rPr lang="en-US" altLang="zh-CN" b="1"/>
              <a:t>Runs when simulation starts</a:t>
            </a:r>
          </a:p>
          <a:p>
            <a:pPr eaLnBrk="1" hangingPunct="1"/>
            <a:r>
              <a:rPr lang="en-US" altLang="zh-CN" b="1"/>
              <a:t>Terminates when control reaches the end</a:t>
            </a:r>
          </a:p>
          <a:p>
            <a:pPr eaLnBrk="1" hangingPunct="1"/>
            <a:r>
              <a:rPr lang="en-US" altLang="zh-CN" b="1"/>
              <a:t>Good for providing stimulus</a:t>
            </a:r>
            <a:endParaRPr lang="zh-CN" altLang="en-US" b="1"/>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8203D4B-50FA-48B4-8088-95A363557684}"/>
              </a:ext>
            </a:extLst>
          </p:cNvPr>
          <p:cNvSpPr>
            <a:spLocks noGrp="1" noRot="1" noChangeAspect="1" noChangeArrowheads="1" noTextEdit="1"/>
          </p:cNvSpPr>
          <p:nvPr>
            <p:ph type="sldImg"/>
          </p:nvPr>
        </p:nvSpPr>
        <p:spPr>
          <a:xfrm>
            <a:off x="992188" y="768350"/>
            <a:ext cx="5114925" cy="3836988"/>
          </a:xfrm>
          <a:ln/>
        </p:spPr>
      </p:sp>
      <p:sp>
        <p:nvSpPr>
          <p:cNvPr id="13315" name="Rectangle 3">
            <a:extLst>
              <a:ext uri="{FF2B5EF4-FFF2-40B4-BE49-F238E27FC236}">
                <a16:creationId xmlns:a16="http://schemas.microsoft.com/office/drawing/2014/main" id="{C8F39041-7B5E-4825-877D-F0C7395034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8A08994-5970-4D5A-B4FB-19A534C290A8}"/>
              </a:ext>
            </a:extLst>
          </p:cNvPr>
          <p:cNvSpPr>
            <a:spLocks noGrp="1" noRot="1" noChangeAspect="1" noChangeArrowheads="1" noTextEdit="1"/>
          </p:cNvSpPr>
          <p:nvPr>
            <p:ph type="sldImg"/>
          </p:nvPr>
        </p:nvSpPr>
        <p:spPr>
          <a:xfrm>
            <a:off x="992188" y="768350"/>
            <a:ext cx="5114925" cy="3836988"/>
          </a:xfrm>
          <a:ln/>
        </p:spPr>
      </p:sp>
      <p:sp>
        <p:nvSpPr>
          <p:cNvPr id="15363" name="Rectangle 3">
            <a:extLst>
              <a:ext uri="{FF2B5EF4-FFF2-40B4-BE49-F238E27FC236}">
                <a16:creationId xmlns:a16="http://schemas.microsoft.com/office/drawing/2014/main" id="{5DB7C110-3610-4130-AE61-DE2D2141E4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Always</a:t>
            </a:r>
            <a:r>
              <a:rPr lang="zh-CN" altLang="en-US" dirty="0"/>
              <a:t>里面不会出现时钟变量，但会出现复位变量</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6E2D27D-E94C-40BF-9EEF-69DFBB572399}"/>
              </a:ext>
            </a:extLst>
          </p:cNvPr>
          <p:cNvSpPr>
            <a:spLocks noGrp="1" noRot="1" noChangeAspect="1" noChangeArrowheads="1" noTextEdit="1"/>
          </p:cNvSpPr>
          <p:nvPr>
            <p:ph type="sldImg"/>
          </p:nvPr>
        </p:nvSpPr>
        <p:spPr>
          <a:xfrm>
            <a:off x="992188" y="768350"/>
            <a:ext cx="5114925" cy="3836988"/>
          </a:xfrm>
          <a:ln/>
        </p:spPr>
      </p:sp>
      <p:sp>
        <p:nvSpPr>
          <p:cNvPr id="19459" name="Rectangle 3">
            <a:extLst>
              <a:ext uri="{FF2B5EF4-FFF2-40B4-BE49-F238E27FC236}">
                <a16:creationId xmlns:a16="http://schemas.microsoft.com/office/drawing/2014/main" id="{856A7541-5D69-41D9-885B-63644844C5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F70B7D8-4D30-4908-9769-F72F679EDA35}"/>
              </a:ext>
            </a:extLst>
          </p:cNvPr>
          <p:cNvSpPr>
            <a:spLocks noGrp="1" noRot="1" noChangeAspect="1" noChangeArrowheads="1" noTextEdit="1"/>
          </p:cNvSpPr>
          <p:nvPr>
            <p:ph type="sldImg"/>
          </p:nvPr>
        </p:nvSpPr>
        <p:spPr>
          <a:xfrm>
            <a:off x="992188" y="768350"/>
            <a:ext cx="5114925" cy="3836988"/>
          </a:xfrm>
          <a:ln/>
        </p:spPr>
      </p:sp>
      <p:sp>
        <p:nvSpPr>
          <p:cNvPr id="21507" name="Rectangle 3">
            <a:extLst>
              <a:ext uri="{FF2B5EF4-FFF2-40B4-BE49-F238E27FC236}">
                <a16:creationId xmlns:a16="http://schemas.microsoft.com/office/drawing/2014/main" id="{83502191-98D5-4CDB-BB94-866702B006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E4918B0-C164-464E-98A7-359190817646}" type="slidenum">
              <a:rPr lang="en-US" altLang="zh-CN" smtClean="0"/>
              <a:pPr>
                <a:defRPr/>
              </a:pPr>
              <a:t>10</a:t>
            </a:fld>
            <a:endParaRPr lang="en-US" altLang="zh-CN"/>
          </a:p>
        </p:txBody>
      </p:sp>
    </p:spTree>
    <p:extLst>
      <p:ext uri="{BB962C8B-B14F-4D97-AF65-F5344CB8AC3E}">
        <p14:creationId xmlns:p14="http://schemas.microsoft.com/office/powerpoint/2010/main" val="2006612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EAA2FC6-95A8-44FF-BA3D-8AB85B5E51BE}"/>
              </a:ext>
            </a:extLst>
          </p:cNvPr>
          <p:cNvSpPr>
            <a:spLocks noGrp="1" noRot="1" noChangeAspect="1" noChangeArrowheads="1" noTextEdit="1"/>
          </p:cNvSpPr>
          <p:nvPr>
            <p:ph type="sldImg"/>
          </p:nvPr>
        </p:nvSpPr>
        <p:spPr>
          <a:xfrm>
            <a:off x="992188" y="768350"/>
            <a:ext cx="5114925" cy="3836988"/>
          </a:xfrm>
          <a:ln/>
        </p:spPr>
      </p:sp>
      <p:sp>
        <p:nvSpPr>
          <p:cNvPr id="11267" name="Rectangle 3">
            <a:extLst>
              <a:ext uri="{FF2B5EF4-FFF2-40B4-BE49-F238E27FC236}">
                <a16:creationId xmlns:a16="http://schemas.microsoft.com/office/drawing/2014/main" id="{CA53F68A-CBFE-4569-B451-2841888A88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米里型</a:t>
            </a:r>
          </a:p>
          <a:p>
            <a:pPr eaLnBrk="1" hangingPunct="1"/>
            <a:r>
              <a:rPr lang="zh-CN" altLang="en-US"/>
              <a:t>摩尔型</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1E96453-E5AC-4D40-8C01-34E13EE942AB}"/>
              </a:ext>
            </a:extLst>
          </p:cNvPr>
          <p:cNvSpPr>
            <a:spLocks noGrp="1" noRot="1" noChangeAspect="1" noChangeArrowheads="1" noTextEdit="1"/>
          </p:cNvSpPr>
          <p:nvPr>
            <p:ph type="sldImg"/>
          </p:nvPr>
        </p:nvSpPr>
        <p:spPr>
          <a:xfrm>
            <a:off x="992188" y="768350"/>
            <a:ext cx="5114925" cy="3836988"/>
          </a:xfrm>
          <a:ln/>
        </p:spPr>
      </p:sp>
      <p:sp>
        <p:nvSpPr>
          <p:cNvPr id="17411" name="Rectangle 3">
            <a:extLst>
              <a:ext uri="{FF2B5EF4-FFF2-40B4-BE49-F238E27FC236}">
                <a16:creationId xmlns:a16="http://schemas.microsoft.com/office/drawing/2014/main" id="{00919CB5-459E-41BD-AC51-1F59344F77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a:solidFill>
                  <a:srgbClr val="0000FF"/>
                </a:solidFill>
              </a:rPr>
              <a:t>状态图中每个圆圈表示一个状态，带箭头的弧线表示状态转移方向、转移线旁标注出转移的外输入条件和当前的外输出情况。</a:t>
            </a:r>
          </a:p>
          <a:p>
            <a:pPr eaLnBrk="1" hangingPunct="1"/>
            <a:r>
              <a:rPr kumimoji="1" lang="zh-CN" altLang="en-US" b="1">
                <a:solidFill>
                  <a:srgbClr val="FF66FF"/>
                </a:solidFill>
              </a:rPr>
              <a:t>时序图</a:t>
            </a:r>
            <a:r>
              <a:rPr kumimoji="1" lang="en-US" altLang="zh-CN">
                <a:solidFill>
                  <a:srgbClr val="0066FF"/>
                </a:solidFill>
              </a:rPr>
              <a:t>-</a:t>
            </a:r>
            <a:r>
              <a:rPr kumimoji="1" lang="zh-CN" altLang="en-US">
                <a:solidFill>
                  <a:srgbClr val="0066FF"/>
                </a:solidFill>
              </a:rPr>
              <a:t>反映时序电路的输出和内部状态随时钟和输入信号变化的工作波形。</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2608A568-4E5F-476D-9F60-066B55CBCA09}"/>
              </a:ext>
            </a:extLst>
          </p:cNvPr>
          <p:cNvSpPr>
            <a:spLocks noGrp="1" noRot="1" noChangeAspect="1" noChangeArrowheads="1" noTextEdit="1"/>
          </p:cNvSpPr>
          <p:nvPr>
            <p:ph type="sldImg"/>
          </p:nvPr>
        </p:nvSpPr>
        <p:spPr>
          <a:xfrm>
            <a:off x="992188" y="768350"/>
            <a:ext cx="5114925" cy="3836988"/>
          </a:xfrm>
          <a:ln/>
        </p:spPr>
      </p:sp>
      <p:sp>
        <p:nvSpPr>
          <p:cNvPr id="24579" name="备注占位符 2">
            <a:extLst>
              <a:ext uri="{FF2B5EF4-FFF2-40B4-BE49-F238E27FC236}">
                <a16:creationId xmlns:a16="http://schemas.microsoft.com/office/drawing/2014/main" id="{963C6A67-CA64-44DD-B98F-89F392810B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80" name="灯片编号占位符 3">
            <a:extLst>
              <a:ext uri="{FF2B5EF4-FFF2-40B4-BE49-F238E27FC236}">
                <a16:creationId xmlns:a16="http://schemas.microsoft.com/office/drawing/2014/main" id="{D31CE767-7BA1-44C8-AD04-EA1C67EE34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B9A3B1F-9C7F-4A7E-B1F9-1E5ED0F6048B}" type="slidenum">
              <a:rPr lang="en-US" altLang="zh-CN" smtClean="0"/>
              <a:pPr/>
              <a:t>13</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9FFF40A-5199-4C43-90B2-35B8118B3A8B}"/>
              </a:ext>
            </a:extLst>
          </p:cNvPr>
          <p:cNvSpPr>
            <a:spLocks noGrp="1" noRot="1" noChangeAspect="1" noChangeArrowheads="1" noTextEdit="1"/>
          </p:cNvSpPr>
          <p:nvPr>
            <p:ph type="sldImg"/>
          </p:nvPr>
        </p:nvSpPr>
        <p:spPr>
          <a:xfrm>
            <a:off x="992188" y="768350"/>
            <a:ext cx="5114925" cy="3836988"/>
          </a:xfrm>
          <a:ln/>
        </p:spPr>
      </p:sp>
      <p:sp>
        <p:nvSpPr>
          <p:cNvPr id="26627" name="Rectangle 3">
            <a:extLst>
              <a:ext uri="{FF2B5EF4-FFF2-40B4-BE49-F238E27FC236}">
                <a16:creationId xmlns:a16="http://schemas.microsoft.com/office/drawing/2014/main" id="{FD4403EC-0B2A-474C-BA6F-F0673BE14C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672C6FC-6FB2-4D18-8603-2453762D846F}"/>
              </a:ext>
            </a:extLst>
          </p:cNvPr>
          <p:cNvSpPr>
            <a:spLocks noGrp="1" noRot="1" noChangeAspect="1" noChangeArrowheads="1" noTextEdit="1"/>
          </p:cNvSpPr>
          <p:nvPr>
            <p:ph type="sldImg"/>
          </p:nvPr>
        </p:nvSpPr>
        <p:spPr>
          <a:xfrm>
            <a:off x="992188" y="768350"/>
            <a:ext cx="5114925" cy="3836988"/>
          </a:xfrm>
          <a:ln/>
        </p:spPr>
      </p:sp>
      <p:sp>
        <p:nvSpPr>
          <p:cNvPr id="30723" name="Rectangle 3">
            <a:extLst>
              <a:ext uri="{FF2B5EF4-FFF2-40B4-BE49-F238E27FC236}">
                <a16:creationId xmlns:a16="http://schemas.microsoft.com/office/drawing/2014/main" id="{69DCFAAD-F03B-4E84-A257-3C82BD5B89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E4918B0-C164-464E-98A7-359190817646}" type="slidenum">
              <a:rPr lang="en-US" altLang="zh-CN" smtClean="0"/>
              <a:pPr>
                <a:defRPr/>
              </a:pPr>
              <a:t>22</a:t>
            </a:fld>
            <a:endParaRPr lang="en-US" altLang="zh-CN"/>
          </a:p>
        </p:txBody>
      </p:sp>
    </p:spTree>
    <p:extLst>
      <p:ext uri="{BB962C8B-B14F-4D97-AF65-F5344CB8AC3E}">
        <p14:creationId xmlns:p14="http://schemas.microsoft.com/office/powerpoint/2010/main" val="2310765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E4918B0-C164-464E-98A7-359190817646}" type="slidenum">
              <a:rPr lang="en-US" altLang="zh-CN" smtClean="0"/>
              <a:pPr>
                <a:defRPr/>
              </a:pPr>
              <a:t>24</a:t>
            </a:fld>
            <a:endParaRPr lang="en-US" altLang="zh-CN"/>
          </a:p>
        </p:txBody>
      </p:sp>
    </p:spTree>
    <p:extLst>
      <p:ext uri="{BB962C8B-B14F-4D97-AF65-F5344CB8AC3E}">
        <p14:creationId xmlns:p14="http://schemas.microsoft.com/office/powerpoint/2010/main" val="1642474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2122EC53-E36F-458A-BA91-93427C33A9FC}"/>
              </a:ext>
            </a:extLst>
          </p:cNvPr>
          <p:cNvSpPr>
            <a:spLocks noGrp="1" noChangeArrowheads="1"/>
          </p:cNvSpPr>
          <p:nvPr>
            <p:ph type="dt" sz="half" idx="10"/>
          </p:nvPr>
        </p:nvSpPr>
        <p:spPr/>
        <p:txBody>
          <a:bodyPr/>
          <a:lstStyle>
            <a:lvl1pPr>
              <a:defRPr/>
            </a:lvl1pPr>
          </a:lstStyle>
          <a:p>
            <a:pPr>
              <a:defRPr/>
            </a:pPr>
            <a:fld id="{60CD59DD-DAC9-4A6C-A05D-7DEA1B76F363}" type="datetime1">
              <a:rPr lang="zh-CN" altLang="en-US"/>
              <a:pPr>
                <a:defRPr/>
              </a:pPr>
              <a:t>2025/10/30</a:t>
            </a:fld>
            <a:endParaRPr lang="en-US" altLang="zh-CN" dirty="0"/>
          </a:p>
        </p:txBody>
      </p:sp>
      <p:sp>
        <p:nvSpPr>
          <p:cNvPr id="5" name="Rectangle 5">
            <a:extLst>
              <a:ext uri="{FF2B5EF4-FFF2-40B4-BE49-F238E27FC236}">
                <a16:creationId xmlns:a16="http://schemas.microsoft.com/office/drawing/2014/main" id="{2DC7E3E3-C08F-4259-8D12-49DD26D8F62C}"/>
              </a:ext>
            </a:extLst>
          </p:cNvPr>
          <p:cNvSpPr>
            <a:spLocks noGrp="1" noChangeArrowheads="1"/>
          </p:cNvSpPr>
          <p:nvPr>
            <p:ph type="ftr" sz="quarter" idx="11"/>
          </p:nvPr>
        </p:nvSpPr>
        <p:spPr/>
        <p:txBody>
          <a:bodyPr/>
          <a:lstStyle>
            <a:lvl1pPr>
              <a:defRPr kumimoji="1"/>
            </a:lvl1pPr>
          </a:lstStyle>
          <a:p>
            <a:pPr>
              <a:defRPr/>
            </a:pPr>
            <a:r>
              <a:rPr lang="zh-CN" altLang="en-US"/>
              <a:t>模拟与数字电路 </a:t>
            </a:r>
            <a:r>
              <a:rPr lang="en-US" altLang="zh-CN"/>
              <a:t>— </a:t>
            </a:r>
            <a:r>
              <a:rPr lang="en-US" altLang="zh-CN" err="1"/>
              <a:t>Verilog</a:t>
            </a:r>
            <a:r>
              <a:rPr lang="en-US" altLang="zh-CN"/>
              <a:t> HDL(2)</a:t>
            </a:r>
          </a:p>
          <a:p>
            <a:pPr>
              <a:defRPr/>
            </a:pPr>
            <a:endParaRPr lang="en-US" altLang="zh-CN"/>
          </a:p>
        </p:txBody>
      </p:sp>
      <p:sp>
        <p:nvSpPr>
          <p:cNvPr id="6" name="Rectangle 6">
            <a:extLst>
              <a:ext uri="{FF2B5EF4-FFF2-40B4-BE49-F238E27FC236}">
                <a16:creationId xmlns:a16="http://schemas.microsoft.com/office/drawing/2014/main" id="{7E1590A4-23E4-4492-8C31-EE38B5885129}"/>
              </a:ext>
            </a:extLst>
          </p:cNvPr>
          <p:cNvSpPr>
            <a:spLocks noGrp="1" noChangeArrowheads="1"/>
          </p:cNvSpPr>
          <p:nvPr>
            <p:ph type="sldNum" sz="quarter" idx="12"/>
          </p:nvPr>
        </p:nvSpPr>
        <p:spPr/>
        <p:txBody>
          <a:bodyPr/>
          <a:lstStyle>
            <a:lvl1pPr>
              <a:defRPr/>
            </a:lvl1pPr>
          </a:lstStyle>
          <a:p>
            <a:pPr>
              <a:defRPr/>
            </a:pPr>
            <a:fld id="{B67E5A76-EE3D-4DC4-A2F2-8A3C54B63475}" type="slidenum">
              <a:rPr lang="en-US" altLang="zh-CN"/>
              <a:pPr>
                <a:defRPr/>
              </a:pPr>
              <a:t>‹#›</a:t>
            </a:fld>
            <a:endParaRPr lang="en-US" altLang="zh-CN"/>
          </a:p>
        </p:txBody>
      </p:sp>
    </p:spTree>
    <p:extLst>
      <p:ext uri="{BB962C8B-B14F-4D97-AF65-F5344CB8AC3E}">
        <p14:creationId xmlns:p14="http://schemas.microsoft.com/office/powerpoint/2010/main" val="136423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53602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781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781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F0950B25-43E9-48BF-AB2A-C35806C7CC49}"/>
              </a:ext>
            </a:extLst>
          </p:cNvPr>
          <p:cNvSpPr>
            <a:spLocks noGrp="1" noChangeArrowheads="1"/>
          </p:cNvSpPr>
          <p:nvPr>
            <p:ph type="dt" sz="half" idx="10"/>
          </p:nvPr>
        </p:nvSpPr>
        <p:spPr>
          <a:ln/>
        </p:spPr>
        <p:txBody>
          <a:bodyPr/>
          <a:lstStyle>
            <a:lvl1pPr>
              <a:defRPr/>
            </a:lvl1pPr>
          </a:lstStyle>
          <a:p>
            <a:pPr>
              <a:defRPr/>
            </a:pPr>
            <a:fld id="{05C84787-4C8B-4DFE-9587-C86018B70104}" type="datetime1">
              <a:rPr lang="zh-CN" altLang="en-US"/>
              <a:pPr>
                <a:defRPr/>
              </a:pPr>
              <a:t>2025/10/30</a:t>
            </a:fld>
            <a:endParaRPr lang="en-US" altLang="zh-CN"/>
          </a:p>
        </p:txBody>
      </p:sp>
      <p:sp>
        <p:nvSpPr>
          <p:cNvPr id="6" name="Rectangle 5">
            <a:extLst>
              <a:ext uri="{FF2B5EF4-FFF2-40B4-BE49-F238E27FC236}">
                <a16:creationId xmlns:a16="http://schemas.microsoft.com/office/drawing/2014/main" id="{BC10743F-1576-4627-8A48-09D60D6D96B6}"/>
              </a:ext>
            </a:extLst>
          </p:cNvPr>
          <p:cNvSpPr>
            <a:spLocks noGrp="1" noChangeArrowheads="1"/>
          </p:cNvSpPr>
          <p:nvPr>
            <p:ph type="ftr" sz="quarter" idx="11"/>
          </p:nvPr>
        </p:nvSpPr>
        <p:spPr>
          <a:ln/>
        </p:spPr>
        <p:txBody>
          <a:bodyPr/>
          <a:lstStyle>
            <a:lvl1pPr>
              <a:defRPr/>
            </a:lvl1pPr>
          </a:lstStyle>
          <a:p>
            <a:pPr>
              <a:defRPr/>
            </a:pPr>
            <a:r>
              <a:rPr lang="zh-CN" altLang="en-US"/>
              <a:t>模拟与数字电路 </a:t>
            </a:r>
            <a:r>
              <a:rPr lang="en-US" altLang="zh-CN"/>
              <a:t>— </a:t>
            </a:r>
            <a:r>
              <a:rPr kumimoji="1" lang="en-US" altLang="zh-CN" err="1"/>
              <a:t>Verilog</a:t>
            </a:r>
            <a:r>
              <a:rPr kumimoji="1" lang="en-US" altLang="zh-CN"/>
              <a:t> HDL(2)</a:t>
            </a:r>
          </a:p>
        </p:txBody>
      </p:sp>
      <p:sp>
        <p:nvSpPr>
          <p:cNvPr id="7" name="Rectangle 6">
            <a:extLst>
              <a:ext uri="{FF2B5EF4-FFF2-40B4-BE49-F238E27FC236}">
                <a16:creationId xmlns:a16="http://schemas.microsoft.com/office/drawing/2014/main" id="{A6218C04-F1C7-4F66-A6C1-36162F413827}"/>
              </a:ext>
            </a:extLst>
          </p:cNvPr>
          <p:cNvSpPr>
            <a:spLocks noGrp="1" noChangeArrowheads="1"/>
          </p:cNvSpPr>
          <p:nvPr>
            <p:ph type="sldNum" sz="quarter" idx="12"/>
          </p:nvPr>
        </p:nvSpPr>
        <p:spPr>
          <a:ln/>
        </p:spPr>
        <p:txBody>
          <a:bodyPr/>
          <a:lstStyle>
            <a:lvl1pPr>
              <a:defRPr/>
            </a:lvl1pPr>
          </a:lstStyle>
          <a:p>
            <a:pPr>
              <a:defRPr/>
            </a:pPr>
            <a:fld id="{21551A90-BE9B-4D1C-A704-5D150C8BCF64}" type="slidenum">
              <a:rPr lang="en-US" altLang="zh-CN"/>
              <a:pPr>
                <a:defRPr/>
              </a:pPr>
              <a:t>‹#›</a:t>
            </a:fld>
            <a:endParaRPr lang="en-US" altLang="zh-CN"/>
          </a:p>
        </p:txBody>
      </p:sp>
    </p:spTree>
    <p:extLst>
      <p:ext uri="{BB962C8B-B14F-4D97-AF65-F5344CB8AC3E}">
        <p14:creationId xmlns:p14="http://schemas.microsoft.com/office/powerpoint/2010/main" val="235083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0310B68-B430-4D97-B09A-07C4CE596286}"/>
              </a:ext>
            </a:extLst>
          </p:cNvPr>
          <p:cNvSpPr>
            <a:spLocks noGrp="1" noChangeArrowheads="1"/>
          </p:cNvSpPr>
          <p:nvPr>
            <p:ph type="dt" sz="half" idx="10"/>
          </p:nvPr>
        </p:nvSpPr>
        <p:spPr>
          <a:ln/>
        </p:spPr>
        <p:txBody>
          <a:bodyPr/>
          <a:lstStyle>
            <a:lvl1pPr>
              <a:defRPr/>
            </a:lvl1pPr>
          </a:lstStyle>
          <a:p>
            <a:pPr>
              <a:defRPr/>
            </a:pPr>
            <a:fld id="{205301CD-FDA7-4723-8531-3A9CC75E12B3}" type="datetime1">
              <a:rPr lang="zh-CN" altLang="en-US"/>
              <a:pPr>
                <a:defRPr/>
              </a:pPr>
              <a:t>2025/10/30</a:t>
            </a:fld>
            <a:endParaRPr lang="en-US" altLang="zh-CN"/>
          </a:p>
        </p:txBody>
      </p:sp>
      <p:sp>
        <p:nvSpPr>
          <p:cNvPr id="5" name="Rectangle 5">
            <a:extLst>
              <a:ext uri="{FF2B5EF4-FFF2-40B4-BE49-F238E27FC236}">
                <a16:creationId xmlns:a16="http://schemas.microsoft.com/office/drawing/2014/main" id="{4C88A44A-B1B2-4DBF-9AE8-271EF294FAED}"/>
              </a:ext>
            </a:extLst>
          </p:cNvPr>
          <p:cNvSpPr>
            <a:spLocks noGrp="1" noChangeArrowheads="1"/>
          </p:cNvSpPr>
          <p:nvPr>
            <p:ph type="ftr" sz="quarter" idx="11"/>
          </p:nvPr>
        </p:nvSpPr>
        <p:spPr>
          <a:ln/>
        </p:spPr>
        <p:txBody>
          <a:bodyPr/>
          <a:lstStyle>
            <a:lvl1pPr>
              <a:defRPr/>
            </a:lvl1pPr>
          </a:lstStyle>
          <a:p>
            <a:pPr>
              <a:defRPr/>
            </a:pPr>
            <a:r>
              <a:rPr lang="zh-CN" altLang="en-US"/>
              <a:t>模拟与数字电路 </a:t>
            </a:r>
            <a:r>
              <a:rPr lang="en-US" altLang="zh-CN"/>
              <a:t>— </a:t>
            </a:r>
            <a:r>
              <a:rPr lang="zh-CN" altLang="en-US"/>
              <a:t>时序逻辑电路分析</a:t>
            </a:r>
            <a:endParaRPr kumimoji="1" lang="en-US" altLang="zh-CN"/>
          </a:p>
        </p:txBody>
      </p:sp>
      <p:sp>
        <p:nvSpPr>
          <p:cNvPr id="6" name="Rectangle 6">
            <a:extLst>
              <a:ext uri="{FF2B5EF4-FFF2-40B4-BE49-F238E27FC236}">
                <a16:creationId xmlns:a16="http://schemas.microsoft.com/office/drawing/2014/main" id="{9DB88910-5733-41DE-B3D6-6BD4289EBF82}"/>
              </a:ext>
            </a:extLst>
          </p:cNvPr>
          <p:cNvSpPr>
            <a:spLocks noGrp="1" noChangeArrowheads="1"/>
          </p:cNvSpPr>
          <p:nvPr>
            <p:ph type="sldNum" sz="quarter" idx="12"/>
          </p:nvPr>
        </p:nvSpPr>
        <p:spPr>
          <a:ln/>
        </p:spPr>
        <p:txBody>
          <a:bodyPr/>
          <a:lstStyle>
            <a:lvl1pPr>
              <a:defRPr/>
            </a:lvl1pPr>
          </a:lstStyle>
          <a:p>
            <a:pPr>
              <a:defRPr/>
            </a:pPr>
            <a:fld id="{342266F1-F27B-40F9-8DD2-60C0EBFC3C48}" type="slidenum">
              <a:rPr lang="en-US" altLang="zh-CN"/>
              <a:pPr>
                <a:defRPr/>
              </a:pPr>
              <a:t>‹#›</a:t>
            </a:fld>
            <a:endParaRPr lang="en-US" altLang="zh-CN"/>
          </a:p>
        </p:txBody>
      </p:sp>
    </p:spTree>
    <p:extLst>
      <p:ext uri="{BB962C8B-B14F-4D97-AF65-F5344CB8AC3E}">
        <p14:creationId xmlns:p14="http://schemas.microsoft.com/office/powerpoint/2010/main" val="2748315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C86CF15-BF89-4E07-95E7-DA98B7F55761}"/>
              </a:ext>
            </a:extLst>
          </p:cNvPr>
          <p:cNvSpPr>
            <a:spLocks noGrp="1" noChangeArrowheads="1"/>
          </p:cNvSpPr>
          <p:nvPr>
            <p:ph type="title"/>
          </p:nvPr>
        </p:nvSpPr>
        <p:spPr bwMode="auto">
          <a:xfrm>
            <a:off x="457200" y="152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D45176B2-EA42-465F-8D65-1B77F9D199C8}"/>
              </a:ext>
            </a:extLst>
          </p:cNvPr>
          <p:cNvSpPr>
            <a:spLocks noGrp="1" noChangeArrowheads="1"/>
          </p:cNvSpPr>
          <p:nvPr>
            <p:ph type="body" idx="1"/>
          </p:nvPr>
        </p:nvSpPr>
        <p:spPr bwMode="auto">
          <a:xfrm>
            <a:off x="457200" y="1449388"/>
            <a:ext cx="8229600" cy="49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67AB3E56-65A4-4775-9463-E367D44312A1}"/>
              </a:ext>
            </a:extLst>
          </p:cNvPr>
          <p:cNvSpPr>
            <a:spLocks noGrp="1" noChangeArrowheads="1"/>
          </p:cNvSpPr>
          <p:nvPr>
            <p:ph type="dt" sz="half" idx="2"/>
          </p:nvPr>
        </p:nvSpPr>
        <p:spPr bwMode="auto">
          <a:xfrm>
            <a:off x="395288" y="6453188"/>
            <a:ext cx="1720850" cy="4048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defRPr>
                <a:solidFill>
                  <a:srgbClr val="B2B2B2"/>
                </a:solidFill>
                <a:latin typeface="Arial" charset="0"/>
              </a:defRPr>
            </a:lvl1pPr>
          </a:lstStyle>
          <a:p>
            <a:pPr>
              <a:defRPr/>
            </a:pPr>
            <a:fld id="{59B26E38-02B8-44BF-87A0-E1F7B67F943E}" type="datetime1">
              <a:rPr lang="zh-CN" altLang="en-US"/>
              <a:pPr>
                <a:defRPr/>
              </a:pPr>
              <a:t>2025/10/30</a:t>
            </a:fld>
            <a:endParaRPr lang="en-US" altLang="zh-CN"/>
          </a:p>
        </p:txBody>
      </p:sp>
      <p:sp>
        <p:nvSpPr>
          <p:cNvPr id="1029" name="Rectangle 5">
            <a:extLst>
              <a:ext uri="{FF2B5EF4-FFF2-40B4-BE49-F238E27FC236}">
                <a16:creationId xmlns:a16="http://schemas.microsoft.com/office/drawing/2014/main" id="{39EFEB40-1B93-418C-85EA-37C0E925B14B}"/>
              </a:ext>
            </a:extLst>
          </p:cNvPr>
          <p:cNvSpPr>
            <a:spLocks noGrp="1" noChangeArrowheads="1"/>
          </p:cNvSpPr>
          <p:nvPr>
            <p:ph type="ftr" sz="quarter" idx="3"/>
          </p:nvPr>
        </p:nvSpPr>
        <p:spPr bwMode="auto">
          <a:xfrm>
            <a:off x="2195513" y="6453188"/>
            <a:ext cx="5148262" cy="4048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1" hangingPunct="1">
              <a:defRPr>
                <a:solidFill>
                  <a:srgbClr val="B2B2B2"/>
                </a:solidFill>
                <a:latin typeface="宋体" pitchFamily="2" charset="-122"/>
              </a:defRPr>
            </a:lvl1pPr>
          </a:lstStyle>
          <a:p>
            <a:pPr>
              <a:defRPr/>
            </a:pPr>
            <a:r>
              <a:rPr lang="zh-CN" altLang="en-US"/>
              <a:t>模拟与数字电路 </a:t>
            </a:r>
            <a:r>
              <a:rPr lang="en-US" altLang="zh-CN"/>
              <a:t>— </a:t>
            </a:r>
            <a:r>
              <a:rPr kumimoji="1" lang="en-US" altLang="zh-CN" err="1"/>
              <a:t>Verilog</a:t>
            </a:r>
            <a:r>
              <a:rPr kumimoji="1" lang="en-US" altLang="zh-CN"/>
              <a:t> HDL(2)</a:t>
            </a:r>
          </a:p>
        </p:txBody>
      </p:sp>
      <p:sp>
        <p:nvSpPr>
          <p:cNvPr id="1030" name="Rectangle 6">
            <a:extLst>
              <a:ext uri="{FF2B5EF4-FFF2-40B4-BE49-F238E27FC236}">
                <a16:creationId xmlns:a16="http://schemas.microsoft.com/office/drawing/2014/main" id="{89917516-22FE-4F26-B534-CE721F41BD3D}"/>
              </a:ext>
            </a:extLst>
          </p:cNvPr>
          <p:cNvSpPr>
            <a:spLocks noGrp="1" noChangeArrowheads="1"/>
          </p:cNvSpPr>
          <p:nvPr>
            <p:ph type="sldNum" sz="quarter" idx="4"/>
          </p:nvPr>
        </p:nvSpPr>
        <p:spPr bwMode="auto">
          <a:xfrm>
            <a:off x="7502525" y="6453188"/>
            <a:ext cx="1219200" cy="4048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defRPr>
                <a:solidFill>
                  <a:srgbClr val="B2B2B2"/>
                </a:solidFill>
              </a:defRPr>
            </a:lvl1pPr>
          </a:lstStyle>
          <a:p>
            <a:pPr>
              <a:defRPr/>
            </a:pPr>
            <a:fld id="{DC3D595F-F707-42C1-ABA3-865A53A853DB}" type="slidenum">
              <a:rPr lang="en-US" altLang="zh-CN"/>
              <a:pPr>
                <a:defRPr/>
              </a:pPr>
              <a:t>‹#›</a:t>
            </a:fld>
            <a:endParaRPr lang="en-US" altLang="zh-CN"/>
          </a:p>
        </p:txBody>
      </p:sp>
      <p:sp>
        <p:nvSpPr>
          <p:cNvPr id="1031" name="Line 7">
            <a:extLst>
              <a:ext uri="{FF2B5EF4-FFF2-40B4-BE49-F238E27FC236}">
                <a16:creationId xmlns:a16="http://schemas.microsoft.com/office/drawing/2014/main" id="{C01AE521-EFCB-4440-897B-CCF238707FBB}"/>
              </a:ext>
            </a:extLst>
          </p:cNvPr>
          <p:cNvSpPr>
            <a:spLocks noChangeShapeType="1"/>
          </p:cNvSpPr>
          <p:nvPr/>
        </p:nvSpPr>
        <p:spPr bwMode="auto">
          <a:xfrm>
            <a:off x="395288" y="6453188"/>
            <a:ext cx="8353425" cy="0"/>
          </a:xfrm>
          <a:prstGeom prst="line">
            <a:avLst/>
          </a:prstGeom>
          <a:noFill/>
          <a:ln w="9525">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5" r:id="rId3"/>
    <p:sldLayoutId id="2147483748" r:id="rId4"/>
  </p:sldLayoutIdLst>
  <p:hf hdr="0"/>
  <p:txStyles>
    <p:titleStyle>
      <a:lvl1pPr algn="ctr" rtl="0" eaLnBrk="0" fontAlgn="base" hangingPunct="0">
        <a:spcBef>
          <a:spcPct val="0"/>
        </a:spcBef>
        <a:spcAft>
          <a:spcPct val="0"/>
        </a:spcAft>
        <a:defRPr sz="4000" b="1">
          <a:solidFill>
            <a:schemeClr val="tx2"/>
          </a:solidFill>
          <a:latin typeface="Times New Roman" pitchFamily="18" charset="0"/>
          <a:ea typeface="+mj-ea"/>
          <a:cs typeface="+mj-cs"/>
        </a:defRPr>
      </a:lvl1pPr>
      <a:lvl2pPr algn="ctr" rtl="0" eaLnBrk="0" fontAlgn="base" hangingPunct="0">
        <a:spcBef>
          <a:spcPct val="0"/>
        </a:spcBef>
        <a:spcAft>
          <a:spcPct val="0"/>
        </a:spcAft>
        <a:defRPr sz="4000" b="1">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000" b="1">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000" b="1">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000" b="1">
          <a:solidFill>
            <a:schemeClr val="tx2"/>
          </a:solidFill>
          <a:latin typeface="Times New Roman" pitchFamily="18" charset="0"/>
          <a:ea typeface="宋体" pitchFamily="2" charset="-122"/>
        </a:defRPr>
      </a:lvl5pPr>
      <a:lvl6pPr marL="457200" algn="ctr" rtl="0" fontAlgn="base">
        <a:spcBef>
          <a:spcPct val="0"/>
        </a:spcBef>
        <a:spcAft>
          <a:spcPct val="0"/>
        </a:spcAft>
        <a:defRPr sz="4400" b="1">
          <a:solidFill>
            <a:schemeClr val="tx2"/>
          </a:solidFill>
          <a:latin typeface="Arial" pitchFamily="34" charset="0"/>
          <a:ea typeface="宋体" pitchFamily="2" charset="-122"/>
        </a:defRPr>
      </a:lvl6pPr>
      <a:lvl7pPr marL="914400" algn="ctr" rtl="0" fontAlgn="base">
        <a:spcBef>
          <a:spcPct val="0"/>
        </a:spcBef>
        <a:spcAft>
          <a:spcPct val="0"/>
        </a:spcAft>
        <a:defRPr sz="4400" b="1">
          <a:solidFill>
            <a:schemeClr val="tx2"/>
          </a:solidFill>
          <a:latin typeface="Arial" pitchFamily="34" charset="0"/>
          <a:ea typeface="宋体" pitchFamily="2" charset="-122"/>
        </a:defRPr>
      </a:lvl7pPr>
      <a:lvl8pPr marL="1371600" algn="ctr" rtl="0" fontAlgn="base">
        <a:spcBef>
          <a:spcPct val="0"/>
        </a:spcBef>
        <a:spcAft>
          <a:spcPct val="0"/>
        </a:spcAft>
        <a:defRPr sz="4400" b="1">
          <a:solidFill>
            <a:schemeClr val="tx2"/>
          </a:solidFill>
          <a:latin typeface="Arial" pitchFamily="34" charset="0"/>
          <a:ea typeface="宋体" pitchFamily="2" charset="-122"/>
        </a:defRPr>
      </a:lvl8pPr>
      <a:lvl9pPr marL="1828800" algn="ctr" rtl="0" fontAlgn="base">
        <a:spcBef>
          <a:spcPct val="0"/>
        </a:spcBef>
        <a:spcAft>
          <a:spcPct val="0"/>
        </a:spcAft>
        <a:defRPr sz="4400" b="1">
          <a:solidFill>
            <a:schemeClr val="tx2"/>
          </a:solidFill>
          <a:latin typeface="Arial" pitchFamily="34" charset="0"/>
          <a:ea typeface="宋体" pitchFamily="2" charset="-122"/>
        </a:defRPr>
      </a:lvl9pPr>
    </p:titleStyle>
    <p:bodyStyle>
      <a:lvl1pPr marL="342900" indent="-342900" algn="l" rtl="0" eaLnBrk="0" fontAlgn="base" hangingPunct="0">
        <a:spcBef>
          <a:spcPct val="0"/>
        </a:spcBef>
        <a:spcAft>
          <a:spcPct val="20000"/>
        </a:spcAft>
        <a:buChar char="•"/>
        <a:defRPr sz="2800" b="1">
          <a:solidFill>
            <a:schemeClr val="tx1"/>
          </a:solidFill>
          <a:latin typeface="Times New Roman" pitchFamily="18" charset="0"/>
          <a:ea typeface="+mn-ea"/>
          <a:cs typeface="+mn-cs"/>
        </a:defRPr>
      </a:lvl1pPr>
      <a:lvl2pPr marL="742950" indent="-285750" algn="l" rtl="0" eaLnBrk="0" fontAlgn="base" hangingPunct="0">
        <a:spcBef>
          <a:spcPct val="0"/>
        </a:spcBef>
        <a:spcAft>
          <a:spcPct val="20000"/>
        </a:spcAft>
        <a:buChar char="–"/>
        <a:defRPr sz="2400">
          <a:solidFill>
            <a:schemeClr val="tx1"/>
          </a:solidFill>
          <a:latin typeface="Times New Roman" pitchFamily="18" charset="0"/>
          <a:ea typeface="+mn-ea"/>
        </a:defRPr>
      </a:lvl2pPr>
      <a:lvl3pPr marL="1143000" indent="-228600" algn="l" rtl="0" eaLnBrk="0" fontAlgn="base" hangingPunct="0">
        <a:spcBef>
          <a:spcPct val="0"/>
        </a:spcBef>
        <a:spcAft>
          <a:spcPct val="20000"/>
        </a:spcAft>
        <a:buChar char="•"/>
        <a:defRPr sz="2000">
          <a:solidFill>
            <a:schemeClr val="tx1"/>
          </a:solidFill>
          <a:latin typeface="Times New Roman" pitchFamily="18" charset="0"/>
          <a:ea typeface="+mn-ea"/>
        </a:defRPr>
      </a:lvl3pPr>
      <a:lvl4pPr marL="1600200" indent="-228600" algn="l" rtl="0" eaLnBrk="0" fontAlgn="base" hangingPunct="0">
        <a:spcBef>
          <a:spcPct val="0"/>
        </a:spcBef>
        <a:spcAft>
          <a:spcPct val="20000"/>
        </a:spcAft>
        <a:buChar char="–"/>
        <a:defRPr sz="2000">
          <a:solidFill>
            <a:schemeClr val="tx1"/>
          </a:solidFill>
          <a:latin typeface="Times New Roman" pitchFamily="18" charset="0"/>
          <a:ea typeface="+mn-ea"/>
        </a:defRPr>
      </a:lvl4pPr>
      <a:lvl5pPr marL="2057400" indent="-228600" algn="l" rtl="0" eaLnBrk="0" fontAlgn="base" hangingPunct="0">
        <a:spcBef>
          <a:spcPct val="0"/>
        </a:spcBef>
        <a:spcAft>
          <a:spcPct val="20000"/>
        </a:spcAft>
        <a:buChar char="»"/>
        <a:defRPr sz="2000">
          <a:solidFill>
            <a:schemeClr val="tx1"/>
          </a:solidFill>
          <a:latin typeface="Times New Roman" pitchFamily="18" charset="0"/>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23C25F3-3B48-450C-BC80-7E83B23A4786}"/>
              </a:ext>
            </a:extLst>
          </p:cNvPr>
          <p:cNvSpPr>
            <a:spLocks noGrp="1" noChangeArrowheads="1"/>
          </p:cNvSpPr>
          <p:nvPr>
            <p:ph type="ctrTitle"/>
          </p:nvPr>
        </p:nvSpPr>
        <p:spPr>
          <a:xfrm>
            <a:off x="900113" y="1628775"/>
            <a:ext cx="7335837" cy="1728788"/>
          </a:xfrm>
        </p:spPr>
        <p:txBody>
          <a:bodyPr/>
          <a:lstStyle/>
          <a:p>
            <a:pPr eaLnBrk="1" hangingPunct="1">
              <a:lnSpc>
                <a:spcPct val="120000"/>
              </a:lnSpc>
            </a:pPr>
            <a:r>
              <a:rPr lang="zh-CN" altLang="en-US"/>
              <a:t>模拟与数字电路</a:t>
            </a:r>
            <a:br>
              <a:rPr lang="zh-CN" altLang="en-US"/>
            </a:br>
            <a:r>
              <a:rPr lang="en-US" altLang="zh-CN" sz="2400" b="0"/>
              <a:t>Analog and Digital Circuits</a:t>
            </a:r>
            <a:endParaRPr lang="zh-CN" altLang="en-US" sz="2400" b="0"/>
          </a:p>
        </p:txBody>
      </p:sp>
      <p:sp>
        <p:nvSpPr>
          <p:cNvPr id="6147" name="Text Box 4">
            <a:extLst>
              <a:ext uri="{FF2B5EF4-FFF2-40B4-BE49-F238E27FC236}">
                <a16:creationId xmlns:a16="http://schemas.microsoft.com/office/drawing/2014/main" id="{CD1A7D0A-8B6B-4E94-BF4B-01C0A5EFF4A1}"/>
              </a:ext>
            </a:extLst>
          </p:cNvPr>
          <p:cNvSpPr txBox="1">
            <a:spLocks noChangeArrowheads="1"/>
          </p:cNvSpPr>
          <p:nvPr/>
        </p:nvSpPr>
        <p:spPr bwMode="auto">
          <a:xfrm>
            <a:off x="863600" y="3933825"/>
            <a:ext cx="741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3200"/>
              <a:t>Verilog HDL </a:t>
            </a:r>
            <a:r>
              <a:rPr kumimoji="1" lang="zh-CN" altLang="en-US" sz="3200"/>
              <a:t>(</a:t>
            </a:r>
            <a:r>
              <a:rPr kumimoji="1" lang="en-US" altLang="zh-CN" sz="3200"/>
              <a:t>2)</a:t>
            </a:r>
          </a:p>
        </p:txBody>
      </p:sp>
      <p:sp>
        <p:nvSpPr>
          <p:cNvPr id="6148" name="Rectangle 4">
            <a:extLst>
              <a:ext uri="{FF2B5EF4-FFF2-40B4-BE49-F238E27FC236}">
                <a16:creationId xmlns:a16="http://schemas.microsoft.com/office/drawing/2014/main" id="{7C56BDCE-82DD-4325-99A8-ACBE2A03D68C}"/>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DADD9177-0102-4847-998C-570BA10D4F03}" type="datetime1">
              <a:rPr lang="zh-CN" altLang="en-US" sz="1800" b="0" smtClean="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6149" name="Rectangle 5">
            <a:extLst>
              <a:ext uri="{FF2B5EF4-FFF2-40B4-BE49-F238E27FC236}">
                <a16:creationId xmlns:a16="http://schemas.microsoft.com/office/drawing/2014/main" id="{A5598B20-C2ED-42CF-9C06-C43D072F4B99}"/>
              </a:ext>
            </a:extLst>
          </p:cNvPr>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kumimoji="0" lang="zh-CN" altLang="en-US" sz="1800" b="0">
                <a:solidFill>
                  <a:srgbClr val="B2B2B2"/>
                </a:solidFill>
                <a:cs typeface="Times New Roman" panose="02020603050405020304" pitchFamily="18" charset="0"/>
              </a:rPr>
              <a:t>模拟与数字电路 </a:t>
            </a:r>
            <a:r>
              <a:rPr kumimoji="0" lang="en-US" altLang="zh-CN" sz="1800" b="0">
                <a:solidFill>
                  <a:srgbClr val="B2B2B2"/>
                </a:solidFill>
                <a:cs typeface="Times New Roman" panose="02020603050405020304" pitchFamily="18" charset="0"/>
              </a:rPr>
              <a:t>— </a:t>
            </a:r>
            <a:r>
              <a:rPr lang="en-US" altLang="zh-CN" sz="1800" b="0">
                <a:solidFill>
                  <a:srgbClr val="B2B2B2"/>
                </a:solidFill>
                <a:cs typeface="Times New Roman" panose="02020603050405020304" pitchFamily="18" charset="0"/>
              </a:rPr>
              <a:t>Verilog HDL(2)</a:t>
            </a:r>
          </a:p>
        </p:txBody>
      </p:sp>
      <p:sp>
        <p:nvSpPr>
          <p:cNvPr id="6150" name="Rectangle 6">
            <a:extLst>
              <a:ext uri="{FF2B5EF4-FFF2-40B4-BE49-F238E27FC236}">
                <a16:creationId xmlns:a16="http://schemas.microsoft.com/office/drawing/2014/main" id="{74EA228C-A64E-4740-9B29-2277AA0F0ED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FB482E12-10BB-41B3-BF06-F2306282E391}" type="slidenum">
              <a:rPr lang="en-US" altLang="zh-CN" sz="1800" b="0" smtClean="0">
                <a:solidFill>
                  <a:srgbClr val="B2B2B2"/>
                </a:solidFill>
                <a:latin typeface="Arial" panose="020B0604020202020204" pitchFamily="34" charset="0"/>
              </a:rPr>
              <a:pPr>
                <a:spcAft>
                  <a:spcPct val="0"/>
                </a:spcAft>
                <a:buFontTx/>
                <a:buNone/>
              </a:pPr>
              <a:t>1</a:t>
            </a:fld>
            <a:endParaRPr lang="en-US" altLang="zh-CN" sz="1800" b="0">
              <a:solidFill>
                <a:srgbClr val="B2B2B2"/>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E88713B-AABC-42A0-A01B-23824B2849DA}"/>
              </a:ext>
            </a:extLst>
          </p:cNvPr>
          <p:cNvSpPr>
            <a:spLocks noGrp="1" noChangeArrowheads="1"/>
          </p:cNvSpPr>
          <p:nvPr>
            <p:ph type="title" idx="4294967295"/>
          </p:nvPr>
        </p:nvSpPr>
        <p:spPr/>
        <p:txBody>
          <a:bodyPr/>
          <a:lstStyle/>
          <a:p>
            <a:pPr eaLnBrk="1" hangingPunct="1"/>
            <a:r>
              <a:rPr lang="zh-CN" altLang="en-US"/>
              <a:t>内容提纲</a:t>
            </a:r>
          </a:p>
        </p:txBody>
      </p:sp>
      <p:sp>
        <p:nvSpPr>
          <p:cNvPr id="8195" name="Rectangle 3">
            <a:extLst>
              <a:ext uri="{FF2B5EF4-FFF2-40B4-BE49-F238E27FC236}">
                <a16:creationId xmlns:a16="http://schemas.microsoft.com/office/drawing/2014/main" id="{D510894A-1A32-44D1-BB28-F56C38414FEE}"/>
              </a:ext>
            </a:extLst>
          </p:cNvPr>
          <p:cNvSpPr>
            <a:spLocks noGrp="1" noChangeArrowheads="1"/>
          </p:cNvSpPr>
          <p:nvPr>
            <p:ph idx="1"/>
          </p:nvPr>
        </p:nvSpPr>
        <p:spPr/>
        <p:txBody>
          <a:bodyPr/>
          <a:lstStyle/>
          <a:p>
            <a:pPr>
              <a:spcBef>
                <a:spcPct val="30000"/>
              </a:spcBef>
            </a:pPr>
            <a:r>
              <a:rPr lang="en-US" altLang="zh-CN" dirty="0"/>
              <a:t>Verilog</a:t>
            </a:r>
            <a:r>
              <a:rPr lang="zh-CN" altLang="en-US" dirty="0"/>
              <a:t>描述锁存器和触发器</a:t>
            </a:r>
            <a:endParaRPr lang="en-US" altLang="zh-CN" dirty="0"/>
          </a:p>
          <a:p>
            <a:pPr>
              <a:spcBef>
                <a:spcPct val="30000"/>
              </a:spcBef>
            </a:pPr>
            <a:r>
              <a:rPr lang="en-US" altLang="zh-CN" dirty="0"/>
              <a:t>Verilog</a:t>
            </a:r>
            <a:r>
              <a:rPr lang="zh-CN" altLang="en-US" dirty="0"/>
              <a:t>描述有限状态机</a:t>
            </a:r>
            <a:r>
              <a:rPr lang="en-US" altLang="zh-CN" dirty="0"/>
              <a:t>(FSM)</a:t>
            </a:r>
            <a:endParaRPr lang="zh-CN" altLang="en-US" dirty="0"/>
          </a:p>
        </p:txBody>
      </p:sp>
      <p:sp>
        <p:nvSpPr>
          <p:cNvPr id="13" name="Rectangle 4">
            <a:extLst>
              <a:ext uri="{FF2B5EF4-FFF2-40B4-BE49-F238E27FC236}">
                <a16:creationId xmlns:a16="http://schemas.microsoft.com/office/drawing/2014/main" id="{720CAD8A-640D-4A84-8A9E-68B2EBE18763}"/>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14" name="Rectangle 5">
            <a:extLst>
              <a:ext uri="{FF2B5EF4-FFF2-40B4-BE49-F238E27FC236}">
                <a16:creationId xmlns:a16="http://schemas.microsoft.com/office/drawing/2014/main" id="{56604D91-06BC-4A45-98B6-83B2669A6766}"/>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15" name="Rectangle 6">
            <a:extLst>
              <a:ext uri="{FF2B5EF4-FFF2-40B4-BE49-F238E27FC236}">
                <a16:creationId xmlns:a16="http://schemas.microsoft.com/office/drawing/2014/main" id="{71C17AFB-81C2-4FFD-8C3F-EE240C3090E7}"/>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2</a:t>
            </a:fld>
            <a:endParaRPr lang="en-US" altLang="zh-CN" sz="1800" b="0">
              <a:solidFill>
                <a:srgbClr val="B2B2B2"/>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6E8A1F5-9A46-45D6-BC40-CB6CD361CB5C}"/>
              </a:ext>
            </a:extLst>
          </p:cNvPr>
          <p:cNvSpPr>
            <a:spLocks noGrp="1" noChangeArrowheads="1"/>
          </p:cNvSpPr>
          <p:nvPr>
            <p:ph type="title" idx="4294967295"/>
          </p:nvPr>
        </p:nvSpPr>
        <p:spPr/>
        <p:txBody>
          <a:bodyPr/>
          <a:lstStyle/>
          <a:p>
            <a:r>
              <a:rPr lang="en-US" altLang="zh-CN"/>
              <a:t>Verilog</a:t>
            </a:r>
            <a:r>
              <a:rPr lang="zh-CN" altLang="en-US"/>
              <a:t>过程赋值语句</a:t>
            </a:r>
          </a:p>
        </p:txBody>
      </p:sp>
      <p:sp>
        <p:nvSpPr>
          <p:cNvPr id="10243" name="Rectangle 3">
            <a:extLst>
              <a:ext uri="{FF2B5EF4-FFF2-40B4-BE49-F238E27FC236}">
                <a16:creationId xmlns:a16="http://schemas.microsoft.com/office/drawing/2014/main" id="{820D4AC7-6E55-46CA-9F06-F9DFD6CF7E2A}"/>
              </a:ext>
            </a:extLst>
          </p:cNvPr>
          <p:cNvSpPr>
            <a:spLocks noGrp="1" noChangeArrowheads="1"/>
          </p:cNvSpPr>
          <p:nvPr>
            <p:ph type="body" idx="1"/>
          </p:nvPr>
        </p:nvSpPr>
        <p:spPr>
          <a:xfrm>
            <a:off x="457200" y="1449388"/>
            <a:ext cx="7931150" cy="4932362"/>
          </a:xfrm>
        </p:spPr>
        <p:txBody>
          <a:bodyPr/>
          <a:lstStyle/>
          <a:p>
            <a:pPr>
              <a:spcAft>
                <a:spcPts val="600"/>
              </a:spcAft>
            </a:pPr>
            <a:r>
              <a:rPr lang="zh-CN" altLang="en-US" dirty="0"/>
              <a:t>用在</a:t>
            </a:r>
            <a:r>
              <a:rPr lang="en-US" altLang="zh-CN" dirty="0"/>
              <a:t>always</a:t>
            </a:r>
            <a:r>
              <a:rPr lang="zh-CN" altLang="en-US" dirty="0"/>
              <a:t>和</a:t>
            </a:r>
            <a:r>
              <a:rPr lang="en-US" altLang="zh-CN" dirty="0"/>
              <a:t>initial</a:t>
            </a:r>
            <a:r>
              <a:rPr lang="zh-CN" altLang="en-US" dirty="0"/>
              <a:t>块中，对</a:t>
            </a:r>
            <a:r>
              <a:rPr lang="en-US" altLang="zh-CN" dirty="0"/>
              <a:t>reg</a:t>
            </a:r>
            <a:r>
              <a:rPr lang="zh-CN" altLang="en-US" dirty="0"/>
              <a:t>类型变量赋值</a:t>
            </a:r>
            <a:endParaRPr lang="en-US" altLang="zh-CN" dirty="0"/>
          </a:p>
          <a:p>
            <a:pPr lvl="1">
              <a:spcAft>
                <a:spcPts val="600"/>
              </a:spcAft>
            </a:pPr>
            <a:r>
              <a:rPr lang="zh-CN" altLang="en-US" dirty="0"/>
              <a:t>建议</a:t>
            </a:r>
            <a:r>
              <a:rPr lang="en-US" altLang="zh-CN" dirty="0"/>
              <a:t>initial</a:t>
            </a:r>
            <a:r>
              <a:rPr lang="zh-CN" altLang="en-US" dirty="0"/>
              <a:t>仅用于仿真，而不用于可综合的设计</a:t>
            </a:r>
            <a:r>
              <a:rPr lang="en-US" altLang="zh-CN" dirty="0"/>
              <a:t> </a:t>
            </a:r>
            <a:endParaRPr lang="zh-CN" altLang="en-US" dirty="0"/>
          </a:p>
          <a:p>
            <a:pPr>
              <a:spcBef>
                <a:spcPts val="600"/>
              </a:spcBef>
              <a:spcAft>
                <a:spcPts val="600"/>
              </a:spcAft>
            </a:pPr>
            <a:r>
              <a:rPr lang="zh-CN" altLang="en-US" dirty="0"/>
              <a:t>两种赋值方式</a:t>
            </a:r>
          </a:p>
          <a:p>
            <a:pPr lvl="1">
              <a:spcAft>
                <a:spcPts val="600"/>
              </a:spcAft>
            </a:pPr>
            <a:r>
              <a:rPr lang="zh-CN" altLang="en-US" sz="2800" dirty="0"/>
              <a:t>阻塞 </a:t>
            </a:r>
            <a:r>
              <a:rPr lang="en-US" altLang="zh-CN" sz="2800" dirty="0"/>
              <a:t>(blocking) </a:t>
            </a:r>
            <a:r>
              <a:rPr lang="zh-CN" altLang="en-US" sz="2800" dirty="0"/>
              <a:t>赋值语句 </a:t>
            </a:r>
            <a:r>
              <a:rPr lang="en-US" altLang="zh-CN" sz="2800" dirty="0"/>
              <a:t>( = )</a:t>
            </a:r>
            <a:endParaRPr lang="zh-CN" altLang="en-US" sz="2800" dirty="0"/>
          </a:p>
          <a:p>
            <a:pPr lvl="2">
              <a:spcAft>
                <a:spcPts val="600"/>
              </a:spcAft>
            </a:pPr>
            <a:r>
              <a:rPr lang="zh-CN" altLang="en-US" sz="2400" dirty="0"/>
              <a:t>块内的赋值语句顺序执行，完成一条赋值语句后才能做下一句的操作</a:t>
            </a:r>
            <a:endParaRPr lang="en-US" altLang="zh-CN" sz="2400" dirty="0"/>
          </a:p>
          <a:p>
            <a:pPr lvl="2">
              <a:spcAft>
                <a:spcPts val="600"/>
              </a:spcAft>
            </a:pPr>
            <a:r>
              <a:rPr lang="zh-CN" altLang="en-US" sz="2400" dirty="0">
                <a:solidFill>
                  <a:srgbClr val="0000FF"/>
                </a:solidFill>
              </a:rPr>
              <a:t>推荐描述组合电路</a:t>
            </a:r>
          </a:p>
          <a:p>
            <a:pPr lvl="1">
              <a:spcAft>
                <a:spcPts val="600"/>
              </a:spcAft>
            </a:pPr>
            <a:r>
              <a:rPr lang="zh-CN" altLang="en-US" sz="2800" dirty="0"/>
              <a:t>非阻塞 </a:t>
            </a:r>
            <a:r>
              <a:rPr lang="en-US" altLang="zh-CN" sz="2800" dirty="0"/>
              <a:t>(non-blocking) </a:t>
            </a:r>
            <a:r>
              <a:rPr lang="zh-CN" altLang="en-US" sz="2800" dirty="0"/>
              <a:t>赋值语句 </a:t>
            </a:r>
            <a:r>
              <a:rPr lang="en-US" altLang="zh-CN" sz="2800" dirty="0"/>
              <a:t>( &lt;= )</a:t>
            </a:r>
            <a:endParaRPr lang="zh-CN" altLang="en-US" sz="2800" dirty="0"/>
          </a:p>
          <a:p>
            <a:pPr lvl="2">
              <a:spcAft>
                <a:spcPts val="600"/>
              </a:spcAft>
            </a:pPr>
            <a:r>
              <a:rPr lang="zh-CN" altLang="en-US" sz="2400" dirty="0"/>
              <a:t>块内的赋值语句并发执行，即同时赋值</a:t>
            </a:r>
            <a:endParaRPr lang="en-US" altLang="zh-CN" sz="2400" dirty="0"/>
          </a:p>
          <a:p>
            <a:pPr lvl="2">
              <a:spcAft>
                <a:spcPts val="600"/>
              </a:spcAft>
            </a:pPr>
            <a:r>
              <a:rPr lang="zh-CN" altLang="en-US" sz="2400" dirty="0">
                <a:solidFill>
                  <a:srgbClr val="0000FF"/>
                </a:solidFill>
              </a:rPr>
              <a:t>推荐描述时序电路</a:t>
            </a:r>
          </a:p>
          <a:p>
            <a:pPr lvl="1">
              <a:spcAft>
                <a:spcPts val="600"/>
              </a:spcAft>
            </a:pPr>
            <a:endParaRPr lang="zh-CN" altLang="en-US" dirty="0"/>
          </a:p>
        </p:txBody>
      </p:sp>
      <p:sp>
        <p:nvSpPr>
          <p:cNvPr id="4" name="Rectangle 4">
            <a:extLst>
              <a:ext uri="{FF2B5EF4-FFF2-40B4-BE49-F238E27FC236}">
                <a16:creationId xmlns:a16="http://schemas.microsoft.com/office/drawing/2014/main" id="{7E2BC04C-68CD-4511-9388-DDB38DA28DAC}"/>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5" name="Rectangle 5">
            <a:extLst>
              <a:ext uri="{FF2B5EF4-FFF2-40B4-BE49-F238E27FC236}">
                <a16:creationId xmlns:a16="http://schemas.microsoft.com/office/drawing/2014/main" id="{B40CB277-42E1-4077-A338-38341CADA53C}"/>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6" name="Rectangle 6">
            <a:extLst>
              <a:ext uri="{FF2B5EF4-FFF2-40B4-BE49-F238E27FC236}">
                <a16:creationId xmlns:a16="http://schemas.microsoft.com/office/drawing/2014/main" id="{4BC9622C-8B38-4BFB-AFC2-9C324B775320}"/>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3</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24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B15CF74-45D7-48F2-AFC5-06B066CAB728}"/>
              </a:ext>
            </a:extLst>
          </p:cNvPr>
          <p:cNvSpPr>
            <a:spLocks noGrp="1" noChangeArrowheads="1"/>
          </p:cNvSpPr>
          <p:nvPr>
            <p:ph type="title" idx="4294967295"/>
          </p:nvPr>
        </p:nvSpPr>
        <p:spPr/>
        <p:txBody>
          <a:bodyPr/>
          <a:lstStyle/>
          <a:p>
            <a:r>
              <a:rPr lang="en-US" altLang="zh-CN"/>
              <a:t>Verilog</a:t>
            </a:r>
            <a:r>
              <a:rPr lang="zh-CN" altLang="en-US"/>
              <a:t>描述</a:t>
            </a:r>
            <a:r>
              <a:rPr lang="en-US" altLang="zh-CN"/>
              <a:t>D</a:t>
            </a:r>
            <a:r>
              <a:rPr lang="zh-CN" altLang="en-US"/>
              <a:t>锁存器和触发器</a:t>
            </a:r>
          </a:p>
        </p:txBody>
      </p:sp>
      <p:sp>
        <p:nvSpPr>
          <p:cNvPr id="12291" name="Rectangle 3">
            <a:extLst>
              <a:ext uri="{FF2B5EF4-FFF2-40B4-BE49-F238E27FC236}">
                <a16:creationId xmlns:a16="http://schemas.microsoft.com/office/drawing/2014/main" id="{2EAB5E5C-0591-4C44-9BC9-5622217861A3}"/>
              </a:ext>
            </a:extLst>
          </p:cNvPr>
          <p:cNvSpPr>
            <a:spLocks noGrp="1" noChangeArrowheads="1"/>
          </p:cNvSpPr>
          <p:nvPr>
            <p:ph type="body" idx="1"/>
          </p:nvPr>
        </p:nvSpPr>
        <p:spPr>
          <a:xfrm>
            <a:off x="4797425" y="1412875"/>
            <a:ext cx="3987800" cy="4525963"/>
          </a:xfrm>
        </p:spPr>
        <p:txBody>
          <a:bodyPr/>
          <a:lstStyle/>
          <a:p>
            <a:pPr>
              <a:spcBef>
                <a:spcPts val="0"/>
              </a:spcBef>
              <a:spcAft>
                <a:spcPts val="600"/>
              </a:spcAft>
              <a:buFontTx/>
              <a:buNone/>
            </a:pPr>
            <a:r>
              <a:rPr lang="en-US" altLang="zh-CN" sz="2400" b="0" dirty="0"/>
              <a:t>module  </a:t>
            </a:r>
            <a:r>
              <a:rPr lang="en-US" altLang="zh-CN" sz="2400" b="0" dirty="0" err="1"/>
              <a:t>d_flipflop</a:t>
            </a:r>
            <a:r>
              <a:rPr lang="en-US" altLang="zh-CN" sz="2400" b="0" dirty="0"/>
              <a:t> (</a:t>
            </a:r>
          </a:p>
          <a:p>
            <a:pPr lvl="1">
              <a:spcBef>
                <a:spcPts val="0"/>
              </a:spcBef>
              <a:spcAft>
                <a:spcPts val="600"/>
              </a:spcAft>
              <a:buFontTx/>
              <a:buNone/>
            </a:pPr>
            <a:r>
              <a:rPr lang="en-US" altLang="zh-CN" dirty="0"/>
              <a:t>input c, d,</a:t>
            </a:r>
          </a:p>
          <a:p>
            <a:pPr lvl="1">
              <a:spcBef>
                <a:spcPts val="0"/>
              </a:spcBef>
              <a:spcAft>
                <a:spcPts val="600"/>
              </a:spcAft>
              <a:buFontTx/>
              <a:buNone/>
            </a:pPr>
            <a:r>
              <a:rPr lang="en-US" altLang="zh-CN" dirty="0"/>
              <a:t>output q, </a:t>
            </a:r>
            <a:r>
              <a:rPr lang="en-US" altLang="zh-CN" dirty="0" err="1"/>
              <a:t>qn</a:t>
            </a:r>
            <a:endParaRPr lang="en-US" altLang="zh-CN" dirty="0"/>
          </a:p>
          <a:p>
            <a:pPr lvl="1">
              <a:spcBef>
                <a:spcPts val="0"/>
              </a:spcBef>
              <a:spcAft>
                <a:spcPts val="600"/>
              </a:spcAft>
              <a:buFontTx/>
              <a:buNone/>
            </a:pPr>
            <a:r>
              <a:rPr lang="en-US" altLang="zh-CN" dirty="0"/>
              <a:t>);</a:t>
            </a:r>
          </a:p>
          <a:p>
            <a:pPr lvl="1">
              <a:spcBef>
                <a:spcPts val="0"/>
              </a:spcBef>
              <a:spcAft>
                <a:spcPts val="600"/>
              </a:spcAft>
              <a:buFontTx/>
              <a:buNone/>
            </a:pPr>
            <a:r>
              <a:rPr lang="en-US" altLang="zh-CN" dirty="0"/>
              <a:t>reg q;</a:t>
            </a:r>
          </a:p>
          <a:p>
            <a:pPr lvl="1">
              <a:spcBef>
                <a:spcPts val="0"/>
              </a:spcBef>
              <a:spcAft>
                <a:spcPts val="600"/>
              </a:spcAft>
              <a:buFontTx/>
              <a:buNone/>
            </a:pPr>
            <a:r>
              <a:rPr lang="en-US" altLang="zh-CN" dirty="0"/>
              <a:t>assign </a:t>
            </a:r>
            <a:r>
              <a:rPr lang="en-US" altLang="zh-CN" dirty="0" err="1"/>
              <a:t>qn</a:t>
            </a:r>
            <a:r>
              <a:rPr lang="en-US" altLang="zh-CN" dirty="0"/>
              <a:t> = ~q;</a:t>
            </a:r>
          </a:p>
          <a:p>
            <a:pPr lvl="1">
              <a:spcBef>
                <a:spcPts val="0"/>
              </a:spcBef>
              <a:spcAft>
                <a:spcPts val="600"/>
              </a:spcAft>
              <a:buFontTx/>
              <a:buNone/>
            </a:pPr>
            <a:r>
              <a:rPr lang="en-US" altLang="zh-CN" dirty="0"/>
              <a:t>always @(</a:t>
            </a:r>
            <a:r>
              <a:rPr lang="en-US" altLang="zh-CN" dirty="0" err="1">
                <a:solidFill>
                  <a:srgbClr val="0000FF"/>
                </a:solidFill>
              </a:rPr>
              <a:t>posedge</a:t>
            </a:r>
            <a:r>
              <a:rPr lang="en-US" altLang="zh-CN" dirty="0">
                <a:solidFill>
                  <a:srgbClr val="0000FF"/>
                </a:solidFill>
              </a:rPr>
              <a:t> c</a:t>
            </a:r>
            <a:r>
              <a:rPr lang="en-US" altLang="zh-CN" dirty="0"/>
              <a:t>)</a:t>
            </a:r>
          </a:p>
          <a:p>
            <a:pPr lvl="1">
              <a:spcBef>
                <a:spcPts val="0"/>
              </a:spcBef>
              <a:spcAft>
                <a:spcPts val="600"/>
              </a:spcAft>
              <a:buFontTx/>
              <a:buNone/>
            </a:pPr>
            <a:r>
              <a:rPr lang="en-US" altLang="zh-CN" dirty="0"/>
              <a:t>	q &lt;= d;</a:t>
            </a:r>
          </a:p>
          <a:p>
            <a:pPr>
              <a:spcBef>
                <a:spcPts val="0"/>
              </a:spcBef>
              <a:spcAft>
                <a:spcPts val="600"/>
              </a:spcAft>
              <a:buFontTx/>
              <a:buNone/>
            </a:pPr>
            <a:r>
              <a:rPr lang="en-US" altLang="zh-CN" sz="2400" b="0" dirty="0" err="1"/>
              <a:t>endmodule</a:t>
            </a:r>
            <a:endParaRPr lang="en-US" altLang="zh-CN" sz="2400" b="0" dirty="0"/>
          </a:p>
        </p:txBody>
      </p:sp>
      <p:sp>
        <p:nvSpPr>
          <p:cNvPr id="12292" name="Rectangle 4">
            <a:extLst>
              <a:ext uri="{FF2B5EF4-FFF2-40B4-BE49-F238E27FC236}">
                <a16:creationId xmlns:a16="http://schemas.microsoft.com/office/drawing/2014/main" id="{2C55D9D1-4B75-4A4C-BC74-9CA4F792D55D}"/>
              </a:ext>
            </a:extLst>
          </p:cNvPr>
          <p:cNvSpPr>
            <a:spLocks noChangeArrowheads="1"/>
          </p:cNvSpPr>
          <p:nvPr/>
        </p:nvSpPr>
        <p:spPr bwMode="auto">
          <a:xfrm>
            <a:off x="457200" y="1439863"/>
            <a:ext cx="379095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Bef>
                <a:spcPts val="0"/>
              </a:spcBef>
              <a:spcAft>
                <a:spcPts val="600"/>
              </a:spcAft>
              <a:buFontTx/>
              <a:buNone/>
            </a:pPr>
            <a:r>
              <a:rPr lang="en-US" altLang="zh-CN" sz="2400" b="0" dirty="0"/>
              <a:t>module  </a:t>
            </a:r>
            <a:r>
              <a:rPr lang="en-US" altLang="zh-CN" sz="2400" b="0" dirty="0" err="1"/>
              <a:t>d_latch</a:t>
            </a:r>
            <a:r>
              <a:rPr lang="en-US" altLang="zh-CN" sz="2400" b="0" dirty="0"/>
              <a:t> (</a:t>
            </a:r>
          </a:p>
          <a:p>
            <a:pPr lvl="1">
              <a:spcBef>
                <a:spcPts val="0"/>
              </a:spcBef>
              <a:spcAft>
                <a:spcPts val="600"/>
              </a:spcAft>
              <a:buFontTx/>
              <a:buNone/>
            </a:pPr>
            <a:r>
              <a:rPr lang="en-US" altLang="zh-CN" dirty="0"/>
              <a:t>input c, d,</a:t>
            </a:r>
          </a:p>
          <a:p>
            <a:pPr lvl="1">
              <a:spcBef>
                <a:spcPts val="0"/>
              </a:spcBef>
              <a:spcAft>
                <a:spcPts val="600"/>
              </a:spcAft>
              <a:buFontTx/>
              <a:buNone/>
            </a:pPr>
            <a:r>
              <a:rPr lang="en-US" altLang="zh-CN" dirty="0"/>
              <a:t>output q, </a:t>
            </a:r>
            <a:r>
              <a:rPr lang="en-US" altLang="zh-CN" dirty="0" err="1"/>
              <a:t>qn</a:t>
            </a:r>
            <a:endParaRPr lang="en-US" altLang="zh-CN" dirty="0"/>
          </a:p>
          <a:p>
            <a:pPr lvl="1">
              <a:spcBef>
                <a:spcPts val="0"/>
              </a:spcBef>
              <a:spcAft>
                <a:spcPts val="600"/>
              </a:spcAft>
              <a:buFontTx/>
              <a:buNone/>
            </a:pPr>
            <a:r>
              <a:rPr lang="en-US" altLang="zh-CN" dirty="0"/>
              <a:t>);</a:t>
            </a:r>
          </a:p>
          <a:p>
            <a:pPr lvl="1">
              <a:spcBef>
                <a:spcPts val="0"/>
              </a:spcBef>
              <a:spcAft>
                <a:spcPts val="600"/>
              </a:spcAft>
              <a:buFontTx/>
              <a:buNone/>
            </a:pPr>
            <a:r>
              <a:rPr lang="en-US" altLang="zh-CN" dirty="0"/>
              <a:t>reg q;</a:t>
            </a:r>
          </a:p>
          <a:p>
            <a:pPr lvl="1">
              <a:spcBef>
                <a:spcPts val="0"/>
              </a:spcBef>
              <a:spcAft>
                <a:spcPts val="600"/>
              </a:spcAft>
              <a:buFontTx/>
              <a:buNone/>
            </a:pPr>
            <a:r>
              <a:rPr lang="en-US" altLang="zh-CN" dirty="0"/>
              <a:t>assign </a:t>
            </a:r>
            <a:r>
              <a:rPr lang="en-US" altLang="zh-CN" dirty="0" err="1"/>
              <a:t>qn</a:t>
            </a:r>
            <a:r>
              <a:rPr lang="en-US" altLang="zh-CN" dirty="0"/>
              <a:t> = ~q;</a:t>
            </a:r>
          </a:p>
          <a:p>
            <a:pPr lvl="1">
              <a:spcBef>
                <a:spcPts val="0"/>
              </a:spcBef>
              <a:spcAft>
                <a:spcPts val="600"/>
              </a:spcAft>
              <a:buFontTx/>
              <a:buNone/>
            </a:pPr>
            <a:r>
              <a:rPr lang="en-US" altLang="zh-CN" dirty="0"/>
              <a:t>always @(</a:t>
            </a:r>
            <a:r>
              <a:rPr lang="en-US" altLang="zh-CN" dirty="0">
                <a:solidFill>
                  <a:srgbClr val="0000FF"/>
                </a:solidFill>
              </a:rPr>
              <a:t>*)</a:t>
            </a:r>
            <a:endParaRPr lang="en-US" altLang="zh-CN" dirty="0"/>
          </a:p>
          <a:p>
            <a:pPr lvl="1">
              <a:spcBef>
                <a:spcPts val="0"/>
              </a:spcBef>
              <a:spcAft>
                <a:spcPts val="600"/>
              </a:spcAft>
              <a:buFontTx/>
              <a:buNone/>
            </a:pPr>
            <a:r>
              <a:rPr lang="en-US" altLang="zh-CN" dirty="0"/>
              <a:t>	if (c) q &lt;= d;</a:t>
            </a:r>
          </a:p>
          <a:p>
            <a:pPr>
              <a:spcBef>
                <a:spcPts val="0"/>
              </a:spcBef>
              <a:spcAft>
                <a:spcPts val="600"/>
              </a:spcAft>
              <a:buFontTx/>
              <a:buNone/>
            </a:pPr>
            <a:r>
              <a:rPr lang="en-US" altLang="zh-CN" sz="2400" b="0" dirty="0" err="1"/>
              <a:t>endmodule</a:t>
            </a:r>
            <a:endParaRPr lang="en-US" altLang="zh-CN" sz="2400" b="0" dirty="0"/>
          </a:p>
          <a:p>
            <a:pPr>
              <a:spcBef>
                <a:spcPts val="0"/>
              </a:spcBef>
              <a:spcAft>
                <a:spcPts val="600"/>
              </a:spcAft>
              <a:buFontTx/>
              <a:buNone/>
            </a:pPr>
            <a:endParaRPr lang="zh-CN" altLang="en-US" sz="2400" b="0" dirty="0"/>
          </a:p>
        </p:txBody>
      </p:sp>
      <p:grpSp>
        <p:nvGrpSpPr>
          <p:cNvPr id="12293" name="组合 1">
            <a:extLst>
              <a:ext uri="{FF2B5EF4-FFF2-40B4-BE49-F238E27FC236}">
                <a16:creationId xmlns:a16="http://schemas.microsoft.com/office/drawing/2014/main" id="{19DCC993-5C3A-4A8C-9FCE-94CFA6500393}"/>
              </a:ext>
            </a:extLst>
          </p:cNvPr>
          <p:cNvGrpSpPr>
            <a:grpSpLocks/>
          </p:cNvGrpSpPr>
          <p:nvPr/>
        </p:nvGrpSpPr>
        <p:grpSpPr bwMode="auto">
          <a:xfrm>
            <a:off x="2846388" y="5121275"/>
            <a:ext cx="1438275" cy="1152525"/>
            <a:chOff x="2701925" y="5121275"/>
            <a:chExt cx="1438275" cy="1152525"/>
          </a:xfrm>
        </p:grpSpPr>
        <p:sp>
          <p:nvSpPr>
            <p:cNvPr id="12310" name="Line 5">
              <a:extLst>
                <a:ext uri="{FF2B5EF4-FFF2-40B4-BE49-F238E27FC236}">
                  <a16:creationId xmlns:a16="http://schemas.microsoft.com/office/drawing/2014/main" id="{C564BF01-C112-475B-A4D2-DF0DEEDC6977}"/>
                </a:ext>
              </a:extLst>
            </p:cNvPr>
            <p:cNvSpPr>
              <a:spLocks noChangeShapeType="1"/>
            </p:cNvSpPr>
            <p:nvPr/>
          </p:nvSpPr>
          <p:spPr bwMode="auto">
            <a:xfrm>
              <a:off x="3827463" y="5913438"/>
              <a:ext cx="3127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1" name="Rectangle 6">
              <a:extLst>
                <a:ext uri="{FF2B5EF4-FFF2-40B4-BE49-F238E27FC236}">
                  <a16:creationId xmlns:a16="http://schemas.microsoft.com/office/drawing/2014/main" id="{5CA3A8C8-A15F-402B-894F-9A5CEE68A1FC}"/>
                </a:ext>
              </a:extLst>
            </p:cNvPr>
            <p:cNvSpPr>
              <a:spLocks noChangeArrowheads="1"/>
            </p:cNvSpPr>
            <p:nvPr/>
          </p:nvSpPr>
          <p:spPr bwMode="auto">
            <a:xfrm>
              <a:off x="2989263" y="5121275"/>
              <a:ext cx="838200" cy="11525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600" b="0">
                <a:latin typeface="Arial" panose="020B0604020202020204" pitchFamily="34" charset="0"/>
              </a:endParaRPr>
            </a:p>
          </p:txBody>
        </p:sp>
        <p:sp>
          <p:nvSpPr>
            <p:cNvPr id="12312" name="Text Box 7">
              <a:extLst>
                <a:ext uri="{FF2B5EF4-FFF2-40B4-BE49-F238E27FC236}">
                  <a16:creationId xmlns:a16="http://schemas.microsoft.com/office/drawing/2014/main" id="{4A67E5D9-CE57-4C12-BA0E-D2115B17F1A3}"/>
                </a:ext>
              </a:extLst>
            </p:cNvPr>
            <p:cNvSpPr txBox="1">
              <a:spLocks noChangeArrowheads="1"/>
            </p:cNvSpPr>
            <p:nvPr/>
          </p:nvSpPr>
          <p:spPr bwMode="auto">
            <a:xfrm>
              <a:off x="2952750" y="5289550"/>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D</a:t>
              </a:r>
            </a:p>
          </p:txBody>
        </p:sp>
        <p:sp>
          <p:nvSpPr>
            <p:cNvPr id="12313" name="Text Box 8">
              <a:extLst>
                <a:ext uri="{FF2B5EF4-FFF2-40B4-BE49-F238E27FC236}">
                  <a16:creationId xmlns:a16="http://schemas.microsoft.com/office/drawing/2014/main" id="{88C728A1-E43F-42DE-8BEF-D8548214D1B3}"/>
                </a:ext>
              </a:extLst>
            </p:cNvPr>
            <p:cNvSpPr txBox="1">
              <a:spLocks noChangeArrowheads="1"/>
            </p:cNvSpPr>
            <p:nvPr/>
          </p:nvSpPr>
          <p:spPr bwMode="auto">
            <a:xfrm>
              <a:off x="3471863" y="5289550"/>
              <a:ext cx="3635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Q</a:t>
              </a:r>
            </a:p>
          </p:txBody>
        </p:sp>
        <p:sp>
          <p:nvSpPr>
            <p:cNvPr id="12314" name="Text Box 9">
              <a:extLst>
                <a:ext uri="{FF2B5EF4-FFF2-40B4-BE49-F238E27FC236}">
                  <a16:creationId xmlns:a16="http://schemas.microsoft.com/office/drawing/2014/main" id="{ECF49A2E-4DDA-4642-9ED3-6E1863E1016D}"/>
                </a:ext>
              </a:extLst>
            </p:cNvPr>
            <p:cNvSpPr txBox="1">
              <a:spLocks noChangeArrowheads="1"/>
            </p:cNvSpPr>
            <p:nvPr/>
          </p:nvSpPr>
          <p:spPr bwMode="auto">
            <a:xfrm>
              <a:off x="3457575" y="5697538"/>
              <a:ext cx="363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Q</a:t>
              </a:r>
            </a:p>
          </p:txBody>
        </p:sp>
        <p:sp>
          <p:nvSpPr>
            <p:cNvPr id="12315" name="Oval 11">
              <a:extLst>
                <a:ext uri="{FF2B5EF4-FFF2-40B4-BE49-F238E27FC236}">
                  <a16:creationId xmlns:a16="http://schemas.microsoft.com/office/drawing/2014/main" id="{BCB1F2DC-6AC9-4BD0-A204-2B3B9205DC14}"/>
                </a:ext>
              </a:extLst>
            </p:cNvPr>
            <p:cNvSpPr>
              <a:spLocks noChangeArrowheads="1"/>
            </p:cNvSpPr>
            <p:nvPr/>
          </p:nvSpPr>
          <p:spPr bwMode="auto">
            <a:xfrm>
              <a:off x="3830638" y="5854700"/>
              <a:ext cx="130175" cy="1301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600" b="0">
                <a:latin typeface="Arial" panose="020B0604020202020204" pitchFamily="34" charset="0"/>
              </a:endParaRPr>
            </a:p>
          </p:txBody>
        </p:sp>
        <p:sp>
          <p:nvSpPr>
            <p:cNvPr id="12316" name="Line 12">
              <a:extLst>
                <a:ext uri="{FF2B5EF4-FFF2-40B4-BE49-F238E27FC236}">
                  <a16:creationId xmlns:a16="http://schemas.microsoft.com/office/drawing/2014/main" id="{3581A53F-CC91-405B-A16C-D9A1DA39C763}"/>
                </a:ext>
              </a:extLst>
            </p:cNvPr>
            <p:cNvSpPr>
              <a:spLocks noChangeShapeType="1"/>
            </p:cNvSpPr>
            <p:nvPr/>
          </p:nvSpPr>
          <p:spPr bwMode="auto">
            <a:xfrm>
              <a:off x="2701925" y="5481638"/>
              <a:ext cx="276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7" name="Line 13">
              <a:extLst>
                <a:ext uri="{FF2B5EF4-FFF2-40B4-BE49-F238E27FC236}">
                  <a16:creationId xmlns:a16="http://schemas.microsoft.com/office/drawing/2014/main" id="{70536637-4EED-45A5-A46F-7BA273942651}"/>
                </a:ext>
              </a:extLst>
            </p:cNvPr>
            <p:cNvSpPr>
              <a:spLocks noChangeShapeType="1"/>
            </p:cNvSpPr>
            <p:nvPr/>
          </p:nvSpPr>
          <p:spPr bwMode="auto">
            <a:xfrm>
              <a:off x="2701925" y="5910263"/>
              <a:ext cx="276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8" name="Line 14">
              <a:extLst>
                <a:ext uri="{FF2B5EF4-FFF2-40B4-BE49-F238E27FC236}">
                  <a16:creationId xmlns:a16="http://schemas.microsoft.com/office/drawing/2014/main" id="{A6057C0F-ACF7-484E-B1F4-CC623113AE13}"/>
                </a:ext>
              </a:extLst>
            </p:cNvPr>
            <p:cNvSpPr>
              <a:spLocks noChangeShapeType="1"/>
            </p:cNvSpPr>
            <p:nvPr/>
          </p:nvSpPr>
          <p:spPr bwMode="auto">
            <a:xfrm>
              <a:off x="3827463" y="5481638"/>
              <a:ext cx="3127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9" name="Text Box 15">
              <a:extLst>
                <a:ext uri="{FF2B5EF4-FFF2-40B4-BE49-F238E27FC236}">
                  <a16:creationId xmlns:a16="http://schemas.microsoft.com/office/drawing/2014/main" id="{23E704D8-4776-4B30-8C4B-708D1444EC09}"/>
                </a:ext>
              </a:extLst>
            </p:cNvPr>
            <p:cNvSpPr txBox="1">
              <a:spLocks noChangeArrowheads="1"/>
            </p:cNvSpPr>
            <p:nvPr/>
          </p:nvSpPr>
          <p:spPr bwMode="auto">
            <a:xfrm>
              <a:off x="2967038" y="5721350"/>
              <a:ext cx="35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C</a:t>
              </a:r>
            </a:p>
          </p:txBody>
        </p:sp>
      </p:grpSp>
      <p:grpSp>
        <p:nvGrpSpPr>
          <p:cNvPr id="12294" name="组合 2">
            <a:extLst>
              <a:ext uri="{FF2B5EF4-FFF2-40B4-BE49-F238E27FC236}">
                <a16:creationId xmlns:a16="http://schemas.microsoft.com/office/drawing/2014/main" id="{CB092FFF-2DC7-49FB-87DB-9CD23CEDAAEE}"/>
              </a:ext>
            </a:extLst>
          </p:cNvPr>
          <p:cNvGrpSpPr>
            <a:grpSpLocks/>
          </p:cNvGrpSpPr>
          <p:nvPr/>
        </p:nvGrpSpPr>
        <p:grpSpPr bwMode="auto">
          <a:xfrm>
            <a:off x="6767513" y="5121275"/>
            <a:ext cx="1438275" cy="1152525"/>
            <a:chOff x="6767513" y="5121275"/>
            <a:chExt cx="1438275" cy="1152525"/>
          </a:xfrm>
        </p:grpSpPr>
        <p:sp>
          <p:nvSpPr>
            <p:cNvPr id="12299" name="Rectangle 16">
              <a:extLst>
                <a:ext uri="{FF2B5EF4-FFF2-40B4-BE49-F238E27FC236}">
                  <a16:creationId xmlns:a16="http://schemas.microsoft.com/office/drawing/2014/main" id="{1C3D6FE5-42BB-4B6B-9FE6-1D5FB47C24EE}"/>
                </a:ext>
              </a:extLst>
            </p:cNvPr>
            <p:cNvSpPr>
              <a:spLocks noChangeArrowheads="1"/>
            </p:cNvSpPr>
            <p:nvPr/>
          </p:nvSpPr>
          <p:spPr bwMode="auto">
            <a:xfrm>
              <a:off x="7054850" y="5121275"/>
              <a:ext cx="838200" cy="11525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600" b="0">
                <a:latin typeface="Arial" panose="020B0604020202020204" pitchFamily="34" charset="0"/>
              </a:endParaRPr>
            </a:p>
          </p:txBody>
        </p:sp>
        <p:sp>
          <p:nvSpPr>
            <p:cNvPr id="12300" name="Line 17">
              <a:extLst>
                <a:ext uri="{FF2B5EF4-FFF2-40B4-BE49-F238E27FC236}">
                  <a16:creationId xmlns:a16="http://schemas.microsoft.com/office/drawing/2014/main" id="{8FF80C27-08A6-47BF-A4AC-02D3D6471CF1}"/>
                </a:ext>
              </a:extLst>
            </p:cNvPr>
            <p:cNvSpPr>
              <a:spLocks noChangeShapeType="1"/>
            </p:cNvSpPr>
            <p:nvPr/>
          </p:nvSpPr>
          <p:spPr bwMode="auto">
            <a:xfrm>
              <a:off x="6767513" y="5481638"/>
              <a:ext cx="276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1" name="Line 18">
              <a:extLst>
                <a:ext uri="{FF2B5EF4-FFF2-40B4-BE49-F238E27FC236}">
                  <a16:creationId xmlns:a16="http://schemas.microsoft.com/office/drawing/2014/main" id="{7E837440-933E-44EA-BCEA-F6EBBFB9646E}"/>
                </a:ext>
              </a:extLst>
            </p:cNvPr>
            <p:cNvSpPr>
              <a:spLocks noChangeShapeType="1"/>
            </p:cNvSpPr>
            <p:nvPr/>
          </p:nvSpPr>
          <p:spPr bwMode="auto">
            <a:xfrm>
              <a:off x="6767513" y="5910263"/>
              <a:ext cx="276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2" name="Text Box 19">
              <a:extLst>
                <a:ext uri="{FF2B5EF4-FFF2-40B4-BE49-F238E27FC236}">
                  <a16:creationId xmlns:a16="http://schemas.microsoft.com/office/drawing/2014/main" id="{6200FD7A-7AD9-4E80-BFCB-0D4B7DD95C7B}"/>
                </a:ext>
              </a:extLst>
            </p:cNvPr>
            <p:cNvSpPr txBox="1">
              <a:spLocks noChangeArrowheads="1"/>
            </p:cNvSpPr>
            <p:nvPr/>
          </p:nvSpPr>
          <p:spPr bwMode="auto">
            <a:xfrm>
              <a:off x="7018338" y="5289550"/>
              <a:ext cx="35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D</a:t>
              </a:r>
            </a:p>
          </p:txBody>
        </p:sp>
        <p:sp>
          <p:nvSpPr>
            <p:cNvPr id="12303" name="Text Box 20">
              <a:extLst>
                <a:ext uri="{FF2B5EF4-FFF2-40B4-BE49-F238E27FC236}">
                  <a16:creationId xmlns:a16="http://schemas.microsoft.com/office/drawing/2014/main" id="{F783B474-0AA2-473E-94B2-C370D6AE7A5F}"/>
                </a:ext>
              </a:extLst>
            </p:cNvPr>
            <p:cNvSpPr txBox="1">
              <a:spLocks noChangeArrowheads="1"/>
            </p:cNvSpPr>
            <p:nvPr/>
          </p:nvSpPr>
          <p:spPr bwMode="auto">
            <a:xfrm>
              <a:off x="7537450" y="5289550"/>
              <a:ext cx="363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Q</a:t>
              </a:r>
            </a:p>
          </p:txBody>
        </p:sp>
        <p:sp>
          <p:nvSpPr>
            <p:cNvPr id="12304" name="AutoShape 21">
              <a:extLst>
                <a:ext uri="{FF2B5EF4-FFF2-40B4-BE49-F238E27FC236}">
                  <a16:creationId xmlns:a16="http://schemas.microsoft.com/office/drawing/2014/main" id="{DFF13158-EFED-48A0-B6B3-FC8FF210B33B}"/>
                </a:ext>
              </a:extLst>
            </p:cNvPr>
            <p:cNvSpPr>
              <a:spLocks noChangeArrowheads="1"/>
            </p:cNvSpPr>
            <p:nvPr/>
          </p:nvSpPr>
          <p:spPr bwMode="auto">
            <a:xfrm rot="5400000">
              <a:off x="7038976" y="5826125"/>
              <a:ext cx="215900" cy="174625"/>
            </a:xfrm>
            <a:prstGeom prst="flowChartExtra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600" b="0">
                <a:latin typeface="Arial" panose="020B0604020202020204" pitchFamily="34" charset="0"/>
              </a:endParaRPr>
            </a:p>
          </p:txBody>
        </p:sp>
        <p:sp>
          <p:nvSpPr>
            <p:cNvPr id="12305" name="Text Box 22">
              <a:extLst>
                <a:ext uri="{FF2B5EF4-FFF2-40B4-BE49-F238E27FC236}">
                  <a16:creationId xmlns:a16="http://schemas.microsoft.com/office/drawing/2014/main" id="{7FE4C15D-D544-45C5-8533-D893D80EBCB1}"/>
                </a:ext>
              </a:extLst>
            </p:cNvPr>
            <p:cNvSpPr txBox="1">
              <a:spLocks noChangeArrowheads="1"/>
            </p:cNvSpPr>
            <p:nvPr/>
          </p:nvSpPr>
          <p:spPr bwMode="auto">
            <a:xfrm>
              <a:off x="7523163" y="5697538"/>
              <a:ext cx="363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Q</a:t>
              </a:r>
            </a:p>
          </p:txBody>
        </p:sp>
        <p:sp>
          <p:nvSpPr>
            <p:cNvPr id="12306" name="Line 23">
              <a:extLst>
                <a:ext uri="{FF2B5EF4-FFF2-40B4-BE49-F238E27FC236}">
                  <a16:creationId xmlns:a16="http://schemas.microsoft.com/office/drawing/2014/main" id="{732D77D5-81D0-4731-9460-A1D554425BA9}"/>
                </a:ext>
              </a:extLst>
            </p:cNvPr>
            <p:cNvSpPr>
              <a:spLocks noChangeShapeType="1"/>
            </p:cNvSpPr>
            <p:nvPr/>
          </p:nvSpPr>
          <p:spPr bwMode="auto">
            <a:xfrm>
              <a:off x="7893050" y="5481638"/>
              <a:ext cx="3127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7" name="Line 24">
              <a:extLst>
                <a:ext uri="{FF2B5EF4-FFF2-40B4-BE49-F238E27FC236}">
                  <a16:creationId xmlns:a16="http://schemas.microsoft.com/office/drawing/2014/main" id="{8769C9A9-018D-4646-9154-7CDE2C3724FF}"/>
                </a:ext>
              </a:extLst>
            </p:cNvPr>
            <p:cNvSpPr>
              <a:spLocks noChangeShapeType="1"/>
            </p:cNvSpPr>
            <p:nvPr/>
          </p:nvSpPr>
          <p:spPr bwMode="auto">
            <a:xfrm>
              <a:off x="7893050" y="5913438"/>
              <a:ext cx="3127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8" name="Oval 26">
              <a:extLst>
                <a:ext uri="{FF2B5EF4-FFF2-40B4-BE49-F238E27FC236}">
                  <a16:creationId xmlns:a16="http://schemas.microsoft.com/office/drawing/2014/main" id="{540CC61D-5DA2-4992-97D1-F90341B9430B}"/>
                </a:ext>
              </a:extLst>
            </p:cNvPr>
            <p:cNvSpPr>
              <a:spLocks noChangeArrowheads="1"/>
            </p:cNvSpPr>
            <p:nvPr/>
          </p:nvSpPr>
          <p:spPr bwMode="auto">
            <a:xfrm>
              <a:off x="7896225" y="5854700"/>
              <a:ext cx="130175" cy="1301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600" b="0">
                <a:latin typeface="Arial" panose="020B0604020202020204" pitchFamily="34" charset="0"/>
              </a:endParaRPr>
            </a:p>
          </p:txBody>
        </p:sp>
        <p:sp>
          <p:nvSpPr>
            <p:cNvPr id="12309" name="Text Box 27">
              <a:extLst>
                <a:ext uri="{FF2B5EF4-FFF2-40B4-BE49-F238E27FC236}">
                  <a16:creationId xmlns:a16="http://schemas.microsoft.com/office/drawing/2014/main" id="{511282A3-E10C-49C5-AD76-31C324426D28}"/>
                </a:ext>
              </a:extLst>
            </p:cNvPr>
            <p:cNvSpPr txBox="1">
              <a:spLocks noChangeArrowheads="1"/>
            </p:cNvSpPr>
            <p:nvPr/>
          </p:nvSpPr>
          <p:spPr bwMode="auto">
            <a:xfrm>
              <a:off x="7197725" y="5697538"/>
              <a:ext cx="350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C</a:t>
              </a:r>
            </a:p>
          </p:txBody>
        </p:sp>
      </p:grpSp>
      <p:sp>
        <p:nvSpPr>
          <p:cNvPr id="12295" name="Line 28">
            <a:extLst>
              <a:ext uri="{FF2B5EF4-FFF2-40B4-BE49-F238E27FC236}">
                <a16:creationId xmlns:a16="http://schemas.microsoft.com/office/drawing/2014/main" id="{193E07BA-FFFB-4292-BA68-A8E0BEC37752}"/>
              </a:ext>
            </a:extLst>
          </p:cNvPr>
          <p:cNvSpPr>
            <a:spLocks noChangeShapeType="1"/>
          </p:cNvSpPr>
          <p:nvPr/>
        </p:nvSpPr>
        <p:spPr bwMode="auto">
          <a:xfrm>
            <a:off x="4564063" y="1511300"/>
            <a:ext cx="0" cy="47879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Rectangle 4">
            <a:extLst>
              <a:ext uri="{FF2B5EF4-FFF2-40B4-BE49-F238E27FC236}">
                <a16:creationId xmlns:a16="http://schemas.microsoft.com/office/drawing/2014/main" id="{DCEA624C-E4F3-48E1-877E-B30278A57D83}"/>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36" name="Rectangle 5">
            <a:extLst>
              <a:ext uri="{FF2B5EF4-FFF2-40B4-BE49-F238E27FC236}">
                <a16:creationId xmlns:a16="http://schemas.microsoft.com/office/drawing/2014/main" id="{86CDDFF7-8F15-4A95-A3C6-57421FAEB187}"/>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37" name="Rectangle 6">
            <a:extLst>
              <a:ext uri="{FF2B5EF4-FFF2-40B4-BE49-F238E27FC236}">
                <a16:creationId xmlns:a16="http://schemas.microsoft.com/office/drawing/2014/main" id="{4BCFF37F-F00A-4721-A264-E7F8BE1F2B50}"/>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4</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p:bldP spid="1229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FD6BEDE-2419-4BC5-A688-513A338B26A0}"/>
              </a:ext>
            </a:extLst>
          </p:cNvPr>
          <p:cNvSpPr>
            <a:spLocks noGrp="1" noChangeArrowheads="1"/>
          </p:cNvSpPr>
          <p:nvPr>
            <p:ph type="title" idx="4294967295"/>
          </p:nvPr>
        </p:nvSpPr>
        <p:spPr>
          <a:xfrm>
            <a:off x="457200" y="198438"/>
            <a:ext cx="8229600" cy="1143000"/>
          </a:xfrm>
        </p:spPr>
        <p:txBody>
          <a:bodyPr/>
          <a:lstStyle/>
          <a:p>
            <a:pPr>
              <a:lnSpc>
                <a:spcPct val="90000"/>
              </a:lnSpc>
            </a:pPr>
            <a:r>
              <a:rPr lang="zh-CN" altLang="en-US"/>
              <a:t>异步或同步复位</a:t>
            </a:r>
            <a:r>
              <a:rPr lang="en-US" altLang="zh-CN"/>
              <a:t>D</a:t>
            </a:r>
            <a:r>
              <a:rPr lang="zh-CN" altLang="en-US"/>
              <a:t>触发器</a:t>
            </a:r>
            <a:endParaRPr lang="en-US" altLang="zh-CN"/>
          </a:p>
        </p:txBody>
      </p:sp>
      <p:sp>
        <p:nvSpPr>
          <p:cNvPr id="14339" name="Rectangle 3">
            <a:extLst>
              <a:ext uri="{FF2B5EF4-FFF2-40B4-BE49-F238E27FC236}">
                <a16:creationId xmlns:a16="http://schemas.microsoft.com/office/drawing/2014/main" id="{44F74877-4277-4B86-A895-E05AD8BF437A}"/>
              </a:ext>
            </a:extLst>
          </p:cNvPr>
          <p:cNvSpPr>
            <a:spLocks noGrp="1" noChangeArrowheads="1"/>
          </p:cNvSpPr>
          <p:nvPr>
            <p:ph type="body" idx="1"/>
          </p:nvPr>
        </p:nvSpPr>
        <p:spPr>
          <a:xfrm>
            <a:off x="5543550" y="1412875"/>
            <a:ext cx="3168650" cy="4805363"/>
          </a:xfrm>
        </p:spPr>
        <p:txBody>
          <a:bodyPr/>
          <a:lstStyle/>
          <a:p>
            <a:pPr>
              <a:spcAft>
                <a:spcPts val="600"/>
              </a:spcAft>
              <a:buFontTx/>
              <a:buNone/>
            </a:pPr>
            <a:r>
              <a:rPr lang="en-US" altLang="zh-CN" sz="2400" b="0" dirty="0"/>
              <a:t>module  </a:t>
            </a:r>
            <a:r>
              <a:rPr lang="en-US" altLang="zh-CN" sz="2400" b="0" dirty="0" err="1"/>
              <a:t>dff_syn</a:t>
            </a:r>
            <a:r>
              <a:rPr lang="en-US" altLang="zh-CN" sz="2400" b="0" dirty="0"/>
              <a:t> (</a:t>
            </a:r>
          </a:p>
          <a:p>
            <a:pPr>
              <a:spcAft>
                <a:spcPts val="600"/>
              </a:spcAft>
              <a:buFontTx/>
              <a:buNone/>
            </a:pPr>
            <a:r>
              <a:rPr lang="en-US" altLang="zh-CN" sz="2400" b="0" dirty="0"/>
              <a:t>    input </a:t>
            </a:r>
            <a:r>
              <a:rPr lang="en-US" altLang="zh-CN" sz="2400" b="0" dirty="0" err="1"/>
              <a:t>clk</a:t>
            </a:r>
            <a:r>
              <a:rPr lang="en-US" altLang="zh-CN" sz="2400" b="0" dirty="0"/>
              <a:t>, </a:t>
            </a:r>
          </a:p>
          <a:p>
            <a:pPr>
              <a:spcAft>
                <a:spcPts val="600"/>
              </a:spcAft>
              <a:buFontTx/>
              <a:buNone/>
            </a:pPr>
            <a:r>
              <a:rPr lang="en-US" altLang="zh-CN" sz="2400" b="0" dirty="0"/>
              <a:t>    input </a:t>
            </a:r>
            <a:r>
              <a:rPr lang="en-US" altLang="zh-CN" sz="2400" b="0" dirty="0" err="1"/>
              <a:t>rstn</a:t>
            </a:r>
            <a:r>
              <a:rPr lang="en-US" altLang="zh-CN" sz="2400" b="0" dirty="0"/>
              <a:t>, </a:t>
            </a:r>
          </a:p>
          <a:p>
            <a:pPr>
              <a:spcAft>
                <a:spcPts val="600"/>
              </a:spcAft>
              <a:buFontTx/>
              <a:buNone/>
            </a:pPr>
            <a:r>
              <a:rPr lang="en-US" altLang="zh-CN" sz="2400" b="0" dirty="0"/>
              <a:t>    input d,</a:t>
            </a:r>
          </a:p>
          <a:p>
            <a:pPr>
              <a:spcAft>
                <a:spcPts val="600"/>
              </a:spcAft>
              <a:buFontTx/>
              <a:buNone/>
            </a:pPr>
            <a:r>
              <a:rPr lang="en-US" altLang="zh-CN" sz="2400" b="0" dirty="0"/>
              <a:t>    output reg q</a:t>
            </a:r>
          </a:p>
          <a:p>
            <a:pPr>
              <a:spcAft>
                <a:spcPts val="600"/>
              </a:spcAft>
              <a:buFontTx/>
              <a:buNone/>
            </a:pPr>
            <a:r>
              <a:rPr lang="en-US" altLang="zh-CN" sz="2400" b="0" dirty="0"/>
              <a:t>);</a:t>
            </a:r>
          </a:p>
          <a:p>
            <a:pPr>
              <a:spcAft>
                <a:spcPts val="600"/>
              </a:spcAft>
              <a:buFontTx/>
              <a:buNone/>
            </a:pPr>
            <a:r>
              <a:rPr lang="en-US" altLang="zh-CN" sz="2400" b="0" dirty="0"/>
              <a:t>always @(</a:t>
            </a:r>
            <a:r>
              <a:rPr lang="en-US" altLang="zh-CN" sz="2400" b="0" dirty="0" err="1"/>
              <a:t>posedge</a:t>
            </a:r>
            <a:r>
              <a:rPr lang="en-US" altLang="zh-CN" sz="2400" b="0" dirty="0"/>
              <a:t> </a:t>
            </a:r>
            <a:r>
              <a:rPr lang="en-US" altLang="zh-CN" sz="2400" b="0" dirty="0" err="1"/>
              <a:t>clk</a:t>
            </a:r>
            <a:r>
              <a:rPr lang="en-US" altLang="zh-CN" sz="2400" b="0" dirty="0"/>
              <a:t>)</a:t>
            </a:r>
          </a:p>
          <a:p>
            <a:pPr>
              <a:spcAft>
                <a:spcPts val="600"/>
              </a:spcAft>
              <a:buFontTx/>
              <a:buNone/>
            </a:pPr>
            <a:r>
              <a:rPr lang="en-US" altLang="zh-CN" sz="2400" b="0" dirty="0"/>
              <a:t>	if (!</a:t>
            </a:r>
            <a:r>
              <a:rPr lang="en-US" altLang="zh-CN" sz="2400" b="0" dirty="0" err="1"/>
              <a:t>rstn</a:t>
            </a:r>
            <a:r>
              <a:rPr lang="en-US" altLang="zh-CN" sz="2400" b="0" dirty="0"/>
              <a:t>) q &lt;= 0;</a:t>
            </a:r>
          </a:p>
          <a:p>
            <a:pPr>
              <a:spcAft>
                <a:spcPts val="600"/>
              </a:spcAft>
              <a:buFontTx/>
              <a:buNone/>
            </a:pPr>
            <a:r>
              <a:rPr lang="en-US" altLang="zh-CN" sz="2400" b="0" dirty="0"/>
              <a:t>	else q &lt;= d;</a:t>
            </a:r>
          </a:p>
          <a:p>
            <a:pPr>
              <a:spcAft>
                <a:spcPts val="600"/>
              </a:spcAft>
              <a:buFontTx/>
              <a:buNone/>
            </a:pPr>
            <a:r>
              <a:rPr lang="en-US" altLang="zh-CN" sz="2400" b="0" dirty="0" err="1"/>
              <a:t>endmodule</a:t>
            </a:r>
            <a:endParaRPr lang="en-US" altLang="zh-CN" sz="2400" b="0" dirty="0"/>
          </a:p>
        </p:txBody>
      </p:sp>
      <p:sp>
        <p:nvSpPr>
          <p:cNvPr id="14340" name="Rectangle 4">
            <a:extLst>
              <a:ext uri="{FF2B5EF4-FFF2-40B4-BE49-F238E27FC236}">
                <a16:creationId xmlns:a16="http://schemas.microsoft.com/office/drawing/2014/main" id="{3767467B-44C7-4128-AA33-DD324E374A5B}"/>
              </a:ext>
            </a:extLst>
          </p:cNvPr>
          <p:cNvSpPr>
            <a:spLocks noChangeArrowheads="1"/>
          </p:cNvSpPr>
          <p:nvPr/>
        </p:nvSpPr>
        <p:spPr bwMode="auto">
          <a:xfrm>
            <a:off x="457200" y="1412875"/>
            <a:ext cx="4052888" cy="482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ts val="600"/>
              </a:spcAft>
              <a:buFontTx/>
              <a:buNone/>
            </a:pPr>
            <a:r>
              <a:rPr lang="en-US" altLang="zh-CN" sz="2400" b="0" dirty="0"/>
              <a:t>module  </a:t>
            </a:r>
            <a:r>
              <a:rPr lang="en-US" altLang="zh-CN" sz="2400" b="0" dirty="0" err="1"/>
              <a:t>dff_asyn</a:t>
            </a:r>
            <a:r>
              <a:rPr lang="en-US" altLang="zh-CN" sz="2400" b="0" dirty="0"/>
              <a:t> (</a:t>
            </a:r>
          </a:p>
          <a:p>
            <a:pPr>
              <a:spcAft>
                <a:spcPts val="600"/>
              </a:spcAft>
              <a:buFontTx/>
              <a:buNone/>
            </a:pPr>
            <a:r>
              <a:rPr lang="en-US" altLang="zh-CN" sz="2400" b="0" dirty="0"/>
              <a:t>    input </a:t>
            </a:r>
            <a:r>
              <a:rPr lang="en-US" altLang="zh-CN" sz="2400" b="0" dirty="0" err="1"/>
              <a:t>clk</a:t>
            </a:r>
            <a:r>
              <a:rPr lang="en-US" altLang="zh-CN" sz="2400" b="0" dirty="0"/>
              <a:t>, </a:t>
            </a:r>
          </a:p>
          <a:p>
            <a:pPr>
              <a:spcAft>
                <a:spcPts val="600"/>
              </a:spcAft>
              <a:buFontTx/>
              <a:buNone/>
            </a:pPr>
            <a:r>
              <a:rPr lang="en-US" altLang="zh-CN" sz="2400" b="0" dirty="0"/>
              <a:t>    input </a:t>
            </a:r>
            <a:r>
              <a:rPr lang="en-US" altLang="zh-CN" sz="2400" b="0" dirty="0" err="1"/>
              <a:t>rstn</a:t>
            </a:r>
            <a:r>
              <a:rPr lang="en-US" altLang="zh-CN" sz="2400" b="0" dirty="0"/>
              <a:t>, </a:t>
            </a:r>
          </a:p>
          <a:p>
            <a:pPr>
              <a:spcAft>
                <a:spcPts val="600"/>
              </a:spcAft>
              <a:buFontTx/>
              <a:buNone/>
            </a:pPr>
            <a:r>
              <a:rPr lang="en-US" altLang="zh-CN" sz="2400" b="0" dirty="0"/>
              <a:t>    input d,</a:t>
            </a:r>
          </a:p>
          <a:p>
            <a:pPr>
              <a:spcAft>
                <a:spcPts val="600"/>
              </a:spcAft>
              <a:buFontTx/>
              <a:buNone/>
            </a:pPr>
            <a:r>
              <a:rPr lang="en-US" altLang="zh-CN" sz="2400" b="0" dirty="0"/>
              <a:t>    output reg q</a:t>
            </a:r>
          </a:p>
          <a:p>
            <a:pPr>
              <a:spcAft>
                <a:spcPts val="600"/>
              </a:spcAft>
              <a:buFontTx/>
              <a:buNone/>
            </a:pPr>
            <a:r>
              <a:rPr lang="en-US" altLang="zh-CN" sz="2400" b="0" dirty="0"/>
              <a:t>);</a:t>
            </a:r>
          </a:p>
          <a:p>
            <a:pPr>
              <a:spcAft>
                <a:spcPts val="600"/>
              </a:spcAft>
              <a:buFontTx/>
              <a:buNone/>
            </a:pPr>
            <a:r>
              <a:rPr lang="en-US" altLang="zh-CN" sz="2400" b="0" dirty="0"/>
              <a:t>always @(</a:t>
            </a:r>
            <a:r>
              <a:rPr lang="en-US" altLang="zh-CN" sz="2400" b="0" dirty="0" err="1"/>
              <a:t>posedge</a:t>
            </a:r>
            <a:r>
              <a:rPr lang="en-US" altLang="zh-CN" sz="2400" b="0" dirty="0"/>
              <a:t> </a:t>
            </a:r>
            <a:r>
              <a:rPr lang="en-US" altLang="zh-CN" sz="2400" b="0" dirty="0" err="1"/>
              <a:t>clk</a:t>
            </a:r>
            <a:r>
              <a:rPr lang="en-US" altLang="zh-CN" sz="2400" dirty="0">
                <a:solidFill>
                  <a:srgbClr val="0000FF"/>
                </a:solidFill>
              </a:rPr>
              <a:t>,</a:t>
            </a:r>
            <a:r>
              <a:rPr lang="en-US" altLang="zh-CN" sz="2400" dirty="0">
                <a:solidFill>
                  <a:srgbClr val="0070C0"/>
                </a:solidFill>
              </a:rPr>
              <a:t>  </a:t>
            </a:r>
            <a:r>
              <a:rPr lang="en-US" altLang="zh-CN" sz="2400" b="0" dirty="0" err="1">
                <a:solidFill>
                  <a:srgbClr val="0000FF"/>
                </a:solidFill>
              </a:rPr>
              <a:t>negedge</a:t>
            </a:r>
            <a:r>
              <a:rPr lang="en-US" altLang="zh-CN" sz="2400" b="0" dirty="0">
                <a:solidFill>
                  <a:srgbClr val="0000FF"/>
                </a:solidFill>
              </a:rPr>
              <a:t> </a:t>
            </a:r>
            <a:r>
              <a:rPr lang="en-US" altLang="zh-CN" sz="2400" b="0" dirty="0" err="1">
                <a:solidFill>
                  <a:srgbClr val="0000FF"/>
                </a:solidFill>
              </a:rPr>
              <a:t>rstn</a:t>
            </a:r>
            <a:r>
              <a:rPr lang="en-US" altLang="zh-CN" sz="2400" b="0" dirty="0"/>
              <a:t>)</a:t>
            </a:r>
          </a:p>
          <a:p>
            <a:pPr>
              <a:spcAft>
                <a:spcPts val="600"/>
              </a:spcAft>
              <a:buFontTx/>
              <a:buNone/>
            </a:pPr>
            <a:r>
              <a:rPr lang="en-US" altLang="zh-CN" sz="2400" b="0" dirty="0"/>
              <a:t>	if (!</a:t>
            </a:r>
            <a:r>
              <a:rPr lang="en-US" altLang="zh-CN" sz="2400" b="0" dirty="0" err="1"/>
              <a:t>rstn</a:t>
            </a:r>
            <a:r>
              <a:rPr lang="en-US" altLang="zh-CN" sz="2400" b="0" dirty="0"/>
              <a:t>) q &lt;= 0;</a:t>
            </a:r>
          </a:p>
          <a:p>
            <a:pPr>
              <a:spcAft>
                <a:spcPts val="600"/>
              </a:spcAft>
              <a:buFontTx/>
              <a:buNone/>
            </a:pPr>
            <a:r>
              <a:rPr lang="en-US" altLang="zh-CN" sz="2400" b="0" dirty="0"/>
              <a:t>	else q &lt;= d;</a:t>
            </a:r>
          </a:p>
          <a:p>
            <a:pPr>
              <a:spcAft>
                <a:spcPts val="600"/>
              </a:spcAft>
              <a:buFontTx/>
              <a:buNone/>
            </a:pPr>
            <a:r>
              <a:rPr lang="en-US" altLang="zh-CN" sz="2400" b="0" dirty="0" err="1"/>
              <a:t>endmodule</a:t>
            </a:r>
            <a:endParaRPr lang="en-US" altLang="zh-CN" sz="2400" b="0" dirty="0"/>
          </a:p>
        </p:txBody>
      </p:sp>
      <p:sp>
        <p:nvSpPr>
          <p:cNvPr id="14341" name="Line 5">
            <a:extLst>
              <a:ext uri="{FF2B5EF4-FFF2-40B4-BE49-F238E27FC236}">
                <a16:creationId xmlns:a16="http://schemas.microsoft.com/office/drawing/2014/main" id="{22BE1520-CBED-4FCD-AFA4-3783BA176211}"/>
              </a:ext>
            </a:extLst>
          </p:cNvPr>
          <p:cNvSpPr>
            <a:spLocks noChangeShapeType="1"/>
          </p:cNvSpPr>
          <p:nvPr/>
        </p:nvSpPr>
        <p:spPr bwMode="auto">
          <a:xfrm>
            <a:off x="4389438" y="1628775"/>
            <a:ext cx="0" cy="29527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4342" name="组合 1">
            <a:extLst>
              <a:ext uri="{FF2B5EF4-FFF2-40B4-BE49-F238E27FC236}">
                <a16:creationId xmlns:a16="http://schemas.microsoft.com/office/drawing/2014/main" id="{632699F7-E91C-42D0-9B35-86BAA1D1C897}"/>
              </a:ext>
            </a:extLst>
          </p:cNvPr>
          <p:cNvGrpSpPr>
            <a:grpSpLocks/>
          </p:cNvGrpSpPr>
          <p:nvPr/>
        </p:nvGrpSpPr>
        <p:grpSpPr bwMode="auto">
          <a:xfrm>
            <a:off x="3635375" y="4689474"/>
            <a:ext cx="1511300" cy="1511833"/>
            <a:chOff x="3782442" y="4689475"/>
            <a:chExt cx="1510283" cy="1511334"/>
          </a:xfrm>
        </p:grpSpPr>
        <p:sp>
          <p:nvSpPr>
            <p:cNvPr id="14346" name="Rectangle 6">
              <a:extLst>
                <a:ext uri="{FF2B5EF4-FFF2-40B4-BE49-F238E27FC236}">
                  <a16:creationId xmlns:a16="http://schemas.microsoft.com/office/drawing/2014/main" id="{1689D24C-F7B2-4015-90DC-953A87E1A7BD}"/>
                </a:ext>
              </a:extLst>
            </p:cNvPr>
            <p:cNvSpPr>
              <a:spLocks noChangeArrowheads="1"/>
            </p:cNvSpPr>
            <p:nvPr/>
          </p:nvSpPr>
          <p:spPr bwMode="auto">
            <a:xfrm>
              <a:off x="4141788" y="4689475"/>
              <a:ext cx="838200" cy="11525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4347" name="Line 7">
              <a:extLst>
                <a:ext uri="{FF2B5EF4-FFF2-40B4-BE49-F238E27FC236}">
                  <a16:creationId xmlns:a16="http://schemas.microsoft.com/office/drawing/2014/main" id="{661F5191-DEE9-4422-8E60-3137C58DC709}"/>
                </a:ext>
              </a:extLst>
            </p:cNvPr>
            <p:cNvSpPr>
              <a:spLocks noChangeShapeType="1"/>
            </p:cNvSpPr>
            <p:nvPr/>
          </p:nvSpPr>
          <p:spPr bwMode="auto">
            <a:xfrm>
              <a:off x="3854450" y="5049838"/>
              <a:ext cx="276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8" name="Line 8">
              <a:extLst>
                <a:ext uri="{FF2B5EF4-FFF2-40B4-BE49-F238E27FC236}">
                  <a16:creationId xmlns:a16="http://schemas.microsoft.com/office/drawing/2014/main" id="{CD84B788-97B3-4618-9FC5-C2A2FFB1CA54}"/>
                </a:ext>
              </a:extLst>
            </p:cNvPr>
            <p:cNvSpPr>
              <a:spLocks noChangeShapeType="1"/>
            </p:cNvSpPr>
            <p:nvPr/>
          </p:nvSpPr>
          <p:spPr bwMode="auto">
            <a:xfrm>
              <a:off x="3782442" y="5478463"/>
              <a:ext cx="34823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9" name="Text Box 9">
              <a:extLst>
                <a:ext uri="{FF2B5EF4-FFF2-40B4-BE49-F238E27FC236}">
                  <a16:creationId xmlns:a16="http://schemas.microsoft.com/office/drawing/2014/main" id="{77BCD022-ABCE-474A-8C60-99815F1DB17A}"/>
                </a:ext>
              </a:extLst>
            </p:cNvPr>
            <p:cNvSpPr txBox="1">
              <a:spLocks noChangeArrowheads="1"/>
            </p:cNvSpPr>
            <p:nvPr/>
          </p:nvSpPr>
          <p:spPr bwMode="auto">
            <a:xfrm>
              <a:off x="4105275" y="4857750"/>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D</a:t>
              </a:r>
            </a:p>
          </p:txBody>
        </p:sp>
        <p:sp>
          <p:nvSpPr>
            <p:cNvPr id="14350" name="Text Box 10">
              <a:extLst>
                <a:ext uri="{FF2B5EF4-FFF2-40B4-BE49-F238E27FC236}">
                  <a16:creationId xmlns:a16="http://schemas.microsoft.com/office/drawing/2014/main" id="{F7C5C31E-83BC-429F-83D3-A8497A668E5B}"/>
                </a:ext>
              </a:extLst>
            </p:cNvPr>
            <p:cNvSpPr txBox="1">
              <a:spLocks noChangeArrowheads="1"/>
            </p:cNvSpPr>
            <p:nvPr/>
          </p:nvSpPr>
          <p:spPr bwMode="auto">
            <a:xfrm>
              <a:off x="4624388" y="5048250"/>
              <a:ext cx="3635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a:cs typeface="楷体_GB2312"/>
                </a:rPr>
                <a:t>Q</a:t>
              </a:r>
            </a:p>
          </p:txBody>
        </p:sp>
        <p:sp>
          <p:nvSpPr>
            <p:cNvPr id="14351" name="AutoShape 11">
              <a:extLst>
                <a:ext uri="{FF2B5EF4-FFF2-40B4-BE49-F238E27FC236}">
                  <a16:creationId xmlns:a16="http://schemas.microsoft.com/office/drawing/2014/main" id="{160342E6-CD10-4279-8C4E-3FB929A9E58D}"/>
                </a:ext>
              </a:extLst>
            </p:cNvPr>
            <p:cNvSpPr>
              <a:spLocks noChangeArrowheads="1"/>
            </p:cNvSpPr>
            <p:nvPr/>
          </p:nvSpPr>
          <p:spPr bwMode="auto">
            <a:xfrm rot="5400000">
              <a:off x="4125913" y="5394325"/>
              <a:ext cx="215900" cy="174625"/>
            </a:xfrm>
            <a:prstGeom prst="flowChartExtra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4352" name="Line 12">
              <a:extLst>
                <a:ext uri="{FF2B5EF4-FFF2-40B4-BE49-F238E27FC236}">
                  <a16:creationId xmlns:a16="http://schemas.microsoft.com/office/drawing/2014/main" id="{6EC3AA95-5D67-41D5-B7AF-0EEC69143DDF}"/>
                </a:ext>
              </a:extLst>
            </p:cNvPr>
            <p:cNvSpPr>
              <a:spLocks noChangeShapeType="1"/>
            </p:cNvSpPr>
            <p:nvPr/>
          </p:nvSpPr>
          <p:spPr bwMode="auto">
            <a:xfrm>
              <a:off x="4979988" y="5240338"/>
              <a:ext cx="3127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4" name="Line 15">
              <a:extLst>
                <a:ext uri="{FF2B5EF4-FFF2-40B4-BE49-F238E27FC236}">
                  <a16:creationId xmlns:a16="http://schemas.microsoft.com/office/drawing/2014/main" id="{903BADBC-B2CC-4448-A64C-2E5377AA2FAA}"/>
                </a:ext>
              </a:extLst>
            </p:cNvPr>
            <p:cNvSpPr>
              <a:spLocks noChangeShapeType="1"/>
            </p:cNvSpPr>
            <p:nvPr/>
          </p:nvSpPr>
          <p:spPr bwMode="auto">
            <a:xfrm>
              <a:off x="4535488" y="5876959"/>
              <a:ext cx="0"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5" name="Text Box 16">
              <a:extLst>
                <a:ext uri="{FF2B5EF4-FFF2-40B4-BE49-F238E27FC236}">
                  <a16:creationId xmlns:a16="http://schemas.microsoft.com/office/drawing/2014/main" id="{3FC1910C-A300-43CF-A3CC-F49A6F53310C}"/>
                </a:ext>
              </a:extLst>
            </p:cNvPr>
            <p:cNvSpPr txBox="1">
              <a:spLocks noChangeArrowheads="1"/>
            </p:cNvSpPr>
            <p:nvPr/>
          </p:nvSpPr>
          <p:spPr bwMode="auto">
            <a:xfrm>
              <a:off x="4230339" y="5409120"/>
              <a:ext cx="645896" cy="46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b="0" dirty="0" err="1">
                  <a:ea typeface="楷体_GB2312"/>
                  <a:cs typeface="楷体_GB2312"/>
                </a:rPr>
                <a:t>rstn</a:t>
              </a:r>
              <a:endParaRPr kumimoji="1" lang="en-US" altLang="zh-CN" sz="2400" b="0" dirty="0">
                <a:ea typeface="楷体_GB2312"/>
                <a:cs typeface="楷体_GB2312"/>
              </a:endParaRPr>
            </a:p>
          </p:txBody>
        </p:sp>
        <p:sp>
          <p:nvSpPr>
            <p:cNvPr id="20" name="Oval 14">
              <a:extLst>
                <a:ext uri="{FF2B5EF4-FFF2-40B4-BE49-F238E27FC236}">
                  <a16:creationId xmlns:a16="http://schemas.microsoft.com/office/drawing/2014/main" id="{E9A87CC5-F7E2-4038-ABAE-9934E800F734}"/>
                </a:ext>
              </a:extLst>
            </p:cNvPr>
            <p:cNvSpPr>
              <a:spLocks noChangeArrowheads="1"/>
            </p:cNvSpPr>
            <p:nvPr/>
          </p:nvSpPr>
          <p:spPr bwMode="auto">
            <a:xfrm>
              <a:off x="4477787" y="5848326"/>
              <a:ext cx="130175" cy="1301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24" name="Rectangle 4">
            <a:extLst>
              <a:ext uri="{FF2B5EF4-FFF2-40B4-BE49-F238E27FC236}">
                <a16:creationId xmlns:a16="http://schemas.microsoft.com/office/drawing/2014/main" id="{4690DFA0-A728-4A6D-A9DA-916CC8F08C2A}"/>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5" name="Rectangle 5">
            <a:extLst>
              <a:ext uri="{FF2B5EF4-FFF2-40B4-BE49-F238E27FC236}">
                <a16:creationId xmlns:a16="http://schemas.microsoft.com/office/drawing/2014/main" id="{E70F8DA7-A17E-4FC7-B7D9-C37D548BCA89}"/>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26" name="Rectangle 6">
            <a:extLst>
              <a:ext uri="{FF2B5EF4-FFF2-40B4-BE49-F238E27FC236}">
                <a16:creationId xmlns:a16="http://schemas.microsoft.com/office/drawing/2014/main" id="{D57E7621-B60B-4DD2-B28E-AF1FB88A4DB8}"/>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5</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B40842F-1B8C-4507-ABCB-3463135A2E1B}"/>
              </a:ext>
            </a:extLst>
          </p:cNvPr>
          <p:cNvSpPr>
            <a:spLocks noGrp="1" noChangeArrowheads="1"/>
          </p:cNvSpPr>
          <p:nvPr>
            <p:ph type="title" idx="4294967295"/>
          </p:nvPr>
        </p:nvSpPr>
        <p:spPr/>
        <p:txBody>
          <a:bodyPr/>
          <a:lstStyle/>
          <a:p>
            <a:r>
              <a:rPr lang="zh-CN" altLang="en-US"/>
              <a:t>示例</a:t>
            </a:r>
            <a:r>
              <a:rPr lang="en-US" altLang="zh-CN"/>
              <a:t>—</a:t>
            </a:r>
            <a:r>
              <a:rPr lang="zh-CN" altLang="en-US"/>
              <a:t>阻塞赋值语句</a:t>
            </a:r>
            <a:endParaRPr lang="en-US" altLang="zh-CN"/>
          </a:p>
        </p:txBody>
      </p:sp>
      <p:sp>
        <p:nvSpPr>
          <p:cNvPr id="16387" name="Rectangle 3">
            <a:extLst>
              <a:ext uri="{FF2B5EF4-FFF2-40B4-BE49-F238E27FC236}">
                <a16:creationId xmlns:a16="http://schemas.microsoft.com/office/drawing/2014/main" id="{5CA0F08C-81EC-4CBF-A5BE-7BE9ED3758F7}"/>
              </a:ext>
            </a:extLst>
          </p:cNvPr>
          <p:cNvSpPr>
            <a:spLocks noChangeArrowheads="1"/>
          </p:cNvSpPr>
          <p:nvPr/>
        </p:nvSpPr>
        <p:spPr bwMode="auto">
          <a:xfrm>
            <a:off x="846138" y="1700213"/>
            <a:ext cx="304165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600"/>
              </a:spcAft>
              <a:buFontTx/>
              <a:buNone/>
            </a:pPr>
            <a:r>
              <a:rPr lang="zh-CN" altLang="zh-CN" sz="2400" b="0">
                <a:cs typeface="Times New Roman" panose="02020603050405020304" pitchFamily="18" charset="0"/>
              </a:rPr>
              <a:t>always @(posedge clk)  </a:t>
            </a:r>
          </a:p>
          <a:p>
            <a:pPr eaLnBrk="1" hangingPunct="1">
              <a:spcAft>
                <a:spcPts val="600"/>
              </a:spcAft>
              <a:buFontTx/>
              <a:buNone/>
            </a:pPr>
            <a:r>
              <a:rPr lang="zh-CN" altLang="zh-CN" sz="2400" b="0">
                <a:cs typeface="Times New Roman" panose="02020603050405020304" pitchFamily="18" charset="0"/>
              </a:rPr>
              <a:t>begin  </a:t>
            </a:r>
          </a:p>
          <a:p>
            <a:pPr eaLnBrk="1" hangingPunct="1">
              <a:spcAft>
                <a:spcPts val="600"/>
              </a:spcAft>
              <a:buFontTx/>
              <a:buNone/>
            </a:pPr>
            <a:r>
              <a:rPr lang="zh-CN" altLang="en-US" sz="2400" b="0">
                <a:cs typeface="Times New Roman" panose="02020603050405020304" pitchFamily="18" charset="0"/>
              </a:rPr>
              <a:t>    </a:t>
            </a:r>
            <a:r>
              <a:rPr lang="en-US" altLang="zh-CN" sz="2400" b="0">
                <a:cs typeface="Times New Roman" panose="02020603050405020304" pitchFamily="18" charset="0"/>
              </a:rPr>
              <a:t>b</a:t>
            </a:r>
            <a:r>
              <a:rPr lang="zh-CN" altLang="zh-CN" sz="2400" b="0">
                <a:cs typeface="Times New Roman" panose="02020603050405020304" pitchFamily="18" charset="0"/>
              </a:rPr>
              <a:t> =  </a:t>
            </a:r>
            <a:r>
              <a:rPr lang="zh-CN" altLang="en-US" sz="2400" b="0">
                <a:cs typeface="Times New Roman" panose="02020603050405020304" pitchFamily="18" charset="0"/>
              </a:rPr>
              <a:t>a</a:t>
            </a:r>
            <a:r>
              <a:rPr lang="zh-CN" altLang="zh-CN" sz="2400" b="0">
                <a:cs typeface="Times New Roman" panose="02020603050405020304" pitchFamily="18" charset="0"/>
              </a:rPr>
              <a:t>; </a:t>
            </a:r>
          </a:p>
          <a:p>
            <a:pPr eaLnBrk="1" hangingPunct="1">
              <a:spcAft>
                <a:spcPts val="600"/>
              </a:spcAft>
              <a:buFontTx/>
              <a:buNone/>
            </a:pPr>
            <a:r>
              <a:rPr lang="zh-CN" altLang="en-US" sz="2400" b="0">
                <a:cs typeface="Times New Roman" panose="02020603050405020304" pitchFamily="18" charset="0"/>
              </a:rPr>
              <a:t>    </a:t>
            </a:r>
            <a:r>
              <a:rPr lang="en-US" altLang="zh-CN" sz="2400" b="0">
                <a:cs typeface="Times New Roman" panose="02020603050405020304" pitchFamily="18" charset="0"/>
              </a:rPr>
              <a:t>c</a:t>
            </a:r>
            <a:r>
              <a:rPr lang="zh-CN" altLang="zh-CN" sz="2400" b="0">
                <a:cs typeface="Times New Roman" panose="02020603050405020304" pitchFamily="18" charset="0"/>
              </a:rPr>
              <a:t> = </a:t>
            </a:r>
            <a:r>
              <a:rPr lang="zh-CN" altLang="en-US" sz="2400" b="0">
                <a:cs typeface="Times New Roman" panose="02020603050405020304" pitchFamily="18" charset="0"/>
              </a:rPr>
              <a:t>b</a:t>
            </a:r>
            <a:r>
              <a:rPr lang="zh-CN" altLang="zh-CN" sz="2400" b="0">
                <a:cs typeface="Times New Roman" panose="02020603050405020304" pitchFamily="18" charset="0"/>
              </a:rPr>
              <a:t>;</a:t>
            </a:r>
          </a:p>
          <a:p>
            <a:pPr eaLnBrk="1" hangingPunct="1">
              <a:spcAft>
                <a:spcPts val="600"/>
              </a:spcAft>
              <a:buFontTx/>
              <a:buNone/>
            </a:pPr>
            <a:r>
              <a:rPr lang="zh-CN" altLang="zh-CN" sz="2400" b="0">
                <a:cs typeface="Times New Roman" panose="02020603050405020304" pitchFamily="18" charset="0"/>
              </a:rPr>
              <a:t>end</a:t>
            </a:r>
            <a:endParaRPr lang="zh-CN" altLang="en-US" sz="2400" b="0">
              <a:cs typeface="Times New Roman" panose="02020603050405020304" pitchFamily="18" charset="0"/>
            </a:endParaRPr>
          </a:p>
        </p:txBody>
      </p:sp>
      <p:sp>
        <p:nvSpPr>
          <p:cNvPr id="16388" name="Rectangle 4">
            <a:extLst>
              <a:ext uri="{FF2B5EF4-FFF2-40B4-BE49-F238E27FC236}">
                <a16:creationId xmlns:a16="http://schemas.microsoft.com/office/drawing/2014/main" id="{BE1D4A9A-8332-462F-AA00-95F1D0394D6F}"/>
              </a:ext>
            </a:extLst>
          </p:cNvPr>
          <p:cNvSpPr>
            <a:spLocks noChangeArrowheads="1"/>
          </p:cNvSpPr>
          <p:nvPr/>
        </p:nvSpPr>
        <p:spPr bwMode="auto">
          <a:xfrm>
            <a:off x="5219700" y="1700213"/>
            <a:ext cx="304165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600"/>
              </a:spcAft>
              <a:buFontTx/>
              <a:buNone/>
            </a:pPr>
            <a:r>
              <a:rPr lang="zh-CN" altLang="zh-CN" sz="2400" b="0">
                <a:cs typeface="Times New Roman" panose="02020603050405020304" pitchFamily="18" charset="0"/>
              </a:rPr>
              <a:t>always @(posedge clk)  </a:t>
            </a:r>
          </a:p>
          <a:p>
            <a:pPr eaLnBrk="1" hangingPunct="1">
              <a:spcAft>
                <a:spcPts val="600"/>
              </a:spcAft>
              <a:buFontTx/>
              <a:buNone/>
            </a:pPr>
            <a:r>
              <a:rPr lang="zh-CN" altLang="zh-CN" sz="2400" b="0">
                <a:cs typeface="Times New Roman" panose="02020603050405020304" pitchFamily="18" charset="0"/>
              </a:rPr>
              <a:t>begin  </a:t>
            </a:r>
          </a:p>
          <a:p>
            <a:pPr eaLnBrk="1" hangingPunct="1">
              <a:spcAft>
                <a:spcPts val="600"/>
              </a:spcAft>
              <a:buFontTx/>
              <a:buNone/>
            </a:pPr>
            <a:r>
              <a:rPr lang="zh-CN" altLang="en-US" sz="2400" b="0">
                <a:cs typeface="Times New Roman" panose="02020603050405020304" pitchFamily="18" charset="0"/>
              </a:rPr>
              <a:t>    </a:t>
            </a:r>
            <a:r>
              <a:rPr lang="en-US" altLang="zh-CN" sz="2400" b="0">
                <a:cs typeface="Times New Roman" panose="02020603050405020304" pitchFamily="18" charset="0"/>
              </a:rPr>
              <a:t>c</a:t>
            </a:r>
            <a:r>
              <a:rPr lang="zh-CN" altLang="zh-CN" sz="2400" b="0">
                <a:cs typeface="Times New Roman" panose="02020603050405020304" pitchFamily="18" charset="0"/>
              </a:rPr>
              <a:t> =  </a:t>
            </a:r>
            <a:r>
              <a:rPr lang="zh-CN" altLang="en-US" sz="2400" b="0">
                <a:cs typeface="Times New Roman" panose="02020603050405020304" pitchFamily="18" charset="0"/>
              </a:rPr>
              <a:t>b</a:t>
            </a:r>
            <a:r>
              <a:rPr lang="zh-CN" altLang="zh-CN" sz="2400" b="0">
                <a:cs typeface="Times New Roman" panose="02020603050405020304" pitchFamily="18" charset="0"/>
              </a:rPr>
              <a:t>; </a:t>
            </a:r>
          </a:p>
          <a:p>
            <a:pPr eaLnBrk="1" hangingPunct="1">
              <a:spcAft>
                <a:spcPts val="600"/>
              </a:spcAft>
              <a:buFontTx/>
              <a:buNone/>
            </a:pPr>
            <a:r>
              <a:rPr lang="zh-CN" altLang="en-US" sz="2400" b="0">
                <a:cs typeface="Times New Roman" panose="02020603050405020304" pitchFamily="18" charset="0"/>
              </a:rPr>
              <a:t>    </a:t>
            </a:r>
            <a:r>
              <a:rPr lang="en-US" altLang="zh-CN" sz="2400" b="0">
                <a:cs typeface="Times New Roman" panose="02020603050405020304" pitchFamily="18" charset="0"/>
              </a:rPr>
              <a:t>b</a:t>
            </a:r>
            <a:r>
              <a:rPr lang="zh-CN" altLang="zh-CN" sz="2400" b="0">
                <a:cs typeface="Times New Roman" panose="02020603050405020304" pitchFamily="18" charset="0"/>
              </a:rPr>
              <a:t> = </a:t>
            </a:r>
            <a:r>
              <a:rPr lang="zh-CN" altLang="en-US" sz="2400" b="0">
                <a:cs typeface="Times New Roman" panose="02020603050405020304" pitchFamily="18" charset="0"/>
              </a:rPr>
              <a:t>a</a:t>
            </a:r>
            <a:r>
              <a:rPr lang="zh-CN" altLang="zh-CN" sz="2400" b="0">
                <a:cs typeface="Times New Roman" panose="02020603050405020304" pitchFamily="18" charset="0"/>
              </a:rPr>
              <a:t>;</a:t>
            </a:r>
          </a:p>
          <a:p>
            <a:pPr eaLnBrk="1" hangingPunct="1">
              <a:spcAft>
                <a:spcPts val="600"/>
              </a:spcAft>
              <a:buFontTx/>
              <a:buNone/>
            </a:pPr>
            <a:r>
              <a:rPr lang="zh-CN" altLang="zh-CN" sz="2400" b="0">
                <a:cs typeface="Times New Roman" panose="02020603050405020304" pitchFamily="18" charset="0"/>
              </a:rPr>
              <a:t>end</a:t>
            </a:r>
            <a:endParaRPr lang="zh-CN" altLang="en-US" sz="2400" b="0">
              <a:cs typeface="Times New Roman" panose="02020603050405020304" pitchFamily="18" charset="0"/>
            </a:endParaRPr>
          </a:p>
        </p:txBody>
      </p:sp>
      <p:grpSp>
        <p:nvGrpSpPr>
          <p:cNvPr id="2" name="Group 5">
            <a:extLst>
              <a:ext uri="{FF2B5EF4-FFF2-40B4-BE49-F238E27FC236}">
                <a16:creationId xmlns:a16="http://schemas.microsoft.com/office/drawing/2014/main" id="{3459942C-A752-4203-8619-93DE7767CFA3}"/>
              </a:ext>
            </a:extLst>
          </p:cNvPr>
          <p:cNvGrpSpPr>
            <a:grpSpLocks/>
          </p:cNvGrpSpPr>
          <p:nvPr/>
        </p:nvGrpSpPr>
        <p:grpSpPr bwMode="auto">
          <a:xfrm>
            <a:off x="4895850" y="4527550"/>
            <a:ext cx="3624263" cy="1230313"/>
            <a:chOff x="3084" y="2852"/>
            <a:chExt cx="2283" cy="775"/>
          </a:xfrm>
        </p:grpSpPr>
        <p:sp>
          <p:nvSpPr>
            <p:cNvPr id="16409" name="Line 6">
              <a:extLst>
                <a:ext uri="{FF2B5EF4-FFF2-40B4-BE49-F238E27FC236}">
                  <a16:creationId xmlns:a16="http://schemas.microsoft.com/office/drawing/2014/main" id="{AEB4E0F4-41BB-453D-96A6-6872EA53AAEF}"/>
                </a:ext>
              </a:extLst>
            </p:cNvPr>
            <p:cNvSpPr>
              <a:spLocks noChangeShapeType="1"/>
            </p:cNvSpPr>
            <p:nvPr/>
          </p:nvSpPr>
          <p:spPr bwMode="auto">
            <a:xfrm>
              <a:off x="4082" y="3325"/>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10" name="Text Box 7">
              <a:extLst>
                <a:ext uri="{FF2B5EF4-FFF2-40B4-BE49-F238E27FC236}">
                  <a16:creationId xmlns:a16="http://schemas.microsoft.com/office/drawing/2014/main" id="{6C5556F5-572F-40DB-A318-11AD8D2124AD}"/>
                </a:ext>
              </a:extLst>
            </p:cNvPr>
            <p:cNvSpPr txBox="1">
              <a:spLocks noChangeArrowheads="1"/>
            </p:cNvSpPr>
            <p:nvPr/>
          </p:nvSpPr>
          <p:spPr bwMode="auto">
            <a:xfrm>
              <a:off x="3084" y="2852"/>
              <a:ext cx="38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000"/>
                <a:t>clk</a:t>
              </a:r>
            </a:p>
          </p:txBody>
        </p:sp>
        <p:sp>
          <p:nvSpPr>
            <p:cNvPr id="16411" name="Text Box 8">
              <a:extLst>
                <a:ext uri="{FF2B5EF4-FFF2-40B4-BE49-F238E27FC236}">
                  <a16:creationId xmlns:a16="http://schemas.microsoft.com/office/drawing/2014/main" id="{EB38D5D2-4109-45ED-9C89-F175DC2AF639}"/>
                </a:ext>
              </a:extLst>
            </p:cNvPr>
            <p:cNvSpPr txBox="1">
              <a:spLocks noChangeArrowheads="1"/>
            </p:cNvSpPr>
            <p:nvPr/>
          </p:nvSpPr>
          <p:spPr bwMode="auto">
            <a:xfrm>
              <a:off x="5140" y="3339"/>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c</a:t>
              </a:r>
            </a:p>
          </p:txBody>
        </p:sp>
        <p:sp>
          <p:nvSpPr>
            <p:cNvPr id="16412" name="Rectangle 9">
              <a:extLst>
                <a:ext uri="{FF2B5EF4-FFF2-40B4-BE49-F238E27FC236}">
                  <a16:creationId xmlns:a16="http://schemas.microsoft.com/office/drawing/2014/main" id="{F6083BF3-77DB-4BB2-9773-85064A67A218}"/>
                </a:ext>
              </a:extLst>
            </p:cNvPr>
            <p:cNvSpPr>
              <a:spLocks noChangeArrowheads="1"/>
            </p:cNvSpPr>
            <p:nvPr/>
          </p:nvSpPr>
          <p:spPr bwMode="auto">
            <a:xfrm>
              <a:off x="3583" y="2989"/>
              <a:ext cx="499" cy="48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6413" name="Line 10">
              <a:extLst>
                <a:ext uri="{FF2B5EF4-FFF2-40B4-BE49-F238E27FC236}">
                  <a16:creationId xmlns:a16="http://schemas.microsoft.com/office/drawing/2014/main" id="{F5A9F517-CF74-47C3-89EB-B5D2504F3E45}"/>
                </a:ext>
              </a:extLst>
            </p:cNvPr>
            <p:cNvSpPr>
              <a:spLocks noChangeShapeType="1"/>
            </p:cNvSpPr>
            <p:nvPr/>
          </p:nvSpPr>
          <p:spPr bwMode="auto">
            <a:xfrm>
              <a:off x="3151" y="3325"/>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14" name="Line 11">
              <a:extLst>
                <a:ext uri="{FF2B5EF4-FFF2-40B4-BE49-F238E27FC236}">
                  <a16:creationId xmlns:a16="http://schemas.microsoft.com/office/drawing/2014/main" id="{81BE8F80-A0CD-4F85-8102-DB0EAFCA4ED9}"/>
                </a:ext>
              </a:extLst>
            </p:cNvPr>
            <p:cNvSpPr>
              <a:spLocks noChangeShapeType="1"/>
            </p:cNvSpPr>
            <p:nvPr/>
          </p:nvSpPr>
          <p:spPr bwMode="auto">
            <a:xfrm>
              <a:off x="4322" y="3133"/>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15" name="Line 12">
              <a:extLst>
                <a:ext uri="{FF2B5EF4-FFF2-40B4-BE49-F238E27FC236}">
                  <a16:creationId xmlns:a16="http://schemas.microsoft.com/office/drawing/2014/main" id="{99EFABB6-1BB2-48ED-914A-9E515DD91BB3}"/>
                </a:ext>
              </a:extLst>
            </p:cNvPr>
            <p:cNvSpPr>
              <a:spLocks noChangeShapeType="1"/>
            </p:cNvSpPr>
            <p:nvPr/>
          </p:nvSpPr>
          <p:spPr bwMode="auto">
            <a:xfrm>
              <a:off x="3151" y="3133"/>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16" name="Text Box 13">
              <a:extLst>
                <a:ext uri="{FF2B5EF4-FFF2-40B4-BE49-F238E27FC236}">
                  <a16:creationId xmlns:a16="http://schemas.microsoft.com/office/drawing/2014/main" id="{17036D44-6B24-4328-9ACA-8DCC18472A5C}"/>
                </a:ext>
              </a:extLst>
            </p:cNvPr>
            <p:cNvSpPr txBox="1">
              <a:spLocks noChangeArrowheads="1"/>
            </p:cNvSpPr>
            <p:nvPr/>
          </p:nvSpPr>
          <p:spPr bwMode="auto">
            <a:xfrm>
              <a:off x="3583" y="320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D   </a:t>
              </a:r>
            </a:p>
          </p:txBody>
        </p:sp>
        <p:sp>
          <p:nvSpPr>
            <p:cNvPr id="16417" name="Text Box 14">
              <a:extLst>
                <a:ext uri="{FF2B5EF4-FFF2-40B4-BE49-F238E27FC236}">
                  <a16:creationId xmlns:a16="http://schemas.microsoft.com/office/drawing/2014/main" id="{1405801E-54A8-4803-AF17-DED9B067CE6A}"/>
                </a:ext>
              </a:extLst>
            </p:cNvPr>
            <p:cNvSpPr txBox="1">
              <a:spLocks noChangeArrowheads="1"/>
            </p:cNvSpPr>
            <p:nvPr/>
          </p:nvSpPr>
          <p:spPr bwMode="auto">
            <a:xfrm>
              <a:off x="3855" y="3203"/>
              <a:ext cx="1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Q</a:t>
              </a:r>
            </a:p>
          </p:txBody>
        </p:sp>
        <p:sp>
          <p:nvSpPr>
            <p:cNvPr id="16418" name="Line 15">
              <a:extLst>
                <a:ext uri="{FF2B5EF4-FFF2-40B4-BE49-F238E27FC236}">
                  <a16:creationId xmlns:a16="http://schemas.microsoft.com/office/drawing/2014/main" id="{A3CB5E06-D460-4E7B-A824-87CBF1C8DFCE}"/>
                </a:ext>
              </a:extLst>
            </p:cNvPr>
            <p:cNvSpPr>
              <a:spLocks noChangeShapeType="1"/>
            </p:cNvSpPr>
            <p:nvPr/>
          </p:nvSpPr>
          <p:spPr bwMode="auto">
            <a:xfrm>
              <a:off x="3583" y="3085"/>
              <a:ext cx="144" cy="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19" name="Line 16">
              <a:extLst>
                <a:ext uri="{FF2B5EF4-FFF2-40B4-BE49-F238E27FC236}">
                  <a16:creationId xmlns:a16="http://schemas.microsoft.com/office/drawing/2014/main" id="{057CCCF3-4E9A-4F88-A00B-0E3B174499C3}"/>
                </a:ext>
              </a:extLst>
            </p:cNvPr>
            <p:cNvSpPr>
              <a:spLocks noChangeShapeType="1"/>
            </p:cNvSpPr>
            <p:nvPr/>
          </p:nvSpPr>
          <p:spPr bwMode="auto">
            <a:xfrm flipH="1">
              <a:off x="3583" y="3133"/>
              <a:ext cx="144" cy="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20" name="Line 17">
              <a:extLst>
                <a:ext uri="{FF2B5EF4-FFF2-40B4-BE49-F238E27FC236}">
                  <a16:creationId xmlns:a16="http://schemas.microsoft.com/office/drawing/2014/main" id="{4E9C8EF4-2861-43D8-921D-519A9B6BAC80}"/>
                </a:ext>
              </a:extLst>
            </p:cNvPr>
            <p:cNvSpPr>
              <a:spLocks noChangeShapeType="1"/>
            </p:cNvSpPr>
            <p:nvPr/>
          </p:nvSpPr>
          <p:spPr bwMode="auto">
            <a:xfrm>
              <a:off x="4974" y="3339"/>
              <a:ext cx="39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21" name="Line 18">
              <a:extLst>
                <a:ext uri="{FF2B5EF4-FFF2-40B4-BE49-F238E27FC236}">
                  <a16:creationId xmlns:a16="http://schemas.microsoft.com/office/drawing/2014/main" id="{D553DD7B-2CCE-4332-B027-BC1E9AE11981}"/>
                </a:ext>
              </a:extLst>
            </p:cNvPr>
            <p:cNvSpPr>
              <a:spLocks noChangeShapeType="1"/>
            </p:cNvSpPr>
            <p:nvPr/>
          </p:nvSpPr>
          <p:spPr bwMode="auto">
            <a:xfrm>
              <a:off x="3439" y="2863"/>
              <a:ext cx="88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22" name="Line 19">
              <a:extLst>
                <a:ext uri="{FF2B5EF4-FFF2-40B4-BE49-F238E27FC236}">
                  <a16:creationId xmlns:a16="http://schemas.microsoft.com/office/drawing/2014/main" id="{EFF115A8-7392-4D9C-9D25-8D38FEF12F1D}"/>
                </a:ext>
              </a:extLst>
            </p:cNvPr>
            <p:cNvSpPr>
              <a:spLocks noChangeShapeType="1"/>
            </p:cNvSpPr>
            <p:nvPr/>
          </p:nvSpPr>
          <p:spPr bwMode="auto">
            <a:xfrm>
              <a:off x="4320" y="2863"/>
              <a:ext cx="0" cy="27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23" name="Line 20">
              <a:extLst>
                <a:ext uri="{FF2B5EF4-FFF2-40B4-BE49-F238E27FC236}">
                  <a16:creationId xmlns:a16="http://schemas.microsoft.com/office/drawing/2014/main" id="{A1F3576D-D2A8-4406-8C14-38E15431572A}"/>
                </a:ext>
              </a:extLst>
            </p:cNvPr>
            <p:cNvSpPr>
              <a:spLocks noChangeShapeType="1"/>
            </p:cNvSpPr>
            <p:nvPr/>
          </p:nvSpPr>
          <p:spPr bwMode="auto">
            <a:xfrm>
              <a:off x="3439" y="2863"/>
              <a:ext cx="0" cy="27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24" name="Text Box 21">
              <a:extLst>
                <a:ext uri="{FF2B5EF4-FFF2-40B4-BE49-F238E27FC236}">
                  <a16:creationId xmlns:a16="http://schemas.microsoft.com/office/drawing/2014/main" id="{BABE2BB6-C934-4E5E-BD01-515969DBB8AB}"/>
                </a:ext>
              </a:extLst>
            </p:cNvPr>
            <p:cNvSpPr txBox="1">
              <a:spLocks noChangeArrowheads="1"/>
            </p:cNvSpPr>
            <p:nvPr/>
          </p:nvSpPr>
          <p:spPr bwMode="auto">
            <a:xfrm>
              <a:off x="3151" y="3317"/>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a</a:t>
              </a:r>
            </a:p>
          </p:txBody>
        </p:sp>
        <p:sp>
          <p:nvSpPr>
            <p:cNvPr id="16425" name="Text Box 22">
              <a:extLst>
                <a:ext uri="{FF2B5EF4-FFF2-40B4-BE49-F238E27FC236}">
                  <a16:creationId xmlns:a16="http://schemas.microsoft.com/office/drawing/2014/main" id="{5BEE0038-295F-4D2A-A3FD-7D8EC9EC6A34}"/>
                </a:ext>
              </a:extLst>
            </p:cNvPr>
            <p:cNvSpPr txBox="1">
              <a:spLocks noChangeArrowheads="1"/>
            </p:cNvSpPr>
            <p:nvPr/>
          </p:nvSpPr>
          <p:spPr bwMode="auto">
            <a:xfrm>
              <a:off x="4175" y="3332"/>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b</a:t>
              </a:r>
            </a:p>
          </p:txBody>
        </p:sp>
        <p:sp>
          <p:nvSpPr>
            <p:cNvPr id="16426" name="Rectangle 23">
              <a:extLst>
                <a:ext uri="{FF2B5EF4-FFF2-40B4-BE49-F238E27FC236}">
                  <a16:creationId xmlns:a16="http://schemas.microsoft.com/office/drawing/2014/main" id="{30F9CC44-1D92-4624-A80B-96E1315F7AD8}"/>
                </a:ext>
              </a:extLst>
            </p:cNvPr>
            <p:cNvSpPr>
              <a:spLocks noChangeArrowheads="1"/>
            </p:cNvSpPr>
            <p:nvPr/>
          </p:nvSpPr>
          <p:spPr bwMode="auto">
            <a:xfrm>
              <a:off x="4470" y="2995"/>
              <a:ext cx="499" cy="48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6427" name="Text Box 24">
              <a:extLst>
                <a:ext uri="{FF2B5EF4-FFF2-40B4-BE49-F238E27FC236}">
                  <a16:creationId xmlns:a16="http://schemas.microsoft.com/office/drawing/2014/main" id="{A749E1CE-4E15-4274-95BB-C0F3309F831C}"/>
                </a:ext>
              </a:extLst>
            </p:cNvPr>
            <p:cNvSpPr txBox="1">
              <a:spLocks noChangeArrowheads="1"/>
            </p:cNvSpPr>
            <p:nvPr/>
          </p:nvSpPr>
          <p:spPr bwMode="auto">
            <a:xfrm>
              <a:off x="4470" y="3209"/>
              <a:ext cx="24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D     </a:t>
              </a:r>
            </a:p>
          </p:txBody>
        </p:sp>
        <p:sp>
          <p:nvSpPr>
            <p:cNvPr id="16428" name="Text Box 25">
              <a:extLst>
                <a:ext uri="{FF2B5EF4-FFF2-40B4-BE49-F238E27FC236}">
                  <a16:creationId xmlns:a16="http://schemas.microsoft.com/office/drawing/2014/main" id="{EFCE6EEA-43C2-4C0C-9591-3430ADF91ACD}"/>
                </a:ext>
              </a:extLst>
            </p:cNvPr>
            <p:cNvSpPr txBox="1">
              <a:spLocks noChangeArrowheads="1"/>
            </p:cNvSpPr>
            <p:nvPr/>
          </p:nvSpPr>
          <p:spPr bwMode="auto">
            <a:xfrm>
              <a:off x="4742" y="3209"/>
              <a:ext cx="1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Q</a:t>
              </a:r>
            </a:p>
          </p:txBody>
        </p:sp>
        <p:sp>
          <p:nvSpPr>
            <p:cNvPr id="16429" name="Line 26">
              <a:extLst>
                <a:ext uri="{FF2B5EF4-FFF2-40B4-BE49-F238E27FC236}">
                  <a16:creationId xmlns:a16="http://schemas.microsoft.com/office/drawing/2014/main" id="{6CFB0BDA-D0FB-415E-946D-769C33C6F70D}"/>
                </a:ext>
              </a:extLst>
            </p:cNvPr>
            <p:cNvSpPr>
              <a:spLocks noChangeShapeType="1"/>
            </p:cNvSpPr>
            <p:nvPr/>
          </p:nvSpPr>
          <p:spPr bwMode="auto">
            <a:xfrm>
              <a:off x="4470" y="3091"/>
              <a:ext cx="144" cy="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30" name="Line 27">
              <a:extLst>
                <a:ext uri="{FF2B5EF4-FFF2-40B4-BE49-F238E27FC236}">
                  <a16:creationId xmlns:a16="http://schemas.microsoft.com/office/drawing/2014/main" id="{14870919-3C22-42E6-A951-8D6095987947}"/>
                </a:ext>
              </a:extLst>
            </p:cNvPr>
            <p:cNvSpPr>
              <a:spLocks noChangeShapeType="1"/>
            </p:cNvSpPr>
            <p:nvPr/>
          </p:nvSpPr>
          <p:spPr bwMode="auto">
            <a:xfrm flipH="1">
              <a:off x="4470" y="3139"/>
              <a:ext cx="144" cy="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grpSp>
      <p:grpSp>
        <p:nvGrpSpPr>
          <p:cNvPr id="3" name="Group 28">
            <a:extLst>
              <a:ext uri="{FF2B5EF4-FFF2-40B4-BE49-F238E27FC236}">
                <a16:creationId xmlns:a16="http://schemas.microsoft.com/office/drawing/2014/main" id="{A90277E4-ACAA-4785-863C-5C4A2EB9F690}"/>
              </a:ext>
            </a:extLst>
          </p:cNvPr>
          <p:cNvGrpSpPr>
            <a:grpSpLocks/>
          </p:cNvGrpSpPr>
          <p:nvPr/>
        </p:nvGrpSpPr>
        <p:grpSpPr bwMode="auto">
          <a:xfrm>
            <a:off x="827088" y="4532313"/>
            <a:ext cx="2754312" cy="1154112"/>
            <a:chOff x="3209" y="2946"/>
            <a:chExt cx="1735" cy="727"/>
          </a:xfrm>
        </p:grpSpPr>
        <p:sp>
          <p:nvSpPr>
            <p:cNvPr id="16395" name="Line 29">
              <a:extLst>
                <a:ext uri="{FF2B5EF4-FFF2-40B4-BE49-F238E27FC236}">
                  <a16:creationId xmlns:a16="http://schemas.microsoft.com/office/drawing/2014/main" id="{3C15CA4F-F2C4-468A-A1F3-F9462892E0C1}"/>
                </a:ext>
              </a:extLst>
            </p:cNvPr>
            <p:cNvSpPr>
              <a:spLocks noChangeShapeType="1"/>
            </p:cNvSpPr>
            <p:nvPr/>
          </p:nvSpPr>
          <p:spPr bwMode="auto">
            <a:xfrm>
              <a:off x="4420" y="3219"/>
              <a:ext cx="0" cy="202"/>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396" name="Line 30">
              <a:extLst>
                <a:ext uri="{FF2B5EF4-FFF2-40B4-BE49-F238E27FC236}">
                  <a16:creationId xmlns:a16="http://schemas.microsoft.com/office/drawing/2014/main" id="{DA8431C2-F1B9-4417-9C25-E139C68F9449}"/>
                </a:ext>
              </a:extLst>
            </p:cNvPr>
            <p:cNvSpPr>
              <a:spLocks noChangeShapeType="1"/>
            </p:cNvSpPr>
            <p:nvPr/>
          </p:nvSpPr>
          <p:spPr bwMode="auto">
            <a:xfrm>
              <a:off x="4420" y="3211"/>
              <a:ext cx="2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397" name="Line 31">
              <a:extLst>
                <a:ext uri="{FF2B5EF4-FFF2-40B4-BE49-F238E27FC236}">
                  <a16:creationId xmlns:a16="http://schemas.microsoft.com/office/drawing/2014/main" id="{2E2D4863-2549-4ABB-B8E0-AEC37A52505B}"/>
                </a:ext>
              </a:extLst>
            </p:cNvPr>
            <p:cNvSpPr>
              <a:spLocks noChangeShapeType="1"/>
            </p:cNvSpPr>
            <p:nvPr/>
          </p:nvSpPr>
          <p:spPr bwMode="auto">
            <a:xfrm>
              <a:off x="4207" y="3419"/>
              <a:ext cx="49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398" name="Text Box 32">
              <a:extLst>
                <a:ext uri="{FF2B5EF4-FFF2-40B4-BE49-F238E27FC236}">
                  <a16:creationId xmlns:a16="http://schemas.microsoft.com/office/drawing/2014/main" id="{78D7F6CB-DE62-45E1-BA69-52F394C00401}"/>
                </a:ext>
              </a:extLst>
            </p:cNvPr>
            <p:cNvSpPr txBox="1">
              <a:spLocks noChangeArrowheads="1"/>
            </p:cNvSpPr>
            <p:nvPr/>
          </p:nvSpPr>
          <p:spPr bwMode="auto">
            <a:xfrm>
              <a:off x="3209" y="2946"/>
              <a:ext cx="38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000"/>
                <a:t>clk</a:t>
              </a:r>
            </a:p>
          </p:txBody>
        </p:sp>
        <p:sp>
          <p:nvSpPr>
            <p:cNvPr id="16399" name="Rectangle 33">
              <a:extLst>
                <a:ext uri="{FF2B5EF4-FFF2-40B4-BE49-F238E27FC236}">
                  <a16:creationId xmlns:a16="http://schemas.microsoft.com/office/drawing/2014/main" id="{7C0B6627-2771-4F7B-B40D-909D351325E1}"/>
                </a:ext>
              </a:extLst>
            </p:cNvPr>
            <p:cNvSpPr>
              <a:spLocks noChangeArrowheads="1"/>
            </p:cNvSpPr>
            <p:nvPr/>
          </p:nvSpPr>
          <p:spPr bwMode="auto">
            <a:xfrm>
              <a:off x="3708" y="3083"/>
              <a:ext cx="499" cy="48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6400" name="Line 34">
              <a:extLst>
                <a:ext uri="{FF2B5EF4-FFF2-40B4-BE49-F238E27FC236}">
                  <a16:creationId xmlns:a16="http://schemas.microsoft.com/office/drawing/2014/main" id="{DCC8E2F6-395B-4C65-9C52-110B3A8BB895}"/>
                </a:ext>
              </a:extLst>
            </p:cNvPr>
            <p:cNvSpPr>
              <a:spLocks noChangeShapeType="1"/>
            </p:cNvSpPr>
            <p:nvPr/>
          </p:nvSpPr>
          <p:spPr bwMode="auto">
            <a:xfrm>
              <a:off x="3276" y="3419"/>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01" name="Line 35">
              <a:extLst>
                <a:ext uri="{FF2B5EF4-FFF2-40B4-BE49-F238E27FC236}">
                  <a16:creationId xmlns:a16="http://schemas.microsoft.com/office/drawing/2014/main" id="{6F03B8C9-111B-401E-B931-A1127D7F9832}"/>
                </a:ext>
              </a:extLst>
            </p:cNvPr>
            <p:cNvSpPr>
              <a:spLocks noChangeShapeType="1"/>
            </p:cNvSpPr>
            <p:nvPr/>
          </p:nvSpPr>
          <p:spPr bwMode="auto">
            <a:xfrm>
              <a:off x="3276" y="3227"/>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02" name="Text Box 36">
              <a:extLst>
                <a:ext uri="{FF2B5EF4-FFF2-40B4-BE49-F238E27FC236}">
                  <a16:creationId xmlns:a16="http://schemas.microsoft.com/office/drawing/2014/main" id="{6C193138-5D5E-40C2-9243-A958E8BC50F9}"/>
                </a:ext>
              </a:extLst>
            </p:cNvPr>
            <p:cNvSpPr txBox="1">
              <a:spLocks noChangeArrowheads="1"/>
            </p:cNvSpPr>
            <p:nvPr/>
          </p:nvSpPr>
          <p:spPr bwMode="auto">
            <a:xfrm>
              <a:off x="3708" y="3288"/>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D   </a:t>
              </a:r>
            </a:p>
          </p:txBody>
        </p:sp>
        <p:sp>
          <p:nvSpPr>
            <p:cNvPr id="16403" name="Text Box 37">
              <a:extLst>
                <a:ext uri="{FF2B5EF4-FFF2-40B4-BE49-F238E27FC236}">
                  <a16:creationId xmlns:a16="http://schemas.microsoft.com/office/drawing/2014/main" id="{00821F99-662E-44CB-A9C9-826F5F60AB54}"/>
                </a:ext>
              </a:extLst>
            </p:cNvPr>
            <p:cNvSpPr txBox="1">
              <a:spLocks noChangeArrowheads="1"/>
            </p:cNvSpPr>
            <p:nvPr/>
          </p:nvSpPr>
          <p:spPr bwMode="auto">
            <a:xfrm>
              <a:off x="3980" y="3288"/>
              <a:ext cx="1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Q</a:t>
              </a:r>
            </a:p>
          </p:txBody>
        </p:sp>
        <p:sp>
          <p:nvSpPr>
            <p:cNvPr id="16404" name="Line 38">
              <a:extLst>
                <a:ext uri="{FF2B5EF4-FFF2-40B4-BE49-F238E27FC236}">
                  <a16:creationId xmlns:a16="http://schemas.microsoft.com/office/drawing/2014/main" id="{0B424669-12AC-4CB5-BA41-F0FEB8BEEFB5}"/>
                </a:ext>
              </a:extLst>
            </p:cNvPr>
            <p:cNvSpPr>
              <a:spLocks noChangeShapeType="1"/>
            </p:cNvSpPr>
            <p:nvPr/>
          </p:nvSpPr>
          <p:spPr bwMode="auto">
            <a:xfrm>
              <a:off x="3708" y="3179"/>
              <a:ext cx="144" cy="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05" name="Line 39">
              <a:extLst>
                <a:ext uri="{FF2B5EF4-FFF2-40B4-BE49-F238E27FC236}">
                  <a16:creationId xmlns:a16="http://schemas.microsoft.com/office/drawing/2014/main" id="{D2557BD5-5EDD-4F8F-8866-91EADA72B395}"/>
                </a:ext>
              </a:extLst>
            </p:cNvPr>
            <p:cNvSpPr>
              <a:spLocks noChangeShapeType="1"/>
            </p:cNvSpPr>
            <p:nvPr/>
          </p:nvSpPr>
          <p:spPr bwMode="auto">
            <a:xfrm flipH="1">
              <a:off x="3708" y="3227"/>
              <a:ext cx="144" cy="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6406" name="Text Box 40">
              <a:extLst>
                <a:ext uri="{FF2B5EF4-FFF2-40B4-BE49-F238E27FC236}">
                  <a16:creationId xmlns:a16="http://schemas.microsoft.com/office/drawing/2014/main" id="{DE006818-7B9F-4FE1-9AC9-BF5D7C34E6E1}"/>
                </a:ext>
              </a:extLst>
            </p:cNvPr>
            <p:cNvSpPr txBox="1">
              <a:spLocks noChangeArrowheads="1"/>
            </p:cNvSpPr>
            <p:nvPr/>
          </p:nvSpPr>
          <p:spPr bwMode="auto">
            <a:xfrm>
              <a:off x="3276" y="3385"/>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a</a:t>
              </a:r>
            </a:p>
          </p:txBody>
        </p:sp>
        <p:sp>
          <p:nvSpPr>
            <p:cNvPr id="16407" name="Text Box 41">
              <a:extLst>
                <a:ext uri="{FF2B5EF4-FFF2-40B4-BE49-F238E27FC236}">
                  <a16:creationId xmlns:a16="http://schemas.microsoft.com/office/drawing/2014/main" id="{FFA3B0F3-BE79-406C-8E70-C9970DFE918B}"/>
                </a:ext>
              </a:extLst>
            </p:cNvPr>
            <p:cNvSpPr txBox="1">
              <a:spLocks noChangeArrowheads="1"/>
            </p:cNvSpPr>
            <p:nvPr/>
          </p:nvSpPr>
          <p:spPr bwMode="auto">
            <a:xfrm>
              <a:off x="4752" y="326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c</a:t>
              </a:r>
            </a:p>
          </p:txBody>
        </p:sp>
        <p:sp>
          <p:nvSpPr>
            <p:cNvPr id="16408" name="Text Box 42">
              <a:extLst>
                <a:ext uri="{FF2B5EF4-FFF2-40B4-BE49-F238E27FC236}">
                  <a16:creationId xmlns:a16="http://schemas.microsoft.com/office/drawing/2014/main" id="{0D48979D-5A94-478E-8254-9242DBC1116E}"/>
                </a:ext>
              </a:extLst>
            </p:cNvPr>
            <p:cNvSpPr txBox="1">
              <a:spLocks noChangeArrowheads="1"/>
            </p:cNvSpPr>
            <p:nvPr/>
          </p:nvSpPr>
          <p:spPr bwMode="auto">
            <a:xfrm>
              <a:off x="4752" y="3040"/>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b</a:t>
              </a:r>
            </a:p>
          </p:txBody>
        </p:sp>
      </p:grpSp>
      <p:sp>
        <p:nvSpPr>
          <p:cNvPr id="16391" name="Line 43">
            <a:extLst>
              <a:ext uri="{FF2B5EF4-FFF2-40B4-BE49-F238E27FC236}">
                <a16:creationId xmlns:a16="http://schemas.microsoft.com/office/drawing/2014/main" id="{628F0DEF-FD71-4CAB-82B5-2B1D56FF015C}"/>
              </a:ext>
            </a:extLst>
          </p:cNvPr>
          <p:cNvSpPr>
            <a:spLocks noChangeShapeType="1"/>
          </p:cNvSpPr>
          <p:nvPr/>
        </p:nvSpPr>
        <p:spPr bwMode="auto">
          <a:xfrm>
            <a:off x="4319588" y="1736725"/>
            <a:ext cx="0" cy="39243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Rectangle 4">
            <a:extLst>
              <a:ext uri="{FF2B5EF4-FFF2-40B4-BE49-F238E27FC236}">
                <a16:creationId xmlns:a16="http://schemas.microsoft.com/office/drawing/2014/main" id="{F00FE81B-2FFB-4723-99B2-E343ED3AEAA5}"/>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51" name="Rectangle 5">
            <a:extLst>
              <a:ext uri="{FF2B5EF4-FFF2-40B4-BE49-F238E27FC236}">
                <a16:creationId xmlns:a16="http://schemas.microsoft.com/office/drawing/2014/main" id="{FA1786CB-7157-433C-94F1-161EFEA0B075}"/>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52" name="Rectangle 6">
            <a:extLst>
              <a:ext uri="{FF2B5EF4-FFF2-40B4-BE49-F238E27FC236}">
                <a16:creationId xmlns:a16="http://schemas.microsoft.com/office/drawing/2014/main" id="{2D93ED9F-0C7A-4F31-8A08-76A886CD2776}"/>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6</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D7FE985-990A-4C89-9BC3-AAC2ED598DAE}"/>
              </a:ext>
            </a:extLst>
          </p:cNvPr>
          <p:cNvSpPr>
            <a:spLocks noGrp="1" noChangeArrowheads="1"/>
          </p:cNvSpPr>
          <p:nvPr>
            <p:ph type="title" idx="4294967295"/>
          </p:nvPr>
        </p:nvSpPr>
        <p:spPr/>
        <p:txBody>
          <a:bodyPr/>
          <a:lstStyle/>
          <a:p>
            <a:r>
              <a:rPr lang="zh-CN" altLang="en-US"/>
              <a:t>示例</a:t>
            </a:r>
            <a:r>
              <a:rPr lang="en-US" altLang="zh-CN"/>
              <a:t>—</a:t>
            </a:r>
            <a:r>
              <a:rPr lang="zh-CN" altLang="en-US"/>
              <a:t>非阻塞赋值语句</a:t>
            </a:r>
            <a:endParaRPr lang="en-US" altLang="zh-CN"/>
          </a:p>
        </p:txBody>
      </p:sp>
      <p:sp>
        <p:nvSpPr>
          <p:cNvPr id="17411" name="Rectangle 3">
            <a:extLst>
              <a:ext uri="{FF2B5EF4-FFF2-40B4-BE49-F238E27FC236}">
                <a16:creationId xmlns:a16="http://schemas.microsoft.com/office/drawing/2014/main" id="{A5053C8C-DD01-4CBA-AA02-DF13C4B5B258}"/>
              </a:ext>
            </a:extLst>
          </p:cNvPr>
          <p:cNvSpPr>
            <a:spLocks noChangeArrowheads="1"/>
          </p:cNvSpPr>
          <p:nvPr/>
        </p:nvSpPr>
        <p:spPr bwMode="auto">
          <a:xfrm>
            <a:off x="846138" y="1700213"/>
            <a:ext cx="304165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600"/>
              </a:spcAft>
              <a:buFontTx/>
              <a:buNone/>
            </a:pPr>
            <a:r>
              <a:rPr lang="zh-CN" altLang="zh-CN" sz="2400" b="0">
                <a:cs typeface="Times New Roman" panose="02020603050405020304" pitchFamily="18" charset="0"/>
              </a:rPr>
              <a:t>always @(posedge clk)  </a:t>
            </a:r>
          </a:p>
          <a:p>
            <a:pPr eaLnBrk="1" hangingPunct="1">
              <a:spcAft>
                <a:spcPts val="600"/>
              </a:spcAft>
              <a:buFontTx/>
              <a:buNone/>
            </a:pPr>
            <a:r>
              <a:rPr lang="zh-CN" altLang="zh-CN" sz="2400" b="0">
                <a:cs typeface="Times New Roman" panose="02020603050405020304" pitchFamily="18" charset="0"/>
              </a:rPr>
              <a:t>begin  </a:t>
            </a:r>
          </a:p>
          <a:p>
            <a:pPr eaLnBrk="1" hangingPunct="1">
              <a:spcAft>
                <a:spcPts val="600"/>
              </a:spcAft>
              <a:buFontTx/>
              <a:buNone/>
            </a:pPr>
            <a:r>
              <a:rPr lang="zh-CN" altLang="en-US" sz="2400" b="0">
                <a:cs typeface="Times New Roman" panose="02020603050405020304" pitchFamily="18" charset="0"/>
              </a:rPr>
              <a:t>    </a:t>
            </a:r>
            <a:r>
              <a:rPr lang="zh-CN" altLang="zh-CN" sz="2400" b="0">
                <a:cs typeface="Times New Roman" panose="02020603050405020304" pitchFamily="18" charset="0"/>
              </a:rPr>
              <a:t>b &lt;=  a; </a:t>
            </a:r>
          </a:p>
          <a:p>
            <a:pPr eaLnBrk="1" hangingPunct="1">
              <a:spcAft>
                <a:spcPts val="600"/>
              </a:spcAft>
              <a:buFontTx/>
              <a:buNone/>
            </a:pPr>
            <a:r>
              <a:rPr lang="zh-CN" altLang="en-US" sz="2400" b="0">
                <a:cs typeface="Times New Roman" panose="02020603050405020304" pitchFamily="18" charset="0"/>
              </a:rPr>
              <a:t>    </a:t>
            </a:r>
            <a:r>
              <a:rPr lang="zh-CN" altLang="zh-CN" sz="2400" b="0">
                <a:cs typeface="Times New Roman" panose="02020603050405020304" pitchFamily="18" charset="0"/>
              </a:rPr>
              <a:t>c &lt;= b;</a:t>
            </a:r>
          </a:p>
          <a:p>
            <a:pPr eaLnBrk="1" hangingPunct="1">
              <a:spcAft>
                <a:spcPts val="600"/>
              </a:spcAft>
              <a:buFontTx/>
              <a:buNone/>
            </a:pPr>
            <a:r>
              <a:rPr lang="zh-CN" altLang="zh-CN" sz="2400" b="0">
                <a:cs typeface="Times New Roman" panose="02020603050405020304" pitchFamily="18" charset="0"/>
              </a:rPr>
              <a:t>end</a:t>
            </a:r>
            <a:endParaRPr lang="zh-CN" altLang="en-US" sz="2400" b="0">
              <a:cs typeface="Times New Roman" panose="02020603050405020304" pitchFamily="18" charset="0"/>
            </a:endParaRPr>
          </a:p>
        </p:txBody>
      </p:sp>
      <p:sp>
        <p:nvSpPr>
          <p:cNvPr id="17412" name="Rectangle 4">
            <a:extLst>
              <a:ext uri="{FF2B5EF4-FFF2-40B4-BE49-F238E27FC236}">
                <a16:creationId xmlns:a16="http://schemas.microsoft.com/office/drawing/2014/main" id="{226B2C9A-F91D-4EF0-BFFE-8957A8A5945E}"/>
              </a:ext>
            </a:extLst>
          </p:cNvPr>
          <p:cNvSpPr>
            <a:spLocks noChangeArrowheads="1"/>
          </p:cNvSpPr>
          <p:nvPr/>
        </p:nvSpPr>
        <p:spPr bwMode="auto">
          <a:xfrm>
            <a:off x="5219700" y="1700213"/>
            <a:ext cx="304165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600"/>
              </a:spcAft>
              <a:buFontTx/>
              <a:buNone/>
            </a:pPr>
            <a:r>
              <a:rPr lang="zh-CN" altLang="zh-CN" sz="2400" b="0">
                <a:cs typeface="Times New Roman" panose="02020603050405020304" pitchFamily="18" charset="0"/>
              </a:rPr>
              <a:t>always @(posedge clk)  </a:t>
            </a:r>
          </a:p>
          <a:p>
            <a:pPr eaLnBrk="1" hangingPunct="1">
              <a:spcAft>
                <a:spcPts val="600"/>
              </a:spcAft>
              <a:buFontTx/>
              <a:buNone/>
            </a:pPr>
            <a:r>
              <a:rPr lang="zh-CN" altLang="zh-CN" sz="2400" b="0">
                <a:cs typeface="Times New Roman" panose="02020603050405020304" pitchFamily="18" charset="0"/>
              </a:rPr>
              <a:t>begin  </a:t>
            </a:r>
          </a:p>
          <a:p>
            <a:pPr eaLnBrk="1" hangingPunct="1">
              <a:spcAft>
                <a:spcPts val="600"/>
              </a:spcAft>
              <a:buFontTx/>
              <a:buNone/>
            </a:pPr>
            <a:r>
              <a:rPr lang="zh-CN" altLang="en-US" sz="2400" b="0">
                <a:cs typeface="Times New Roman" panose="02020603050405020304" pitchFamily="18" charset="0"/>
              </a:rPr>
              <a:t>    </a:t>
            </a:r>
            <a:r>
              <a:rPr lang="en-US" altLang="zh-CN" sz="2400" b="0">
                <a:cs typeface="Times New Roman" panose="02020603050405020304" pitchFamily="18" charset="0"/>
              </a:rPr>
              <a:t>c</a:t>
            </a:r>
            <a:r>
              <a:rPr lang="zh-CN" altLang="zh-CN" sz="2400" b="0">
                <a:cs typeface="Times New Roman" panose="02020603050405020304" pitchFamily="18" charset="0"/>
              </a:rPr>
              <a:t> </a:t>
            </a:r>
            <a:r>
              <a:rPr lang="en-US" altLang="zh-CN" sz="2400" b="0">
                <a:cs typeface="Times New Roman" panose="02020603050405020304" pitchFamily="18" charset="0"/>
              </a:rPr>
              <a:t>&lt;</a:t>
            </a:r>
            <a:r>
              <a:rPr lang="zh-CN" altLang="zh-CN" sz="2400" b="0">
                <a:cs typeface="Times New Roman" panose="02020603050405020304" pitchFamily="18" charset="0"/>
              </a:rPr>
              <a:t>=  </a:t>
            </a:r>
            <a:r>
              <a:rPr lang="zh-CN" altLang="en-US" sz="2400" b="0">
                <a:cs typeface="Times New Roman" panose="02020603050405020304" pitchFamily="18" charset="0"/>
              </a:rPr>
              <a:t>b</a:t>
            </a:r>
            <a:r>
              <a:rPr lang="zh-CN" altLang="zh-CN" sz="2400" b="0">
                <a:cs typeface="Times New Roman" panose="02020603050405020304" pitchFamily="18" charset="0"/>
              </a:rPr>
              <a:t>; </a:t>
            </a:r>
          </a:p>
          <a:p>
            <a:pPr eaLnBrk="1" hangingPunct="1">
              <a:spcAft>
                <a:spcPts val="600"/>
              </a:spcAft>
              <a:buFontTx/>
              <a:buNone/>
            </a:pPr>
            <a:r>
              <a:rPr lang="zh-CN" altLang="en-US" sz="2400" b="0">
                <a:cs typeface="Times New Roman" panose="02020603050405020304" pitchFamily="18" charset="0"/>
              </a:rPr>
              <a:t>    </a:t>
            </a:r>
            <a:r>
              <a:rPr lang="en-US" altLang="zh-CN" sz="2400" b="0">
                <a:cs typeface="Times New Roman" panose="02020603050405020304" pitchFamily="18" charset="0"/>
              </a:rPr>
              <a:t>b</a:t>
            </a:r>
            <a:r>
              <a:rPr lang="zh-CN" altLang="zh-CN" sz="2400" b="0">
                <a:cs typeface="Times New Roman" panose="02020603050405020304" pitchFamily="18" charset="0"/>
              </a:rPr>
              <a:t> </a:t>
            </a:r>
            <a:r>
              <a:rPr lang="en-US" altLang="zh-CN" sz="2400" b="0">
                <a:cs typeface="Times New Roman" panose="02020603050405020304" pitchFamily="18" charset="0"/>
              </a:rPr>
              <a:t>&lt;</a:t>
            </a:r>
            <a:r>
              <a:rPr lang="zh-CN" altLang="zh-CN" sz="2400" b="0">
                <a:cs typeface="Times New Roman" panose="02020603050405020304" pitchFamily="18" charset="0"/>
              </a:rPr>
              <a:t>= </a:t>
            </a:r>
            <a:r>
              <a:rPr lang="en-US" altLang="zh-CN" sz="2400" b="0">
                <a:cs typeface="Times New Roman" panose="02020603050405020304" pitchFamily="18" charset="0"/>
              </a:rPr>
              <a:t>a</a:t>
            </a:r>
            <a:r>
              <a:rPr lang="zh-CN" altLang="zh-CN" sz="2400" b="0">
                <a:cs typeface="Times New Roman" panose="02020603050405020304" pitchFamily="18" charset="0"/>
              </a:rPr>
              <a:t>;</a:t>
            </a:r>
          </a:p>
          <a:p>
            <a:pPr eaLnBrk="1" hangingPunct="1">
              <a:spcAft>
                <a:spcPts val="600"/>
              </a:spcAft>
              <a:buFontTx/>
              <a:buNone/>
            </a:pPr>
            <a:r>
              <a:rPr lang="zh-CN" altLang="zh-CN" sz="2400" b="0">
                <a:cs typeface="Times New Roman" panose="02020603050405020304" pitchFamily="18" charset="0"/>
              </a:rPr>
              <a:t>end</a:t>
            </a:r>
            <a:endParaRPr lang="zh-CN" altLang="en-US" sz="2400" b="0">
              <a:cs typeface="Times New Roman" panose="02020603050405020304" pitchFamily="18" charset="0"/>
            </a:endParaRPr>
          </a:p>
        </p:txBody>
      </p:sp>
      <p:sp>
        <p:nvSpPr>
          <p:cNvPr id="17413" name="Line 5">
            <a:extLst>
              <a:ext uri="{FF2B5EF4-FFF2-40B4-BE49-F238E27FC236}">
                <a16:creationId xmlns:a16="http://schemas.microsoft.com/office/drawing/2014/main" id="{B9EE9F97-0B01-49DE-B194-DA5294F20902}"/>
              </a:ext>
            </a:extLst>
          </p:cNvPr>
          <p:cNvSpPr>
            <a:spLocks noChangeShapeType="1"/>
          </p:cNvSpPr>
          <p:nvPr/>
        </p:nvSpPr>
        <p:spPr bwMode="auto">
          <a:xfrm>
            <a:off x="4679950" y="1736725"/>
            <a:ext cx="0" cy="39243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6">
            <a:extLst>
              <a:ext uri="{FF2B5EF4-FFF2-40B4-BE49-F238E27FC236}">
                <a16:creationId xmlns:a16="http://schemas.microsoft.com/office/drawing/2014/main" id="{DFE06CC7-FBAA-4BE8-A498-F956F5EBB6E0}"/>
              </a:ext>
            </a:extLst>
          </p:cNvPr>
          <p:cNvGrpSpPr>
            <a:grpSpLocks/>
          </p:cNvGrpSpPr>
          <p:nvPr/>
        </p:nvGrpSpPr>
        <p:grpSpPr bwMode="auto">
          <a:xfrm>
            <a:off x="4895850" y="4527550"/>
            <a:ext cx="3624263" cy="1230313"/>
            <a:chOff x="3084" y="2852"/>
            <a:chExt cx="2283" cy="775"/>
          </a:xfrm>
        </p:grpSpPr>
        <p:sp>
          <p:nvSpPr>
            <p:cNvPr id="17441" name="Line 7">
              <a:extLst>
                <a:ext uri="{FF2B5EF4-FFF2-40B4-BE49-F238E27FC236}">
                  <a16:creationId xmlns:a16="http://schemas.microsoft.com/office/drawing/2014/main" id="{521333A9-F56F-43DD-989D-8F2782BB1F28}"/>
                </a:ext>
              </a:extLst>
            </p:cNvPr>
            <p:cNvSpPr>
              <a:spLocks noChangeShapeType="1"/>
            </p:cNvSpPr>
            <p:nvPr/>
          </p:nvSpPr>
          <p:spPr bwMode="auto">
            <a:xfrm>
              <a:off x="4082" y="3325"/>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42" name="Text Box 8">
              <a:extLst>
                <a:ext uri="{FF2B5EF4-FFF2-40B4-BE49-F238E27FC236}">
                  <a16:creationId xmlns:a16="http://schemas.microsoft.com/office/drawing/2014/main" id="{177377A1-EBF9-4BB1-9933-F47B2BCD2436}"/>
                </a:ext>
              </a:extLst>
            </p:cNvPr>
            <p:cNvSpPr txBox="1">
              <a:spLocks noChangeArrowheads="1"/>
            </p:cNvSpPr>
            <p:nvPr/>
          </p:nvSpPr>
          <p:spPr bwMode="auto">
            <a:xfrm>
              <a:off x="3084" y="2852"/>
              <a:ext cx="38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000"/>
                <a:t>clk</a:t>
              </a:r>
            </a:p>
          </p:txBody>
        </p:sp>
        <p:sp>
          <p:nvSpPr>
            <p:cNvPr id="17443" name="Text Box 9">
              <a:extLst>
                <a:ext uri="{FF2B5EF4-FFF2-40B4-BE49-F238E27FC236}">
                  <a16:creationId xmlns:a16="http://schemas.microsoft.com/office/drawing/2014/main" id="{CC632993-9A98-4472-AE82-E1548667B692}"/>
                </a:ext>
              </a:extLst>
            </p:cNvPr>
            <p:cNvSpPr txBox="1">
              <a:spLocks noChangeArrowheads="1"/>
            </p:cNvSpPr>
            <p:nvPr/>
          </p:nvSpPr>
          <p:spPr bwMode="auto">
            <a:xfrm>
              <a:off x="5140" y="3339"/>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c</a:t>
              </a:r>
            </a:p>
          </p:txBody>
        </p:sp>
        <p:sp>
          <p:nvSpPr>
            <p:cNvPr id="17444" name="Rectangle 10">
              <a:extLst>
                <a:ext uri="{FF2B5EF4-FFF2-40B4-BE49-F238E27FC236}">
                  <a16:creationId xmlns:a16="http://schemas.microsoft.com/office/drawing/2014/main" id="{568277BD-4810-4FE7-8D19-03AB404237C4}"/>
                </a:ext>
              </a:extLst>
            </p:cNvPr>
            <p:cNvSpPr>
              <a:spLocks noChangeArrowheads="1"/>
            </p:cNvSpPr>
            <p:nvPr/>
          </p:nvSpPr>
          <p:spPr bwMode="auto">
            <a:xfrm>
              <a:off x="3583" y="2989"/>
              <a:ext cx="499" cy="48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7445" name="Line 11">
              <a:extLst>
                <a:ext uri="{FF2B5EF4-FFF2-40B4-BE49-F238E27FC236}">
                  <a16:creationId xmlns:a16="http://schemas.microsoft.com/office/drawing/2014/main" id="{ED2D9E4C-9E09-4ADE-A73B-0F46F2327597}"/>
                </a:ext>
              </a:extLst>
            </p:cNvPr>
            <p:cNvSpPr>
              <a:spLocks noChangeShapeType="1"/>
            </p:cNvSpPr>
            <p:nvPr/>
          </p:nvSpPr>
          <p:spPr bwMode="auto">
            <a:xfrm>
              <a:off x="3151" y="3325"/>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46" name="Line 12">
              <a:extLst>
                <a:ext uri="{FF2B5EF4-FFF2-40B4-BE49-F238E27FC236}">
                  <a16:creationId xmlns:a16="http://schemas.microsoft.com/office/drawing/2014/main" id="{C76C6752-A39F-4FE2-A1E4-A972E038A196}"/>
                </a:ext>
              </a:extLst>
            </p:cNvPr>
            <p:cNvSpPr>
              <a:spLocks noChangeShapeType="1"/>
            </p:cNvSpPr>
            <p:nvPr/>
          </p:nvSpPr>
          <p:spPr bwMode="auto">
            <a:xfrm>
              <a:off x="4322" y="3133"/>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47" name="Line 13">
              <a:extLst>
                <a:ext uri="{FF2B5EF4-FFF2-40B4-BE49-F238E27FC236}">
                  <a16:creationId xmlns:a16="http://schemas.microsoft.com/office/drawing/2014/main" id="{5A41886E-61DD-4684-BBD9-742EB09A8160}"/>
                </a:ext>
              </a:extLst>
            </p:cNvPr>
            <p:cNvSpPr>
              <a:spLocks noChangeShapeType="1"/>
            </p:cNvSpPr>
            <p:nvPr/>
          </p:nvSpPr>
          <p:spPr bwMode="auto">
            <a:xfrm>
              <a:off x="3151" y="3133"/>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48" name="Text Box 14">
              <a:extLst>
                <a:ext uri="{FF2B5EF4-FFF2-40B4-BE49-F238E27FC236}">
                  <a16:creationId xmlns:a16="http://schemas.microsoft.com/office/drawing/2014/main" id="{90607268-876C-40FD-AADF-B2BD7F8A6131}"/>
                </a:ext>
              </a:extLst>
            </p:cNvPr>
            <p:cNvSpPr txBox="1">
              <a:spLocks noChangeArrowheads="1"/>
            </p:cNvSpPr>
            <p:nvPr/>
          </p:nvSpPr>
          <p:spPr bwMode="auto">
            <a:xfrm>
              <a:off x="3583" y="320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D   </a:t>
              </a:r>
            </a:p>
          </p:txBody>
        </p:sp>
        <p:sp>
          <p:nvSpPr>
            <p:cNvPr id="17449" name="Text Box 15">
              <a:extLst>
                <a:ext uri="{FF2B5EF4-FFF2-40B4-BE49-F238E27FC236}">
                  <a16:creationId xmlns:a16="http://schemas.microsoft.com/office/drawing/2014/main" id="{A42D2CFD-0AA4-43FB-B9EB-BCF06D994AA6}"/>
                </a:ext>
              </a:extLst>
            </p:cNvPr>
            <p:cNvSpPr txBox="1">
              <a:spLocks noChangeArrowheads="1"/>
            </p:cNvSpPr>
            <p:nvPr/>
          </p:nvSpPr>
          <p:spPr bwMode="auto">
            <a:xfrm>
              <a:off x="3855" y="3203"/>
              <a:ext cx="1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Q</a:t>
              </a:r>
            </a:p>
          </p:txBody>
        </p:sp>
        <p:sp>
          <p:nvSpPr>
            <p:cNvPr id="17450" name="Line 16">
              <a:extLst>
                <a:ext uri="{FF2B5EF4-FFF2-40B4-BE49-F238E27FC236}">
                  <a16:creationId xmlns:a16="http://schemas.microsoft.com/office/drawing/2014/main" id="{CF1484FD-B840-4470-AA76-6AA19049D53D}"/>
                </a:ext>
              </a:extLst>
            </p:cNvPr>
            <p:cNvSpPr>
              <a:spLocks noChangeShapeType="1"/>
            </p:cNvSpPr>
            <p:nvPr/>
          </p:nvSpPr>
          <p:spPr bwMode="auto">
            <a:xfrm>
              <a:off x="3583" y="3085"/>
              <a:ext cx="144" cy="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51" name="Line 17">
              <a:extLst>
                <a:ext uri="{FF2B5EF4-FFF2-40B4-BE49-F238E27FC236}">
                  <a16:creationId xmlns:a16="http://schemas.microsoft.com/office/drawing/2014/main" id="{A55F4916-1F66-4DC0-923F-CC67C3BCDBC3}"/>
                </a:ext>
              </a:extLst>
            </p:cNvPr>
            <p:cNvSpPr>
              <a:spLocks noChangeShapeType="1"/>
            </p:cNvSpPr>
            <p:nvPr/>
          </p:nvSpPr>
          <p:spPr bwMode="auto">
            <a:xfrm flipH="1">
              <a:off x="3583" y="3133"/>
              <a:ext cx="144" cy="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52" name="Line 18">
              <a:extLst>
                <a:ext uri="{FF2B5EF4-FFF2-40B4-BE49-F238E27FC236}">
                  <a16:creationId xmlns:a16="http://schemas.microsoft.com/office/drawing/2014/main" id="{DC8FE2BB-B868-41F9-984E-5BDE86464657}"/>
                </a:ext>
              </a:extLst>
            </p:cNvPr>
            <p:cNvSpPr>
              <a:spLocks noChangeShapeType="1"/>
            </p:cNvSpPr>
            <p:nvPr/>
          </p:nvSpPr>
          <p:spPr bwMode="auto">
            <a:xfrm>
              <a:off x="4974" y="3339"/>
              <a:ext cx="39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53" name="Line 19">
              <a:extLst>
                <a:ext uri="{FF2B5EF4-FFF2-40B4-BE49-F238E27FC236}">
                  <a16:creationId xmlns:a16="http://schemas.microsoft.com/office/drawing/2014/main" id="{9E80E31B-7F11-4122-93BF-480C49309625}"/>
                </a:ext>
              </a:extLst>
            </p:cNvPr>
            <p:cNvSpPr>
              <a:spLocks noChangeShapeType="1"/>
            </p:cNvSpPr>
            <p:nvPr/>
          </p:nvSpPr>
          <p:spPr bwMode="auto">
            <a:xfrm>
              <a:off x="3439" y="2863"/>
              <a:ext cx="88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54" name="Line 20">
              <a:extLst>
                <a:ext uri="{FF2B5EF4-FFF2-40B4-BE49-F238E27FC236}">
                  <a16:creationId xmlns:a16="http://schemas.microsoft.com/office/drawing/2014/main" id="{8788D25A-8129-4942-8C1E-9D0EDB581736}"/>
                </a:ext>
              </a:extLst>
            </p:cNvPr>
            <p:cNvSpPr>
              <a:spLocks noChangeShapeType="1"/>
            </p:cNvSpPr>
            <p:nvPr/>
          </p:nvSpPr>
          <p:spPr bwMode="auto">
            <a:xfrm>
              <a:off x="4322" y="2863"/>
              <a:ext cx="0" cy="27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55" name="Line 21">
              <a:extLst>
                <a:ext uri="{FF2B5EF4-FFF2-40B4-BE49-F238E27FC236}">
                  <a16:creationId xmlns:a16="http://schemas.microsoft.com/office/drawing/2014/main" id="{AF6CE95A-F7B9-40E9-9F35-E2FFA69BEE7D}"/>
                </a:ext>
              </a:extLst>
            </p:cNvPr>
            <p:cNvSpPr>
              <a:spLocks noChangeShapeType="1"/>
            </p:cNvSpPr>
            <p:nvPr/>
          </p:nvSpPr>
          <p:spPr bwMode="auto">
            <a:xfrm>
              <a:off x="3439" y="2863"/>
              <a:ext cx="0" cy="27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56" name="Text Box 22">
              <a:extLst>
                <a:ext uri="{FF2B5EF4-FFF2-40B4-BE49-F238E27FC236}">
                  <a16:creationId xmlns:a16="http://schemas.microsoft.com/office/drawing/2014/main" id="{DDEC6D04-9B92-4829-9E6C-88E7338FC14A}"/>
                </a:ext>
              </a:extLst>
            </p:cNvPr>
            <p:cNvSpPr txBox="1">
              <a:spLocks noChangeArrowheads="1"/>
            </p:cNvSpPr>
            <p:nvPr/>
          </p:nvSpPr>
          <p:spPr bwMode="auto">
            <a:xfrm>
              <a:off x="3151" y="3308"/>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a</a:t>
              </a:r>
            </a:p>
          </p:txBody>
        </p:sp>
        <p:sp>
          <p:nvSpPr>
            <p:cNvPr id="17457" name="Text Box 23">
              <a:extLst>
                <a:ext uri="{FF2B5EF4-FFF2-40B4-BE49-F238E27FC236}">
                  <a16:creationId xmlns:a16="http://schemas.microsoft.com/office/drawing/2014/main" id="{DDBC73A3-426F-49C9-8175-5A5D1090CCF8}"/>
                </a:ext>
              </a:extLst>
            </p:cNvPr>
            <p:cNvSpPr txBox="1">
              <a:spLocks noChangeArrowheads="1"/>
            </p:cNvSpPr>
            <p:nvPr/>
          </p:nvSpPr>
          <p:spPr bwMode="auto">
            <a:xfrm>
              <a:off x="4175" y="3323"/>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b</a:t>
              </a:r>
            </a:p>
          </p:txBody>
        </p:sp>
        <p:sp>
          <p:nvSpPr>
            <p:cNvPr id="17458" name="Rectangle 24">
              <a:extLst>
                <a:ext uri="{FF2B5EF4-FFF2-40B4-BE49-F238E27FC236}">
                  <a16:creationId xmlns:a16="http://schemas.microsoft.com/office/drawing/2014/main" id="{C3BB163F-03BA-4D69-8DA9-CA42B4C3968B}"/>
                </a:ext>
              </a:extLst>
            </p:cNvPr>
            <p:cNvSpPr>
              <a:spLocks noChangeArrowheads="1"/>
            </p:cNvSpPr>
            <p:nvPr/>
          </p:nvSpPr>
          <p:spPr bwMode="auto">
            <a:xfrm>
              <a:off x="4470" y="2995"/>
              <a:ext cx="499" cy="48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7459" name="Text Box 25">
              <a:extLst>
                <a:ext uri="{FF2B5EF4-FFF2-40B4-BE49-F238E27FC236}">
                  <a16:creationId xmlns:a16="http://schemas.microsoft.com/office/drawing/2014/main" id="{67217065-1AA2-4308-8A7E-76354764F20C}"/>
                </a:ext>
              </a:extLst>
            </p:cNvPr>
            <p:cNvSpPr txBox="1">
              <a:spLocks noChangeArrowheads="1"/>
            </p:cNvSpPr>
            <p:nvPr/>
          </p:nvSpPr>
          <p:spPr bwMode="auto">
            <a:xfrm>
              <a:off x="4470" y="3209"/>
              <a:ext cx="24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D     </a:t>
              </a:r>
            </a:p>
          </p:txBody>
        </p:sp>
        <p:sp>
          <p:nvSpPr>
            <p:cNvPr id="17460" name="Text Box 26">
              <a:extLst>
                <a:ext uri="{FF2B5EF4-FFF2-40B4-BE49-F238E27FC236}">
                  <a16:creationId xmlns:a16="http://schemas.microsoft.com/office/drawing/2014/main" id="{A17112D6-C46A-4942-B28C-68105EC073CB}"/>
                </a:ext>
              </a:extLst>
            </p:cNvPr>
            <p:cNvSpPr txBox="1">
              <a:spLocks noChangeArrowheads="1"/>
            </p:cNvSpPr>
            <p:nvPr/>
          </p:nvSpPr>
          <p:spPr bwMode="auto">
            <a:xfrm>
              <a:off x="4742" y="3209"/>
              <a:ext cx="1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Q</a:t>
              </a:r>
            </a:p>
          </p:txBody>
        </p:sp>
        <p:sp>
          <p:nvSpPr>
            <p:cNvPr id="17461" name="Line 27">
              <a:extLst>
                <a:ext uri="{FF2B5EF4-FFF2-40B4-BE49-F238E27FC236}">
                  <a16:creationId xmlns:a16="http://schemas.microsoft.com/office/drawing/2014/main" id="{4A3957C8-DFAF-468D-8D81-79E21D88B80B}"/>
                </a:ext>
              </a:extLst>
            </p:cNvPr>
            <p:cNvSpPr>
              <a:spLocks noChangeShapeType="1"/>
            </p:cNvSpPr>
            <p:nvPr/>
          </p:nvSpPr>
          <p:spPr bwMode="auto">
            <a:xfrm>
              <a:off x="4470" y="3091"/>
              <a:ext cx="144" cy="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62" name="Line 28">
              <a:extLst>
                <a:ext uri="{FF2B5EF4-FFF2-40B4-BE49-F238E27FC236}">
                  <a16:creationId xmlns:a16="http://schemas.microsoft.com/office/drawing/2014/main" id="{E4D9F524-0857-455B-B67E-0955EA768194}"/>
                </a:ext>
              </a:extLst>
            </p:cNvPr>
            <p:cNvSpPr>
              <a:spLocks noChangeShapeType="1"/>
            </p:cNvSpPr>
            <p:nvPr/>
          </p:nvSpPr>
          <p:spPr bwMode="auto">
            <a:xfrm flipH="1">
              <a:off x="4470" y="3139"/>
              <a:ext cx="144" cy="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grpSp>
      <p:grpSp>
        <p:nvGrpSpPr>
          <p:cNvPr id="3" name="Group 29">
            <a:extLst>
              <a:ext uri="{FF2B5EF4-FFF2-40B4-BE49-F238E27FC236}">
                <a16:creationId xmlns:a16="http://schemas.microsoft.com/office/drawing/2014/main" id="{10A1A453-2D0E-418B-8D17-E834ACA6CF9C}"/>
              </a:ext>
            </a:extLst>
          </p:cNvPr>
          <p:cNvGrpSpPr>
            <a:grpSpLocks/>
          </p:cNvGrpSpPr>
          <p:nvPr/>
        </p:nvGrpSpPr>
        <p:grpSpPr bwMode="auto">
          <a:xfrm>
            <a:off x="755650" y="4521200"/>
            <a:ext cx="3624263" cy="1230313"/>
            <a:chOff x="3084" y="2852"/>
            <a:chExt cx="2283" cy="775"/>
          </a:xfrm>
        </p:grpSpPr>
        <p:sp>
          <p:nvSpPr>
            <p:cNvPr id="17419" name="Line 30">
              <a:extLst>
                <a:ext uri="{FF2B5EF4-FFF2-40B4-BE49-F238E27FC236}">
                  <a16:creationId xmlns:a16="http://schemas.microsoft.com/office/drawing/2014/main" id="{F5F3A3EF-0F6E-43E0-89E1-21FBECF5CD9D}"/>
                </a:ext>
              </a:extLst>
            </p:cNvPr>
            <p:cNvSpPr>
              <a:spLocks noChangeShapeType="1"/>
            </p:cNvSpPr>
            <p:nvPr/>
          </p:nvSpPr>
          <p:spPr bwMode="auto">
            <a:xfrm>
              <a:off x="4082" y="3325"/>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20" name="Text Box 31">
              <a:extLst>
                <a:ext uri="{FF2B5EF4-FFF2-40B4-BE49-F238E27FC236}">
                  <a16:creationId xmlns:a16="http://schemas.microsoft.com/office/drawing/2014/main" id="{2035CAFC-A961-48B6-B1F7-70C098E01973}"/>
                </a:ext>
              </a:extLst>
            </p:cNvPr>
            <p:cNvSpPr txBox="1">
              <a:spLocks noChangeArrowheads="1"/>
            </p:cNvSpPr>
            <p:nvPr/>
          </p:nvSpPr>
          <p:spPr bwMode="auto">
            <a:xfrm>
              <a:off x="3084" y="2852"/>
              <a:ext cx="38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000"/>
                <a:t>clk</a:t>
              </a:r>
            </a:p>
          </p:txBody>
        </p:sp>
        <p:sp>
          <p:nvSpPr>
            <p:cNvPr id="17421" name="Text Box 32">
              <a:extLst>
                <a:ext uri="{FF2B5EF4-FFF2-40B4-BE49-F238E27FC236}">
                  <a16:creationId xmlns:a16="http://schemas.microsoft.com/office/drawing/2014/main" id="{1B908603-E77F-4537-B21F-843451FB8927}"/>
                </a:ext>
              </a:extLst>
            </p:cNvPr>
            <p:cNvSpPr txBox="1">
              <a:spLocks noChangeArrowheads="1"/>
            </p:cNvSpPr>
            <p:nvPr/>
          </p:nvSpPr>
          <p:spPr bwMode="auto">
            <a:xfrm>
              <a:off x="5140" y="3339"/>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c</a:t>
              </a:r>
            </a:p>
          </p:txBody>
        </p:sp>
        <p:sp>
          <p:nvSpPr>
            <p:cNvPr id="17422" name="Rectangle 33">
              <a:extLst>
                <a:ext uri="{FF2B5EF4-FFF2-40B4-BE49-F238E27FC236}">
                  <a16:creationId xmlns:a16="http://schemas.microsoft.com/office/drawing/2014/main" id="{82E95B82-56B5-4143-97A7-053D19ED9398}"/>
                </a:ext>
              </a:extLst>
            </p:cNvPr>
            <p:cNvSpPr>
              <a:spLocks noChangeArrowheads="1"/>
            </p:cNvSpPr>
            <p:nvPr/>
          </p:nvSpPr>
          <p:spPr bwMode="auto">
            <a:xfrm>
              <a:off x="3583" y="2989"/>
              <a:ext cx="499" cy="48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7423" name="Line 34">
              <a:extLst>
                <a:ext uri="{FF2B5EF4-FFF2-40B4-BE49-F238E27FC236}">
                  <a16:creationId xmlns:a16="http://schemas.microsoft.com/office/drawing/2014/main" id="{BF3DB2E4-05BB-4289-980E-3DD5A345887F}"/>
                </a:ext>
              </a:extLst>
            </p:cNvPr>
            <p:cNvSpPr>
              <a:spLocks noChangeShapeType="1"/>
            </p:cNvSpPr>
            <p:nvPr/>
          </p:nvSpPr>
          <p:spPr bwMode="auto">
            <a:xfrm>
              <a:off x="3151" y="3325"/>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24" name="Line 35">
              <a:extLst>
                <a:ext uri="{FF2B5EF4-FFF2-40B4-BE49-F238E27FC236}">
                  <a16:creationId xmlns:a16="http://schemas.microsoft.com/office/drawing/2014/main" id="{20D2DA84-82B1-4336-A2DF-D3844E5859FE}"/>
                </a:ext>
              </a:extLst>
            </p:cNvPr>
            <p:cNvSpPr>
              <a:spLocks noChangeShapeType="1"/>
            </p:cNvSpPr>
            <p:nvPr/>
          </p:nvSpPr>
          <p:spPr bwMode="auto">
            <a:xfrm>
              <a:off x="4322" y="3133"/>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25" name="Line 36">
              <a:extLst>
                <a:ext uri="{FF2B5EF4-FFF2-40B4-BE49-F238E27FC236}">
                  <a16:creationId xmlns:a16="http://schemas.microsoft.com/office/drawing/2014/main" id="{3557D419-118D-4829-8312-60AEF8506BAB}"/>
                </a:ext>
              </a:extLst>
            </p:cNvPr>
            <p:cNvSpPr>
              <a:spLocks noChangeShapeType="1"/>
            </p:cNvSpPr>
            <p:nvPr/>
          </p:nvSpPr>
          <p:spPr bwMode="auto">
            <a:xfrm>
              <a:off x="3151" y="3133"/>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26" name="Text Box 37">
              <a:extLst>
                <a:ext uri="{FF2B5EF4-FFF2-40B4-BE49-F238E27FC236}">
                  <a16:creationId xmlns:a16="http://schemas.microsoft.com/office/drawing/2014/main" id="{F56C7CFE-5AC4-4591-99B6-DFFF9F5A1F0D}"/>
                </a:ext>
              </a:extLst>
            </p:cNvPr>
            <p:cNvSpPr txBox="1">
              <a:spLocks noChangeArrowheads="1"/>
            </p:cNvSpPr>
            <p:nvPr/>
          </p:nvSpPr>
          <p:spPr bwMode="auto">
            <a:xfrm>
              <a:off x="3583" y="3207"/>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D   </a:t>
              </a:r>
            </a:p>
          </p:txBody>
        </p:sp>
        <p:sp>
          <p:nvSpPr>
            <p:cNvPr id="17427" name="Text Box 38">
              <a:extLst>
                <a:ext uri="{FF2B5EF4-FFF2-40B4-BE49-F238E27FC236}">
                  <a16:creationId xmlns:a16="http://schemas.microsoft.com/office/drawing/2014/main" id="{F31A2B11-FFCB-474B-BDAF-5E5B3BD9BECA}"/>
                </a:ext>
              </a:extLst>
            </p:cNvPr>
            <p:cNvSpPr txBox="1">
              <a:spLocks noChangeArrowheads="1"/>
            </p:cNvSpPr>
            <p:nvPr/>
          </p:nvSpPr>
          <p:spPr bwMode="auto">
            <a:xfrm>
              <a:off x="3855" y="3207"/>
              <a:ext cx="1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Q</a:t>
              </a:r>
            </a:p>
          </p:txBody>
        </p:sp>
        <p:sp>
          <p:nvSpPr>
            <p:cNvPr id="17428" name="Line 39">
              <a:extLst>
                <a:ext uri="{FF2B5EF4-FFF2-40B4-BE49-F238E27FC236}">
                  <a16:creationId xmlns:a16="http://schemas.microsoft.com/office/drawing/2014/main" id="{2777997E-8B2F-4627-A389-6A44A1724837}"/>
                </a:ext>
              </a:extLst>
            </p:cNvPr>
            <p:cNvSpPr>
              <a:spLocks noChangeShapeType="1"/>
            </p:cNvSpPr>
            <p:nvPr/>
          </p:nvSpPr>
          <p:spPr bwMode="auto">
            <a:xfrm>
              <a:off x="3583" y="3085"/>
              <a:ext cx="144" cy="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29" name="Line 40">
              <a:extLst>
                <a:ext uri="{FF2B5EF4-FFF2-40B4-BE49-F238E27FC236}">
                  <a16:creationId xmlns:a16="http://schemas.microsoft.com/office/drawing/2014/main" id="{DB6C990C-ED9B-4887-A1A8-A072BD4D59A5}"/>
                </a:ext>
              </a:extLst>
            </p:cNvPr>
            <p:cNvSpPr>
              <a:spLocks noChangeShapeType="1"/>
            </p:cNvSpPr>
            <p:nvPr/>
          </p:nvSpPr>
          <p:spPr bwMode="auto">
            <a:xfrm flipH="1">
              <a:off x="3583" y="3133"/>
              <a:ext cx="144" cy="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30" name="Line 41">
              <a:extLst>
                <a:ext uri="{FF2B5EF4-FFF2-40B4-BE49-F238E27FC236}">
                  <a16:creationId xmlns:a16="http://schemas.microsoft.com/office/drawing/2014/main" id="{4D47814E-46A5-4E6C-9047-1662004C5A2B}"/>
                </a:ext>
              </a:extLst>
            </p:cNvPr>
            <p:cNvSpPr>
              <a:spLocks noChangeShapeType="1"/>
            </p:cNvSpPr>
            <p:nvPr/>
          </p:nvSpPr>
          <p:spPr bwMode="auto">
            <a:xfrm>
              <a:off x="4974" y="3339"/>
              <a:ext cx="39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31" name="Line 42">
              <a:extLst>
                <a:ext uri="{FF2B5EF4-FFF2-40B4-BE49-F238E27FC236}">
                  <a16:creationId xmlns:a16="http://schemas.microsoft.com/office/drawing/2014/main" id="{C47C9504-FAF3-4C2A-8789-3CAB4E11527A}"/>
                </a:ext>
              </a:extLst>
            </p:cNvPr>
            <p:cNvSpPr>
              <a:spLocks noChangeShapeType="1"/>
            </p:cNvSpPr>
            <p:nvPr/>
          </p:nvSpPr>
          <p:spPr bwMode="auto">
            <a:xfrm>
              <a:off x="3439" y="2867"/>
              <a:ext cx="88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32" name="Line 43">
              <a:extLst>
                <a:ext uri="{FF2B5EF4-FFF2-40B4-BE49-F238E27FC236}">
                  <a16:creationId xmlns:a16="http://schemas.microsoft.com/office/drawing/2014/main" id="{A56CD820-1DC3-443F-A524-3EA71B8148DE}"/>
                </a:ext>
              </a:extLst>
            </p:cNvPr>
            <p:cNvSpPr>
              <a:spLocks noChangeShapeType="1"/>
            </p:cNvSpPr>
            <p:nvPr/>
          </p:nvSpPr>
          <p:spPr bwMode="auto">
            <a:xfrm>
              <a:off x="4322" y="2867"/>
              <a:ext cx="0" cy="2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33" name="Line 44">
              <a:extLst>
                <a:ext uri="{FF2B5EF4-FFF2-40B4-BE49-F238E27FC236}">
                  <a16:creationId xmlns:a16="http://schemas.microsoft.com/office/drawing/2014/main" id="{777C474B-BC82-4468-988A-51912F414366}"/>
                </a:ext>
              </a:extLst>
            </p:cNvPr>
            <p:cNvSpPr>
              <a:spLocks noChangeShapeType="1"/>
            </p:cNvSpPr>
            <p:nvPr/>
          </p:nvSpPr>
          <p:spPr bwMode="auto">
            <a:xfrm>
              <a:off x="3439" y="2867"/>
              <a:ext cx="0" cy="266"/>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34" name="Text Box 45">
              <a:extLst>
                <a:ext uri="{FF2B5EF4-FFF2-40B4-BE49-F238E27FC236}">
                  <a16:creationId xmlns:a16="http://schemas.microsoft.com/office/drawing/2014/main" id="{835F3A86-E235-49ED-BAE2-327A7649E474}"/>
                </a:ext>
              </a:extLst>
            </p:cNvPr>
            <p:cNvSpPr txBox="1">
              <a:spLocks noChangeArrowheads="1"/>
            </p:cNvSpPr>
            <p:nvPr/>
          </p:nvSpPr>
          <p:spPr bwMode="auto">
            <a:xfrm>
              <a:off x="3151" y="3321"/>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a</a:t>
              </a:r>
            </a:p>
          </p:txBody>
        </p:sp>
        <p:sp>
          <p:nvSpPr>
            <p:cNvPr id="17435" name="Text Box 46">
              <a:extLst>
                <a:ext uri="{FF2B5EF4-FFF2-40B4-BE49-F238E27FC236}">
                  <a16:creationId xmlns:a16="http://schemas.microsoft.com/office/drawing/2014/main" id="{363C9DF1-4CB3-4A5B-84B3-B926FF6C978E}"/>
                </a:ext>
              </a:extLst>
            </p:cNvPr>
            <p:cNvSpPr txBox="1">
              <a:spLocks noChangeArrowheads="1"/>
            </p:cNvSpPr>
            <p:nvPr/>
          </p:nvSpPr>
          <p:spPr bwMode="auto">
            <a:xfrm>
              <a:off x="4175" y="3336"/>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2400"/>
                <a:t>b</a:t>
              </a:r>
            </a:p>
          </p:txBody>
        </p:sp>
        <p:sp>
          <p:nvSpPr>
            <p:cNvPr id="17436" name="Rectangle 47">
              <a:extLst>
                <a:ext uri="{FF2B5EF4-FFF2-40B4-BE49-F238E27FC236}">
                  <a16:creationId xmlns:a16="http://schemas.microsoft.com/office/drawing/2014/main" id="{EE517A95-DE1F-4603-BA74-5EA110015E49}"/>
                </a:ext>
              </a:extLst>
            </p:cNvPr>
            <p:cNvSpPr>
              <a:spLocks noChangeArrowheads="1"/>
            </p:cNvSpPr>
            <p:nvPr/>
          </p:nvSpPr>
          <p:spPr bwMode="auto">
            <a:xfrm>
              <a:off x="4470" y="2995"/>
              <a:ext cx="499" cy="48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7437" name="Text Box 48">
              <a:extLst>
                <a:ext uri="{FF2B5EF4-FFF2-40B4-BE49-F238E27FC236}">
                  <a16:creationId xmlns:a16="http://schemas.microsoft.com/office/drawing/2014/main" id="{83F9571B-2D43-4E3B-9F7D-A245FC1D4840}"/>
                </a:ext>
              </a:extLst>
            </p:cNvPr>
            <p:cNvSpPr txBox="1">
              <a:spLocks noChangeArrowheads="1"/>
            </p:cNvSpPr>
            <p:nvPr/>
          </p:nvSpPr>
          <p:spPr bwMode="auto">
            <a:xfrm>
              <a:off x="4470" y="3213"/>
              <a:ext cx="24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D     </a:t>
              </a:r>
            </a:p>
          </p:txBody>
        </p:sp>
        <p:sp>
          <p:nvSpPr>
            <p:cNvPr id="17438" name="Text Box 49">
              <a:extLst>
                <a:ext uri="{FF2B5EF4-FFF2-40B4-BE49-F238E27FC236}">
                  <a16:creationId xmlns:a16="http://schemas.microsoft.com/office/drawing/2014/main" id="{B985264B-4124-456A-90E3-1BBE6E4D71B9}"/>
                </a:ext>
              </a:extLst>
            </p:cNvPr>
            <p:cNvSpPr txBox="1">
              <a:spLocks noChangeArrowheads="1"/>
            </p:cNvSpPr>
            <p:nvPr/>
          </p:nvSpPr>
          <p:spPr bwMode="auto">
            <a:xfrm>
              <a:off x="4742" y="3213"/>
              <a:ext cx="1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Clr>
                  <a:schemeClr val="tx2"/>
                </a:buClr>
                <a:buFontTx/>
                <a:buNone/>
              </a:pPr>
              <a:r>
                <a:rPr kumimoji="1" lang="en-US" altLang="zh-CN" sz="1800"/>
                <a:t>Q</a:t>
              </a:r>
            </a:p>
          </p:txBody>
        </p:sp>
        <p:sp>
          <p:nvSpPr>
            <p:cNvPr id="17439" name="Line 50">
              <a:extLst>
                <a:ext uri="{FF2B5EF4-FFF2-40B4-BE49-F238E27FC236}">
                  <a16:creationId xmlns:a16="http://schemas.microsoft.com/office/drawing/2014/main" id="{69688161-B15C-41A4-9FE3-470E9E557126}"/>
                </a:ext>
              </a:extLst>
            </p:cNvPr>
            <p:cNvSpPr>
              <a:spLocks noChangeShapeType="1"/>
            </p:cNvSpPr>
            <p:nvPr/>
          </p:nvSpPr>
          <p:spPr bwMode="auto">
            <a:xfrm>
              <a:off x="4470" y="3091"/>
              <a:ext cx="144" cy="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7440" name="Line 51">
              <a:extLst>
                <a:ext uri="{FF2B5EF4-FFF2-40B4-BE49-F238E27FC236}">
                  <a16:creationId xmlns:a16="http://schemas.microsoft.com/office/drawing/2014/main" id="{5A04520C-A9BC-4F2C-823A-3D75064636A3}"/>
                </a:ext>
              </a:extLst>
            </p:cNvPr>
            <p:cNvSpPr>
              <a:spLocks noChangeShapeType="1"/>
            </p:cNvSpPr>
            <p:nvPr/>
          </p:nvSpPr>
          <p:spPr bwMode="auto">
            <a:xfrm flipH="1">
              <a:off x="4470" y="3139"/>
              <a:ext cx="144" cy="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grpSp>
      <p:sp>
        <p:nvSpPr>
          <p:cNvPr id="58" name="Rectangle 4">
            <a:extLst>
              <a:ext uri="{FF2B5EF4-FFF2-40B4-BE49-F238E27FC236}">
                <a16:creationId xmlns:a16="http://schemas.microsoft.com/office/drawing/2014/main" id="{EA6D5731-2CC9-44A4-B61C-8EB0A2AD195C}"/>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59" name="Rectangle 5">
            <a:extLst>
              <a:ext uri="{FF2B5EF4-FFF2-40B4-BE49-F238E27FC236}">
                <a16:creationId xmlns:a16="http://schemas.microsoft.com/office/drawing/2014/main" id="{B7F58A9D-80B3-452B-BE56-A3685C4172CE}"/>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60" name="Rectangle 6">
            <a:extLst>
              <a:ext uri="{FF2B5EF4-FFF2-40B4-BE49-F238E27FC236}">
                <a16:creationId xmlns:a16="http://schemas.microsoft.com/office/drawing/2014/main" id="{BB970036-30FF-4F0B-A385-E7C6EF6173BF}"/>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7</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6C8E018-5DF2-4A7C-8303-12F4951F8121}"/>
              </a:ext>
            </a:extLst>
          </p:cNvPr>
          <p:cNvSpPr>
            <a:spLocks noGrp="1" noChangeArrowheads="1"/>
          </p:cNvSpPr>
          <p:nvPr>
            <p:ph type="title" idx="4294967295"/>
          </p:nvPr>
        </p:nvSpPr>
        <p:spPr/>
        <p:txBody>
          <a:bodyPr/>
          <a:lstStyle/>
          <a:p>
            <a:r>
              <a:rPr lang="zh-CN" altLang="en-US"/>
              <a:t>示例</a:t>
            </a:r>
            <a:r>
              <a:rPr lang="en-US" altLang="zh-CN"/>
              <a:t>—</a:t>
            </a:r>
            <a:r>
              <a:rPr lang="zh-CN" altLang="en-US"/>
              <a:t>两种赋值语句比较</a:t>
            </a:r>
            <a:endParaRPr lang="en-US" altLang="zh-CN"/>
          </a:p>
        </p:txBody>
      </p:sp>
      <p:sp>
        <p:nvSpPr>
          <p:cNvPr id="18435" name="Rectangle 3">
            <a:extLst>
              <a:ext uri="{FF2B5EF4-FFF2-40B4-BE49-F238E27FC236}">
                <a16:creationId xmlns:a16="http://schemas.microsoft.com/office/drawing/2014/main" id="{A9E51FBB-A39C-4A77-87C3-9F7239A27BD1}"/>
              </a:ext>
            </a:extLst>
          </p:cNvPr>
          <p:cNvSpPr>
            <a:spLocks noGrp="1" noChangeArrowheads="1"/>
          </p:cNvSpPr>
          <p:nvPr>
            <p:ph type="body" idx="1"/>
          </p:nvPr>
        </p:nvSpPr>
        <p:spPr>
          <a:xfrm>
            <a:off x="601663" y="1449388"/>
            <a:ext cx="3921125" cy="4932362"/>
          </a:xfrm>
        </p:spPr>
        <p:txBody>
          <a:bodyPr/>
          <a:lstStyle/>
          <a:p>
            <a:pPr>
              <a:spcAft>
                <a:spcPts val="600"/>
              </a:spcAft>
              <a:buFontTx/>
              <a:buNone/>
            </a:pPr>
            <a:r>
              <a:rPr lang="en-US" altLang="zh-CN" sz="2400" b="0" dirty="0"/>
              <a:t>module </a:t>
            </a:r>
            <a:r>
              <a:rPr lang="en-US" altLang="zh-CN" sz="2400" b="0" dirty="0" err="1"/>
              <a:t>basgn</a:t>
            </a:r>
            <a:r>
              <a:rPr lang="en-US" altLang="zh-CN" sz="2400" b="0" dirty="0"/>
              <a:t> (</a:t>
            </a:r>
          </a:p>
          <a:p>
            <a:pPr>
              <a:spcAft>
                <a:spcPts val="600"/>
              </a:spcAft>
              <a:buFontTx/>
              <a:buNone/>
            </a:pPr>
            <a:r>
              <a:rPr lang="en-US" altLang="zh-CN" sz="2400" b="0" dirty="0"/>
              <a:t>input Clock, x1, x2, x3, </a:t>
            </a:r>
          </a:p>
          <a:p>
            <a:pPr>
              <a:spcAft>
                <a:spcPts val="600"/>
              </a:spcAft>
              <a:buFontTx/>
              <a:buNone/>
            </a:pPr>
            <a:r>
              <a:rPr lang="en-US" altLang="zh-CN" sz="2400" b="0" dirty="0"/>
              <a:t>output f, g</a:t>
            </a:r>
          </a:p>
          <a:p>
            <a:pPr>
              <a:spcAft>
                <a:spcPts val="600"/>
              </a:spcAft>
              <a:buFontTx/>
              <a:buNone/>
            </a:pPr>
            <a:r>
              <a:rPr lang="en-US" altLang="zh-CN" sz="2400" b="0" dirty="0"/>
              <a:t>);</a:t>
            </a:r>
          </a:p>
          <a:p>
            <a:pPr>
              <a:spcAft>
                <a:spcPts val="600"/>
              </a:spcAft>
              <a:buFontTx/>
              <a:buNone/>
            </a:pPr>
            <a:r>
              <a:rPr lang="en-US" altLang="zh-CN" sz="2400" b="0" dirty="0"/>
              <a:t>reg f, g;</a:t>
            </a:r>
          </a:p>
          <a:p>
            <a:pPr>
              <a:spcAft>
                <a:spcPts val="600"/>
              </a:spcAft>
              <a:buFontTx/>
              <a:buNone/>
            </a:pPr>
            <a:r>
              <a:rPr lang="en-US" altLang="zh-CN" sz="2400" b="0" dirty="0"/>
              <a:t>always @(</a:t>
            </a:r>
            <a:r>
              <a:rPr lang="en-US" altLang="zh-CN" sz="2400" b="0" dirty="0" err="1"/>
              <a:t>posedge</a:t>
            </a:r>
            <a:r>
              <a:rPr lang="en-US" altLang="zh-CN" sz="2400" b="0" dirty="0"/>
              <a:t> Clock)</a:t>
            </a:r>
          </a:p>
          <a:p>
            <a:pPr>
              <a:spcAft>
                <a:spcPts val="600"/>
              </a:spcAft>
              <a:buFontTx/>
              <a:buNone/>
            </a:pPr>
            <a:r>
              <a:rPr lang="en-US" altLang="zh-CN" sz="2400" b="0" dirty="0"/>
              <a:t>begin</a:t>
            </a:r>
          </a:p>
          <a:p>
            <a:pPr>
              <a:spcAft>
                <a:spcPts val="600"/>
              </a:spcAft>
              <a:buFontTx/>
              <a:buNone/>
            </a:pPr>
            <a:r>
              <a:rPr lang="en-US" altLang="zh-CN" sz="2400" b="0" dirty="0"/>
              <a:t>	 f = x1 &amp; x2;</a:t>
            </a:r>
          </a:p>
          <a:p>
            <a:pPr>
              <a:spcAft>
                <a:spcPts val="600"/>
              </a:spcAft>
              <a:buFontTx/>
              <a:buNone/>
            </a:pPr>
            <a:r>
              <a:rPr lang="en-US" altLang="zh-CN" sz="2400" b="0" dirty="0"/>
              <a:t>	 g = f | x3;</a:t>
            </a:r>
          </a:p>
          <a:p>
            <a:pPr>
              <a:spcAft>
                <a:spcPts val="600"/>
              </a:spcAft>
              <a:buFontTx/>
              <a:buNone/>
            </a:pPr>
            <a:r>
              <a:rPr lang="en-US" altLang="zh-CN" sz="2400" b="0" dirty="0"/>
              <a:t>end</a:t>
            </a:r>
          </a:p>
          <a:p>
            <a:pPr>
              <a:spcAft>
                <a:spcPts val="600"/>
              </a:spcAft>
              <a:buFontTx/>
              <a:buNone/>
            </a:pPr>
            <a:r>
              <a:rPr lang="en-US" altLang="zh-CN" sz="2400" b="0" dirty="0" err="1"/>
              <a:t>endmodule</a:t>
            </a:r>
            <a:endParaRPr lang="en-US" altLang="zh-CN" sz="2400" b="0" dirty="0"/>
          </a:p>
        </p:txBody>
      </p:sp>
      <p:graphicFrame>
        <p:nvGraphicFramePr>
          <p:cNvPr id="1598468" name="Object 2">
            <a:extLst>
              <a:ext uri="{FF2B5EF4-FFF2-40B4-BE49-F238E27FC236}">
                <a16:creationId xmlns:a16="http://schemas.microsoft.com/office/drawing/2014/main" id="{F87A127B-81C7-4583-9BB3-563E760DAF7F}"/>
              </a:ext>
            </a:extLst>
          </p:cNvPr>
          <p:cNvGraphicFramePr>
            <a:graphicFrameLocks noChangeAspect="1"/>
          </p:cNvGraphicFramePr>
          <p:nvPr/>
        </p:nvGraphicFramePr>
        <p:xfrm>
          <a:off x="4043363" y="2097088"/>
          <a:ext cx="4560887" cy="3159125"/>
        </p:xfrm>
        <a:graphic>
          <a:graphicData uri="http://schemas.openxmlformats.org/presentationml/2006/ole">
            <mc:AlternateContent xmlns:mc="http://schemas.openxmlformats.org/markup-compatibility/2006">
              <mc:Choice xmlns:v="urn:schemas-microsoft-com:vml" Requires="v">
                <p:oleObj name="位图图像" r:id="rId3" imgW="3780952" imgH="2619048" progId="Paint.Picture">
                  <p:embed/>
                </p:oleObj>
              </mc:Choice>
              <mc:Fallback>
                <p:oleObj name="位图图像" r:id="rId3" imgW="3780952" imgH="2619048"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3363" y="2097088"/>
                        <a:ext cx="4560887"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4">
            <a:extLst>
              <a:ext uri="{FF2B5EF4-FFF2-40B4-BE49-F238E27FC236}">
                <a16:creationId xmlns:a16="http://schemas.microsoft.com/office/drawing/2014/main" id="{ED151CEE-DE65-439E-BF68-D31EF8E96389}"/>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12" name="Rectangle 5">
            <a:extLst>
              <a:ext uri="{FF2B5EF4-FFF2-40B4-BE49-F238E27FC236}">
                <a16:creationId xmlns:a16="http://schemas.microsoft.com/office/drawing/2014/main" id="{FD9A8432-6DBE-43D6-B127-E10A3A74DF6B}"/>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13" name="Rectangle 6">
            <a:extLst>
              <a:ext uri="{FF2B5EF4-FFF2-40B4-BE49-F238E27FC236}">
                <a16:creationId xmlns:a16="http://schemas.microsoft.com/office/drawing/2014/main" id="{F2F9E3BF-38E9-4CEE-99F9-3988E4D65450}"/>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8</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98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AAEF5E1-526C-4E8F-9531-489B83C95703}"/>
              </a:ext>
            </a:extLst>
          </p:cNvPr>
          <p:cNvSpPr>
            <a:spLocks noGrp="1" noChangeArrowheads="1"/>
          </p:cNvSpPr>
          <p:nvPr>
            <p:ph type="title"/>
          </p:nvPr>
        </p:nvSpPr>
        <p:spPr>
          <a:xfrm>
            <a:off x="457200" y="152400"/>
            <a:ext cx="8229600" cy="1143000"/>
          </a:xfrm>
        </p:spPr>
        <p:txBody>
          <a:bodyPr/>
          <a:lstStyle/>
          <a:p>
            <a:r>
              <a:rPr lang="zh-CN" altLang="en-US"/>
              <a:t>示例</a:t>
            </a:r>
            <a:r>
              <a:rPr lang="en-US" altLang="zh-CN"/>
              <a:t>—</a:t>
            </a:r>
            <a:r>
              <a:rPr lang="zh-CN" altLang="en-US"/>
              <a:t>两种赋值语句比较</a:t>
            </a:r>
            <a:r>
              <a:rPr lang="en-US" altLang="zh-CN">
                <a:latin typeface="宋体" panose="02010600030101010101" pitchFamily="2" charset="-122"/>
              </a:rPr>
              <a:t>(</a:t>
            </a:r>
            <a:r>
              <a:rPr lang="zh-CN" altLang="en-US">
                <a:latin typeface="宋体" panose="02010600030101010101" pitchFamily="2" charset="-122"/>
              </a:rPr>
              <a:t>续</a:t>
            </a:r>
            <a:r>
              <a:rPr lang="en-US" altLang="zh-CN">
                <a:latin typeface="宋体" panose="02010600030101010101" pitchFamily="2" charset="-122"/>
              </a:rPr>
              <a:t>)</a:t>
            </a:r>
          </a:p>
        </p:txBody>
      </p:sp>
      <p:graphicFrame>
        <p:nvGraphicFramePr>
          <p:cNvPr id="1600516" name="Object 2">
            <a:extLst>
              <a:ext uri="{FF2B5EF4-FFF2-40B4-BE49-F238E27FC236}">
                <a16:creationId xmlns:a16="http://schemas.microsoft.com/office/drawing/2014/main" id="{CA55BFAC-2D21-463A-A294-198681F15C43}"/>
              </a:ext>
            </a:extLst>
          </p:cNvPr>
          <p:cNvGraphicFramePr>
            <a:graphicFrameLocks noGrp="1" noChangeAspect="1"/>
          </p:cNvGraphicFramePr>
          <p:nvPr>
            <p:ph sz="half" idx="2"/>
          </p:nvPr>
        </p:nvGraphicFramePr>
        <p:xfrm>
          <a:off x="4133850" y="1989138"/>
          <a:ext cx="4470400" cy="3336925"/>
        </p:xfrm>
        <a:graphic>
          <a:graphicData uri="http://schemas.openxmlformats.org/presentationml/2006/ole">
            <mc:AlternateContent xmlns:mc="http://schemas.openxmlformats.org/markup-compatibility/2006">
              <mc:Choice xmlns:v="urn:schemas-microsoft-com:vml" Requires="v">
                <p:oleObj name="位图图像" r:id="rId3" imgW="3780952" imgH="2591162" progId="Paint.Picture">
                  <p:embed/>
                </p:oleObj>
              </mc:Choice>
              <mc:Fallback>
                <p:oleObj name="位图图像" r:id="rId3" imgW="3780952" imgH="2591162"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3850" y="1989138"/>
                        <a:ext cx="4470400"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4" name="Rectangle 4">
            <a:extLst>
              <a:ext uri="{FF2B5EF4-FFF2-40B4-BE49-F238E27FC236}">
                <a16:creationId xmlns:a16="http://schemas.microsoft.com/office/drawing/2014/main" id="{815878A2-3DB3-4934-A284-C9815877E811}"/>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09ED943B-4F94-4D21-9D36-597888A56E03}" type="datetime1">
              <a:rPr lang="zh-CN" altLang="en-US" sz="1800" b="0" smtClean="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0485" name="Rectangle 5">
            <a:extLst>
              <a:ext uri="{FF2B5EF4-FFF2-40B4-BE49-F238E27FC236}">
                <a16:creationId xmlns:a16="http://schemas.microsoft.com/office/drawing/2014/main" id="{18C6BDB6-E94F-4944-BE48-D23610A617B6}"/>
              </a:ext>
            </a:extLst>
          </p:cNvPr>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20486" name="Rectangle 6">
            <a:extLst>
              <a:ext uri="{FF2B5EF4-FFF2-40B4-BE49-F238E27FC236}">
                <a16:creationId xmlns:a16="http://schemas.microsoft.com/office/drawing/2014/main" id="{801DCE33-B52F-41C6-9752-AFB1B75B9B9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2091A712-A46A-48E7-A71A-F7599A0691A3}" type="slidenum">
              <a:rPr lang="en-US" altLang="zh-CN" sz="1800" b="0" smtClean="0">
                <a:solidFill>
                  <a:srgbClr val="B2B2B2"/>
                </a:solidFill>
                <a:latin typeface="Arial" panose="020B0604020202020204" pitchFamily="34" charset="0"/>
              </a:rPr>
              <a:pPr>
                <a:spcAft>
                  <a:spcPct val="0"/>
                </a:spcAft>
                <a:buFontTx/>
                <a:buNone/>
              </a:pPr>
              <a:t>9</a:t>
            </a:fld>
            <a:endParaRPr lang="en-US" altLang="zh-CN" sz="1800" b="0">
              <a:solidFill>
                <a:srgbClr val="B2B2B2"/>
              </a:solidFill>
              <a:latin typeface="Arial" panose="020B0604020202020204" pitchFamily="34" charset="0"/>
            </a:endParaRPr>
          </a:p>
        </p:txBody>
      </p:sp>
      <p:sp>
        <p:nvSpPr>
          <p:cNvPr id="20487" name="Rectangle 3">
            <a:extLst>
              <a:ext uri="{FF2B5EF4-FFF2-40B4-BE49-F238E27FC236}">
                <a16:creationId xmlns:a16="http://schemas.microsoft.com/office/drawing/2014/main" id="{9C6A8A6E-5027-4814-806D-F6D8A93287AC}"/>
              </a:ext>
            </a:extLst>
          </p:cNvPr>
          <p:cNvSpPr>
            <a:spLocks noGrp="1" noChangeArrowheads="1"/>
          </p:cNvSpPr>
          <p:nvPr>
            <p:ph type="body" idx="1"/>
          </p:nvPr>
        </p:nvSpPr>
        <p:spPr>
          <a:xfrm>
            <a:off x="601663" y="1449388"/>
            <a:ext cx="3921125" cy="4932362"/>
          </a:xfrm>
        </p:spPr>
        <p:txBody>
          <a:bodyPr/>
          <a:lstStyle/>
          <a:p>
            <a:pPr>
              <a:spcAft>
                <a:spcPts val="600"/>
              </a:spcAft>
              <a:buFontTx/>
              <a:buNone/>
            </a:pPr>
            <a:r>
              <a:rPr lang="en-US" altLang="zh-CN" sz="2400" b="0"/>
              <a:t>module basgn (</a:t>
            </a:r>
          </a:p>
          <a:p>
            <a:pPr>
              <a:spcAft>
                <a:spcPts val="600"/>
              </a:spcAft>
              <a:buFontTx/>
              <a:buNone/>
            </a:pPr>
            <a:r>
              <a:rPr lang="en-US" altLang="zh-CN" sz="2400" b="0"/>
              <a:t>input Clock, x1, x2, x3, </a:t>
            </a:r>
          </a:p>
          <a:p>
            <a:pPr>
              <a:spcAft>
                <a:spcPts val="600"/>
              </a:spcAft>
              <a:buFontTx/>
              <a:buNone/>
            </a:pPr>
            <a:r>
              <a:rPr lang="en-US" altLang="zh-CN" sz="2400" b="0"/>
              <a:t>output f, g</a:t>
            </a:r>
          </a:p>
          <a:p>
            <a:pPr>
              <a:spcAft>
                <a:spcPts val="600"/>
              </a:spcAft>
              <a:buFontTx/>
              <a:buNone/>
            </a:pPr>
            <a:r>
              <a:rPr lang="en-US" altLang="zh-CN" sz="2400" b="0"/>
              <a:t>);</a:t>
            </a:r>
          </a:p>
          <a:p>
            <a:pPr>
              <a:spcAft>
                <a:spcPts val="600"/>
              </a:spcAft>
              <a:buFontTx/>
              <a:buNone/>
            </a:pPr>
            <a:r>
              <a:rPr lang="en-US" altLang="zh-CN" sz="2400" b="0"/>
              <a:t>reg f, g;</a:t>
            </a:r>
          </a:p>
          <a:p>
            <a:pPr>
              <a:spcAft>
                <a:spcPts val="600"/>
              </a:spcAft>
              <a:buFontTx/>
              <a:buNone/>
            </a:pPr>
            <a:r>
              <a:rPr lang="en-US" altLang="zh-CN" sz="2400" b="0"/>
              <a:t>always @(posedge Clock)</a:t>
            </a:r>
          </a:p>
          <a:p>
            <a:pPr>
              <a:spcAft>
                <a:spcPts val="600"/>
              </a:spcAft>
              <a:buFontTx/>
              <a:buNone/>
            </a:pPr>
            <a:r>
              <a:rPr lang="en-US" altLang="zh-CN" sz="2400" b="0"/>
              <a:t>begin</a:t>
            </a:r>
          </a:p>
          <a:p>
            <a:pPr>
              <a:spcAft>
                <a:spcPts val="600"/>
              </a:spcAft>
              <a:buFontTx/>
              <a:buNone/>
            </a:pPr>
            <a:r>
              <a:rPr lang="en-US" altLang="zh-CN" sz="2400" b="0"/>
              <a:t>	 f &lt;= x1 &amp; x2;</a:t>
            </a:r>
          </a:p>
          <a:p>
            <a:pPr>
              <a:spcAft>
                <a:spcPts val="600"/>
              </a:spcAft>
              <a:buFontTx/>
              <a:buNone/>
            </a:pPr>
            <a:r>
              <a:rPr lang="en-US" altLang="zh-CN" sz="2400" b="0"/>
              <a:t>	 g &lt;= f | x3;</a:t>
            </a:r>
          </a:p>
          <a:p>
            <a:pPr>
              <a:spcAft>
                <a:spcPts val="600"/>
              </a:spcAft>
              <a:buFontTx/>
              <a:buNone/>
            </a:pPr>
            <a:r>
              <a:rPr lang="en-US" altLang="zh-CN" sz="2400" b="0"/>
              <a:t>end</a:t>
            </a:r>
          </a:p>
          <a:p>
            <a:pPr>
              <a:spcAft>
                <a:spcPts val="600"/>
              </a:spcAft>
              <a:buFontTx/>
              <a:buNone/>
            </a:pPr>
            <a:r>
              <a:rPr lang="en-US" altLang="zh-CN" sz="2400" b="0"/>
              <a:t>endmodule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005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04" name="Rectangle 4">
            <a:extLst>
              <a:ext uri="{FF2B5EF4-FFF2-40B4-BE49-F238E27FC236}">
                <a16:creationId xmlns:a16="http://schemas.microsoft.com/office/drawing/2014/main" id="{FEDB27D7-E4E0-45FF-ABE4-F4B45CC74483}"/>
              </a:ext>
            </a:extLst>
          </p:cNvPr>
          <p:cNvSpPr>
            <a:spLocks noGrp="1" noChangeArrowheads="1"/>
          </p:cNvSpPr>
          <p:nvPr>
            <p:ph type="body" idx="1"/>
          </p:nvPr>
        </p:nvSpPr>
        <p:spPr>
          <a:xfrm>
            <a:off x="468313" y="1304925"/>
            <a:ext cx="8135937" cy="2185988"/>
          </a:xfrm>
        </p:spPr>
        <p:txBody>
          <a:bodyPr/>
          <a:lstStyle/>
          <a:p>
            <a:pPr>
              <a:spcAft>
                <a:spcPts val="1200"/>
              </a:spcAft>
            </a:pPr>
            <a:r>
              <a:rPr lang="zh-CN" altLang="en-US" sz="2400" dirty="0"/>
              <a:t>状态数有限的时序电路又称为有限状态机</a:t>
            </a:r>
            <a:r>
              <a:rPr lang="en-US" altLang="zh-CN" sz="2400" dirty="0"/>
              <a:t>(FSM, Finite State Machine)</a:t>
            </a:r>
            <a:endParaRPr lang="zh-CN" altLang="en-US" sz="2400" dirty="0"/>
          </a:p>
          <a:p>
            <a:pPr>
              <a:spcAft>
                <a:spcPts val="1200"/>
              </a:spcAft>
            </a:pPr>
            <a:r>
              <a:rPr lang="zh-CN" altLang="en-US" sz="2400" dirty="0"/>
              <a:t>最多需要描述三个对象：现态</a:t>
            </a:r>
            <a:r>
              <a:rPr lang="en-US" altLang="zh-CN" sz="2400" dirty="0"/>
              <a:t>(Current State</a:t>
            </a:r>
            <a:r>
              <a:rPr lang="en-US" altLang="zh-CN" sz="2400"/>
              <a:t>, cs)</a:t>
            </a:r>
            <a:r>
              <a:rPr lang="zh-CN" altLang="en-US" sz="2400" dirty="0"/>
              <a:t>、 次态</a:t>
            </a:r>
            <a:r>
              <a:rPr lang="en-US" altLang="zh-CN" sz="2400" dirty="0"/>
              <a:t>(Next State</a:t>
            </a:r>
            <a:r>
              <a:rPr lang="en-US" altLang="zh-CN" sz="2400"/>
              <a:t>, ns)</a:t>
            </a:r>
            <a:r>
              <a:rPr lang="zh-CN" altLang="en-US" sz="2400" dirty="0"/>
              <a:t>和</a:t>
            </a:r>
            <a:r>
              <a:rPr lang="zh-CN" altLang="en-US" sz="2400"/>
              <a:t>输出</a:t>
            </a:r>
            <a:r>
              <a:rPr lang="en-US" altLang="zh-CN" sz="2400"/>
              <a:t>(out)</a:t>
            </a:r>
            <a:endParaRPr lang="en-US" altLang="zh-CN" sz="2400" dirty="0"/>
          </a:p>
        </p:txBody>
      </p:sp>
      <p:sp>
        <p:nvSpPr>
          <p:cNvPr id="22531" name="Rectangle 3">
            <a:extLst>
              <a:ext uri="{FF2B5EF4-FFF2-40B4-BE49-F238E27FC236}">
                <a16:creationId xmlns:a16="http://schemas.microsoft.com/office/drawing/2014/main" id="{DD489CC3-8D53-4BFD-BCB9-6E239C778E66}"/>
              </a:ext>
            </a:extLst>
          </p:cNvPr>
          <p:cNvSpPr>
            <a:spLocks noGrp="1" noChangeArrowheads="1"/>
          </p:cNvSpPr>
          <p:nvPr>
            <p:ph type="title" idx="4294967295"/>
          </p:nvPr>
        </p:nvSpPr>
        <p:spPr/>
        <p:txBody>
          <a:bodyPr/>
          <a:lstStyle/>
          <a:p>
            <a:r>
              <a:rPr lang="en-US" altLang="zh-CN"/>
              <a:t>Verilog</a:t>
            </a:r>
            <a:r>
              <a:rPr lang="zh-CN" altLang="en-US"/>
              <a:t>描述</a:t>
            </a:r>
            <a:r>
              <a:rPr lang="en-US" altLang="zh-CN"/>
              <a:t>FSM</a:t>
            </a:r>
          </a:p>
        </p:txBody>
      </p:sp>
      <p:grpSp>
        <p:nvGrpSpPr>
          <p:cNvPr id="22535" name="组合 1">
            <a:extLst>
              <a:ext uri="{FF2B5EF4-FFF2-40B4-BE49-F238E27FC236}">
                <a16:creationId xmlns:a16="http://schemas.microsoft.com/office/drawing/2014/main" id="{4B1FFDA4-823C-4E93-BED3-ACC5FDDF6F55}"/>
              </a:ext>
            </a:extLst>
          </p:cNvPr>
          <p:cNvGrpSpPr>
            <a:grpSpLocks/>
          </p:cNvGrpSpPr>
          <p:nvPr/>
        </p:nvGrpSpPr>
        <p:grpSpPr bwMode="auto">
          <a:xfrm>
            <a:off x="1150938" y="3716338"/>
            <a:ext cx="6426200" cy="2160587"/>
            <a:chOff x="1386586" y="2698749"/>
            <a:chExt cx="6997002" cy="2435680"/>
          </a:xfrm>
        </p:grpSpPr>
        <p:sp>
          <p:nvSpPr>
            <p:cNvPr id="22536" name="Text Box 27">
              <a:extLst>
                <a:ext uri="{FF2B5EF4-FFF2-40B4-BE49-F238E27FC236}">
                  <a16:creationId xmlns:a16="http://schemas.microsoft.com/office/drawing/2014/main" id="{1934BD31-75A7-4EA1-9B23-447BA9244D9C}"/>
                </a:ext>
              </a:extLst>
            </p:cNvPr>
            <p:cNvSpPr txBox="1">
              <a:spLocks noChangeArrowheads="1"/>
            </p:cNvSpPr>
            <p:nvPr/>
          </p:nvSpPr>
          <p:spPr bwMode="auto">
            <a:xfrm>
              <a:off x="3108323" y="2698749"/>
              <a:ext cx="984247" cy="1790701"/>
            </a:xfrm>
            <a:prstGeom prst="rect">
              <a:avLst/>
            </a:prstGeom>
            <a:solidFill>
              <a:schemeClr val="bg1"/>
            </a:solidFill>
            <a:ln w="2857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组合</a:t>
              </a:r>
              <a:endParaRPr lang="en-US" altLang="zh-CN" sz="2000">
                <a:latin typeface="Arial" panose="020B0604020202020204" pitchFamily="34" charset="0"/>
              </a:endParaRPr>
            </a:p>
            <a:p>
              <a:pPr algn="ctr" eaLnBrk="1" hangingPunct="1">
                <a:spcAft>
                  <a:spcPct val="0"/>
                </a:spcAft>
                <a:buFontTx/>
                <a:buNone/>
              </a:pPr>
              <a:r>
                <a:rPr lang="zh-CN" altLang="en-US" sz="2000">
                  <a:latin typeface="Arial" panose="020B0604020202020204" pitchFamily="34" charset="0"/>
                </a:rPr>
                <a:t>电路</a:t>
              </a:r>
            </a:p>
          </p:txBody>
        </p:sp>
        <p:sp>
          <p:nvSpPr>
            <p:cNvPr id="22537" name="Rectangle 2">
              <a:extLst>
                <a:ext uri="{FF2B5EF4-FFF2-40B4-BE49-F238E27FC236}">
                  <a16:creationId xmlns:a16="http://schemas.microsoft.com/office/drawing/2014/main" id="{0ED14797-19F9-47E2-8632-4C6D578522BC}"/>
                </a:ext>
              </a:extLst>
            </p:cNvPr>
            <p:cNvSpPr>
              <a:spLocks noChangeArrowheads="1"/>
            </p:cNvSpPr>
            <p:nvPr/>
          </p:nvSpPr>
          <p:spPr bwMode="auto">
            <a:xfrm>
              <a:off x="7375525" y="4113213"/>
              <a:ext cx="1008063" cy="79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solidFill>
                    <a:srgbClr val="0000FF"/>
                  </a:solidFill>
                </a:rPr>
                <a:t>现态</a:t>
              </a:r>
            </a:p>
            <a:p>
              <a:pPr algn="ctr" eaLnBrk="1" hangingPunct="1">
                <a:spcAft>
                  <a:spcPct val="0"/>
                </a:spcAft>
                <a:buFontTx/>
                <a:buNone/>
              </a:pPr>
              <a:r>
                <a:rPr lang="en-US" altLang="zh-CN" sz="2000">
                  <a:solidFill>
                    <a:srgbClr val="0000FF"/>
                  </a:solidFill>
                </a:rPr>
                <a:t>(cs)</a:t>
              </a:r>
            </a:p>
          </p:txBody>
        </p:sp>
        <p:sp>
          <p:nvSpPr>
            <p:cNvPr id="22538" name="Text Box 5">
              <a:extLst>
                <a:ext uri="{FF2B5EF4-FFF2-40B4-BE49-F238E27FC236}">
                  <a16:creationId xmlns:a16="http://schemas.microsoft.com/office/drawing/2014/main" id="{0C208056-4C2B-4C02-9BD8-4AE523D26C22}"/>
                </a:ext>
              </a:extLst>
            </p:cNvPr>
            <p:cNvSpPr txBox="1">
              <a:spLocks noChangeArrowheads="1"/>
            </p:cNvSpPr>
            <p:nvPr/>
          </p:nvSpPr>
          <p:spPr bwMode="auto">
            <a:xfrm>
              <a:off x="5341246" y="3684588"/>
              <a:ext cx="1585016" cy="8048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Aft>
                  <a:spcPct val="0"/>
                </a:spcAft>
                <a:buFontTx/>
                <a:buNone/>
              </a:pPr>
              <a:r>
                <a:rPr lang="zh-CN" altLang="en-US" sz="2000">
                  <a:latin typeface="Arial" panose="020B0604020202020204" pitchFamily="34" charset="0"/>
                </a:rPr>
                <a:t>记忆电路</a:t>
              </a:r>
            </a:p>
          </p:txBody>
        </p:sp>
        <p:grpSp>
          <p:nvGrpSpPr>
            <p:cNvPr id="22539" name="组合 30">
              <a:extLst>
                <a:ext uri="{FF2B5EF4-FFF2-40B4-BE49-F238E27FC236}">
                  <a16:creationId xmlns:a16="http://schemas.microsoft.com/office/drawing/2014/main" id="{0ADBB93F-1E30-4793-82F4-C4F0D5897FFC}"/>
                </a:ext>
              </a:extLst>
            </p:cNvPr>
            <p:cNvGrpSpPr>
              <a:grpSpLocks/>
            </p:cNvGrpSpPr>
            <p:nvPr/>
          </p:nvGrpSpPr>
          <p:grpSpPr bwMode="auto">
            <a:xfrm>
              <a:off x="2292421" y="3106742"/>
              <a:ext cx="823352" cy="997557"/>
              <a:chOff x="2115469" y="3106720"/>
              <a:chExt cx="1309302" cy="997571"/>
            </a:xfrm>
          </p:grpSpPr>
          <p:sp>
            <p:nvSpPr>
              <p:cNvPr id="22550" name="Line 6">
                <a:extLst>
                  <a:ext uri="{FF2B5EF4-FFF2-40B4-BE49-F238E27FC236}">
                    <a16:creationId xmlns:a16="http://schemas.microsoft.com/office/drawing/2014/main" id="{61768148-3213-4D8A-A438-F88353D58703}"/>
                  </a:ext>
                </a:extLst>
              </p:cNvPr>
              <p:cNvSpPr>
                <a:spLocks noChangeShapeType="1"/>
              </p:cNvSpPr>
              <p:nvPr/>
            </p:nvSpPr>
            <p:spPr bwMode="auto">
              <a:xfrm>
                <a:off x="2115469" y="3106720"/>
                <a:ext cx="1298188"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2551" name="Line 7">
                <a:extLst>
                  <a:ext uri="{FF2B5EF4-FFF2-40B4-BE49-F238E27FC236}">
                    <a16:creationId xmlns:a16="http://schemas.microsoft.com/office/drawing/2014/main" id="{5B032BCA-CC3C-4153-B1B9-47031E11CCFD}"/>
                  </a:ext>
                </a:extLst>
              </p:cNvPr>
              <p:cNvSpPr>
                <a:spLocks noChangeShapeType="1"/>
              </p:cNvSpPr>
              <p:nvPr/>
            </p:nvSpPr>
            <p:spPr bwMode="auto">
              <a:xfrm>
                <a:off x="2240164" y="4104291"/>
                <a:ext cx="1184607" cy="0"/>
              </a:xfrm>
              <a:prstGeom prst="line">
                <a:avLst/>
              </a:prstGeom>
              <a:noFill/>
              <a:ln w="28575">
                <a:solidFill>
                  <a:schemeClr val="tx1"/>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sz="1600"/>
              </a:p>
            </p:txBody>
          </p:sp>
        </p:grpSp>
        <p:sp>
          <p:nvSpPr>
            <p:cNvPr id="22540" name="Line 12">
              <a:extLst>
                <a:ext uri="{FF2B5EF4-FFF2-40B4-BE49-F238E27FC236}">
                  <a16:creationId xmlns:a16="http://schemas.microsoft.com/office/drawing/2014/main" id="{49BBD1D7-B246-4112-97EC-081F8173EEDA}"/>
                </a:ext>
              </a:extLst>
            </p:cNvPr>
            <p:cNvSpPr>
              <a:spLocks noChangeShapeType="1"/>
            </p:cNvSpPr>
            <p:nvPr/>
          </p:nvSpPr>
          <p:spPr bwMode="auto">
            <a:xfrm>
              <a:off x="4091882" y="4111625"/>
              <a:ext cx="1249363"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2541" name="Line 13">
              <a:extLst>
                <a:ext uri="{FF2B5EF4-FFF2-40B4-BE49-F238E27FC236}">
                  <a16:creationId xmlns:a16="http://schemas.microsoft.com/office/drawing/2014/main" id="{C3F037C5-A51A-43FA-8D54-355FED1A484A}"/>
                </a:ext>
              </a:extLst>
            </p:cNvPr>
            <p:cNvSpPr>
              <a:spLocks noChangeShapeType="1"/>
            </p:cNvSpPr>
            <p:nvPr/>
          </p:nvSpPr>
          <p:spPr bwMode="auto">
            <a:xfrm>
              <a:off x="6926263" y="4116388"/>
              <a:ext cx="404812"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sz="1600"/>
            </a:p>
          </p:txBody>
        </p:sp>
        <p:sp>
          <p:nvSpPr>
            <p:cNvPr id="22542" name="Line 14">
              <a:extLst>
                <a:ext uri="{FF2B5EF4-FFF2-40B4-BE49-F238E27FC236}">
                  <a16:creationId xmlns:a16="http://schemas.microsoft.com/office/drawing/2014/main" id="{13C1EE8B-6CEB-44D9-B253-4E8F2A392F95}"/>
                </a:ext>
              </a:extLst>
            </p:cNvPr>
            <p:cNvSpPr>
              <a:spLocks noChangeShapeType="1"/>
            </p:cNvSpPr>
            <p:nvPr/>
          </p:nvSpPr>
          <p:spPr bwMode="auto">
            <a:xfrm>
              <a:off x="7331075" y="4111625"/>
              <a:ext cx="0" cy="1022804"/>
            </a:xfrm>
            <a:prstGeom prst="line">
              <a:avLst/>
            </a:prstGeom>
            <a:noFill/>
            <a:ln w="28575">
              <a:solidFill>
                <a:schemeClr val="tx1"/>
              </a:solidFill>
              <a:round/>
              <a:headEnd type="none" w="lg" len="lg"/>
              <a:tailEnd type="none" w="lg" len="lg"/>
            </a:ln>
            <a:extLst>
              <a:ext uri="{909E8E84-426E-40DD-AFC4-6F175D3DCCD1}">
                <a14:hiddenFill xmlns:a14="http://schemas.microsoft.com/office/drawing/2010/main">
                  <a:noFill/>
                </a14:hiddenFill>
              </a:ext>
            </a:extLst>
          </p:spPr>
          <p:txBody>
            <a:bodyPr/>
            <a:lstStyle/>
            <a:p>
              <a:endParaRPr lang="zh-CN" altLang="en-US" sz="1600"/>
            </a:p>
          </p:txBody>
        </p:sp>
        <p:sp>
          <p:nvSpPr>
            <p:cNvPr id="22543" name="Line 16">
              <a:extLst>
                <a:ext uri="{FF2B5EF4-FFF2-40B4-BE49-F238E27FC236}">
                  <a16:creationId xmlns:a16="http://schemas.microsoft.com/office/drawing/2014/main" id="{D2945ECD-654B-4905-8BC3-21D1718A6063}"/>
                </a:ext>
              </a:extLst>
            </p:cNvPr>
            <p:cNvSpPr>
              <a:spLocks noChangeShapeType="1"/>
            </p:cNvSpPr>
            <p:nvPr/>
          </p:nvSpPr>
          <p:spPr bwMode="auto">
            <a:xfrm>
              <a:off x="4091883" y="3094038"/>
              <a:ext cx="857664"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grpSp>
          <p:nvGrpSpPr>
            <p:cNvPr id="22544" name="组合 31">
              <a:extLst>
                <a:ext uri="{FF2B5EF4-FFF2-40B4-BE49-F238E27FC236}">
                  <a16:creationId xmlns:a16="http://schemas.microsoft.com/office/drawing/2014/main" id="{DBA8A415-7587-4B31-9FBD-F57819273629}"/>
                </a:ext>
              </a:extLst>
            </p:cNvPr>
            <p:cNvGrpSpPr>
              <a:grpSpLocks/>
            </p:cNvGrpSpPr>
            <p:nvPr/>
          </p:nvGrpSpPr>
          <p:grpSpPr bwMode="auto">
            <a:xfrm>
              <a:off x="2370835" y="4087019"/>
              <a:ext cx="4960240" cy="1047410"/>
              <a:chOff x="2004329" y="4087019"/>
              <a:chExt cx="5466446" cy="1047410"/>
            </a:xfrm>
          </p:grpSpPr>
          <p:sp>
            <p:nvSpPr>
              <p:cNvPr id="22548" name="Line 15">
                <a:extLst>
                  <a:ext uri="{FF2B5EF4-FFF2-40B4-BE49-F238E27FC236}">
                    <a16:creationId xmlns:a16="http://schemas.microsoft.com/office/drawing/2014/main" id="{48E1013C-6FC1-487A-A2B4-5CA64A925F8E}"/>
                  </a:ext>
                </a:extLst>
              </p:cNvPr>
              <p:cNvSpPr>
                <a:spLocks noChangeShapeType="1"/>
              </p:cNvSpPr>
              <p:nvPr/>
            </p:nvSpPr>
            <p:spPr bwMode="auto">
              <a:xfrm>
                <a:off x="2004329" y="5134429"/>
                <a:ext cx="5466446"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sz="1600"/>
              </a:p>
            </p:txBody>
          </p:sp>
          <p:sp>
            <p:nvSpPr>
              <p:cNvPr id="22549" name="Line 17">
                <a:extLst>
                  <a:ext uri="{FF2B5EF4-FFF2-40B4-BE49-F238E27FC236}">
                    <a16:creationId xmlns:a16="http://schemas.microsoft.com/office/drawing/2014/main" id="{5DFB577A-0B30-4484-8FE1-1747B99E3018}"/>
                  </a:ext>
                </a:extLst>
              </p:cNvPr>
              <p:cNvSpPr>
                <a:spLocks noChangeShapeType="1"/>
              </p:cNvSpPr>
              <p:nvPr/>
            </p:nvSpPr>
            <p:spPr bwMode="auto">
              <a:xfrm>
                <a:off x="2004329" y="4087019"/>
                <a:ext cx="0" cy="104741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grpSp>
        <p:sp>
          <p:nvSpPr>
            <p:cNvPr id="22545" name="Rectangle 18">
              <a:extLst>
                <a:ext uri="{FF2B5EF4-FFF2-40B4-BE49-F238E27FC236}">
                  <a16:creationId xmlns:a16="http://schemas.microsoft.com/office/drawing/2014/main" id="{CBCE8620-F92C-474A-A9BF-9199831DA013}"/>
                </a:ext>
              </a:extLst>
            </p:cNvPr>
            <p:cNvSpPr>
              <a:spLocks noChangeArrowheads="1"/>
            </p:cNvSpPr>
            <p:nvPr/>
          </p:nvSpPr>
          <p:spPr bwMode="auto">
            <a:xfrm>
              <a:off x="4988754" y="2718166"/>
              <a:ext cx="1147763" cy="79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solidFill>
                    <a:srgbClr val="0000FF"/>
                  </a:solidFill>
                </a:rPr>
                <a:t>输出</a:t>
              </a:r>
            </a:p>
            <a:p>
              <a:pPr algn="ctr" eaLnBrk="1" hangingPunct="1">
                <a:spcAft>
                  <a:spcPct val="0"/>
                </a:spcAft>
                <a:buFontTx/>
                <a:buNone/>
              </a:pPr>
              <a:r>
                <a:rPr lang="en-US" altLang="zh-CN" sz="2000">
                  <a:solidFill>
                    <a:srgbClr val="0000FF"/>
                  </a:solidFill>
                </a:rPr>
                <a:t>(out)</a:t>
              </a:r>
            </a:p>
          </p:txBody>
        </p:sp>
        <p:sp>
          <p:nvSpPr>
            <p:cNvPr id="22546" name="Rectangle 19">
              <a:extLst>
                <a:ext uri="{FF2B5EF4-FFF2-40B4-BE49-F238E27FC236}">
                  <a16:creationId xmlns:a16="http://schemas.microsoft.com/office/drawing/2014/main" id="{8E2C3699-84AA-4007-908C-CB1031EA3332}"/>
                </a:ext>
              </a:extLst>
            </p:cNvPr>
            <p:cNvSpPr>
              <a:spLocks noChangeArrowheads="1"/>
            </p:cNvSpPr>
            <p:nvPr/>
          </p:nvSpPr>
          <p:spPr bwMode="auto">
            <a:xfrm>
              <a:off x="4295473" y="4158989"/>
              <a:ext cx="984559" cy="79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000">
                  <a:solidFill>
                    <a:srgbClr val="0000FF"/>
                  </a:solidFill>
                </a:rPr>
                <a:t>次态</a:t>
              </a:r>
            </a:p>
            <a:p>
              <a:pPr eaLnBrk="1" hangingPunct="1">
                <a:spcAft>
                  <a:spcPct val="0"/>
                </a:spcAft>
                <a:buFontTx/>
                <a:buNone/>
              </a:pPr>
              <a:r>
                <a:rPr lang="en-US" altLang="zh-CN" sz="2000">
                  <a:solidFill>
                    <a:srgbClr val="0000FF"/>
                  </a:solidFill>
                </a:rPr>
                <a:t>(ns)</a:t>
              </a:r>
            </a:p>
          </p:txBody>
        </p:sp>
        <p:sp>
          <p:nvSpPr>
            <p:cNvPr id="22547" name="Rectangle 20">
              <a:extLst>
                <a:ext uri="{FF2B5EF4-FFF2-40B4-BE49-F238E27FC236}">
                  <a16:creationId xmlns:a16="http://schemas.microsoft.com/office/drawing/2014/main" id="{37595F82-029B-405B-9C46-B98AC1A4E7F1}"/>
                </a:ext>
              </a:extLst>
            </p:cNvPr>
            <p:cNvSpPr>
              <a:spLocks noChangeArrowheads="1"/>
            </p:cNvSpPr>
            <p:nvPr/>
          </p:nvSpPr>
          <p:spPr bwMode="auto">
            <a:xfrm>
              <a:off x="1386586" y="2718166"/>
              <a:ext cx="984250" cy="79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t>输入</a:t>
              </a:r>
              <a:endParaRPr lang="en-US" altLang="zh-CN" sz="2000"/>
            </a:p>
            <a:p>
              <a:pPr algn="ctr" eaLnBrk="1" hangingPunct="1">
                <a:spcAft>
                  <a:spcPct val="0"/>
                </a:spcAft>
                <a:buFontTx/>
                <a:buNone/>
              </a:pPr>
              <a:r>
                <a:rPr lang="en-US" altLang="zh-CN" sz="2000"/>
                <a:t>(IN)</a:t>
              </a:r>
            </a:p>
          </p:txBody>
        </p:sp>
      </p:grpSp>
      <p:sp>
        <p:nvSpPr>
          <p:cNvPr id="24" name="Rectangle 4">
            <a:extLst>
              <a:ext uri="{FF2B5EF4-FFF2-40B4-BE49-F238E27FC236}">
                <a16:creationId xmlns:a16="http://schemas.microsoft.com/office/drawing/2014/main" id="{FA61DB56-4221-4179-AEA8-79B7ADE3247C}"/>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5" name="Rectangle 5">
            <a:extLst>
              <a:ext uri="{FF2B5EF4-FFF2-40B4-BE49-F238E27FC236}">
                <a16:creationId xmlns:a16="http://schemas.microsoft.com/office/drawing/2014/main" id="{1FC32408-7A77-4F6A-AFE4-B53DA2A82F88}"/>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26" name="Rectangle 6">
            <a:extLst>
              <a:ext uri="{FF2B5EF4-FFF2-40B4-BE49-F238E27FC236}">
                <a16:creationId xmlns:a16="http://schemas.microsoft.com/office/drawing/2014/main" id="{A7832280-7A77-480E-A08A-83DF771C6323}"/>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10</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896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689604">
                                            <p:txEl>
                                              <p:pRg st="1" end="1"/>
                                            </p:txEl>
                                          </p:spTgt>
                                        </p:tgtEl>
                                        <p:attrNameLst>
                                          <p:attrName>style.visibility</p:attrName>
                                        </p:attrNameLst>
                                      </p:cBhvr>
                                      <p:to>
                                        <p:strVal val="visible"/>
                                      </p:to>
                                    </p:set>
                                    <p:animEffect transition="in" filter="blinds(horizontal)">
                                      <p:cBhvr>
                                        <p:cTn id="11" dur="500"/>
                                        <p:tgtEl>
                                          <p:spTgt spid="168960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0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63DD5C27-3951-461C-B498-5FF258B5233B}"/>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78B69635-FDF5-41F4-8C1E-866D24D4D498}" type="datetime1">
              <a:rPr lang="zh-CN" altLang="en-US" sz="1800" b="0" smtClean="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10243" name="Rectangle 5">
            <a:extLst>
              <a:ext uri="{FF2B5EF4-FFF2-40B4-BE49-F238E27FC236}">
                <a16:creationId xmlns:a16="http://schemas.microsoft.com/office/drawing/2014/main" id="{5690E6CB-39D4-43B7-94D3-8F291EA1C6AD}"/>
              </a:ext>
            </a:extLst>
          </p:cNvPr>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a:solidFill>
                  <a:srgbClr val="B2B2B2"/>
                </a:solidFill>
                <a:latin typeface="宋体" panose="02010600030101010101" pitchFamily="2" charset="-122"/>
              </a:rPr>
              <a:t>模拟与数字电路 </a:t>
            </a:r>
            <a:r>
              <a:rPr lang="en-US" altLang="zh-CN" sz="1800" b="0">
                <a:solidFill>
                  <a:srgbClr val="B2B2B2"/>
                </a:solidFill>
                <a:latin typeface="宋体" panose="02010600030101010101" pitchFamily="2" charset="-122"/>
              </a:rPr>
              <a:t>— </a:t>
            </a:r>
            <a:r>
              <a:rPr lang="zh-CN" altLang="en-US" sz="1800" b="0">
                <a:solidFill>
                  <a:srgbClr val="B2B2B2"/>
                </a:solidFill>
                <a:latin typeface="宋体" panose="02010600030101010101" pitchFamily="2" charset="-122"/>
              </a:rPr>
              <a:t>时序逻辑电路分析</a:t>
            </a:r>
            <a:endParaRPr kumimoji="1" lang="en-US" altLang="zh-CN" sz="1800" b="0">
              <a:solidFill>
                <a:srgbClr val="B2B2B2"/>
              </a:solidFill>
              <a:latin typeface="宋体" panose="02010600030101010101" pitchFamily="2" charset="-122"/>
            </a:endParaRPr>
          </a:p>
        </p:txBody>
      </p:sp>
      <p:sp>
        <p:nvSpPr>
          <p:cNvPr id="10244" name="Rectangle 6">
            <a:extLst>
              <a:ext uri="{FF2B5EF4-FFF2-40B4-BE49-F238E27FC236}">
                <a16:creationId xmlns:a16="http://schemas.microsoft.com/office/drawing/2014/main" id="{BAE62D8D-D878-4E65-BB1E-BC80E473A98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38F8774F-C464-4E54-811C-AEE903C1D798}" type="slidenum">
              <a:rPr lang="en-US" altLang="zh-CN" sz="1800" b="0" smtClean="0">
                <a:solidFill>
                  <a:srgbClr val="B2B2B2"/>
                </a:solidFill>
                <a:latin typeface="Arial" panose="020B0604020202020204" pitchFamily="34" charset="0"/>
              </a:rPr>
              <a:pPr>
                <a:spcAft>
                  <a:spcPct val="0"/>
                </a:spcAft>
                <a:buFontTx/>
                <a:buNone/>
              </a:pPr>
              <a:t>11</a:t>
            </a:fld>
            <a:endParaRPr lang="en-US" altLang="zh-CN" sz="1800" b="0">
              <a:solidFill>
                <a:srgbClr val="B2B2B2"/>
              </a:solidFill>
              <a:latin typeface="Arial" panose="020B0604020202020204" pitchFamily="34" charset="0"/>
            </a:endParaRPr>
          </a:p>
        </p:txBody>
      </p:sp>
      <p:sp>
        <p:nvSpPr>
          <p:cNvPr id="10245" name="Rectangle 2">
            <a:extLst>
              <a:ext uri="{FF2B5EF4-FFF2-40B4-BE49-F238E27FC236}">
                <a16:creationId xmlns:a16="http://schemas.microsoft.com/office/drawing/2014/main" id="{6DD3A04F-890F-4B35-AAAD-E1CB8F858099}"/>
              </a:ext>
            </a:extLst>
          </p:cNvPr>
          <p:cNvSpPr>
            <a:spLocks noGrp="1" noChangeArrowheads="1"/>
          </p:cNvSpPr>
          <p:nvPr>
            <p:ph type="title"/>
          </p:nvPr>
        </p:nvSpPr>
        <p:spPr/>
        <p:txBody>
          <a:bodyPr/>
          <a:lstStyle/>
          <a:p>
            <a:r>
              <a:rPr lang="zh-CN" altLang="en-US">
                <a:solidFill>
                  <a:schemeClr val="tx1"/>
                </a:solidFill>
              </a:rPr>
              <a:t>米里型和</a:t>
            </a:r>
            <a:r>
              <a:rPr lang="zh-CN" altLang="en-US"/>
              <a:t>摩尔</a:t>
            </a:r>
            <a:r>
              <a:rPr lang="zh-CN" altLang="en-US">
                <a:solidFill>
                  <a:schemeClr val="tx1"/>
                </a:solidFill>
              </a:rPr>
              <a:t>型时序电路</a:t>
            </a:r>
          </a:p>
        </p:txBody>
      </p:sp>
      <p:sp>
        <p:nvSpPr>
          <p:cNvPr id="1485827" name="Rectangle 3">
            <a:extLst>
              <a:ext uri="{FF2B5EF4-FFF2-40B4-BE49-F238E27FC236}">
                <a16:creationId xmlns:a16="http://schemas.microsoft.com/office/drawing/2014/main" id="{BD2D7557-ABF0-499D-921B-06E6595A4464}"/>
              </a:ext>
            </a:extLst>
          </p:cNvPr>
          <p:cNvSpPr>
            <a:spLocks noGrp="1" noChangeArrowheads="1"/>
          </p:cNvSpPr>
          <p:nvPr>
            <p:ph type="body" idx="1"/>
          </p:nvPr>
        </p:nvSpPr>
        <p:spPr>
          <a:xfrm>
            <a:off x="457200" y="1449388"/>
            <a:ext cx="8229600" cy="1285875"/>
          </a:xfrm>
        </p:spPr>
        <p:txBody>
          <a:bodyPr/>
          <a:lstStyle/>
          <a:p>
            <a:r>
              <a:rPr lang="zh-CN" altLang="en-US" sz="2400"/>
              <a:t>米利 </a:t>
            </a:r>
            <a:r>
              <a:rPr lang="en-US" altLang="zh-CN" sz="2400"/>
              <a:t>(Mealy)</a:t>
            </a:r>
            <a:r>
              <a:rPr lang="zh-CN" altLang="en-US" sz="2400"/>
              <a:t>型：输出是输入和状态的函数</a:t>
            </a:r>
          </a:p>
          <a:p>
            <a:r>
              <a:rPr lang="zh-CN" altLang="en-US" sz="2400"/>
              <a:t>穆尔 </a:t>
            </a:r>
            <a:r>
              <a:rPr lang="en-US" altLang="zh-CN" sz="2400"/>
              <a:t>(Moore)</a:t>
            </a:r>
            <a:r>
              <a:rPr lang="zh-CN" altLang="en-US" sz="2400"/>
              <a:t>型：输出仅是状态的函数</a:t>
            </a:r>
          </a:p>
        </p:txBody>
      </p:sp>
      <p:sp>
        <p:nvSpPr>
          <p:cNvPr id="10247" name="Text Box 4">
            <a:extLst>
              <a:ext uri="{FF2B5EF4-FFF2-40B4-BE49-F238E27FC236}">
                <a16:creationId xmlns:a16="http://schemas.microsoft.com/office/drawing/2014/main" id="{F70F0D3E-22F8-4FB8-AA64-5CF3562A9756}"/>
              </a:ext>
            </a:extLst>
          </p:cNvPr>
          <p:cNvSpPr txBox="1">
            <a:spLocks noChangeArrowheads="1"/>
          </p:cNvSpPr>
          <p:nvPr/>
        </p:nvSpPr>
        <p:spPr bwMode="auto">
          <a:xfrm>
            <a:off x="5651500" y="4416425"/>
            <a:ext cx="1470025" cy="9810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记忆电路</a:t>
            </a:r>
          </a:p>
        </p:txBody>
      </p:sp>
      <p:sp>
        <p:nvSpPr>
          <p:cNvPr id="10248" name="Line 5">
            <a:extLst>
              <a:ext uri="{FF2B5EF4-FFF2-40B4-BE49-F238E27FC236}">
                <a16:creationId xmlns:a16="http://schemas.microsoft.com/office/drawing/2014/main" id="{6C0EB060-11F9-4549-975B-305F82044BE8}"/>
              </a:ext>
            </a:extLst>
          </p:cNvPr>
          <p:cNvSpPr>
            <a:spLocks noChangeShapeType="1"/>
          </p:cNvSpPr>
          <p:nvPr/>
        </p:nvSpPr>
        <p:spPr bwMode="auto">
          <a:xfrm>
            <a:off x="1049338" y="4735513"/>
            <a:ext cx="2016125"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0249" name="Line 6">
            <a:extLst>
              <a:ext uri="{FF2B5EF4-FFF2-40B4-BE49-F238E27FC236}">
                <a16:creationId xmlns:a16="http://schemas.microsoft.com/office/drawing/2014/main" id="{C8FB07C3-03DA-496E-9AF1-22D987131180}"/>
              </a:ext>
            </a:extLst>
          </p:cNvPr>
          <p:cNvSpPr>
            <a:spLocks noChangeShapeType="1"/>
          </p:cNvSpPr>
          <p:nvPr/>
        </p:nvSpPr>
        <p:spPr bwMode="auto">
          <a:xfrm>
            <a:off x="1336675" y="5157788"/>
            <a:ext cx="1741488" cy="0"/>
          </a:xfrm>
          <a:prstGeom prst="line">
            <a:avLst/>
          </a:prstGeom>
          <a:noFill/>
          <a:ln w="28575">
            <a:solidFill>
              <a:schemeClr val="tx1"/>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0250" name="Line 8">
            <a:extLst>
              <a:ext uri="{FF2B5EF4-FFF2-40B4-BE49-F238E27FC236}">
                <a16:creationId xmlns:a16="http://schemas.microsoft.com/office/drawing/2014/main" id="{6D19209F-7FA4-4A8B-8253-83B3A464899F}"/>
              </a:ext>
            </a:extLst>
          </p:cNvPr>
          <p:cNvSpPr>
            <a:spLocks noChangeShapeType="1"/>
          </p:cNvSpPr>
          <p:nvPr/>
        </p:nvSpPr>
        <p:spPr bwMode="auto">
          <a:xfrm>
            <a:off x="2419350" y="3895725"/>
            <a:ext cx="684213"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0251" name="Line 9">
            <a:extLst>
              <a:ext uri="{FF2B5EF4-FFF2-40B4-BE49-F238E27FC236}">
                <a16:creationId xmlns:a16="http://schemas.microsoft.com/office/drawing/2014/main" id="{887E38C4-45D8-498F-A812-7AB2044EAD16}"/>
              </a:ext>
            </a:extLst>
          </p:cNvPr>
          <p:cNvSpPr>
            <a:spLocks noChangeShapeType="1"/>
          </p:cNvSpPr>
          <p:nvPr/>
        </p:nvSpPr>
        <p:spPr bwMode="auto">
          <a:xfrm>
            <a:off x="2416175" y="3897313"/>
            <a:ext cx="0" cy="126047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a:lstStyle/>
          <a:p>
            <a:endParaRPr lang="zh-CN" altLang="en-US" sz="1600"/>
          </a:p>
        </p:txBody>
      </p:sp>
      <p:grpSp>
        <p:nvGrpSpPr>
          <p:cNvPr id="2" name="Group 28">
            <a:extLst>
              <a:ext uri="{FF2B5EF4-FFF2-40B4-BE49-F238E27FC236}">
                <a16:creationId xmlns:a16="http://schemas.microsoft.com/office/drawing/2014/main" id="{FCAAE166-0D31-45DE-B9D7-0F63E3A14E4A}"/>
              </a:ext>
            </a:extLst>
          </p:cNvPr>
          <p:cNvGrpSpPr>
            <a:grpSpLocks/>
          </p:cNvGrpSpPr>
          <p:nvPr/>
        </p:nvGrpSpPr>
        <p:grpSpPr bwMode="auto">
          <a:xfrm>
            <a:off x="2087563" y="3495675"/>
            <a:ext cx="1016000" cy="1239838"/>
            <a:chOff x="1315" y="2202"/>
            <a:chExt cx="640" cy="781"/>
          </a:xfrm>
        </p:grpSpPr>
        <p:sp>
          <p:nvSpPr>
            <p:cNvPr id="10265" name="Line 7">
              <a:extLst>
                <a:ext uri="{FF2B5EF4-FFF2-40B4-BE49-F238E27FC236}">
                  <a16:creationId xmlns:a16="http://schemas.microsoft.com/office/drawing/2014/main" id="{B9BA28B2-287B-4023-9B16-6E3B304F0FCC}"/>
                </a:ext>
              </a:extLst>
            </p:cNvPr>
            <p:cNvSpPr>
              <a:spLocks noChangeShapeType="1"/>
            </p:cNvSpPr>
            <p:nvPr/>
          </p:nvSpPr>
          <p:spPr bwMode="auto">
            <a:xfrm>
              <a:off x="1315" y="2202"/>
              <a:ext cx="640"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0266" name="Line 10">
              <a:extLst>
                <a:ext uri="{FF2B5EF4-FFF2-40B4-BE49-F238E27FC236}">
                  <a16:creationId xmlns:a16="http://schemas.microsoft.com/office/drawing/2014/main" id="{1003A533-B0AF-4E08-9970-4CFBD929725F}"/>
                </a:ext>
              </a:extLst>
            </p:cNvPr>
            <p:cNvSpPr>
              <a:spLocks noChangeShapeType="1"/>
            </p:cNvSpPr>
            <p:nvPr/>
          </p:nvSpPr>
          <p:spPr bwMode="auto">
            <a:xfrm>
              <a:off x="1315" y="2202"/>
              <a:ext cx="0" cy="781"/>
            </a:xfrm>
            <a:prstGeom prst="line">
              <a:avLst/>
            </a:prstGeom>
            <a:noFill/>
            <a:ln w="28575">
              <a:solidFill>
                <a:srgbClr val="FF0000"/>
              </a:solidFill>
              <a:round/>
              <a:headEnd/>
              <a:tailEnd type="oval" w="lg" len="lg"/>
            </a:ln>
            <a:extLst>
              <a:ext uri="{909E8E84-426E-40DD-AFC4-6F175D3DCCD1}">
                <a14:hiddenFill xmlns:a14="http://schemas.microsoft.com/office/drawing/2010/main">
                  <a:noFill/>
                </a14:hiddenFill>
              </a:ext>
            </a:extLst>
          </p:spPr>
          <p:txBody>
            <a:bodyPr/>
            <a:lstStyle/>
            <a:p>
              <a:endParaRPr lang="zh-CN" altLang="en-US" sz="1600"/>
            </a:p>
          </p:txBody>
        </p:sp>
      </p:grpSp>
      <p:sp>
        <p:nvSpPr>
          <p:cNvPr id="10253" name="Line 11">
            <a:extLst>
              <a:ext uri="{FF2B5EF4-FFF2-40B4-BE49-F238E27FC236}">
                <a16:creationId xmlns:a16="http://schemas.microsoft.com/office/drawing/2014/main" id="{3B8D8397-D707-4571-9A1C-7CD24D11323D}"/>
              </a:ext>
            </a:extLst>
          </p:cNvPr>
          <p:cNvSpPr>
            <a:spLocks noChangeShapeType="1"/>
          </p:cNvSpPr>
          <p:nvPr/>
        </p:nvSpPr>
        <p:spPr bwMode="auto">
          <a:xfrm>
            <a:off x="4684713" y="4937125"/>
            <a:ext cx="966787"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0254" name="Line 12">
            <a:extLst>
              <a:ext uri="{FF2B5EF4-FFF2-40B4-BE49-F238E27FC236}">
                <a16:creationId xmlns:a16="http://schemas.microsoft.com/office/drawing/2014/main" id="{82EED966-9115-4A15-BD25-A99576C95D26}"/>
              </a:ext>
            </a:extLst>
          </p:cNvPr>
          <p:cNvSpPr>
            <a:spLocks noChangeShapeType="1"/>
          </p:cNvSpPr>
          <p:nvPr/>
        </p:nvSpPr>
        <p:spPr bwMode="auto">
          <a:xfrm>
            <a:off x="7121525" y="4941888"/>
            <a:ext cx="581025"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sz="1600"/>
          </a:p>
        </p:txBody>
      </p:sp>
      <p:sp>
        <p:nvSpPr>
          <p:cNvPr id="10255" name="Line 13">
            <a:extLst>
              <a:ext uri="{FF2B5EF4-FFF2-40B4-BE49-F238E27FC236}">
                <a16:creationId xmlns:a16="http://schemas.microsoft.com/office/drawing/2014/main" id="{60587DF1-3268-4949-A8C5-CF79517DC243}"/>
              </a:ext>
            </a:extLst>
          </p:cNvPr>
          <p:cNvSpPr>
            <a:spLocks noChangeShapeType="1"/>
          </p:cNvSpPr>
          <p:nvPr/>
        </p:nvSpPr>
        <p:spPr bwMode="auto">
          <a:xfrm>
            <a:off x="7702550" y="4937125"/>
            <a:ext cx="0" cy="1012825"/>
          </a:xfrm>
          <a:prstGeom prst="line">
            <a:avLst/>
          </a:prstGeom>
          <a:noFill/>
          <a:ln w="28575">
            <a:solidFill>
              <a:schemeClr val="tx1"/>
            </a:solidFill>
            <a:round/>
            <a:headEnd type="none" w="lg" len="lg"/>
            <a:tailEnd type="none" w="lg" len="lg"/>
          </a:ln>
          <a:extLst>
            <a:ext uri="{909E8E84-426E-40DD-AFC4-6F175D3DCCD1}">
              <a14:hiddenFill xmlns:a14="http://schemas.microsoft.com/office/drawing/2010/main">
                <a:noFill/>
              </a14:hiddenFill>
            </a:ext>
          </a:extLst>
        </p:spPr>
        <p:txBody>
          <a:bodyPr/>
          <a:lstStyle/>
          <a:p>
            <a:endParaRPr lang="zh-CN" altLang="en-US" sz="1600"/>
          </a:p>
        </p:txBody>
      </p:sp>
      <p:sp>
        <p:nvSpPr>
          <p:cNvPr id="10256" name="Line 14">
            <a:extLst>
              <a:ext uri="{FF2B5EF4-FFF2-40B4-BE49-F238E27FC236}">
                <a16:creationId xmlns:a16="http://schemas.microsoft.com/office/drawing/2014/main" id="{F87BB135-25C0-40BB-9D40-27576193D01D}"/>
              </a:ext>
            </a:extLst>
          </p:cNvPr>
          <p:cNvSpPr>
            <a:spLocks noChangeShapeType="1"/>
          </p:cNvSpPr>
          <p:nvPr/>
        </p:nvSpPr>
        <p:spPr bwMode="auto">
          <a:xfrm>
            <a:off x="1336675" y="5949950"/>
            <a:ext cx="6367463"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sz="1600"/>
          </a:p>
        </p:txBody>
      </p:sp>
      <p:sp>
        <p:nvSpPr>
          <p:cNvPr id="10257" name="Line 15">
            <a:extLst>
              <a:ext uri="{FF2B5EF4-FFF2-40B4-BE49-F238E27FC236}">
                <a16:creationId xmlns:a16="http://schemas.microsoft.com/office/drawing/2014/main" id="{C0D12B9C-7A46-418E-B6A3-CBEB661F478B}"/>
              </a:ext>
            </a:extLst>
          </p:cNvPr>
          <p:cNvSpPr>
            <a:spLocks noChangeShapeType="1"/>
          </p:cNvSpPr>
          <p:nvPr/>
        </p:nvSpPr>
        <p:spPr bwMode="auto">
          <a:xfrm>
            <a:off x="4684713" y="3695700"/>
            <a:ext cx="10033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0258" name="Line 16">
            <a:extLst>
              <a:ext uri="{FF2B5EF4-FFF2-40B4-BE49-F238E27FC236}">
                <a16:creationId xmlns:a16="http://schemas.microsoft.com/office/drawing/2014/main" id="{36C06A87-3564-425D-ACF5-692B4C09E052}"/>
              </a:ext>
            </a:extLst>
          </p:cNvPr>
          <p:cNvSpPr>
            <a:spLocks noChangeShapeType="1"/>
          </p:cNvSpPr>
          <p:nvPr/>
        </p:nvSpPr>
        <p:spPr bwMode="auto">
          <a:xfrm>
            <a:off x="1336675" y="5157788"/>
            <a:ext cx="0" cy="7921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0259" name="Rectangle 17">
            <a:extLst>
              <a:ext uri="{FF2B5EF4-FFF2-40B4-BE49-F238E27FC236}">
                <a16:creationId xmlns:a16="http://schemas.microsoft.com/office/drawing/2014/main" id="{5DAC11C8-282A-431F-A20A-F0C73954CD6C}"/>
              </a:ext>
            </a:extLst>
          </p:cNvPr>
          <p:cNvSpPr>
            <a:spLocks noChangeArrowheads="1"/>
          </p:cNvSpPr>
          <p:nvPr/>
        </p:nvSpPr>
        <p:spPr bwMode="auto">
          <a:xfrm>
            <a:off x="5759450" y="3465513"/>
            <a:ext cx="9001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t>输出</a:t>
            </a:r>
            <a:endParaRPr lang="en-US" altLang="zh-CN" sz="2000"/>
          </a:p>
        </p:txBody>
      </p:sp>
      <p:sp>
        <p:nvSpPr>
          <p:cNvPr id="10260" name="Rectangle 19">
            <a:extLst>
              <a:ext uri="{FF2B5EF4-FFF2-40B4-BE49-F238E27FC236}">
                <a16:creationId xmlns:a16="http://schemas.microsoft.com/office/drawing/2014/main" id="{10517177-BDCF-439E-8E33-A68A6034236D}"/>
              </a:ext>
            </a:extLst>
          </p:cNvPr>
          <p:cNvSpPr>
            <a:spLocks noChangeArrowheads="1"/>
          </p:cNvSpPr>
          <p:nvPr/>
        </p:nvSpPr>
        <p:spPr bwMode="auto">
          <a:xfrm>
            <a:off x="7164388" y="4340225"/>
            <a:ext cx="8937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t>状态</a:t>
            </a:r>
            <a:endParaRPr lang="en-US" altLang="zh-CN" sz="2000"/>
          </a:p>
        </p:txBody>
      </p:sp>
      <p:sp>
        <p:nvSpPr>
          <p:cNvPr id="10261" name="Rectangle 20">
            <a:extLst>
              <a:ext uri="{FF2B5EF4-FFF2-40B4-BE49-F238E27FC236}">
                <a16:creationId xmlns:a16="http://schemas.microsoft.com/office/drawing/2014/main" id="{9D2A2B54-85CF-4B41-AA50-68E1665EFF44}"/>
              </a:ext>
            </a:extLst>
          </p:cNvPr>
          <p:cNvSpPr>
            <a:spLocks noChangeArrowheads="1"/>
          </p:cNvSpPr>
          <p:nvPr/>
        </p:nvSpPr>
        <p:spPr bwMode="auto">
          <a:xfrm>
            <a:off x="863600" y="4124325"/>
            <a:ext cx="863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t>输入</a:t>
            </a:r>
            <a:endParaRPr lang="en-US" altLang="zh-CN" sz="2000"/>
          </a:p>
        </p:txBody>
      </p:sp>
      <p:sp>
        <p:nvSpPr>
          <p:cNvPr id="10262" name="AutoShape 25">
            <a:extLst>
              <a:ext uri="{FF2B5EF4-FFF2-40B4-BE49-F238E27FC236}">
                <a16:creationId xmlns:a16="http://schemas.microsoft.com/office/drawing/2014/main" id="{9264C19C-7401-452A-912D-565952F595A7}"/>
              </a:ext>
            </a:extLst>
          </p:cNvPr>
          <p:cNvSpPr>
            <a:spLocks noChangeArrowheads="1"/>
          </p:cNvSpPr>
          <p:nvPr/>
        </p:nvSpPr>
        <p:spPr bwMode="auto">
          <a:xfrm>
            <a:off x="1804988" y="2960688"/>
            <a:ext cx="3198812" cy="2663825"/>
          </a:xfrm>
          <a:prstGeom prst="roundRect">
            <a:avLst>
              <a:gd name="adj" fmla="val 16667"/>
            </a:avLst>
          </a:prstGeom>
          <a:noFill/>
          <a:ln w="28575">
            <a:solidFill>
              <a:srgbClr val="0033CC"/>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600" b="0">
              <a:latin typeface="Arial" panose="020B0604020202020204" pitchFamily="34" charset="0"/>
            </a:endParaRPr>
          </a:p>
        </p:txBody>
      </p:sp>
      <p:sp>
        <p:nvSpPr>
          <p:cNvPr id="10263" name="Text Box 26">
            <a:extLst>
              <a:ext uri="{FF2B5EF4-FFF2-40B4-BE49-F238E27FC236}">
                <a16:creationId xmlns:a16="http://schemas.microsoft.com/office/drawing/2014/main" id="{FB44F99F-0C55-412D-A42B-79C1C28DEFDD}"/>
              </a:ext>
            </a:extLst>
          </p:cNvPr>
          <p:cNvSpPr txBox="1">
            <a:spLocks noChangeArrowheads="1"/>
          </p:cNvSpPr>
          <p:nvPr/>
        </p:nvSpPr>
        <p:spPr bwMode="auto">
          <a:xfrm>
            <a:off x="3105150" y="3176588"/>
            <a:ext cx="1611313" cy="981075"/>
          </a:xfrm>
          <a:prstGeom prst="rect">
            <a:avLst/>
          </a:prstGeom>
          <a:solidFill>
            <a:schemeClr val="bg1"/>
          </a:solidFill>
          <a:ln w="2857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组合电路</a:t>
            </a:r>
          </a:p>
          <a:p>
            <a:pPr algn="ctr" eaLnBrk="1" hangingPunct="1">
              <a:spcAft>
                <a:spcPct val="0"/>
              </a:spcAft>
              <a:buFontTx/>
              <a:buNone/>
            </a:pPr>
            <a:r>
              <a:rPr lang="zh-CN" altLang="en-US" sz="2000">
                <a:latin typeface="Arial" panose="020B0604020202020204" pitchFamily="34" charset="0"/>
              </a:rPr>
              <a:t>（输出）</a:t>
            </a:r>
            <a:endParaRPr lang="en-US" altLang="zh-CN" sz="2000">
              <a:latin typeface="Arial" panose="020B0604020202020204" pitchFamily="34" charset="0"/>
            </a:endParaRPr>
          </a:p>
        </p:txBody>
      </p:sp>
      <p:sp>
        <p:nvSpPr>
          <p:cNvPr id="10264" name="Text Box 27">
            <a:extLst>
              <a:ext uri="{FF2B5EF4-FFF2-40B4-BE49-F238E27FC236}">
                <a16:creationId xmlns:a16="http://schemas.microsoft.com/office/drawing/2014/main" id="{75E3F80B-D2A5-4F4E-9C0D-7D6BD9C40AF8}"/>
              </a:ext>
            </a:extLst>
          </p:cNvPr>
          <p:cNvSpPr txBox="1">
            <a:spLocks noChangeArrowheads="1"/>
          </p:cNvSpPr>
          <p:nvPr/>
        </p:nvSpPr>
        <p:spPr bwMode="auto">
          <a:xfrm>
            <a:off x="3097213" y="4416425"/>
            <a:ext cx="1619250" cy="981075"/>
          </a:xfrm>
          <a:prstGeom prst="rect">
            <a:avLst/>
          </a:prstGeom>
          <a:solidFill>
            <a:schemeClr val="bg1"/>
          </a:solidFill>
          <a:ln w="2857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组合电路</a:t>
            </a:r>
          </a:p>
          <a:p>
            <a:pPr algn="ctr" eaLnBrk="1" hangingPunct="1">
              <a:spcAft>
                <a:spcPct val="0"/>
              </a:spcAft>
              <a:buFontTx/>
              <a:buNone/>
            </a:pPr>
            <a:r>
              <a:rPr lang="zh-CN" altLang="en-US" sz="2000">
                <a:latin typeface="Arial" panose="020B0604020202020204" pitchFamily="34" charset="0"/>
              </a:rPr>
              <a:t>（次态）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85827">
                                            <p:txEl>
                                              <p:pRg st="1" end="1"/>
                                            </p:txEl>
                                          </p:spTgt>
                                        </p:tgtEl>
                                        <p:attrNameLst>
                                          <p:attrName>style.visibility</p:attrName>
                                        </p:attrNameLst>
                                      </p:cBhvr>
                                      <p:to>
                                        <p:strVal val="visible"/>
                                      </p:to>
                                    </p:set>
                                  </p:childTnLst>
                                </p:cTn>
                              </p:par>
                              <p:par>
                                <p:cTn id="7" presetID="3" presetClass="exit" presetSubtype="10" fill="hold" nodeType="withEffect">
                                  <p:stCondLst>
                                    <p:cond delay="0"/>
                                  </p:stCondLst>
                                  <p:childTnLst>
                                    <p:animEffect transition="out" filter="blinds(horizontal)">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C6BE844E-FC4A-48B4-81FB-F7C9236166BF}"/>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457890D8-E545-4E92-A0FD-88AD5753F288}" type="datetime1">
              <a:rPr lang="zh-CN" altLang="en-US" sz="1800" b="0" smtClean="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16387" name="Rectangle 5">
            <a:extLst>
              <a:ext uri="{FF2B5EF4-FFF2-40B4-BE49-F238E27FC236}">
                <a16:creationId xmlns:a16="http://schemas.microsoft.com/office/drawing/2014/main" id="{4EF21439-93F9-4BCA-AFE5-F2A1222C1F52}"/>
              </a:ext>
            </a:extLst>
          </p:cNvPr>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a:solidFill>
                  <a:srgbClr val="B2B2B2"/>
                </a:solidFill>
                <a:latin typeface="宋体" panose="02010600030101010101" pitchFamily="2" charset="-122"/>
              </a:rPr>
              <a:t>模拟与数字电路 </a:t>
            </a:r>
            <a:r>
              <a:rPr lang="en-US" altLang="zh-CN" sz="1800" b="0">
                <a:solidFill>
                  <a:srgbClr val="B2B2B2"/>
                </a:solidFill>
                <a:latin typeface="宋体" panose="02010600030101010101" pitchFamily="2" charset="-122"/>
              </a:rPr>
              <a:t>— </a:t>
            </a:r>
            <a:r>
              <a:rPr lang="zh-CN" altLang="en-US" sz="1800" b="0">
                <a:solidFill>
                  <a:srgbClr val="B2B2B2"/>
                </a:solidFill>
                <a:latin typeface="宋体" panose="02010600030101010101" pitchFamily="2" charset="-122"/>
              </a:rPr>
              <a:t>时序逻辑电路分析</a:t>
            </a:r>
            <a:endParaRPr kumimoji="1" lang="en-US" altLang="zh-CN" sz="1800" b="0">
              <a:solidFill>
                <a:srgbClr val="B2B2B2"/>
              </a:solidFill>
              <a:latin typeface="宋体" panose="02010600030101010101" pitchFamily="2" charset="-122"/>
            </a:endParaRPr>
          </a:p>
        </p:txBody>
      </p:sp>
      <p:sp>
        <p:nvSpPr>
          <p:cNvPr id="16388" name="Rectangle 6">
            <a:extLst>
              <a:ext uri="{FF2B5EF4-FFF2-40B4-BE49-F238E27FC236}">
                <a16:creationId xmlns:a16="http://schemas.microsoft.com/office/drawing/2014/main" id="{A1C0EE57-33C6-4230-AB9B-44830817FC9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2EC83CF9-9B81-4470-9F68-762C8E7D34F9}" type="slidenum">
              <a:rPr lang="en-US" altLang="zh-CN" sz="1800" b="0" smtClean="0">
                <a:solidFill>
                  <a:srgbClr val="B2B2B2"/>
                </a:solidFill>
                <a:latin typeface="Arial" panose="020B0604020202020204" pitchFamily="34" charset="0"/>
              </a:rPr>
              <a:pPr>
                <a:spcAft>
                  <a:spcPct val="0"/>
                </a:spcAft>
                <a:buFontTx/>
                <a:buNone/>
              </a:pPr>
              <a:t>12</a:t>
            </a:fld>
            <a:endParaRPr lang="en-US" altLang="zh-CN" sz="1800" b="0">
              <a:solidFill>
                <a:srgbClr val="B2B2B2"/>
              </a:solidFill>
              <a:latin typeface="Arial" panose="020B0604020202020204" pitchFamily="34" charset="0"/>
            </a:endParaRPr>
          </a:p>
        </p:txBody>
      </p:sp>
      <p:sp>
        <p:nvSpPr>
          <p:cNvPr id="16389" name="Rectangle 2">
            <a:extLst>
              <a:ext uri="{FF2B5EF4-FFF2-40B4-BE49-F238E27FC236}">
                <a16:creationId xmlns:a16="http://schemas.microsoft.com/office/drawing/2014/main" id="{F6B4809D-19B8-4C40-A700-9CB6EA78C42E}"/>
              </a:ext>
            </a:extLst>
          </p:cNvPr>
          <p:cNvSpPr>
            <a:spLocks noGrp="1" noChangeArrowheads="1"/>
          </p:cNvSpPr>
          <p:nvPr>
            <p:ph type="title"/>
          </p:nvPr>
        </p:nvSpPr>
        <p:spPr/>
        <p:txBody>
          <a:bodyPr/>
          <a:lstStyle/>
          <a:p>
            <a:r>
              <a:rPr lang="zh-CN" altLang="en-US"/>
              <a:t>状态图和时序图</a:t>
            </a:r>
            <a:endParaRPr lang="en-US" altLang="zh-CN"/>
          </a:p>
        </p:txBody>
      </p:sp>
      <p:sp>
        <p:nvSpPr>
          <p:cNvPr id="16390" name="Text Box 7">
            <a:extLst>
              <a:ext uri="{FF2B5EF4-FFF2-40B4-BE49-F238E27FC236}">
                <a16:creationId xmlns:a16="http://schemas.microsoft.com/office/drawing/2014/main" id="{56412AA1-D50B-430D-A665-F0ACB7B43F41}"/>
              </a:ext>
            </a:extLst>
          </p:cNvPr>
          <p:cNvSpPr txBox="1">
            <a:spLocks noChangeArrowheads="1"/>
          </p:cNvSpPr>
          <p:nvPr/>
        </p:nvSpPr>
        <p:spPr bwMode="auto">
          <a:xfrm>
            <a:off x="1771650" y="1841500"/>
            <a:ext cx="423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Q</a:t>
            </a:r>
          </a:p>
        </p:txBody>
      </p:sp>
      <p:sp>
        <p:nvSpPr>
          <p:cNvPr id="16391" name="Oval 8">
            <a:extLst>
              <a:ext uri="{FF2B5EF4-FFF2-40B4-BE49-F238E27FC236}">
                <a16:creationId xmlns:a16="http://schemas.microsoft.com/office/drawing/2014/main" id="{D13D348B-118B-414D-A797-D863EB5AED8E}"/>
              </a:ext>
            </a:extLst>
          </p:cNvPr>
          <p:cNvSpPr>
            <a:spLocks noChangeArrowheads="1"/>
          </p:cNvSpPr>
          <p:nvPr/>
        </p:nvSpPr>
        <p:spPr bwMode="auto">
          <a:xfrm>
            <a:off x="1471613" y="1693863"/>
            <a:ext cx="1065212" cy="838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600" b="0">
              <a:latin typeface="Arial" panose="020B0604020202020204" pitchFamily="34" charset="0"/>
            </a:endParaRPr>
          </a:p>
        </p:txBody>
      </p:sp>
      <p:sp>
        <p:nvSpPr>
          <p:cNvPr id="16392" name="Text Box 10">
            <a:extLst>
              <a:ext uri="{FF2B5EF4-FFF2-40B4-BE49-F238E27FC236}">
                <a16:creationId xmlns:a16="http://schemas.microsoft.com/office/drawing/2014/main" id="{2202D20D-C4BE-48A2-BB6C-EEE945F34950}"/>
              </a:ext>
            </a:extLst>
          </p:cNvPr>
          <p:cNvSpPr txBox="1">
            <a:spLocks noChangeArrowheads="1"/>
          </p:cNvSpPr>
          <p:nvPr/>
        </p:nvSpPr>
        <p:spPr bwMode="auto">
          <a:xfrm>
            <a:off x="842963" y="2732088"/>
            <a:ext cx="24224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000">
                <a:latin typeface="Arial" panose="020B0604020202020204" pitchFamily="34" charset="0"/>
              </a:rPr>
              <a:t> </a:t>
            </a:r>
            <a:r>
              <a:rPr lang="zh-CN" altLang="en-US" sz="2400">
                <a:latin typeface="Arial" panose="020B0604020202020204" pitchFamily="34" charset="0"/>
              </a:rPr>
              <a:t>状态图</a:t>
            </a:r>
            <a:r>
              <a:rPr lang="en-US" altLang="zh-CN" sz="2400">
                <a:latin typeface="宋体" panose="02010600030101010101" pitchFamily="2" charset="-122"/>
              </a:rPr>
              <a:t>(</a:t>
            </a:r>
            <a:r>
              <a:rPr lang="zh-CN" altLang="en-US" sz="2400">
                <a:latin typeface="Arial" panose="020B0604020202020204" pitchFamily="34" charset="0"/>
              </a:rPr>
              <a:t>米利型</a:t>
            </a:r>
            <a:r>
              <a:rPr lang="en-US" altLang="zh-CN" sz="2400">
                <a:latin typeface="宋体" panose="02010600030101010101" pitchFamily="2" charset="-122"/>
              </a:rPr>
              <a:t>)</a:t>
            </a:r>
            <a:endParaRPr lang="zh-CN" altLang="en-US" sz="2400">
              <a:latin typeface="宋体" panose="02010600030101010101" pitchFamily="2" charset="-122"/>
            </a:endParaRPr>
          </a:p>
        </p:txBody>
      </p:sp>
      <p:grpSp>
        <p:nvGrpSpPr>
          <p:cNvPr id="2" name="Group 49">
            <a:extLst>
              <a:ext uri="{FF2B5EF4-FFF2-40B4-BE49-F238E27FC236}">
                <a16:creationId xmlns:a16="http://schemas.microsoft.com/office/drawing/2014/main" id="{0925FC69-B8D6-4E06-AD6E-FE59BB50FFBA}"/>
              </a:ext>
            </a:extLst>
          </p:cNvPr>
          <p:cNvGrpSpPr>
            <a:grpSpLocks/>
          </p:cNvGrpSpPr>
          <p:nvPr/>
        </p:nvGrpSpPr>
        <p:grpSpPr bwMode="auto">
          <a:xfrm>
            <a:off x="5184776" y="1566863"/>
            <a:ext cx="2519363" cy="1635125"/>
            <a:chOff x="3266" y="1094"/>
            <a:chExt cx="1587" cy="1030"/>
          </a:xfrm>
        </p:grpSpPr>
        <p:sp>
          <p:nvSpPr>
            <p:cNvPr id="16431" name="Text Box 3">
              <a:extLst>
                <a:ext uri="{FF2B5EF4-FFF2-40B4-BE49-F238E27FC236}">
                  <a16:creationId xmlns:a16="http://schemas.microsoft.com/office/drawing/2014/main" id="{41629EF4-EF54-4905-BC0C-A4D428878B6B}"/>
                </a:ext>
              </a:extLst>
            </p:cNvPr>
            <p:cNvSpPr txBox="1">
              <a:spLocks noChangeArrowheads="1"/>
            </p:cNvSpPr>
            <p:nvPr/>
          </p:nvSpPr>
          <p:spPr bwMode="auto">
            <a:xfrm>
              <a:off x="3795" y="1289"/>
              <a:ext cx="4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Q/Y</a:t>
              </a:r>
            </a:p>
          </p:txBody>
        </p:sp>
        <p:sp>
          <p:nvSpPr>
            <p:cNvPr id="16432" name="Oval 4">
              <a:extLst>
                <a:ext uri="{FF2B5EF4-FFF2-40B4-BE49-F238E27FC236}">
                  <a16:creationId xmlns:a16="http://schemas.microsoft.com/office/drawing/2014/main" id="{561B50E6-0858-4A14-9A74-849B7660D9BD}"/>
                </a:ext>
              </a:extLst>
            </p:cNvPr>
            <p:cNvSpPr>
              <a:spLocks noChangeArrowheads="1"/>
            </p:cNvSpPr>
            <p:nvPr/>
          </p:nvSpPr>
          <p:spPr bwMode="auto">
            <a:xfrm>
              <a:off x="3696" y="1196"/>
              <a:ext cx="719" cy="52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600" b="0">
                <a:latin typeface="Arial" panose="020B0604020202020204" pitchFamily="34" charset="0"/>
              </a:endParaRPr>
            </a:p>
          </p:txBody>
        </p:sp>
        <p:sp>
          <p:nvSpPr>
            <p:cNvPr id="16433" name="Text Box 5">
              <a:extLst>
                <a:ext uri="{FF2B5EF4-FFF2-40B4-BE49-F238E27FC236}">
                  <a16:creationId xmlns:a16="http://schemas.microsoft.com/office/drawing/2014/main" id="{0C0CA1F9-84A9-4590-9547-703405D4C98D}"/>
                </a:ext>
              </a:extLst>
            </p:cNvPr>
            <p:cNvSpPr txBox="1">
              <a:spLocks noChangeArrowheads="1"/>
            </p:cNvSpPr>
            <p:nvPr/>
          </p:nvSpPr>
          <p:spPr bwMode="auto">
            <a:xfrm>
              <a:off x="4467" y="1094"/>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X</a:t>
              </a:r>
            </a:p>
          </p:txBody>
        </p:sp>
        <p:sp>
          <p:nvSpPr>
            <p:cNvPr id="16434" name="Line 6">
              <a:extLst>
                <a:ext uri="{FF2B5EF4-FFF2-40B4-BE49-F238E27FC236}">
                  <a16:creationId xmlns:a16="http://schemas.microsoft.com/office/drawing/2014/main" id="{26C910BF-952D-4A0A-8518-0CA7CA1E5765}"/>
                </a:ext>
              </a:extLst>
            </p:cNvPr>
            <p:cNvSpPr>
              <a:spLocks noChangeShapeType="1"/>
            </p:cNvSpPr>
            <p:nvPr/>
          </p:nvSpPr>
          <p:spPr bwMode="auto">
            <a:xfrm flipV="1">
              <a:off x="4409" y="1458"/>
              <a:ext cx="444"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6435" name="Text Box 11">
              <a:extLst>
                <a:ext uri="{FF2B5EF4-FFF2-40B4-BE49-F238E27FC236}">
                  <a16:creationId xmlns:a16="http://schemas.microsoft.com/office/drawing/2014/main" id="{5344F5E5-BDAB-4332-A753-19BE5A5CD2C8}"/>
                </a:ext>
              </a:extLst>
            </p:cNvPr>
            <p:cNvSpPr txBox="1">
              <a:spLocks noChangeArrowheads="1"/>
            </p:cNvSpPr>
            <p:nvPr/>
          </p:nvSpPr>
          <p:spPr bwMode="auto">
            <a:xfrm>
              <a:off x="3266" y="1833"/>
              <a:ext cx="15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a:latin typeface="Arial" panose="020B0604020202020204" pitchFamily="34" charset="0"/>
                </a:rPr>
                <a:t> 状态图</a:t>
              </a:r>
              <a:r>
                <a:rPr lang="en-US" altLang="zh-CN" sz="2400">
                  <a:latin typeface="宋体" panose="02010600030101010101" pitchFamily="2" charset="-122"/>
                </a:rPr>
                <a:t>(</a:t>
              </a:r>
              <a:r>
                <a:rPr lang="zh-CN" altLang="en-US" sz="2400">
                  <a:latin typeface="Arial" panose="020B0604020202020204" pitchFamily="34" charset="0"/>
                </a:rPr>
                <a:t>穆</a:t>
              </a:r>
              <a:r>
                <a:rPr lang="zh-CN" altLang="zh-CN" sz="2400">
                  <a:latin typeface="Arial" panose="020B0604020202020204" pitchFamily="34" charset="0"/>
                </a:rPr>
                <a:t>尔</a:t>
              </a:r>
              <a:r>
                <a:rPr lang="zh-CN" altLang="en-US" sz="2400">
                  <a:latin typeface="Arial" panose="020B0604020202020204" pitchFamily="34" charset="0"/>
                </a:rPr>
                <a:t>型</a:t>
              </a:r>
              <a:r>
                <a:rPr lang="en-US" altLang="zh-CN" sz="2400">
                  <a:latin typeface="宋体" panose="02010600030101010101" pitchFamily="2" charset="-122"/>
                </a:rPr>
                <a:t>)</a:t>
              </a:r>
            </a:p>
          </p:txBody>
        </p:sp>
      </p:grpSp>
      <p:sp>
        <p:nvSpPr>
          <p:cNvPr id="16394" name="Line 12">
            <a:extLst>
              <a:ext uri="{FF2B5EF4-FFF2-40B4-BE49-F238E27FC236}">
                <a16:creationId xmlns:a16="http://schemas.microsoft.com/office/drawing/2014/main" id="{83F8B762-1267-44BA-9A94-DA62F12B8E1F}"/>
              </a:ext>
            </a:extLst>
          </p:cNvPr>
          <p:cNvSpPr>
            <a:spLocks noChangeShapeType="1"/>
          </p:cNvSpPr>
          <p:nvPr/>
        </p:nvSpPr>
        <p:spPr bwMode="auto">
          <a:xfrm flipV="1">
            <a:off x="2541588" y="2128838"/>
            <a:ext cx="935037"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6395" name="Text Box 45">
            <a:extLst>
              <a:ext uri="{FF2B5EF4-FFF2-40B4-BE49-F238E27FC236}">
                <a16:creationId xmlns:a16="http://schemas.microsoft.com/office/drawing/2014/main" id="{9F4B6342-64CC-4048-A0BE-69F9546C44E0}"/>
              </a:ext>
            </a:extLst>
          </p:cNvPr>
          <p:cNvSpPr txBox="1">
            <a:spLocks noChangeArrowheads="1"/>
          </p:cNvSpPr>
          <p:nvPr/>
        </p:nvSpPr>
        <p:spPr bwMode="auto">
          <a:xfrm>
            <a:off x="2601913" y="1589088"/>
            <a:ext cx="6270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X/Y</a:t>
            </a:r>
          </a:p>
        </p:txBody>
      </p:sp>
      <p:grpSp>
        <p:nvGrpSpPr>
          <p:cNvPr id="3" name="Group 50">
            <a:extLst>
              <a:ext uri="{FF2B5EF4-FFF2-40B4-BE49-F238E27FC236}">
                <a16:creationId xmlns:a16="http://schemas.microsoft.com/office/drawing/2014/main" id="{FC7339FC-A56C-4147-9ADB-E00F7BCEA335}"/>
              </a:ext>
            </a:extLst>
          </p:cNvPr>
          <p:cNvGrpSpPr>
            <a:grpSpLocks/>
          </p:cNvGrpSpPr>
          <p:nvPr/>
        </p:nvGrpSpPr>
        <p:grpSpPr bwMode="auto">
          <a:xfrm>
            <a:off x="1073150" y="3814763"/>
            <a:ext cx="6777038" cy="2319337"/>
            <a:chOff x="676" y="2510"/>
            <a:chExt cx="4269" cy="1461"/>
          </a:xfrm>
        </p:grpSpPr>
        <p:sp>
          <p:nvSpPr>
            <p:cNvPr id="16397" name="Text Box 9">
              <a:extLst>
                <a:ext uri="{FF2B5EF4-FFF2-40B4-BE49-F238E27FC236}">
                  <a16:creationId xmlns:a16="http://schemas.microsoft.com/office/drawing/2014/main" id="{86CCCD6C-BC31-4F31-BD87-E0BA883CAA6C}"/>
                </a:ext>
              </a:extLst>
            </p:cNvPr>
            <p:cNvSpPr txBox="1">
              <a:spLocks noChangeArrowheads="1"/>
            </p:cNvSpPr>
            <p:nvPr/>
          </p:nvSpPr>
          <p:spPr bwMode="auto">
            <a:xfrm>
              <a:off x="772" y="2854"/>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X</a:t>
              </a:r>
            </a:p>
          </p:txBody>
        </p:sp>
        <p:sp>
          <p:nvSpPr>
            <p:cNvPr id="16398" name="Text Box 13">
              <a:extLst>
                <a:ext uri="{FF2B5EF4-FFF2-40B4-BE49-F238E27FC236}">
                  <a16:creationId xmlns:a16="http://schemas.microsoft.com/office/drawing/2014/main" id="{5453C189-FD61-4397-A1EA-A17A7AC1E489}"/>
                </a:ext>
              </a:extLst>
            </p:cNvPr>
            <p:cNvSpPr txBox="1">
              <a:spLocks noChangeArrowheads="1"/>
            </p:cNvSpPr>
            <p:nvPr/>
          </p:nvSpPr>
          <p:spPr bwMode="auto">
            <a:xfrm>
              <a:off x="2452" y="3680"/>
              <a:ext cx="74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 </a:t>
              </a:r>
              <a:r>
                <a:rPr lang="zh-CN" altLang="en-US" sz="2400">
                  <a:latin typeface="Arial" panose="020B0604020202020204" pitchFamily="34" charset="0"/>
                </a:rPr>
                <a:t>时序图</a:t>
              </a:r>
              <a:endParaRPr lang="zh-CN" altLang="en-US" sz="2400">
                <a:latin typeface="宋体" panose="02010600030101010101" pitchFamily="2" charset="-122"/>
              </a:endParaRPr>
            </a:p>
          </p:txBody>
        </p:sp>
        <p:sp>
          <p:nvSpPr>
            <p:cNvPr id="16399" name="Line 14">
              <a:extLst>
                <a:ext uri="{FF2B5EF4-FFF2-40B4-BE49-F238E27FC236}">
                  <a16:creationId xmlns:a16="http://schemas.microsoft.com/office/drawing/2014/main" id="{D00209AB-E5EB-4873-997A-807F6B0C72ED}"/>
                </a:ext>
              </a:extLst>
            </p:cNvPr>
            <p:cNvSpPr>
              <a:spLocks noChangeShapeType="1"/>
            </p:cNvSpPr>
            <p:nvPr/>
          </p:nvSpPr>
          <p:spPr bwMode="auto">
            <a:xfrm>
              <a:off x="1202" y="2751"/>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0" name="Line 15">
              <a:extLst>
                <a:ext uri="{FF2B5EF4-FFF2-40B4-BE49-F238E27FC236}">
                  <a16:creationId xmlns:a16="http://schemas.microsoft.com/office/drawing/2014/main" id="{23B252BC-B6B9-4623-836C-6D5074379C85}"/>
                </a:ext>
              </a:extLst>
            </p:cNvPr>
            <p:cNvSpPr>
              <a:spLocks noChangeShapeType="1"/>
            </p:cNvSpPr>
            <p:nvPr/>
          </p:nvSpPr>
          <p:spPr bwMode="auto">
            <a:xfrm>
              <a:off x="1452"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1" name="Line 16">
              <a:extLst>
                <a:ext uri="{FF2B5EF4-FFF2-40B4-BE49-F238E27FC236}">
                  <a16:creationId xmlns:a16="http://schemas.microsoft.com/office/drawing/2014/main" id="{33A1757C-94AB-40FF-ABE7-BDB568153FBA}"/>
                </a:ext>
              </a:extLst>
            </p:cNvPr>
            <p:cNvSpPr>
              <a:spLocks noChangeShapeType="1"/>
            </p:cNvSpPr>
            <p:nvPr/>
          </p:nvSpPr>
          <p:spPr bwMode="auto">
            <a:xfrm>
              <a:off x="1451" y="2570"/>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2" name="Line 17">
              <a:extLst>
                <a:ext uri="{FF2B5EF4-FFF2-40B4-BE49-F238E27FC236}">
                  <a16:creationId xmlns:a16="http://schemas.microsoft.com/office/drawing/2014/main" id="{F7A705DC-8B4A-4462-8C61-4359EE93B1F8}"/>
                </a:ext>
              </a:extLst>
            </p:cNvPr>
            <p:cNvSpPr>
              <a:spLocks noChangeShapeType="1"/>
            </p:cNvSpPr>
            <p:nvPr/>
          </p:nvSpPr>
          <p:spPr bwMode="auto">
            <a:xfrm>
              <a:off x="1701"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3" name="Line 18">
              <a:extLst>
                <a:ext uri="{FF2B5EF4-FFF2-40B4-BE49-F238E27FC236}">
                  <a16:creationId xmlns:a16="http://schemas.microsoft.com/office/drawing/2014/main" id="{3EAD6942-32EC-4C99-B825-ED6ACF2F8A2B}"/>
                </a:ext>
              </a:extLst>
            </p:cNvPr>
            <p:cNvSpPr>
              <a:spLocks noChangeShapeType="1"/>
            </p:cNvSpPr>
            <p:nvPr/>
          </p:nvSpPr>
          <p:spPr bwMode="auto">
            <a:xfrm>
              <a:off x="1701" y="2751"/>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4" name="Line 19">
              <a:extLst>
                <a:ext uri="{FF2B5EF4-FFF2-40B4-BE49-F238E27FC236}">
                  <a16:creationId xmlns:a16="http://schemas.microsoft.com/office/drawing/2014/main" id="{C6FBD5F7-7D02-4813-837F-D75DE8E1504D}"/>
                </a:ext>
              </a:extLst>
            </p:cNvPr>
            <p:cNvSpPr>
              <a:spLocks noChangeShapeType="1"/>
            </p:cNvSpPr>
            <p:nvPr/>
          </p:nvSpPr>
          <p:spPr bwMode="auto">
            <a:xfrm>
              <a:off x="1951"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5" name="Line 20">
              <a:extLst>
                <a:ext uri="{FF2B5EF4-FFF2-40B4-BE49-F238E27FC236}">
                  <a16:creationId xmlns:a16="http://schemas.microsoft.com/office/drawing/2014/main" id="{FFE7B65A-9E64-4F4C-9252-FF572CCC8275}"/>
                </a:ext>
              </a:extLst>
            </p:cNvPr>
            <p:cNvSpPr>
              <a:spLocks noChangeShapeType="1"/>
            </p:cNvSpPr>
            <p:nvPr/>
          </p:nvSpPr>
          <p:spPr bwMode="auto">
            <a:xfrm>
              <a:off x="1950" y="2570"/>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6" name="Line 21">
              <a:extLst>
                <a:ext uri="{FF2B5EF4-FFF2-40B4-BE49-F238E27FC236}">
                  <a16:creationId xmlns:a16="http://schemas.microsoft.com/office/drawing/2014/main" id="{04E86C1C-E41F-4E14-828F-105132B35022}"/>
                </a:ext>
              </a:extLst>
            </p:cNvPr>
            <p:cNvSpPr>
              <a:spLocks noChangeShapeType="1"/>
            </p:cNvSpPr>
            <p:nvPr/>
          </p:nvSpPr>
          <p:spPr bwMode="auto">
            <a:xfrm>
              <a:off x="2200"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7" name="Line 22">
              <a:extLst>
                <a:ext uri="{FF2B5EF4-FFF2-40B4-BE49-F238E27FC236}">
                  <a16:creationId xmlns:a16="http://schemas.microsoft.com/office/drawing/2014/main" id="{F169CAD9-80ED-45CD-9925-81F59FF7348F}"/>
                </a:ext>
              </a:extLst>
            </p:cNvPr>
            <p:cNvSpPr>
              <a:spLocks noChangeShapeType="1"/>
            </p:cNvSpPr>
            <p:nvPr/>
          </p:nvSpPr>
          <p:spPr bwMode="auto">
            <a:xfrm>
              <a:off x="2200" y="2751"/>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8" name="Line 23">
              <a:extLst>
                <a:ext uri="{FF2B5EF4-FFF2-40B4-BE49-F238E27FC236}">
                  <a16:creationId xmlns:a16="http://schemas.microsoft.com/office/drawing/2014/main" id="{7DFC8227-56A8-414C-9763-B3ADBB0956EF}"/>
                </a:ext>
              </a:extLst>
            </p:cNvPr>
            <p:cNvSpPr>
              <a:spLocks noChangeShapeType="1"/>
            </p:cNvSpPr>
            <p:nvPr/>
          </p:nvSpPr>
          <p:spPr bwMode="auto">
            <a:xfrm>
              <a:off x="2450"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09" name="Line 24">
              <a:extLst>
                <a:ext uri="{FF2B5EF4-FFF2-40B4-BE49-F238E27FC236}">
                  <a16:creationId xmlns:a16="http://schemas.microsoft.com/office/drawing/2014/main" id="{52363750-1371-4E4F-8659-D9416848F539}"/>
                </a:ext>
              </a:extLst>
            </p:cNvPr>
            <p:cNvSpPr>
              <a:spLocks noChangeShapeType="1"/>
            </p:cNvSpPr>
            <p:nvPr/>
          </p:nvSpPr>
          <p:spPr bwMode="auto">
            <a:xfrm>
              <a:off x="2449" y="2570"/>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0" name="Line 25">
              <a:extLst>
                <a:ext uri="{FF2B5EF4-FFF2-40B4-BE49-F238E27FC236}">
                  <a16:creationId xmlns:a16="http://schemas.microsoft.com/office/drawing/2014/main" id="{3A2423B7-013C-4A3A-B983-1834FD35B216}"/>
                </a:ext>
              </a:extLst>
            </p:cNvPr>
            <p:cNvSpPr>
              <a:spLocks noChangeShapeType="1"/>
            </p:cNvSpPr>
            <p:nvPr/>
          </p:nvSpPr>
          <p:spPr bwMode="auto">
            <a:xfrm>
              <a:off x="2699"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1" name="Line 26">
              <a:extLst>
                <a:ext uri="{FF2B5EF4-FFF2-40B4-BE49-F238E27FC236}">
                  <a16:creationId xmlns:a16="http://schemas.microsoft.com/office/drawing/2014/main" id="{C9221EDA-EC19-4597-A180-620D8DC355B8}"/>
                </a:ext>
              </a:extLst>
            </p:cNvPr>
            <p:cNvSpPr>
              <a:spLocks noChangeShapeType="1"/>
            </p:cNvSpPr>
            <p:nvPr/>
          </p:nvSpPr>
          <p:spPr bwMode="auto">
            <a:xfrm>
              <a:off x="2699" y="2751"/>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2" name="Line 27">
              <a:extLst>
                <a:ext uri="{FF2B5EF4-FFF2-40B4-BE49-F238E27FC236}">
                  <a16:creationId xmlns:a16="http://schemas.microsoft.com/office/drawing/2014/main" id="{FB02CD82-4B53-47A8-BCC9-D2AC5325BABB}"/>
                </a:ext>
              </a:extLst>
            </p:cNvPr>
            <p:cNvSpPr>
              <a:spLocks noChangeShapeType="1"/>
            </p:cNvSpPr>
            <p:nvPr/>
          </p:nvSpPr>
          <p:spPr bwMode="auto">
            <a:xfrm>
              <a:off x="2949"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3" name="Line 28">
              <a:extLst>
                <a:ext uri="{FF2B5EF4-FFF2-40B4-BE49-F238E27FC236}">
                  <a16:creationId xmlns:a16="http://schemas.microsoft.com/office/drawing/2014/main" id="{4BEC4B4C-66F2-4CCD-8A95-FD5D67D46395}"/>
                </a:ext>
              </a:extLst>
            </p:cNvPr>
            <p:cNvSpPr>
              <a:spLocks noChangeShapeType="1"/>
            </p:cNvSpPr>
            <p:nvPr/>
          </p:nvSpPr>
          <p:spPr bwMode="auto">
            <a:xfrm>
              <a:off x="2948" y="2570"/>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4" name="Line 29">
              <a:extLst>
                <a:ext uri="{FF2B5EF4-FFF2-40B4-BE49-F238E27FC236}">
                  <a16:creationId xmlns:a16="http://schemas.microsoft.com/office/drawing/2014/main" id="{A32A3465-5893-4C79-91AD-47186D48E83F}"/>
                </a:ext>
              </a:extLst>
            </p:cNvPr>
            <p:cNvSpPr>
              <a:spLocks noChangeShapeType="1"/>
            </p:cNvSpPr>
            <p:nvPr/>
          </p:nvSpPr>
          <p:spPr bwMode="auto">
            <a:xfrm>
              <a:off x="3198"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5" name="Line 30">
              <a:extLst>
                <a:ext uri="{FF2B5EF4-FFF2-40B4-BE49-F238E27FC236}">
                  <a16:creationId xmlns:a16="http://schemas.microsoft.com/office/drawing/2014/main" id="{EF7DEC27-C50A-4051-AA08-F0A1C486B18C}"/>
                </a:ext>
              </a:extLst>
            </p:cNvPr>
            <p:cNvSpPr>
              <a:spLocks noChangeShapeType="1"/>
            </p:cNvSpPr>
            <p:nvPr/>
          </p:nvSpPr>
          <p:spPr bwMode="auto">
            <a:xfrm>
              <a:off x="3198" y="2751"/>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6" name="Line 31">
              <a:extLst>
                <a:ext uri="{FF2B5EF4-FFF2-40B4-BE49-F238E27FC236}">
                  <a16:creationId xmlns:a16="http://schemas.microsoft.com/office/drawing/2014/main" id="{D4F0BEC1-F777-42F0-9EF1-705299766A52}"/>
                </a:ext>
              </a:extLst>
            </p:cNvPr>
            <p:cNvSpPr>
              <a:spLocks noChangeShapeType="1"/>
            </p:cNvSpPr>
            <p:nvPr/>
          </p:nvSpPr>
          <p:spPr bwMode="auto">
            <a:xfrm>
              <a:off x="3448"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7" name="Line 32">
              <a:extLst>
                <a:ext uri="{FF2B5EF4-FFF2-40B4-BE49-F238E27FC236}">
                  <a16:creationId xmlns:a16="http://schemas.microsoft.com/office/drawing/2014/main" id="{47E89E59-11D6-48AD-A5CE-A0BAC7EF2794}"/>
                </a:ext>
              </a:extLst>
            </p:cNvPr>
            <p:cNvSpPr>
              <a:spLocks noChangeShapeType="1"/>
            </p:cNvSpPr>
            <p:nvPr/>
          </p:nvSpPr>
          <p:spPr bwMode="auto">
            <a:xfrm>
              <a:off x="3447" y="2570"/>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8" name="Line 33">
              <a:extLst>
                <a:ext uri="{FF2B5EF4-FFF2-40B4-BE49-F238E27FC236}">
                  <a16:creationId xmlns:a16="http://schemas.microsoft.com/office/drawing/2014/main" id="{06E537BC-68DF-4054-B273-D64AF6AF50B8}"/>
                </a:ext>
              </a:extLst>
            </p:cNvPr>
            <p:cNvSpPr>
              <a:spLocks noChangeShapeType="1"/>
            </p:cNvSpPr>
            <p:nvPr/>
          </p:nvSpPr>
          <p:spPr bwMode="auto">
            <a:xfrm>
              <a:off x="3697"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19" name="Line 34">
              <a:extLst>
                <a:ext uri="{FF2B5EF4-FFF2-40B4-BE49-F238E27FC236}">
                  <a16:creationId xmlns:a16="http://schemas.microsoft.com/office/drawing/2014/main" id="{04B0D557-AE5C-4AFE-ABDE-512292969FD8}"/>
                </a:ext>
              </a:extLst>
            </p:cNvPr>
            <p:cNvSpPr>
              <a:spLocks noChangeShapeType="1"/>
            </p:cNvSpPr>
            <p:nvPr/>
          </p:nvSpPr>
          <p:spPr bwMode="auto">
            <a:xfrm>
              <a:off x="3697" y="2751"/>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20" name="Line 35">
              <a:extLst>
                <a:ext uri="{FF2B5EF4-FFF2-40B4-BE49-F238E27FC236}">
                  <a16:creationId xmlns:a16="http://schemas.microsoft.com/office/drawing/2014/main" id="{B1C1C06F-9A4C-46CB-94C9-40BC7AF99D5D}"/>
                </a:ext>
              </a:extLst>
            </p:cNvPr>
            <p:cNvSpPr>
              <a:spLocks noChangeShapeType="1"/>
            </p:cNvSpPr>
            <p:nvPr/>
          </p:nvSpPr>
          <p:spPr bwMode="auto">
            <a:xfrm>
              <a:off x="3947"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21" name="Line 36">
              <a:extLst>
                <a:ext uri="{FF2B5EF4-FFF2-40B4-BE49-F238E27FC236}">
                  <a16:creationId xmlns:a16="http://schemas.microsoft.com/office/drawing/2014/main" id="{B9F68424-2CF0-4974-91BE-DEFE424B8771}"/>
                </a:ext>
              </a:extLst>
            </p:cNvPr>
            <p:cNvSpPr>
              <a:spLocks noChangeShapeType="1"/>
            </p:cNvSpPr>
            <p:nvPr/>
          </p:nvSpPr>
          <p:spPr bwMode="auto">
            <a:xfrm>
              <a:off x="3946" y="2570"/>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22" name="Line 37">
              <a:extLst>
                <a:ext uri="{FF2B5EF4-FFF2-40B4-BE49-F238E27FC236}">
                  <a16:creationId xmlns:a16="http://schemas.microsoft.com/office/drawing/2014/main" id="{30633603-BE90-46A0-A239-185C45BFF145}"/>
                </a:ext>
              </a:extLst>
            </p:cNvPr>
            <p:cNvSpPr>
              <a:spLocks noChangeShapeType="1"/>
            </p:cNvSpPr>
            <p:nvPr/>
          </p:nvSpPr>
          <p:spPr bwMode="auto">
            <a:xfrm>
              <a:off x="4196"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23" name="Line 38">
              <a:extLst>
                <a:ext uri="{FF2B5EF4-FFF2-40B4-BE49-F238E27FC236}">
                  <a16:creationId xmlns:a16="http://schemas.microsoft.com/office/drawing/2014/main" id="{6FD484B8-B823-4BB0-B6CF-EF8A3ED08362}"/>
                </a:ext>
              </a:extLst>
            </p:cNvPr>
            <p:cNvSpPr>
              <a:spLocks noChangeShapeType="1"/>
            </p:cNvSpPr>
            <p:nvPr/>
          </p:nvSpPr>
          <p:spPr bwMode="auto">
            <a:xfrm>
              <a:off x="4196" y="2751"/>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24" name="Line 39">
              <a:extLst>
                <a:ext uri="{FF2B5EF4-FFF2-40B4-BE49-F238E27FC236}">
                  <a16:creationId xmlns:a16="http://schemas.microsoft.com/office/drawing/2014/main" id="{8CCB3E69-A8F1-42A4-8906-7E3BC031C431}"/>
                </a:ext>
              </a:extLst>
            </p:cNvPr>
            <p:cNvSpPr>
              <a:spLocks noChangeShapeType="1"/>
            </p:cNvSpPr>
            <p:nvPr/>
          </p:nvSpPr>
          <p:spPr bwMode="auto">
            <a:xfrm>
              <a:off x="4446"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25" name="Line 40">
              <a:extLst>
                <a:ext uri="{FF2B5EF4-FFF2-40B4-BE49-F238E27FC236}">
                  <a16:creationId xmlns:a16="http://schemas.microsoft.com/office/drawing/2014/main" id="{15CFD3BD-1C86-47F2-8251-1F1C4E861F22}"/>
                </a:ext>
              </a:extLst>
            </p:cNvPr>
            <p:cNvSpPr>
              <a:spLocks noChangeShapeType="1"/>
            </p:cNvSpPr>
            <p:nvPr/>
          </p:nvSpPr>
          <p:spPr bwMode="auto">
            <a:xfrm>
              <a:off x="4445" y="2570"/>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26" name="Line 41">
              <a:extLst>
                <a:ext uri="{FF2B5EF4-FFF2-40B4-BE49-F238E27FC236}">
                  <a16:creationId xmlns:a16="http://schemas.microsoft.com/office/drawing/2014/main" id="{B0647955-AF73-4AC9-86DF-D770D7C3782D}"/>
                </a:ext>
              </a:extLst>
            </p:cNvPr>
            <p:cNvSpPr>
              <a:spLocks noChangeShapeType="1"/>
            </p:cNvSpPr>
            <p:nvPr/>
          </p:nvSpPr>
          <p:spPr bwMode="auto">
            <a:xfrm>
              <a:off x="4695" y="2570"/>
              <a:ext cx="0" cy="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27" name="Line 42">
              <a:extLst>
                <a:ext uri="{FF2B5EF4-FFF2-40B4-BE49-F238E27FC236}">
                  <a16:creationId xmlns:a16="http://schemas.microsoft.com/office/drawing/2014/main" id="{B7EE1546-5B4F-4F39-B8B4-4D339BCCDC89}"/>
                </a:ext>
              </a:extLst>
            </p:cNvPr>
            <p:cNvSpPr>
              <a:spLocks noChangeShapeType="1"/>
            </p:cNvSpPr>
            <p:nvPr/>
          </p:nvSpPr>
          <p:spPr bwMode="auto">
            <a:xfrm>
              <a:off x="4695" y="2751"/>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16428" name="Text Box 43">
              <a:extLst>
                <a:ext uri="{FF2B5EF4-FFF2-40B4-BE49-F238E27FC236}">
                  <a16:creationId xmlns:a16="http://schemas.microsoft.com/office/drawing/2014/main" id="{DF00ED5F-F8D5-4205-91E5-9CEA97FC9689}"/>
                </a:ext>
              </a:extLst>
            </p:cNvPr>
            <p:cNvSpPr txBox="1">
              <a:spLocks noChangeArrowheads="1"/>
            </p:cNvSpPr>
            <p:nvPr/>
          </p:nvSpPr>
          <p:spPr bwMode="auto">
            <a:xfrm>
              <a:off x="676" y="2510"/>
              <a:ext cx="3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000"/>
                <a:t> </a:t>
              </a:r>
              <a:r>
                <a:rPr lang="en-US" altLang="zh-CN" sz="2000"/>
                <a:t>CP</a:t>
              </a:r>
            </a:p>
          </p:txBody>
        </p:sp>
        <p:sp>
          <p:nvSpPr>
            <p:cNvPr id="16429" name="Text Box 44">
              <a:extLst>
                <a:ext uri="{FF2B5EF4-FFF2-40B4-BE49-F238E27FC236}">
                  <a16:creationId xmlns:a16="http://schemas.microsoft.com/office/drawing/2014/main" id="{16E7EAD3-90AF-4FC3-8196-656A99D80159}"/>
                </a:ext>
              </a:extLst>
            </p:cNvPr>
            <p:cNvSpPr txBox="1">
              <a:spLocks noChangeArrowheads="1"/>
            </p:cNvSpPr>
            <p:nvPr/>
          </p:nvSpPr>
          <p:spPr bwMode="auto">
            <a:xfrm>
              <a:off x="772" y="3482"/>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Y</a:t>
              </a:r>
            </a:p>
          </p:txBody>
        </p:sp>
        <p:sp>
          <p:nvSpPr>
            <p:cNvPr id="16430" name="Text Box 46">
              <a:extLst>
                <a:ext uri="{FF2B5EF4-FFF2-40B4-BE49-F238E27FC236}">
                  <a16:creationId xmlns:a16="http://schemas.microsoft.com/office/drawing/2014/main" id="{15720E9C-BA5B-47D1-A358-10CC02FD64D7}"/>
                </a:ext>
              </a:extLst>
            </p:cNvPr>
            <p:cNvSpPr txBox="1">
              <a:spLocks noChangeArrowheads="1"/>
            </p:cNvSpPr>
            <p:nvPr/>
          </p:nvSpPr>
          <p:spPr bwMode="auto">
            <a:xfrm>
              <a:off x="739" y="3151"/>
              <a:ext cx="24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3">
            <a:extLst>
              <a:ext uri="{FF2B5EF4-FFF2-40B4-BE49-F238E27FC236}">
                <a16:creationId xmlns:a16="http://schemas.microsoft.com/office/drawing/2014/main" id="{B8ABCF56-D49E-457E-95C1-B39192E80C8D}"/>
              </a:ext>
            </a:extLst>
          </p:cNvPr>
          <p:cNvSpPr txBox="1">
            <a:spLocks noChangeArrowheads="1"/>
          </p:cNvSpPr>
          <p:nvPr/>
        </p:nvSpPr>
        <p:spPr bwMode="auto">
          <a:xfrm>
            <a:off x="457200" y="1304762"/>
            <a:ext cx="4660828" cy="5144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20000"/>
              </a:spcAft>
              <a:buChar char="•"/>
              <a:defRPr sz="2800" b="1">
                <a:solidFill>
                  <a:schemeClr val="tx1"/>
                </a:solidFill>
                <a:latin typeface="Times New Roman" pitchFamily="18" charset="0"/>
                <a:ea typeface="+mn-ea"/>
                <a:cs typeface="+mn-cs"/>
              </a:defRPr>
            </a:lvl1pPr>
            <a:lvl2pPr marL="742950" indent="-285750" algn="l" rtl="0" eaLnBrk="0" fontAlgn="base" hangingPunct="0">
              <a:spcBef>
                <a:spcPct val="0"/>
              </a:spcBef>
              <a:spcAft>
                <a:spcPct val="20000"/>
              </a:spcAft>
              <a:buChar char="–"/>
              <a:defRPr sz="2400">
                <a:solidFill>
                  <a:schemeClr val="tx1"/>
                </a:solidFill>
                <a:latin typeface="Times New Roman" pitchFamily="18" charset="0"/>
                <a:ea typeface="+mn-ea"/>
              </a:defRPr>
            </a:lvl2pPr>
            <a:lvl3pPr marL="1143000" indent="-228600" algn="l" rtl="0" eaLnBrk="0" fontAlgn="base" hangingPunct="0">
              <a:spcBef>
                <a:spcPct val="0"/>
              </a:spcBef>
              <a:spcAft>
                <a:spcPct val="20000"/>
              </a:spcAft>
              <a:buChar char="•"/>
              <a:defRPr sz="2000">
                <a:solidFill>
                  <a:schemeClr val="tx1"/>
                </a:solidFill>
                <a:latin typeface="Times New Roman" pitchFamily="18" charset="0"/>
                <a:ea typeface="+mn-ea"/>
              </a:defRPr>
            </a:lvl3pPr>
            <a:lvl4pPr marL="1600200" indent="-228600" algn="l" rtl="0" eaLnBrk="0" fontAlgn="base" hangingPunct="0">
              <a:spcBef>
                <a:spcPct val="0"/>
              </a:spcBef>
              <a:spcAft>
                <a:spcPct val="20000"/>
              </a:spcAft>
              <a:buChar char="–"/>
              <a:defRPr sz="2000">
                <a:solidFill>
                  <a:schemeClr val="tx1"/>
                </a:solidFill>
                <a:latin typeface="Times New Roman" pitchFamily="18" charset="0"/>
                <a:ea typeface="+mn-ea"/>
              </a:defRPr>
            </a:lvl4pPr>
            <a:lvl5pPr marL="2057400" indent="-228600" algn="l" rtl="0" eaLnBrk="0" fontAlgn="base" hangingPunct="0">
              <a:spcBef>
                <a:spcPct val="0"/>
              </a:spcBef>
              <a:spcAft>
                <a:spcPct val="20000"/>
              </a:spcAft>
              <a:buChar char="»"/>
              <a:defRPr sz="2000">
                <a:solidFill>
                  <a:schemeClr val="tx1"/>
                </a:solidFill>
                <a:latin typeface="Times New Roman" pitchFamily="18" charset="0"/>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spcAft>
                <a:spcPts val="600"/>
              </a:spcAft>
            </a:pPr>
            <a:r>
              <a:rPr lang="zh-CN" altLang="en-US" sz="2400">
                <a:latin typeface="宋体" panose="02010600030101010101" pitchFamily="2" charset="-122"/>
                <a:cs typeface="Times New Roman" panose="02020603050405020304" pitchFamily="18" charset="0"/>
              </a:rPr>
              <a:t>一段式</a:t>
            </a:r>
            <a:endParaRPr lang="en-US" altLang="zh-CN" sz="2400">
              <a:latin typeface="宋体" panose="02010600030101010101" pitchFamily="2" charset="-122"/>
              <a:cs typeface="Times New Roman" panose="02020603050405020304" pitchFamily="18" charset="0"/>
            </a:endParaRPr>
          </a:p>
          <a:p>
            <a:pPr lvl="1">
              <a:spcAft>
                <a:spcPts val="600"/>
              </a:spcAft>
            </a:pPr>
            <a:r>
              <a:rPr lang="zh-CN" altLang="en-US" sz="2000" kern="0"/>
              <a:t>一个时序过程描述</a:t>
            </a:r>
            <a:r>
              <a:rPr lang="en-US" altLang="zh-CN" sz="2000" kern="0"/>
              <a:t>cs</a:t>
            </a:r>
            <a:r>
              <a:rPr lang="zh-CN" altLang="en-US" sz="2000" kern="0"/>
              <a:t>和</a:t>
            </a:r>
            <a:r>
              <a:rPr lang="en-US" altLang="zh-CN" sz="2000" kern="0"/>
              <a:t>out</a:t>
            </a:r>
          </a:p>
          <a:p>
            <a:pPr>
              <a:spcAft>
                <a:spcPts val="600"/>
              </a:spcAft>
            </a:pPr>
            <a:endParaRPr lang="en-US" altLang="zh-CN" sz="2400" kern="0"/>
          </a:p>
          <a:p>
            <a:pPr>
              <a:spcAft>
                <a:spcPts val="600"/>
              </a:spcAft>
            </a:pPr>
            <a:endParaRPr lang="en-US" altLang="zh-CN" sz="2400" kern="0"/>
          </a:p>
          <a:p>
            <a:pPr>
              <a:spcAft>
                <a:spcPts val="600"/>
              </a:spcAft>
            </a:pPr>
            <a:endParaRPr lang="en-US" altLang="zh-CN" sz="2400" kern="0"/>
          </a:p>
          <a:p>
            <a:pPr>
              <a:spcAft>
                <a:spcPts val="600"/>
              </a:spcAft>
            </a:pPr>
            <a:endParaRPr lang="en-US" altLang="zh-CN" sz="2400" kern="0"/>
          </a:p>
          <a:p>
            <a:pPr>
              <a:spcAft>
                <a:spcPts val="600"/>
              </a:spcAft>
            </a:pPr>
            <a:endParaRPr lang="en-US" altLang="zh-CN" sz="2400" kern="0"/>
          </a:p>
          <a:p>
            <a:pPr>
              <a:spcAft>
                <a:spcPts val="600"/>
              </a:spcAft>
            </a:pPr>
            <a:r>
              <a:rPr lang="zh-CN" altLang="en-US" sz="2400" kern="0"/>
              <a:t>多段式</a:t>
            </a:r>
            <a:endParaRPr lang="en-US" altLang="zh-CN" sz="2400" kern="0"/>
          </a:p>
          <a:p>
            <a:pPr lvl="1">
              <a:spcAft>
                <a:spcPts val="600"/>
              </a:spcAft>
            </a:pPr>
            <a:r>
              <a:rPr lang="zh-CN" altLang="en-US" sz="2000" kern="0"/>
              <a:t>一个时序过程描述</a:t>
            </a:r>
            <a:r>
              <a:rPr lang="en-US" altLang="zh-CN" sz="2000" kern="0"/>
              <a:t>cs</a:t>
            </a:r>
            <a:r>
              <a:rPr lang="zh-CN" altLang="en-US" sz="2000" kern="0"/>
              <a:t>，一个或两个组合过程描述</a:t>
            </a:r>
            <a:r>
              <a:rPr lang="en-US" altLang="zh-CN" sz="2000" kern="0"/>
              <a:t>ns</a:t>
            </a:r>
            <a:r>
              <a:rPr lang="zh-CN" altLang="en-US" sz="2000" kern="0"/>
              <a:t>和</a:t>
            </a:r>
            <a:r>
              <a:rPr lang="en-US" altLang="zh-CN" sz="2000" kern="0"/>
              <a:t>out</a:t>
            </a:r>
          </a:p>
          <a:p>
            <a:pPr lvl="1">
              <a:spcBef>
                <a:spcPts val="600"/>
              </a:spcBef>
              <a:spcAft>
                <a:spcPts val="600"/>
              </a:spcAft>
            </a:pPr>
            <a:r>
              <a:rPr lang="zh-CN" altLang="en-US" sz="2000" kern="0"/>
              <a:t>另一种形式：一个时序过程描述</a:t>
            </a:r>
            <a:r>
              <a:rPr lang="en-US" altLang="zh-CN" sz="2000" kern="0"/>
              <a:t>cs</a:t>
            </a:r>
            <a:r>
              <a:rPr lang="zh-CN" altLang="en-US" sz="2000" kern="0"/>
              <a:t>，一个组合过程描述</a:t>
            </a:r>
            <a:r>
              <a:rPr lang="en-US" altLang="zh-CN" sz="2000" kern="0"/>
              <a:t>out</a:t>
            </a:r>
          </a:p>
          <a:p>
            <a:pPr>
              <a:spcAft>
                <a:spcPts val="600"/>
              </a:spcAft>
            </a:pPr>
            <a:endParaRPr lang="en-US" altLang="zh-CN" sz="2400" kern="0"/>
          </a:p>
          <a:p>
            <a:pPr>
              <a:spcAft>
                <a:spcPts val="600"/>
              </a:spcAft>
            </a:pPr>
            <a:endParaRPr lang="en-US" altLang="zh-CN" sz="2400" kern="0"/>
          </a:p>
          <a:p>
            <a:pPr>
              <a:spcAft>
                <a:spcPts val="600"/>
              </a:spcAft>
            </a:pPr>
            <a:endParaRPr lang="en-US" altLang="zh-CN" sz="2400" kern="0" dirty="0"/>
          </a:p>
        </p:txBody>
      </p:sp>
      <p:grpSp>
        <p:nvGrpSpPr>
          <p:cNvPr id="23563" name="组合 175">
            <a:extLst>
              <a:ext uri="{FF2B5EF4-FFF2-40B4-BE49-F238E27FC236}">
                <a16:creationId xmlns:a16="http://schemas.microsoft.com/office/drawing/2014/main" id="{E9D036B7-A733-43FE-918A-DD1124716B35}"/>
              </a:ext>
            </a:extLst>
          </p:cNvPr>
          <p:cNvGrpSpPr>
            <a:grpSpLocks/>
          </p:cNvGrpSpPr>
          <p:nvPr/>
        </p:nvGrpSpPr>
        <p:grpSpPr bwMode="auto">
          <a:xfrm>
            <a:off x="1853959" y="2415943"/>
            <a:ext cx="2940050" cy="2033587"/>
            <a:chOff x="954541" y="3808618"/>
            <a:chExt cx="2939755" cy="2032650"/>
          </a:xfrm>
        </p:grpSpPr>
        <p:cxnSp>
          <p:nvCxnSpPr>
            <p:cNvPr id="148" name="直接箭头连接符 147">
              <a:extLst>
                <a:ext uri="{FF2B5EF4-FFF2-40B4-BE49-F238E27FC236}">
                  <a16:creationId xmlns:a16="http://schemas.microsoft.com/office/drawing/2014/main" id="{F3C7F435-D63B-4BFF-B44F-EAD92C6C70CF}"/>
                </a:ext>
              </a:extLst>
            </p:cNvPr>
            <p:cNvCxnSpPr>
              <a:cxnSpLocks/>
            </p:cNvCxnSpPr>
            <p:nvPr/>
          </p:nvCxnSpPr>
          <p:spPr>
            <a:xfrm>
              <a:off x="2152983" y="4260847"/>
              <a:ext cx="1547658"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sp>
          <p:nvSpPr>
            <p:cNvPr id="23578" name="TextBox 85">
              <a:extLst>
                <a:ext uri="{FF2B5EF4-FFF2-40B4-BE49-F238E27FC236}">
                  <a16:creationId xmlns:a16="http://schemas.microsoft.com/office/drawing/2014/main" id="{12E27B27-965D-4D83-8652-B8DC5BF684D7}"/>
                </a:ext>
              </a:extLst>
            </p:cNvPr>
            <p:cNvSpPr txBox="1">
              <a:spLocks noChangeArrowheads="1"/>
            </p:cNvSpPr>
            <p:nvPr/>
          </p:nvSpPr>
          <p:spPr bwMode="auto">
            <a:xfrm>
              <a:off x="3446193" y="3808618"/>
              <a:ext cx="448103" cy="293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cs typeface="Times New Roman" panose="02020603050405020304" pitchFamily="18" charset="0"/>
                </a:rPr>
                <a:t>out</a:t>
              </a:r>
              <a:endParaRPr lang="zh-CN" altLang="en-US" sz="2400" b="0">
                <a:cs typeface="Times New Roman" panose="02020603050405020304" pitchFamily="18" charset="0"/>
              </a:endParaRPr>
            </a:p>
          </p:txBody>
        </p:sp>
        <p:sp>
          <p:nvSpPr>
            <p:cNvPr id="139" name="TextBox 85">
              <a:extLst>
                <a:ext uri="{FF2B5EF4-FFF2-40B4-BE49-F238E27FC236}">
                  <a16:creationId xmlns:a16="http://schemas.microsoft.com/office/drawing/2014/main" id="{8288B424-205E-4957-9358-54E13B9B3FC0}"/>
                </a:ext>
              </a:extLst>
            </p:cNvPr>
            <p:cNvSpPr txBox="1"/>
            <p:nvPr/>
          </p:nvSpPr>
          <p:spPr>
            <a:xfrm>
              <a:off x="1576779" y="3867328"/>
              <a:ext cx="576204" cy="1720057"/>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eaLnBrk="1" hangingPunct="1">
                <a:defRPr/>
              </a:pPr>
              <a:r>
                <a:rPr lang="en-US" altLang="zh-CN" sz="2000" dirty="0">
                  <a:latin typeface="Times New Roman" pitchFamily="18" charset="0"/>
                  <a:cs typeface="Times New Roman" pitchFamily="18" charset="0"/>
                </a:rPr>
                <a:t>CL</a:t>
              </a:r>
              <a:endParaRPr lang="zh-CN" altLang="en-US" sz="2000" dirty="0">
                <a:latin typeface="Times New Roman" pitchFamily="18" charset="0"/>
                <a:cs typeface="Times New Roman" pitchFamily="18" charset="0"/>
              </a:endParaRPr>
            </a:p>
          </p:txBody>
        </p:sp>
        <p:sp>
          <p:nvSpPr>
            <p:cNvPr id="142" name="TextBox 67">
              <a:extLst>
                <a:ext uri="{FF2B5EF4-FFF2-40B4-BE49-F238E27FC236}">
                  <a16:creationId xmlns:a16="http://schemas.microsoft.com/office/drawing/2014/main" id="{FF9D043F-0F45-479E-BA6B-714556512AF0}"/>
                </a:ext>
              </a:extLst>
            </p:cNvPr>
            <p:cNvSpPr txBox="1"/>
            <p:nvPr/>
          </p:nvSpPr>
          <p:spPr>
            <a:xfrm>
              <a:off x="2710140" y="4816216"/>
              <a:ext cx="423819" cy="771170"/>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eaLnBrk="1" hangingPunct="1">
                <a:defRPr/>
              </a:pPr>
              <a:r>
                <a:rPr lang="en-US" altLang="zh-CN" sz="2000" dirty="0">
                  <a:latin typeface="Times New Roman" pitchFamily="18" charset="0"/>
                  <a:cs typeface="Times New Roman" pitchFamily="18" charset="0"/>
                </a:rPr>
                <a:t>SR</a:t>
              </a:r>
              <a:endParaRPr lang="zh-CN" altLang="en-US" sz="2000" dirty="0">
                <a:latin typeface="Times New Roman" pitchFamily="18" charset="0"/>
                <a:cs typeface="Times New Roman" pitchFamily="18" charset="0"/>
              </a:endParaRPr>
            </a:p>
          </p:txBody>
        </p:sp>
        <p:sp>
          <p:nvSpPr>
            <p:cNvPr id="23581" name="TextBox 68">
              <a:extLst>
                <a:ext uri="{FF2B5EF4-FFF2-40B4-BE49-F238E27FC236}">
                  <a16:creationId xmlns:a16="http://schemas.microsoft.com/office/drawing/2014/main" id="{791C8DF6-89AD-480C-8662-90BA0897D576}"/>
                </a:ext>
              </a:extLst>
            </p:cNvPr>
            <p:cNvSpPr txBox="1">
              <a:spLocks noChangeArrowheads="1"/>
            </p:cNvSpPr>
            <p:nvPr/>
          </p:nvSpPr>
          <p:spPr bwMode="auto">
            <a:xfrm>
              <a:off x="2787574" y="5404304"/>
              <a:ext cx="381626" cy="15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a:cs typeface="Times New Roman" panose="02020603050405020304" pitchFamily="18" charset="0"/>
                </a:rPr>
                <a:t>&lt;</a:t>
              </a:r>
              <a:endParaRPr lang="zh-CN" altLang="en-US" sz="2000" b="0">
                <a:cs typeface="Times New Roman" panose="02020603050405020304" pitchFamily="18" charset="0"/>
              </a:endParaRPr>
            </a:p>
          </p:txBody>
        </p:sp>
        <p:cxnSp>
          <p:nvCxnSpPr>
            <p:cNvPr id="144" name="直接箭头连接符 143">
              <a:extLst>
                <a:ext uri="{FF2B5EF4-FFF2-40B4-BE49-F238E27FC236}">
                  <a16:creationId xmlns:a16="http://schemas.microsoft.com/office/drawing/2014/main" id="{3B791C60-48AB-4ED8-91E9-3932489B1334}"/>
                </a:ext>
              </a:extLst>
            </p:cNvPr>
            <p:cNvCxnSpPr>
              <a:cxnSpLocks/>
            </p:cNvCxnSpPr>
            <p:nvPr/>
          </p:nvCxnSpPr>
          <p:spPr>
            <a:xfrm flipH="1">
              <a:off x="3475238" y="5187519"/>
              <a:ext cx="0" cy="652162"/>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45" name="直接箭头连接符 144">
              <a:extLst>
                <a:ext uri="{FF2B5EF4-FFF2-40B4-BE49-F238E27FC236}">
                  <a16:creationId xmlns:a16="http://schemas.microsoft.com/office/drawing/2014/main" id="{AD44B09E-F6C3-4A49-AFA2-F2C0C7E4A075}"/>
                </a:ext>
              </a:extLst>
            </p:cNvPr>
            <p:cNvCxnSpPr/>
            <p:nvPr/>
          </p:nvCxnSpPr>
          <p:spPr>
            <a:xfrm>
              <a:off x="1237088" y="5839682"/>
              <a:ext cx="2238150" cy="1586"/>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46" name="直接箭头连接符 145">
              <a:extLst>
                <a:ext uri="{FF2B5EF4-FFF2-40B4-BE49-F238E27FC236}">
                  <a16:creationId xmlns:a16="http://schemas.microsoft.com/office/drawing/2014/main" id="{F886EA61-096E-4952-B49F-6EE0FF13D330}"/>
                </a:ext>
              </a:extLst>
            </p:cNvPr>
            <p:cNvCxnSpPr>
              <a:cxnSpLocks/>
              <a:endCxn id="142" idx="1"/>
            </p:cNvCxnSpPr>
            <p:nvPr/>
          </p:nvCxnSpPr>
          <p:spPr>
            <a:xfrm flipV="1">
              <a:off x="2152983" y="5201801"/>
              <a:ext cx="557157" cy="1586"/>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sp>
          <p:nvSpPr>
            <p:cNvPr id="23585" name="TextBox 83">
              <a:extLst>
                <a:ext uri="{FF2B5EF4-FFF2-40B4-BE49-F238E27FC236}">
                  <a16:creationId xmlns:a16="http://schemas.microsoft.com/office/drawing/2014/main" id="{893A5CD9-1815-4B36-81E3-EE0A0EAFD949}"/>
                </a:ext>
              </a:extLst>
            </p:cNvPr>
            <p:cNvSpPr txBox="1">
              <a:spLocks noChangeArrowheads="1"/>
            </p:cNvSpPr>
            <p:nvPr/>
          </p:nvSpPr>
          <p:spPr bwMode="auto">
            <a:xfrm>
              <a:off x="954541" y="3854942"/>
              <a:ext cx="328692" cy="293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cs typeface="Times New Roman" panose="02020603050405020304" pitchFamily="18" charset="0"/>
                </a:rPr>
                <a:t>in</a:t>
              </a:r>
              <a:endParaRPr lang="zh-CN" altLang="en-US" sz="2400" b="0">
                <a:cs typeface="Times New Roman" panose="02020603050405020304" pitchFamily="18" charset="0"/>
              </a:endParaRPr>
            </a:p>
          </p:txBody>
        </p:sp>
        <p:sp>
          <p:nvSpPr>
            <p:cNvPr id="23586" name="TextBox 84">
              <a:extLst>
                <a:ext uri="{FF2B5EF4-FFF2-40B4-BE49-F238E27FC236}">
                  <a16:creationId xmlns:a16="http://schemas.microsoft.com/office/drawing/2014/main" id="{35679992-6F59-4E35-944B-1C6E54CFD87F}"/>
                </a:ext>
              </a:extLst>
            </p:cNvPr>
            <p:cNvSpPr txBox="1">
              <a:spLocks noChangeArrowheads="1"/>
            </p:cNvSpPr>
            <p:nvPr/>
          </p:nvSpPr>
          <p:spPr bwMode="auto">
            <a:xfrm>
              <a:off x="3531135" y="4898224"/>
              <a:ext cx="342233" cy="293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cs typeface="Times New Roman" panose="02020603050405020304" pitchFamily="18" charset="0"/>
                </a:rPr>
                <a:t>cs</a:t>
              </a:r>
              <a:endParaRPr lang="zh-CN" altLang="en-US" sz="2400" b="0">
                <a:cs typeface="Times New Roman" panose="02020603050405020304" pitchFamily="18" charset="0"/>
              </a:endParaRPr>
            </a:p>
          </p:txBody>
        </p:sp>
        <p:sp>
          <p:nvSpPr>
            <p:cNvPr id="23587" name="TextBox 87">
              <a:extLst>
                <a:ext uri="{FF2B5EF4-FFF2-40B4-BE49-F238E27FC236}">
                  <a16:creationId xmlns:a16="http://schemas.microsoft.com/office/drawing/2014/main" id="{7ECA43D6-F570-457E-906A-97F1CDAC479B}"/>
                </a:ext>
              </a:extLst>
            </p:cNvPr>
            <p:cNvSpPr txBox="1">
              <a:spLocks noChangeArrowheads="1"/>
            </p:cNvSpPr>
            <p:nvPr/>
          </p:nvSpPr>
          <p:spPr bwMode="auto">
            <a:xfrm>
              <a:off x="2195736" y="4742134"/>
              <a:ext cx="355774" cy="293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cs typeface="Times New Roman" panose="02020603050405020304" pitchFamily="18" charset="0"/>
                </a:rPr>
                <a:t>ns</a:t>
              </a:r>
              <a:endParaRPr lang="zh-CN" altLang="en-US" sz="2400" b="0">
                <a:cs typeface="Times New Roman" panose="02020603050405020304" pitchFamily="18" charset="0"/>
              </a:endParaRPr>
            </a:p>
          </p:txBody>
        </p:sp>
        <p:cxnSp>
          <p:nvCxnSpPr>
            <p:cNvPr id="154" name="直接箭头连接符 153">
              <a:extLst>
                <a:ext uri="{FF2B5EF4-FFF2-40B4-BE49-F238E27FC236}">
                  <a16:creationId xmlns:a16="http://schemas.microsoft.com/office/drawing/2014/main" id="{9E66016A-E12B-4D77-84C5-D9749D7DFD4E}"/>
                </a:ext>
              </a:extLst>
            </p:cNvPr>
            <p:cNvCxnSpPr>
              <a:cxnSpLocks/>
            </p:cNvCxnSpPr>
            <p:nvPr/>
          </p:nvCxnSpPr>
          <p:spPr>
            <a:xfrm flipH="1">
              <a:off x="1238674" y="5209734"/>
              <a:ext cx="0" cy="629948"/>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55" name="直接箭头连接符 154">
              <a:extLst>
                <a:ext uri="{FF2B5EF4-FFF2-40B4-BE49-F238E27FC236}">
                  <a16:creationId xmlns:a16="http://schemas.microsoft.com/office/drawing/2014/main" id="{C20F243E-F8CA-499E-9C30-F30B7D64C079}"/>
                </a:ext>
              </a:extLst>
            </p:cNvPr>
            <p:cNvCxnSpPr/>
            <p:nvPr/>
          </p:nvCxnSpPr>
          <p:spPr>
            <a:xfrm>
              <a:off x="3133959" y="5187519"/>
              <a:ext cx="334929" cy="1587"/>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56" name="直接箭头连接符 155">
              <a:extLst>
                <a:ext uri="{FF2B5EF4-FFF2-40B4-BE49-F238E27FC236}">
                  <a16:creationId xmlns:a16="http://schemas.microsoft.com/office/drawing/2014/main" id="{1AC06701-F7E2-4E44-B133-5D400586C096}"/>
                </a:ext>
              </a:extLst>
            </p:cNvPr>
            <p:cNvCxnSpPr/>
            <p:nvPr/>
          </p:nvCxnSpPr>
          <p:spPr>
            <a:xfrm>
              <a:off x="1011685" y="4260847"/>
              <a:ext cx="557156"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cxnSp>
          <p:nvCxnSpPr>
            <p:cNvPr id="157" name="直接箭头连接符 156">
              <a:extLst>
                <a:ext uri="{FF2B5EF4-FFF2-40B4-BE49-F238E27FC236}">
                  <a16:creationId xmlns:a16="http://schemas.microsoft.com/office/drawing/2014/main" id="{01E3461E-099A-441C-BDBD-CEDAE1765616}"/>
                </a:ext>
              </a:extLst>
            </p:cNvPr>
            <p:cNvCxnSpPr/>
            <p:nvPr/>
          </p:nvCxnSpPr>
          <p:spPr>
            <a:xfrm>
              <a:off x="1237088" y="5209734"/>
              <a:ext cx="334928" cy="1587"/>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grpSp>
      <p:sp>
        <p:nvSpPr>
          <p:cNvPr id="158" name="Rectangle 2">
            <a:extLst>
              <a:ext uri="{FF2B5EF4-FFF2-40B4-BE49-F238E27FC236}">
                <a16:creationId xmlns:a16="http://schemas.microsoft.com/office/drawing/2014/main" id="{77DC70EC-0C8F-4E87-AA1E-8D3464E5E419}"/>
              </a:ext>
            </a:extLst>
          </p:cNvPr>
          <p:cNvSpPr txBox="1">
            <a:spLocks noChangeArrowheads="1"/>
          </p:cNvSpPr>
          <p:nvPr/>
        </p:nvSpPr>
        <p:spPr bwMode="auto">
          <a:xfrm>
            <a:off x="457200" y="152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000" b="1">
                <a:solidFill>
                  <a:schemeClr val="tx2"/>
                </a:solidFill>
                <a:latin typeface="Times New Roman" pitchFamily="18" charset="0"/>
                <a:ea typeface="+mj-ea"/>
                <a:cs typeface="+mj-cs"/>
              </a:defRPr>
            </a:lvl1pPr>
            <a:lvl2pPr algn="ctr" rtl="0" eaLnBrk="0" fontAlgn="base" hangingPunct="0">
              <a:spcBef>
                <a:spcPct val="0"/>
              </a:spcBef>
              <a:spcAft>
                <a:spcPct val="0"/>
              </a:spcAft>
              <a:defRPr sz="4000" b="1">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000" b="1">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000" b="1">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000" b="1">
                <a:solidFill>
                  <a:schemeClr val="tx2"/>
                </a:solidFill>
                <a:latin typeface="Times New Roman" pitchFamily="18" charset="0"/>
                <a:ea typeface="宋体" pitchFamily="2" charset="-122"/>
              </a:defRPr>
            </a:lvl5pPr>
            <a:lvl6pPr marL="457200" algn="ctr" rtl="0" fontAlgn="base">
              <a:spcBef>
                <a:spcPct val="0"/>
              </a:spcBef>
              <a:spcAft>
                <a:spcPct val="0"/>
              </a:spcAft>
              <a:defRPr sz="4400" b="1">
                <a:solidFill>
                  <a:schemeClr val="tx2"/>
                </a:solidFill>
                <a:latin typeface="Arial" pitchFamily="34" charset="0"/>
                <a:ea typeface="宋体" pitchFamily="2" charset="-122"/>
              </a:defRPr>
            </a:lvl6pPr>
            <a:lvl7pPr marL="914400" algn="ctr" rtl="0" fontAlgn="base">
              <a:spcBef>
                <a:spcPct val="0"/>
              </a:spcBef>
              <a:spcAft>
                <a:spcPct val="0"/>
              </a:spcAft>
              <a:defRPr sz="4400" b="1">
                <a:solidFill>
                  <a:schemeClr val="tx2"/>
                </a:solidFill>
                <a:latin typeface="Arial" pitchFamily="34" charset="0"/>
                <a:ea typeface="宋体" pitchFamily="2" charset="-122"/>
              </a:defRPr>
            </a:lvl7pPr>
            <a:lvl8pPr marL="1371600" algn="ctr" rtl="0" fontAlgn="base">
              <a:spcBef>
                <a:spcPct val="0"/>
              </a:spcBef>
              <a:spcAft>
                <a:spcPct val="0"/>
              </a:spcAft>
              <a:defRPr sz="4400" b="1">
                <a:solidFill>
                  <a:schemeClr val="tx2"/>
                </a:solidFill>
                <a:latin typeface="Arial" pitchFamily="34" charset="0"/>
                <a:ea typeface="宋体" pitchFamily="2" charset="-122"/>
              </a:defRPr>
            </a:lvl8pPr>
            <a:lvl9pPr marL="1828800" algn="ctr" rtl="0" fontAlgn="base">
              <a:spcBef>
                <a:spcPct val="0"/>
              </a:spcBef>
              <a:spcAft>
                <a:spcPct val="0"/>
              </a:spcAft>
              <a:defRPr sz="4400" b="1">
                <a:solidFill>
                  <a:schemeClr val="tx2"/>
                </a:solidFill>
                <a:latin typeface="Arial" pitchFamily="34" charset="0"/>
                <a:ea typeface="宋体" pitchFamily="2" charset="-122"/>
              </a:defRPr>
            </a:lvl9pPr>
          </a:lstStyle>
          <a:p>
            <a:pPr>
              <a:defRPr/>
            </a:pPr>
            <a:r>
              <a:rPr lang="en-US" altLang="zh-CN" kern="0" dirty="0">
                <a:cs typeface="Times New Roman" panose="02020603050405020304" pitchFamily="18" charset="0"/>
              </a:rPr>
              <a:t>FSM</a:t>
            </a:r>
            <a:r>
              <a:rPr lang="zh-CN" altLang="en-US" kern="0" dirty="0">
                <a:cs typeface="Times New Roman" panose="02020603050405020304" pitchFamily="18" charset="0"/>
              </a:rPr>
              <a:t>描述方式</a:t>
            </a:r>
          </a:p>
        </p:txBody>
      </p:sp>
      <p:sp>
        <p:nvSpPr>
          <p:cNvPr id="23565" name="Rectangle 4">
            <a:extLst>
              <a:ext uri="{FF2B5EF4-FFF2-40B4-BE49-F238E27FC236}">
                <a16:creationId xmlns:a16="http://schemas.microsoft.com/office/drawing/2014/main" id="{3ED7C20B-0216-49D5-8215-52B44888D1EE}"/>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3566" name="Rectangle 5">
            <a:extLst>
              <a:ext uri="{FF2B5EF4-FFF2-40B4-BE49-F238E27FC236}">
                <a16:creationId xmlns:a16="http://schemas.microsoft.com/office/drawing/2014/main" id="{8BE6FF18-89DB-4631-A90A-F6EC91F2B1B2}"/>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23567" name="Rectangle 6">
            <a:extLst>
              <a:ext uri="{FF2B5EF4-FFF2-40B4-BE49-F238E27FC236}">
                <a16:creationId xmlns:a16="http://schemas.microsoft.com/office/drawing/2014/main" id="{015721D7-BAB5-4471-836A-849B764DB00E}"/>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13</a:t>
            </a:fld>
            <a:endParaRPr lang="en-US" altLang="zh-CN" sz="1800" b="0">
              <a:solidFill>
                <a:srgbClr val="B2B2B2"/>
              </a:solidFill>
              <a:latin typeface="Arial" panose="020B0604020202020204" pitchFamily="34" charset="0"/>
            </a:endParaRPr>
          </a:p>
        </p:txBody>
      </p:sp>
      <p:sp>
        <p:nvSpPr>
          <p:cNvPr id="172" name="矩形: 圆角 171">
            <a:extLst>
              <a:ext uri="{FF2B5EF4-FFF2-40B4-BE49-F238E27FC236}">
                <a16:creationId xmlns:a16="http://schemas.microsoft.com/office/drawing/2014/main" id="{7CEECC5D-4E10-4EB9-8F36-E3ABAED372E5}"/>
              </a:ext>
            </a:extLst>
          </p:cNvPr>
          <p:cNvSpPr/>
          <p:nvPr/>
        </p:nvSpPr>
        <p:spPr bwMode="auto">
          <a:xfrm>
            <a:off x="2267034" y="2327043"/>
            <a:ext cx="1928488" cy="2024062"/>
          </a:xfrm>
          <a:prstGeom prst="roundRect">
            <a:avLst/>
          </a:prstGeom>
          <a:noFill/>
          <a:ln w="28575">
            <a:solidFill>
              <a:srgbClr val="0000FF"/>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71" name="组合 170">
            <a:extLst>
              <a:ext uri="{FF2B5EF4-FFF2-40B4-BE49-F238E27FC236}">
                <a16:creationId xmlns:a16="http://schemas.microsoft.com/office/drawing/2014/main" id="{111FFDA2-1AA4-407F-80C9-64AA3F8795EC}"/>
              </a:ext>
            </a:extLst>
          </p:cNvPr>
          <p:cNvGrpSpPr>
            <a:grpSpLocks/>
          </p:cNvGrpSpPr>
          <p:nvPr/>
        </p:nvGrpSpPr>
        <p:grpSpPr bwMode="auto">
          <a:xfrm>
            <a:off x="3609734" y="2474680"/>
            <a:ext cx="458787" cy="769938"/>
            <a:chOff x="2710023" y="3866839"/>
            <a:chExt cx="459177" cy="770377"/>
          </a:xfrm>
        </p:grpSpPr>
        <p:sp>
          <p:nvSpPr>
            <p:cNvPr id="140" name="TextBox 65">
              <a:extLst>
                <a:ext uri="{FF2B5EF4-FFF2-40B4-BE49-F238E27FC236}">
                  <a16:creationId xmlns:a16="http://schemas.microsoft.com/office/drawing/2014/main" id="{24441FDA-196F-4F40-841A-09F1D8500F21}"/>
                </a:ext>
              </a:extLst>
            </p:cNvPr>
            <p:cNvSpPr txBox="1"/>
            <p:nvPr/>
          </p:nvSpPr>
          <p:spPr>
            <a:xfrm>
              <a:off x="2710023" y="3866839"/>
              <a:ext cx="424222" cy="770377"/>
            </a:xfrm>
            <a:prstGeom prst="rect">
              <a:avLst/>
            </a:prstGeom>
            <a:solidFill>
              <a:schemeClr val="bg1"/>
            </a:solidFill>
            <a:ln w="28575">
              <a:solidFill>
                <a:srgbClr val="00B050"/>
              </a:solidFill>
            </a:ln>
          </p:spPr>
          <p:style>
            <a:lnRef idx="2">
              <a:schemeClr val="dk1"/>
            </a:lnRef>
            <a:fillRef idx="1">
              <a:schemeClr val="lt1"/>
            </a:fillRef>
            <a:effectRef idx="0">
              <a:schemeClr val="dk1"/>
            </a:effectRef>
            <a:fontRef idx="minor">
              <a:schemeClr val="dk1"/>
            </a:fontRef>
          </p:style>
          <p:txBody>
            <a:bodyPr wrap="none" lIns="0" tIns="0" rIns="0" bIns="0" anchor="ctr" anchorCtr="1"/>
            <a:lstStyle/>
            <a:p>
              <a:pPr eaLnBrk="1" hangingPunct="1">
                <a:defRPr/>
              </a:pPr>
              <a:r>
                <a:rPr lang="en-US" altLang="zh-CN" sz="2000" dirty="0">
                  <a:latin typeface="Times New Roman" pitchFamily="18" charset="0"/>
                  <a:cs typeface="Times New Roman" pitchFamily="18" charset="0"/>
                </a:rPr>
                <a:t>OR</a:t>
              </a:r>
              <a:endParaRPr lang="zh-CN" altLang="en-US" sz="2000" dirty="0">
                <a:latin typeface="Times New Roman" pitchFamily="18" charset="0"/>
                <a:cs typeface="Times New Roman" pitchFamily="18" charset="0"/>
              </a:endParaRPr>
            </a:p>
          </p:txBody>
        </p:sp>
        <p:sp>
          <p:nvSpPr>
            <p:cNvPr id="23576" name="TextBox 66">
              <a:extLst>
                <a:ext uri="{FF2B5EF4-FFF2-40B4-BE49-F238E27FC236}">
                  <a16:creationId xmlns:a16="http://schemas.microsoft.com/office/drawing/2014/main" id="{EA709CD9-A178-4DFF-BE25-CBF355CF6470}"/>
                </a:ext>
              </a:extLst>
            </p:cNvPr>
            <p:cNvSpPr txBox="1">
              <a:spLocks noChangeArrowheads="1"/>
            </p:cNvSpPr>
            <p:nvPr/>
          </p:nvSpPr>
          <p:spPr bwMode="auto">
            <a:xfrm>
              <a:off x="2787574" y="4456690"/>
              <a:ext cx="381626" cy="15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a:cs typeface="Times New Roman" panose="02020603050405020304" pitchFamily="18" charset="0"/>
                </a:rPr>
                <a:t>&lt;</a:t>
              </a:r>
              <a:endParaRPr lang="zh-CN" altLang="en-US" sz="2000" b="0">
                <a:cs typeface="Times New Roman" panose="02020603050405020304" pitchFamily="18" charset="0"/>
              </a:endParaRPr>
            </a:p>
          </p:txBody>
        </p:sp>
      </p:grpSp>
      <p:grpSp>
        <p:nvGrpSpPr>
          <p:cNvPr id="78" name="组合 77">
            <a:extLst>
              <a:ext uri="{FF2B5EF4-FFF2-40B4-BE49-F238E27FC236}">
                <a16:creationId xmlns:a16="http://schemas.microsoft.com/office/drawing/2014/main" id="{60B15AE4-BDC3-4474-865E-1EF3FCC6F67E}"/>
              </a:ext>
            </a:extLst>
          </p:cNvPr>
          <p:cNvGrpSpPr/>
          <p:nvPr/>
        </p:nvGrpSpPr>
        <p:grpSpPr>
          <a:xfrm>
            <a:off x="2256706" y="2586566"/>
            <a:ext cx="1976366" cy="1620703"/>
            <a:chOff x="8042143" y="1623444"/>
            <a:chExt cx="1940818" cy="1948542"/>
          </a:xfrm>
        </p:grpSpPr>
        <p:cxnSp>
          <p:nvCxnSpPr>
            <p:cNvPr id="79" name="直接连接符 78">
              <a:extLst>
                <a:ext uri="{FF2B5EF4-FFF2-40B4-BE49-F238E27FC236}">
                  <a16:creationId xmlns:a16="http://schemas.microsoft.com/office/drawing/2014/main" id="{A6A048B9-779D-4A2D-AD4C-A4B62F6696CA}"/>
                </a:ext>
              </a:extLst>
            </p:cNvPr>
            <p:cNvCxnSpPr>
              <a:cxnSpLocks/>
            </p:cNvCxnSpPr>
            <p:nvPr/>
          </p:nvCxnSpPr>
          <p:spPr>
            <a:xfrm>
              <a:off x="8042143" y="1635343"/>
              <a:ext cx="1940818" cy="193664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16338975-A662-4CB4-9EB0-7701921FEB60}"/>
                </a:ext>
              </a:extLst>
            </p:cNvPr>
            <p:cNvCxnSpPr>
              <a:cxnSpLocks/>
            </p:cNvCxnSpPr>
            <p:nvPr/>
          </p:nvCxnSpPr>
          <p:spPr>
            <a:xfrm flipH="1">
              <a:off x="8042143" y="1623444"/>
              <a:ext cx="1940818" cy="194854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2" name="矩形 81">
            <a:extLst>
              <a:ext uri="{FF2B5EF4-FFF2-40B4-BE49-F238E27FC236}">
                <a16:creationId xmlns:a16="http://schemas.microsoft.com/office/drawing/2014/main" id="{257E85BC-2679-444D-B599-93AFE8F25D74}"/>
              </a:ext>
            </a:extLst>
          </p:cNvPr>
          <p:cNvSpPr/>
          <p:nvPr/>
        </p:nvSpPr>
        <p:spPr>
          <a:xfrm>
            <a:off x="2154578" y="1324090"/>
            <a:ext cx="2040943" cy="461665"/>
          </a:xfrm>
          <a:prstGeom prst="rect">
            <a:avLst/>
          </a:prstGeom>
        </p:spPr>
        <p:txBody>
          <a:bodyPr wrap="none">
            <a:spAutoFit/>
          </a:bodyPr>
          <a:lstStyle/>
          <a:p>
            <a:r>
              <a:rPr lang="zh-CN" altLang="en-US" sz="2400" b="1" kern="0">
                <a:solidFill>
                  <a:srgbClr val="FF0000"/>
                </a:solidFill>
                <a:latin typeface="Times New Roman" pitchFamily="18" charset="0"/>
                <a:ea typeface="宋体"/>
              </a:rPr>
              <a:t>强烈不</a:t>
            </a:r>
            <a:r>
              <a:rPr lang="zh-CN" altLang="en-US" sz="2400" b="1" kern="0" dirty="0">
                <a:solidFill>
                  <a:srgbClr val="FF0000"/>
                </a:solidFill>
                <a:latin typeface="Times New Roman" pitchFamily="18" charset="0"/>
                <a:ea typeface="宋体"/>
              </a:rPr>
              <a:t>推荐！</a:t>
            </a:r>
            <a:endParaRPr lang="zh-CN" altLang="en-US" sz="1600" dirty="0">
              <a:solidFill>
                <a:srgbClr val="FF0000"/>
              </a:solidFill>
            </a:endParaRPr>
          </a:p>
        </p:txBody>
      </p:sp>
      <p:sp>
        <p:nvSpPr>
          <p:cNvPr id="137" name="矩形: 圆角 136">
            <a:extLst>
              <a:ext uri="{FF2B5EF4-FFF2-40B4-BE49-F238E27FC236}">
                <a16:creationId xmlns:a16="http://schemas.microsoft.com/office/drawing/2014/main" id="{1B277A86-1D74-461C-8C1A-D8EA20329A21}"/>
              </a:ext>
            </a:extLst>
          </p:cNvPr>
          <p:cNvSpPr/>
          <p:nvPr/>
        </p:nvSpPr>
        <p:spPr bwMode="auto">
          <a:xfrm>
            <a:off x="5854298" y="4976466"/>
            <a:ext cx="2221660" cy="1257629"/>
          </a:xfrm>
          <a:prstGeom prst="roundRect">
            <a:avLst/>
          </a:prstGeom>
          <a:noFill/>
          <a:ln w="28575">
            <a:solidFill>
              <a:srgbClr val="FF993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1" name="组合 10">
            <a:extLst>
              <a:ext uri="{FF2B5EF4-FFF2-40B4-BE49-F238E27FC236}">
                <a16:creationId xmlns:a16="http://schemas.microsoft.com/office/drawing/2014/main" id="{E0CF36CF-FC2A-4A76-842B-985C421C30DA}"/>
              </a:ext>
            </a:extLst>
          </p:cNvPr>
          <p:cNvGrpSpPr/>
          <p:nvPr/>
        </p:nvGrpSpPr>
        <p:grpSpPr>
          <a:xfrm>
            <a:off x="5394309" y="1406259"/>
            <a:ext cx="2954338" cy="1827569"/>
            <a:chOff x="5394309" y="1406259"/>
            <a:chExt cx="2954338" cy="1827569"/>
          </a:xfrm>
        </p:grpSpPr>
        <p:grpSp>
          <p:nvGrpSpPr>
            <p:cNvPr id="138" name="组合 73">
              <a:extLst>
                <a:ext uri="{FF2B5EF4-FFF2-40B4-BE49-F238E27FC236}">
                  <a16:creationId xmlns:a16="http://schemas.microsoft.com/office/drawing/2014/main" id="{30A8A0CA-2592-4815-AF83-F3D1C357EFA1}"/>
                </a:ext>
              </a:extLst>
            </p:cNvPr>
            <p:cNvGrpSpPr>
              <a:grpSpLocks/>
            </p:cNvGrpSpPr>
            <p:nvPr/>
          </p:nvGrpSpPr>
          <p:grpSpPr bwMode="auto">
            <a:xfrm>
              <a:off x="5394309" y="1406259"/>
              <a:ext cx="2954338" cy="1827569"/>
              <a:chOff x="5217578" y="2035002"/>
              <a:chExt cx="2954426" cy="1611486"/>
            </a:xfrm>
          </p:grpSpPr>
          <p:sp>
            <p:nvSpPr>
              <p:cNvPr id="141" name="TextBox 34">
                <a:extLst>
                  <a:ext uri="{FF2B5EF4-FFF2-40B4-BE49-F238E27FC236}">
                    <a16:creationId xmlns:a16="http://schemas.microsoft.com/office/drawing/2014/main" id="{011460A6-E387-47DF-9F75-E80511BA8216}"/>
                  </a:ext>
                </a:extLst>
              </p:cNvPr>
              <p:cNvSpPr txBox="1"/>
              <p:nvPr/>
            </p:nvSpPr>
            <p:spPr bwMode="auto">
              <a:xfrm>
                <a:off x="7184550" y="2729093"/>
                <a:ext cx="466739" cy="687253"/>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eaLnBrk="1" hangingPunct="1">
                  <a:defRPr/>
                </a:pPr>
                <a:r>
                  <a:rPr lang="en-US" altLang="zh-CN" sz="2000" dirty="0">
                    <a:latin typeface="Times New Roman" pitchFamily="18" charset="0"/>
                    <a:cs typeface="Times New Roman" pitchFamily="18" charset="0"/>
                  </a:rPr>
                  <a:t>SR</a:t>
                </a:r>
                <a:endParaRPr lang="zh-CN" altLang="en-US" sz="2000" dirty="0">
                  <a:latin typeface="Times New Roman" pitchFamily="18" charset="0"/>
                  <a:cs typeface="Times New Roman" pitchFamily="18" charset="0"/>
                </a:endParaRPr>
              </a:p>
            </p:txBody>
          </p:sp>
          <p:sp>
            <p:nvSpPr>
              <p:cNvPr id="143" name="TextBox 35">
                <a:extLst>
                  <a:ext uri="{FF2B5EF4-FFF2-40B4-BE49-F238E27FC236}">
                    <a16:creationId xmlns:a16="http://schemas.microsoft.com/office/drawing/2014/main" id="{AFD64C46-8F5B-4AF4-9384-47A2F2F9DDAD}"/>
                  </a:ext>
                </a:extLst>
              </p:cNvPr>
              <p:cNvSpPr txBox="1">
                <a:spLocks noChangeArrowheads="1"/>
              </p:cNvSpPr>
              <p:nvPr/>
            </p:nvSpPr>
            <p:spPr bwMode="auto">
              <a:xfrm>
                <a:off x="7247926" y="3265489"/>
                <a:ext cx="420460" cy="191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dirty="0">
                    <a:cs typeface="Times New Roman" panose="02020603050405020304" pitchFamily="18" charset="0"/>
                  </a:rPr>
                  <a:t>&lt;</a:t>
                </a:r>
                <a:endParaRPr lang="zh-CN" altLang="en-US" sz="2000" b="0" dirty="0">
                  <a:cs typeface="Times New Roman" panose="02020603050405020304" pitchFamily="18" charset="0"/>
                </a:endParaRPr>
              </a:p>
            </p:txBody>
          </p:sp>
          <p:sp>
            <p:nvSpPr>
              <p:cNvPr id="147" name="TextBox 36">
                <a:extLst>
                  <a:ext uri="{FF2B5EF4-FFF2-40B4-BE49-F238E27FC236}">
                    <a16:creationId xmlns:a16="http://schemas.microsoft.com/office/drawing/2014/main" id="{6255B48E-D278-47D8-8C60-079324592A54}"/>
                  </a:ext>
                </a:extLst>
              </p:cNvPr>
              <p:cNvSpPr txBox="1"/>
              <p:nvPr/>
            </p:nvSpPr>
            <p:spPr bwMode="auto">
              <a:xfrm>
                <a:off x="5911337" y="2202146"/>
                <a:ext cx="520716" cy="1214200"/>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algn="ctr" eaLnBrk="1" hangingPunct="1">
                  <a:defRPr/>
                </a:pPr>
                <a:r>
                  <a:rPr lang="en-US" altLang="zh-CN" sz="2000" dirty="0">
                    <a:latin typeface="Times New Roman" pitchFamily="18" charset="0"/>
                    <a:cs typeface="Times New Roman" pitchFamily="18" charset="0"/>
                  </a:rPr>
                  <a:t>CL</a:t>
                </a:r>
                <a:endParaRPr lang="en-US" altLang="zh-CN" sz="2400" dirty="0">
                  <a:latin typeface="Times New Roman" pitchFamily="18" charset="0"/>
                  <a:cs typeface="Times New Roman" pitchFamily="18" charset="0"/>
                </a:endParaRPr>
              </a:p>
            </p:txBody>
          </p:sp>
          <p:cxnSp>
            <p:nvCxnSpPr>
              <p:cNvPr id="149" name="直接箭头连接符 148">
                <a:extLst>
                  <a:ext uri="{FF2B5EF4-FFF2-40B4-BE49-F238E27FC236}">
                    <a16:creationId xmlns:a16="http://schemas.microsoft.com/office/drawing/2014/main" id="{08341308-5F30-486B-9B2D-9A76A605C411}"/>
                  </a:ext>
                </a:extLst>
              </p:cNvPr>
              <p:cNvCxnSpPr>
                <a:cxnSpLocks/>
              </p:cNvCxnSpPr>
              <p:nvPr/>
            </p:nvCxnSpPr>
            <p:spPr bwMode="auto">
              <a:xfrm>
                <a:off x="5555726" y="3200488"/>
                <a:ext cx="368311" cy="1587"/>
              </a:xfrm>
              <a:prstGeom prst="straightConnector1">
                <a:avLst/>
              </a:prstGeom>
              <a:ln w="19050">
                <a:solidFill>
                  <a:schemeClr val="tx1"/>
                </a:solidFill>
                <a:headEnd type="none"/>
                <a:tailEnd type="triangle" w="med" len="lg"/>
              </a:ln>
            </p:spPr>
            <p:style>
              <a:lnRef idx="1">
                <a:schemeClr val="dk1"/>
              </a:lnRef>
              <a:fillRef idx="0">
                <a:schemeClr val="dk1"/>
              </a:fillRef>
              <a:effectRef idx="0">
                <a:schemeClr val="dk1"/>
              </a:effectRef>
              <a:fontRef idx="minor">
                <a:schemeClr val="tx1"/>
              </a:fontRef>
            </p:style>
          </p:cxnSp>
          <p:cxnSp>
            <p:nvCxnSpPr>
              <p:cNvPr id="150" name="直接箭头连接符 149">
                <a:extLst>
                  <a:ext uri="{FF2B5EF4-FFF2-40B4-BE49-F238E27FC236}">
                    <a16:creationId xmlns:a16="http://schemas.microsoft.com/office/drawing/2014/main" id="{1E079E9C-4AE4-4882-8134-EFACED6E6EDF}"/>
                  </a:ext>
                </a:extLst>
              </p:cNvPr>
              <p:cNvCxnSpPr/>
              <p:nvPr/>
            </p:nvCxnSpPr>
            <p:spPr bwMode="auto">
              <a:xfrm>
                <a:off x="7651288" y="3102083"/>
                <a:ext cx="369898" cy="3174"/>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51" name="直接箭头连接符 150">
                <a:extLst>
                  <a:ext uri="{FF2B5EF4-FFF2-40B4-BE49-F238E27FC236}">
                    <a16:creationId xmlns:a16="http://schemas.microsoft.com/office/drawing/2014/main" id="{8FBC37F5-EBF0-47FF-ACA5-E853FEFA9720}"/>
                  </a:ext>
                </a:extLst>
              </p:cNvPr>
              <p:cNvCxnSpPr>
                <a:cxnSpLocks/>
              </p:cNvCxnSpPr>
              <p:nvPr/>
            </p:nvCxnSpPr>
            <p:spPr bwMode="auto">
              <a:xfrm>
                <a:off x="8025950" y="3100495"/>
                <a:ext cx="0" cy="545993"/>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52" name="直接箭头连接符 151">
                <a:extLst>
                  <a:ext uri="{FF2B5EF4-FFF2-40B4-BE49-F238E27FC236}">
                    <a16:creationId xmlns:a16="http://schemas.microsoft.com/office/drawing/2014/main" id="{00521FFC-AE89-4B9C-B9B4-A46AAD9671F3}"/>
                  </a:ext>
                </a:extLst>
              </p:cNvPr>
              <p:cNvCxnSpPr>
                <a:cxnSpLocks/>
              </p:cNvCxnSpPr>
              <p:nvPr/>
            </p:nvCxnSpPr>
            <p:spPr bwMode="auto">
              <a:xfrm>
                <a:off x="5543026" y="3646488"/>
                <a:ext cx="2478161" cy="0"/>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53" name="直接箭头连接符 152">
                <a:extLst>
                  <a:ext uri="{FF2B5EF4-FFF2-40B4-BE49-F238E27FC236}">
                    <a16:creationId xmlns:a16="http://schemas.microsoft.com/office/drawing/2014/main" id="{57799B3C-8D2F-4895-B5A6-35F9A0C09C8B}"/>
                  </a:ext>
                </a:extLst>
              </p:cNvPr>
              <p:cNvCxnSpPr>
                <a:cxnSpLocks/>
              </p:cNvCxnSpPr>
              <p:nvPr/>
            </p:nvCxnSpPr>
            <p:spPr bwMode="auto">
              <a:xfrm>
                <a:off x="5555726" y="3200488"/>
                <a:ext cx="0" cy="446000"/>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59" name="直接箭头连接符 158">
                <a:extLst>
                  <a:ext uri="{FF2B5EF4-FFF2-40B4-BE49-F238E27FC236}">
                    <a16:creationId xmlns:a16="http://schemas.microsoft.com/office/drawing/2014/main" id="{0E45383D-BE01-4AA5-AAE3-3A23B151A64F}"/>
                  </a:ext>
                </a:extLst>
              </p:cNvPr>
              <p:cNvCxnSpPr>
                <a:cxnSpLocks/>
              </p:cNvCxnSpPr>
              <p:nvPr/>
            </p:nvCxnSpPr>
            <p:spPr bwMode="auto">
              <a:xfrm>
                <a:off x="6432052" y="2421178"/>
                <a:ext cx="1595485"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cxnSp>
            <p:nvCxnSpPr>
              <p:cNvPr id="160" name="直接箭头连接符 159">
                <a:extLst>
                  <a:ext uri="{FF2B5EF4-FFF2-40B4-BE49-F238E27FC236}">
                    <a16:creationId xmlns:a16="http://schemas.microsoft.com/office/drawing/2014/main" id="{D5B41C59-6E6F-43BE-B40C-F525F84DE0C9}"/>
                  </a:ext>
                </a:extLst>
              </p:cNvPr>
              <p:cNvCxnSpPr>
                <a:cxnSpLocks/>
              </p:cNvCxnSpPr>
              <p:nvPr/>
            </p:nvCxnSpPr>
            <p:spPr bwMode="auto">
              <a:xfrm>
                <a:off x="6432052" y="3100495"/>
                <a:ext cx="752497"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sp>
            <p:nvSpPr>
              <p:cNvPr id="161" name="TextBox 58">
                <a:extLst>
                  <a:ext uri="{FF2B5EF4-FFF2-40B4-BE49-F238E27FC236}">
                    <a16:creationId xmlns:a16="http://schemas.microsoft.com/office/drawing/2014/main" id="{AE2FBDB8-363E-4D52-A781-BBEDDF17618A}"/>
                  </a:ext>
                </a:extLst>
              </p:cNvPr>
              <p:cNvSpPr txBox="1">
                <a:spLocks noChangeArrowheads="1"/>
              </p:cNvSpPr>
              <p:nvPr/>
            </p:nvSpPr>
            <p:spPr bwMode="auto">
              <a:xfrm>
                <a:off x="5217578" y="2035002"/>
                <a:ext cx="362138"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cs typeface="Times New Roman" panose="02020603050405020304" pitchFamily="18" charset="0"/>
                  </a:rPr>
                  <a:t>in</a:t>
                </a:r>
                <a:endParaRPr lang="zh-CN" altLang="en-US" sz="2400" b="0">
                  <a:cs typeface="Times New Roman" panose="02020603050405020304" pitchFamily="18" charset="0"/>
                </a:endParaRPr>
              </a:p>
            </p:txBody>
          </p:sp>
          <p:sp>
            <p:nvSpPr>
              <p:cNvPr id="162" name="TextBox 60">
                <a:extLst>
                  <a:ext uri="{FF2B5EF4-FFF2-40B4-BE49-F238E27FC236}">
                    <a16:creationId xmlns:a16="http://schemas.microsoft.com/office/drawing/2014/main" id="{766D70D9-CDC9-4D51-A4F1-07A5D3EE2FCA}"/>
                  </a:ext>
                </a:extLst>
              </p:cNvPr>
              <p:cNvSpPr txBox="1">
                <a:spLocks noChangeArrowheads="1"/>
              </p:cNvSpPr>
              <p:nvPr/>
            </p:nvSpPr>
            <p:spPr bwMode="auto">
              <a:xfrm>
                <a:off x="7546523" y="2035192"/>
                <a:ext cx="493701"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out</a:t>
                </a:r>
                <a:endParaRPr lang="zh-CN" altLang="en-US" sz="2400" b="0" dirty="0">
                  <a:cs typeface="Times New Roman" panose="02020603050405020304" pitchFamily="18" charset="0"/>
                </a:endParaRPr>
              </a:p>
            </p:txBody>
          </p:sp>
          <p:sp>
            <p:nvSpPr>
              <p:cNvPr id="163" name="TextBox 61">
                <a:extLst>
                  <a:ext uri="{FF2B5EF4-FFF2-40B4-BE49-F238E27FC236}">
                    <a16:creationId xmlns:a16="http://schemas.microsoft.com/office/drawing/2014/main" id="{4CA724BB-93BE-4A72-AA83-6772AD430155}"/>
                  </a:ext>
                </a:extLst>
              </p:cNvPr>
              <p:cNvSpPr txBox="1">
                <a:spLocks noChangeArrowheads="1"/>
              </p:cNvSpPr>
              <p:nvPr/>
            </p:nvSpPr>
            <p:spPr bwMode="auto">
              <a:xfrm>
                <a:off x="7794947" y="2732615"/>
                <a:ext cx="377057"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cs</a:t>
                </a:r>
                <a:endParaRPr lang="zh-CN" altLang="en-US" sz="2400" b="0" dirty="0">
                  <a:cs typeface="Times New Roman" panose="02020603050405020304" pitchFamily="18" charset="0"/>
                </a:endParaRPr>
              </a:p>
            </p:txBody>
          </p:sp>
          <p:sp>
            <p:nvSpPr>
              <p:cNvPr id="164" name="TextBox 62">
                <a:extLst>
                  <a:ext uri="{FF2B5EF4-FFF2-40B4-BE49-F238E27FC236}">
                    <a16:creationId xmlns:a16="http://schemas.microsoft.com/office/drawing/2014/main" id="{003F58D7-FDEC-49E1-B7E2-C825C28D5A18}"/>
                  </a:ext>
                </a:extLst>
              </p:cNvPr>
              <p:cNvSpPr txBox="1">
                <a:spLocks noChangeArrowheads="1"/>
              </p:cNvSpPr>
              <p:nvPr/>
            </p:nvSpPr>
            <p:spPr bwMode="auto">
              <a:xfrm>
                <a:off x="6564060" y="2732615"/>
                <a:ext cx="391977"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ns</a:t>
                </a:r>
                <a:endParaRPr lang="zh-CN" altLang="en-US" sz="2400" b="0" dirty="0">
                  <a:cs typeface="Times New Roman" panose="02020603050405020304" pitchFamily="18" charset="0"/>
                </a:endParaRPr>
              </a:p>
            </p:txBody>
          </p:sp>
          <p:cxnSp>
            <p:nvCxnSpPr>
              <p:cNvPr id="165" name="直接箭头连接符 164">
                <a:extLst>
                  <a:ext uri="{FF2B5EF4-FFF2-40B4-BE49-F238E27FC236}">
                    <a16:creationId xmlns:a16="http://schemas.microsoft.com/office/drawing/2014/main" id="{1EB60AF6-593D-498C-B1DE-68D842F3931A}"/>
                  </a:ext>
                </a:extLst>
              </p:cNvPr>
              <p:cNvCxnSpPr>
                <a:cxnSpLocks/>
              </p:cNvCxnSpPr>
              <p:nvPr/>
            </p:nvCxnSpPr>
            <p:spPr bwMode="auto">
              <a:xfrm>
                <a:off x="5292193" y="2413243"/>
                <a:ext cx="647719"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grpSp>
        <p:sp>
          <p:nvSpPr>
            <p:cNvPr id="166" name="矩形: 圆角 165">
              <a:extLst>
                <a:ext uri="{FF2B5EF4-FFF2-40B4-BE49-F238E27FC236}">
                  <a16:creationId xmlns:a16="http://schemas.microsoft.com/office/drawing/2014/main" id="{9D2582C1-03FB-46B2-ACFA-4E2F3E1C5677}"/>
                </a:ext>
              </a:extLst>
            </p:cNvPr>
            <p:cNvSpPr/>
            <p:nvPr/>
          </p:nvSpPr>
          <p:spPr bwMode="auto">
            <a:xfrm>
              <a:off x="5900722" y="1455414"/>
              <a:ext cx="874712" cy="1663213"/>
            </a:xfrm>
            <a:prstGeom prst="roundRect">
              <a:avLst/>
            </a:prstGeom>
            <a:noFill/>
            <a:ln w="28575">
              <a:solidFill>
                <a:srgbClr val="CC33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7" name="矩形: 圆角 166">
              <a:extLst>
                <a:ext uri="{FF2B5EF4-FFF2-40B4-BE49-F238E27FC236}">
                  <a16:creationId xmlns:a16="http://schemas.microsoft.com/office/drawing/2014/main" id="{4576ED84-0655-45AA-A2D6-FF13629F1235}"/>
                </a:ext>
              </a:extLst>
            </p:cNvPr>
            <p:cNvSpPr/>
            <p:nvPr/>
          </p:nvSpPr>
          <p:spPr bwMode="auto">
            <a:xfrm>
              <a:off x="7186597" y="2076420"/>
              <a:ext cx="796925" cy="1042207"/>
            </a:xfrm>
            <a:prstGeom prst="round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10" name="组合 9">
            <a:extLst>
              <a:ext uri="{FF2B5EF4-FFF2-40B4-BE49-F238E27FC236}">
                <a16:creationId xmlns:a16="http://schemas.microsoft.com/office/drawing/2014/main" id="{45E54E48-A0D8-4346-B35C-1818913CCBFA}"/>
              </a:ext>
            </a:extLst>
          </p:cNvPr>
          <p:cNvGrpSpPr/>
          <p:nvPr/>
        </p:nvGrpSpPr>
        <p:grpSpPr>
          <a:xfrm>
            <a:off x="5332339" y="3668144"/>
            <a:ext cx="3056085" cy="2641176"/>
            <a:chOff x="5394309" y="3991955"/>
            <a:chExt cx="3056085" cy="2207639"/>
          </a:xfrm>
        </p:grpSpPr>
        <p:sp>
          <p:nvSpPr>
            <p:cNvPr id="176" name="TextBox 34">
              <a:extLst>
                <a:ext uri="{FF2B5EF4-FFF2-40B4-BE49-F238E27FC236}">
                  <a16:creationId xmlns:a16="http://schemas.microsoft.com/office/drawing/2014/main" id="{5CFE88EC-32A1-4E14-8C0E-ED856CA22860}"/>
                </a:ext>
              </a:extLst>
            </p:cNvPr>
            <p:cNvSpPr txBox="1"/>
            <p:nvPr/>
          </p:nvSpPr>
          <p:spPr bwMode="auto">
            <a:xfrm>
              <a:off x="7432330" y="5247729"/>
              <a:ext cx="466725" cy="687388"/>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itchFamily="18" charset="0"/>
                  <a:ea typeface="宋体"/>
                  <a:cs typeface="Times New Roman" pitchFamily="18" charset="0"/>
                </a:rPr>
                <a:t>SR</a:t>
              </a:r>
              <a:endParaRPr kumimoji="0" lang="zh-CN" altLang="en-US" sz="2000" b="0" i="0" u="none" strike="noStrike" kern="1200" cap="none" spc="0" normalizeH="0" baseline="0" noProof="0" dirty="0">
                <a:ln>
                  <a:noFill/>
                </a:ln>
                <a:solidFill>
                  <a:srgbClr val="000000"/>
                </a:solidFill>
                <a:effectLst/>
                <a:uLnTx/>
                <a:uFillTx/>
                <a:latin typeface="Times New Roman" pitchFamily="18" charset="0"/>
                <a:ea typeface="宋体"/>
                <a:cs typeface="Times New Roman" pitchFamily="18" charset="0"/>
              </a:endParaRPr>
            </a:p>
          </p:txBody>
        </p:sp>
        <p:sp>
          <p:nvSpPr>
            <p:cNvPr id="183" name="TextBox 35">
              <a:extLst>
                <a:ext uri="{FF2B5EF4-FFF2-40B4-BE49-F238E27FC236}">
                  <a16:creationId xmlns:a16="http://schemas.microsoft.com/office/drawing/2014/main" id="{A4C0F34E-C4A0-49C2-8879-3507D9D5B379}"/>
                </a:ext>
              </a:extLst>
            </p:cNvPr>
            <p:cNvSpPr txBox="1">
              <a:spLocks noChangeArrowheads="1"/>
            </p:cNvSpPr>
            <p:nvPr/>
          </p:nvSpPr>
          <p:spPr bwMode="auto">
            <a:xfrm>
              <a:off x="7495655" y="5755486"/>
              <a:ext cx="420437" cy="19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&lt;</a:t>
              </a:r>
              <a:endPar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4" name="TextBox 36">
              <a:extLst>
                <a:ext uri="{FF2B5EF4-FFF2-40B4-BE49-F238E27FC236}">
                  <a16:creationId xmlns:a16="http://schemas.microsoft.com/office/drawing/2014/main" id="{0FF0AD8B-46F6-422F-9CBD-01418988FF95}"/>
                </a:ext>
              </a:extLst>
            </p:cNvPr>
            <p:cNvSpPr txBox="1"/>
            <p:nvPr/>
          </p:nvSpPr>
          <p:spPr bwMode="auto">
            <a:xfrm>
              <a:off x="6159155" y="5244554"/>
              <a:ext cx="520700" cy="690563"/>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err="1">
                  <a:ln>
                    <a:noFill/>
                  </a:ln>
                  <a:solidFill>
                    <a:srgbClr val="000000"/>
                  </a:solidFill>
                  <a:effectLst/>
                  <a:uLnTx/>
                  <a:uFillTx/>
                  <a:latin typeface="Times New Roman" pitchFamily="18" charset="0"/>
                  <a:ea typeface="宋体"/>
                  <a:cs typeface="Times New Roman" pitchFamily="18" charset="0"/>
                </a:rPr>
                <a:t>CL</a:t>
              </a:r>
              <a:r>
                <a:rPr kumimoji="0" lang="en-US" altLang="zh-CN" sz="2000" b="0" i="0" u="none" strike="noStrike" kern="1200" cap="none" spc="0" normalizeH="0" baseline="0" noProof="0" dirty="0" err="1">
                  <a:ln>
                    <a:noFill/>
                  </a:ln>
                  <a:solidFill>
                    <a:srgbClr val="000000"/>
                  </a:solidFill>
                  <a:effectLst/>
                  <a:uLnTx/>
                  <a:uFillTx/>
                  <a:latin typeface="Times New Roman" pitchFamily="18" charset="0"/>
                  <a:ea typeface="宋体"/>
                  <a:cs typeface="Times New Roman" pitchFamily="18" charset="0"/>
                </a:rPr>
                <a:t>n</a:t>
              </a:r>
              <a:endParaRPr kumimoji="0" lang="en-US" altLang="zh-CN" sz="2000" b="0" i="0" u="none" strike="noStrike" kern="1200" cap="none" spc="0" normalizeH="0" baseline="0" noProof="0" dirty="0">
                <a:ln>
                  <a:noFill/>
                </a:ln>
                <a:solidFill>
                  <a:srgbClr val="000000"/>
                </a:solidFill>
                <a:effectLst/>
                <a:uLnTx/>
                <a:uFillTx/>
                <a:latin typeface="Times New Roman" pitchFamily="18" charset="0"/>
                <a:ea typeface="宋体"/>
                <a:cs typeface="Times New Roman" pitchFamily="18" charset="0"/>
              </a:endParaRPr>
            </a:p>
          </p:txBody>
        </p:sp>
        <p:cxnSp>
          <p:nvCxnSpPr>
            <p:cNvPr id="185" name="直接箭头连接符 184">
              <a:extLst>
                <a:ext uri="{FF2B5EF4-FFF2-40B4-BE49-F238E27FC236}">
                  <a16:creationId xmlns:a16="http://schemas.microsoft.com/office/drawing/2014/main" id="{1F5C33EE-1CF0-4C1A-A943-3A002F35E04A}"/>
                </a:ext>
              </a:extLst>
            </p:cNvPr>
            <p:cNvCxnSpPr>
              <a:cxnSpLocks/>
            </p:cNvCxnSpPr>
            <p:nvPr/>
          </p:nvCxnSpPr>
          <p:spPr bwMode="auto">
            <a:xfrm>
              <a:off x="5803555" y="5719217"/>
              <a:ext cx="368300" cy="1587"/>
            </a:xfrm>
            <a:prstGeom prst="straightConnector1">
              <a:avLst/>
            </a:prstGeom>
            <a:ln w="19050">
              <a:solidFill>
                <a:schemeClr val="tx1"/>
              </a:solidFill>
              <a:headEnd type="oval"/>
              <a:tailEnd type="triangle" w="med" len="lg"/>
            </a:ln>
          </p:spPr>
          <p:style>
            <a:lnRef idx="1">
              <a:schemeClr val="dk1"/>
            </a:lnRef>
            <a:fillRef idx="0">
              <a:schemeClr val="dk1"/>
            </a:fillRef>
            <a:effectRef idx="0">
              <a:schemeClr val="dk1"/>
            </a:effectRef>
            <a:fontRef idx="minor">
              <a:schemeClr val="tx1"/>
            </a:fontRef>
          </p:style>
        </p:cxnSp>
        <p:cxnSp>
          <p:nvCxnSpPr>
            <p:cNvPr id="186" name="直接箭头连接符 185">
              <a:extLst>
                <a:ext uri="{FF2B5EF4-FFF2-40B4-BE49-F238E27FC236}">
                  <a16:creationId xmlns:a16="http://schemas.microsoft.com/office/drawing/2014/main" id="{92847869-2A91-4F65-9E10-CCC1ACF7B8D4}"/>
                </a:ext>
              </a:extLst>
            </p:cNvPr>
            <p:cNvCxnSpPr/>
            <p:nvPr/>
          </p:nvCxnSpPr>
          <p:spPr bwMode="auto">
            <a:xfrm>
              <a:off x="7899055" y="5620792"/>
              <a:ext cx="369887" cy="3175"/>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87" name="直接箭头连接符 186">
              <a:extLst>
                <a:ext uri="{FF2B5EF4-FFF2-40B4-BE49-F238E27FC236}">
                  <a16:creationId xmlns:a16="http://schemas.microsoft.com/office/drawing/2014/main" id="{88F15F46-046C-43BD-AAE7-1700B2489630}"/>
                </a:ext>
              </a:extLst>
            </p:cNvPr>
            <p:cNvCxnSpPr>
              <a:cxnSpLocks/>
            </p:cNvCxnSpPr>
            <p:nvPr/>
          </p:nvCxnSpPr>
          <p:spPr bwMode="auto">
            <a:xfrm>
              <a:off x="8273705" y="5619204"/>
              <a:ext cx="0" cy="580390"/>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88" name="直接箭头连接符 187">
              <a:extLst>
                <a:ext uri="{FF2B5EF4-FFF2-40B4-BE49-F238E27FC236}">
                  <a16:creationId xmlns:a16="http://schemas.microsoft.com/office/drawing/2014/main" id="{40867BAE-E90E-4A1D-B105-7D24C4745F4F}"/>
                </a:ext>
              </a:extLst>
            </p:cNvPr>
            <p:cNvCxnSpPr>
              <a:cxnSpLocks/>
            </p:cNvCxnSpPr>
            <p:nvPr/>
          </p:nvCxnSpPr>
          <p:spPr bwMode="auto">
            <a:xfrm>
              <a:off x="5803555" y="6199594"/>
              <a:ext cx="2470150" cy="0"/>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89" name="直接箭头连接符 188">
              <a:extLst>
                <a:ext uri="{FF2B5EF4-FFF2-40B4-BE49-F238E27FC236}">
                  <a16:creationId xmlns:a16="http://schemas.microsoft.com/office/drawing/2014/main" id="{E9535184-4230-4CFC-8B9D-12DDFAE4ADCF}"/>
                </a:ext>
              </a:extLst>
            </p:cNvPr>
            <p:cNvCxnSpPr>
              <a:cxnSpLocks/>
            </p:cNvCxnSpPr>
            <p:nvPr/>
          </p:nvCxnSpPr>
          <p:spPr bwMode="auto">
            <a:xfrm>
              <a:off x="5803555" y="4722205"/>
              <a:ext cx="0" cy="1477389"/>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190" name="直接箭头连接符 189">
              <a:extLst>
                <a:ext uri="{FF2B5EF4-FFF2-40B4-BE49-F238E27FC236}">
                  <a16:creationId xmlns:a16="http://schemas.microsoft.com/office/drawing/2014/main" id="{C8FD1C9B-688F-47CE-8109-91CE97CB04B4}"/>
                </a:ext>
              </a:extLst>
            </p:cNvPr>
            <p:cNvCxnSpPr>
              <a:cxnSpLocks/>
            </p:cNvCxnSpPr>
            <p:nvPr/>
          </p:nvCxnSpPr>
          <p:spPr bwMode="auto">
            <a:xfrm>
              <a:off x="6679855" y="4558692"/>
              <a:ext cx="1595437"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cxnSp>
          <p:nvCxnSpPr>
            <p:cNvPr id="191" name="直接箭头连接符 190">
              <a:extLst>
                <a:ext uri="{FF2B5EF4-FFF2-40B4-BE49-F238E27FC236}">
                  <a16:creationId xmlns:a16="http://schemas.microsoft.com/office/drawing/2014/main" id="{89A51EC0-C9C0-4E08-B0D4-E41BBEBB3034}"/>
                </a:ext>
              </a:extLst>
            </p:cNvPr>
            <p:cNvCxnSpPr>
              <a:cxnSpLocks/>
            </p:cNvCxnSpPr>
            <p:nvPr/>
          </p:nvCxnSpPr>
          <p:spPr bwMode="auto">
            <a:xfrm>
              <a:off x="6679855" y="5619204"/>
              <a:ext cx="752475"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sp>
          <p:nvSpPr>
            <p:cNvPr id="192" name="TextBox 58">
              <a:extLst>
                <a:ext uri="{FF2B5EF4-FFF2-40B4-BE49-F238E27FC236}">
                  <a16:creationId xmlns:a16="http://schemas.microsoft.com/office/drawing/2014/main" id="{6ECABFB3-62A4-4A04-B878-EEEE02C8AD87}"/>
                </a:ext>
              </a:extLst>
            </p:cNvPr>
            <p:cNvSpPr txBox="1">
              <a:spLocks noChangeArrowheads="1"/>
            </p:cNvSpPr>
            <p:nvPr/>
          </p:nvSpPr>
          <p:spPr bwMode="auto">
            <a:xfrm>
              <a:off x="5465417" y="3991955"/>
              <a:ext cx="362118" cy="374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in</a:t>
              </a: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3" name="TextBox 60">
              <a:extLst>
                <a:ext uri="{FF2B5EF4-FFF2-40B4-BE49-F238E27FC236}">
                  <a16:creationId xmlns:a16="http://schemas.microsoft.com/office/drawing/2014/main" id="{2F9AA742-0F7C-4765-9614-C86CA7790A4B}"/>
                </a:ext>
              </a:extLst>
            </p:cNvPr>
            <p:cNvSpPr txBox="1">
              <a:spLocks noChangeArrowheads="1"/>
            </p:cNvSpPr>
            <p:nvPr/>
          </p:nvSpPr>
          <p:spPr bwMode="auto">
            <a:xfrm>
              <a:off x="7825438" y="4100005"/>
              <a:ext cx="493674" cy="374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out</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4" name="TextBox 61">
              <a:extLst>
                <a:ext uri="{FF2B5EF4-FFF2-40B4-BE49-F238E27FC236}">
                  <a16:creationId xmlns:a16="http://schemas.microsoft.com/office/drawing/2014/main" id="{4D1F5B60-2941-41C2-AC4B-2CE07F1F4A19}"/>
                </a:ext>
              </a:extLst>
            </p:cNvPr>
            <p:cNvSpPr txBox="1">
              <a:spLocks noChangeArrowheads="1"/>
            </p:cNvSpPr>
            <p:nvPr/>
          </p:nvSpPr>
          <p:spPr bwMode="auto">
            <a:xfrm>
              <a:off x="8073358" y="5179094"/>
              <a:ext cx="377036" cy="374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cs</a:t>
              </a: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5" name="TextBox 62">
              <a:extLst>
                <a:ext uri="{FF2B5EF4-FFF2-40B4-BE49-F238E27FC236}">
                  <a16:creationId xmlns:a16="http://schemas.microsoft.com/office/drawing/2014/main" id="{9828A37B-F626-4FEF-9808-EC866B9F40E7}"/>
                </a:ext>
              </a:extLst>
            </p:cNvPr>
            <p:cNvSpPr txBox="1">
              <a:spLocks noChangeArrowheads="1"/>
            </p:cNvSpPr>
            <p:nvPr/>
          </p:nvSpPr>
          <p:spPr bwMode="auto">
            <a:xfrm>
              <a:off x="6839659" y="5179094"/>
              <a:ext cx="391956" cy="374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ns</a:t>
              </a: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96" name="直接箭头连接符 195">
              <a:extLst>
                <a:ext uri="{FF2B5EF4-FFF2-40B4-BE49-F238E27FC236}">
                  <a16:creationId xmlns:a16="http://schemas.microsoft.com/office/drawing/2014/main" id="{06351276-94A7-4D8E-8060-91B2736548DD}"/>
                </a:ext>
              </a:extLst>
            </p:cNvPr>
            <p:cNvCxnSpPr>
              <a:cxnSpLocks/>
            </p:cNvCxnSpPr>
            <p:nvPr/>
          </p:nvCxnSpPr>
          <p:spPr bwMode="auto">
            <a:xfrm>
              <a:off x="5394309" y="4460267"/>
              <a:ext cx="793421"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sp>
          <p:nvSpPr>
            <p:cNvPr id="197" name="TextBox 36">
              <a:extLst>
                <a:ext uri="{FF2B5EF4-FFF2-40B4-BE49-F238E27FC236}">
                  <a16:creationId xmlns:a16="http://schemas.microsoft.com/office/drawing/2014/main" id="{0C21AF20-A6F5-4016-B319-2B20E9AE457B}"/>
                </a:ext>
              </a:extLst>
            </p:cNvPr>
            <p:cNvSpPr txBox="1"/>
            <p:nvPr/>
          </p:nvSpPr>
          <p:spPr bwMode="auto">
            <a:xfrm>
              <a:off x="6170267" y="4223730"/>
              <a:ext cx="520700" cy="690562"/>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err="1">
                  <a:ln>
                    <a:noFill/>
                  </a:ln>
                  <a:solidFill>
                    <a:srgbClr val="000000"/>
                  </a:solidFill>
                  <a:effectLst/>
                  <a:uLnTx/>
                  <a:uFillTx/>
                  <a:latin typeface="Times New Roman" pitchFamily="18" charset="0"/>
                  <a:ea typeface="宋体"/>
                  <a:cs typeface="Times New Roman" pitchFamily="18" charset="0"/>
                </a:rPr>
                <a:t>CL</a:t>
              </a:r>
              <a:r>
                <a:rPr kumimoji="0" lang="en-US" altLang="zh-CN" sz="2000" b="0" i="0" u="none" strike="noStrike" kern="1200" cap="none" spc="0" normalizeH="0" baseline="0" noProof="0" dirty="0" err="1">
                  <a:ln>
                    <a:noFill/>
                  </a:ln>
                  <a:solidFill>
                    <a:srgbClr val="000000"/>
                  </a:solidFill>
                  <a:effectLst/>
                  <a:uLnTx/>
                  <a:uFillTx/>
                  <a:latin typeface="Times New Roman" pitchFamily="18" charset="0"/>
                  <a:ea typeface="宋体"/>
                  <a:cs typeface="Times New Roman" pitchFamily="18" charset="0"/>
                </a:rPr>
                <a:t>o</a:t>
              </a:r>
              <a:endParaRPr kumimoji="0" lang="en-US" altLang="zh-CN" sz="2000" b="0" i="0" u="none" strike="noStrike" kern="1200" cap="none" spc="0" normalizeH="0" baseline="0" noProof="0" dirty="0">
                <a:ln>
                  <a:noFill/>
                </a:ln>
                <a:solidFill>
                  <a:srgbClr val="000000"/>
                </a:solidFill>
                <a:effectLst/>
                <a:uLnTx/>
                <a:uFillTx/>
                <a:latin typeface="Times New Roman" pitchFamily="18" charset="0"/>
                <a:ea typeface="宋体"/>
                <a:cs typeface="Times New Roman" pitchFamily="18" charset="0"/>
              </a:endParaRPr>
            </a:p>
          </p:txBody>
        </p:sp>
        <p:cxnSp>
          <p:nvCxnSpPr>
            <p:cNvPr id="198" name="直接箭头连接符 197">
              <a:extLst>
                <a:ext uri="{FF2B5EF4-FFF2-40B4-BE49-F238E27FC236}">
                  <a16:creationId xmlns:a16="http://schemas.microsoft.com/office/drawing/2014/main" id="{40A90F2E-C495-4386-8564-164E5E0B0B9D}"/>
                </a:ext>
              </a:extLst>
            </p:cNvPr>
            <p:cNvCxnSpPr>
              <a:cxnSpLocks/>
            </p:cNvCxnSpPr>
            <p:nvPr/>
          </p:nvCxnSpPr>
          <p:spPr bwMode="auto">
            <a:xfrm>
              <a:off x="5798792" y="4722205"/>
              <a:ext cx="368300" cy="1587"/>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cxnSp>
          <p:nvCxnSpPr>
            <p:cNvPr id="199" name="直接箭头连接符 198">
              <a:extLst>
                <a:ext uri="{FF2B5EF4-FFF2-40B4-BE49-F238E27FC236}">
                  <a16:creationId xmlns:a16="http://schemas.microsoft.com/office/drawing/2014/main" id="{924DC6A8-982E-4AC2-89E2-4247F3059E09}"/>
                </a:ext>
              </a:extLst>
            </p:cNvPr>
            <p:cNvCxnSpPr>
              <a:cxnSpLocks/>
            </p:cNvCxnSpPr>
            <p:nvPr/>
          </p:nvCxnSpPr>
          <p:spPr bwMode="auto">
            <a:xfrm>
              <a:off x="5690842" y="5449342"/>
              <a:ext cx="468313"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cxnSp>
          <p:nvCxnSpPr>
            <p:cNvPr id="200" name="直接箭头连接符 199">
              <a:extLst>
                <a:ext uri="{FF2B5EF4-FFF2-40B4-BE49-F238E27FC236}">
                  <a16:creationId xmlns:a16="http://schemas.microsoft.com/office/drawing/2014/main" id="{0B808137-9481-45C8-9CF7-B52BAB8A8248}"/>
                </a:ext>
              </a:extLst>
            </p:cNvPr>
            <p:cNvCxnSpPr>
              <a:cxnSpLocks/>
            </p:cNvCxnSpPr>
            <p:nvPr/>
          </p:nvCxnSpPr>
          <p:spPr bwMode="auto">
            <a:xfrm>
              <a:off x="5690842" y="4460267"/>
              <a:ext cx="0" cy="989075"/>
            </a:xfrm>
            <a:prstGeom prst="straightConnector1">
              <a:avLst/>
            </a:prstGeom>
            <a:ln w="19050">
              <a:solidFill>
                <a:schemeClr val="tx1"/>
              </a:solidFill>
              <a:headEnd type="oval"/>
              <a:tailEnd type="none" w="med" len="lg"/>
            </a:ln>
          </p:spPr>
          <p:style>
            <a:lnRef idx="1">
              <a:schemeClr val="dk1"/>
            </a:lnRef>
            <a:fillRef idx="0">
              <a:schemeClr val="dk1"/>
            </a:fillRef>
            <a:effectRef idx="0">
              <a:schemeClr val="dk1"/>
            </a:effectRef>
            <a:fontRef idx="minor">
              <a:schemeClr val="tx1"/>
            </a:fontRef>
          </p:style>
        </p:cxnSp>
        <p:sp>
          <p:nvSpPr>
            <p:cNvPr id="201" name="矩形: 圆角 200">
              <a:extLst>
                <a:ext uri="{FF2B5EF4-FFF2-40B4-BE49-F238E27FC236}">
                  <a16:creationId xmlns:a16="http://schemas.microsoft.com/office/drawing/2014/main" id="{8E6A8BA9-13C2-4316-B9CE-912C4665E2A2}"/>
                </a:ext>
              </a:extLst>
            </p:cNvPr>
            <p:cNvSpPr/>
            <p:nvPr/>
          </p:nvSpPr>
          <p:spPr bwMode="auto">
            <a:xfrm>
              <a:off x="5987849" y="4076092"/>
              <a:ext cx="851808" cy="916532"/>
            </a:xfrm>
            <a:prstGeom prst="roundRect">
              <a:avLst/>
            </a:prstGeom>
            <a:noFill/>
            <a:ln w="28575">
              <a:solidFill>
                <a:srgbClr val="CC33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宋体"/>
                <a:cs typeface="+mn-cs"/>
              </a:endParaRPr>
            </a:p>
          </p:txBody>
        </p:sp>
        <p:sp>
          <p:nvSpPr>
            <p:cNvPr id="202" name="矩形: 圆角 201">
              <a:extLst>
                <a:ext uri="{FF2B5EF4-FFF2-40B4-BE49-F238E27FC236}">
                  <a16:creationId xmlns:a16="http://schemas.microsoft.com/office/drawing/2014/main" id="{59325438-1C67-4FB5-8E2B-554D0B5D6140}"/>
                </a:ext>
              </a:extLst>
            </p:cNvPr>
            <p:cNvSpPr/>
            <p:nvPr/>
          </p:nvSpPr>
          <p:spPr bwMode="auto">
            <a:xfrm>
              <a:off x="7248567" y="5171529"/>
              <a:ext cx="771138" cy="892175"/>
            </a:xfrm>
            <a:prstGeom prst="round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宋体"/>
                <a:cs typeface="+mn-cs"/>
              </a:endParaRPr>
            </a:p>
          </p:txBody>
        </p:sp>
        <p:sp>
          <p:nvSpPr>
            <p:cNvPr id="203" name="矩形: 圆角 202">
              <a:extLst>
                <a:ext uri="{FF2B5EF4-FFF2-40B4-BE49-F238E27FC236}">
                  <a16:creationId xmlns:a16="http://schemas.microsoft.com/office/drawing/2014/main" id="{AE08F9DF-9DBC-4FAD-A481-A0C4940B76A7}"/>
                </a:ext>
              </a:extLst>
            </p:cNvPr>
            <p:cNvSpPr/>
            <p:nvPr/>
          </p:nvSpPr>
          <p:spPr bwMode="auto">
            <a:xfrm>
              <a:off x="5997231" y="5171529"/>
              <a:ext cx="825392" cy="892175"/>
            </a:xfrm>
            <a:prstGeom prst="roundRect">
              <a:avLst/>
            </a:prstGeom>
            <a:noFill/>
            <a:ln w="28575">
              <a:solidFill>
                <a:srgbClr val="9900FF"/>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宋体"/>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1">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animBg="1"/>
      <p:bldP spid="82" grpId="0"/>
      <p:bldP spid="13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27499F1D-B051-4CC4-BF69-B95BDF4C14E8}"/>
              </a:ext>
            </a:extLst>
          </p:cNvPr>
          <p:cNvSpPr>
            <a:spLocks noGrp="1" noChangeArrowheads="1"/>
          </p:cNvSpPr>
          <p:nvPr>
            <p:ph type="title" idx="4294967295"/>
          </p:nvPr>
        </p:nvSpPr>
        <p:spPr/>
        <p:txBody>
          <a:bodyPr/>
          <a:lstStyle/>
          <a:p>
            <a:r>
              <a:rPr lang="zh-CN" altLang="en-US" dirty="0">
                <a:cs typeface="Times New Roman" panose="02020603050405020304" pitchFamily="18" charset="0"/>
              </a:rPr>
              <a:t>一段式</a:t>
            </a:r>
            <a:r>
              <a:rPr lang="en-US" altLang="zh-CN" dirty="0">
                <a:cs typeface="Times New Roman" panose="02020603050405020304" pitchFamily="18" charset="0"/>
              </a:rPr>
              <a:t>FSM</a:t>
            </a:r>
            <a:endParaRPr lang="zh-CN" altLang="en-US" dirty="0">
              <a:cs typeface="Times New Roman" panose="02020603050405020304" pitchFamily="18" charset="0"/>
            </a:endParaRPr>
          </a:p>
        </p:txBody>
      </p:sp>
      <p:sp>
        <p:nvSpPr>
          <p:cNvPr id="25603" name="Rectangle 3">
            <a:extLst>
              <a:ext uri="{FF2B5EF4-FFF2-40B4-BE49-F238E27FC236}">
                <a16:creationId xmlns:a16="http://schemas.microsoft.com/office/drawing/2014/main" id="{24330E56-9689-418F-BCFC-83B56C36BB07}"/>
              </a:ext>
            </a:extLst>
          </p:cNvPr>
          <p:cNvSpPr>
            <a:spLocks noGrp="1" noChangeArrowheads="1"/>
          </p:cNvSpPr>
          <p:nvPr>
            <p:ph type="body" idx="1"/>
          </p:nvPr>
        </p:nvSpPr>
        <p:spPr>
          <a:xfrm>
            <a:off x="457199" y="1304764"/>
            <a:ext cx="5158917" cy="594170"/>
          </a:xfrm>
        </p:spPr>
        <p:txBody>
          <a:bodyPr/>
          <a:lstStyle/>
          <a:p>
            <a:pPr>
              <a:spcAft>
                <a:spcPts val="600"/>
              </a:spcAft>
            </a:pPr>
            <a:r>
              <a:rPr lang="zh-CN" altLang="en-US" sz="2400" dirty="0"/>
              <a:t>一个时序</a:t>
            </a:r>
            <a:r>
              <a:rPr lang="zh-CN" altLang="en-US" sz="2400"/>
              <a:t>过程描述</a:t>
            </a:r>
            <a:r>
              <a:rPr lang="en-US" altLang="zh-CN" sz="2400"/>
              <a:t>cs</a:t>
            </a:r>
            <a:r>
              <a:rPr lang="zh-CN" altLang="en-US" sz="2400"/>
              <a:t>和</a:t>
            </a:r>
            <a:r>
              <a:rPr lang="en-US" altLang="zh-CN" sz="2400"/>
              <a:t>out</a:t>
            </a:r>
            <a:endParaRPr lang="en-US" altLang="zh-CN" sz="2400" dirty="0">
              <a:solidFill>
                <a:srgbClr val="FF0000"/>
              </a:solidFill>
            </a:endParaRPr>
          </a:p>
        </p:txBody>
      </p:sp>
      <p:sp>
        <p:nvSpPr>
          <p:cNvPr id="81" name="Rectangle 3">
            <a:extLst>
              <a:ext uri="{FF2B5EF4-FFF2-40B4-BE49-F238E27FC236}">
                <a16:creationId xmlns:a16="http://schemas.microsoft.com/office/drawing/2014/main" id="{90A18F2C-2022-48C2-AA7D-268D00EEF959}"/>
              </a:ext>
            </a:extLst>
          </p:cNvPr>
          <p:cNvSpPr txBox="1">
            <a:spLocks noChangeArrowheads="1"/>
          </p:cNvSpPr>
          <p:nvPr/>
        </p:nvSpPr>
        <p:spPr bwMode="auto">
          <a:xfrm>
            <a:off x="835024" y="1808820"/>
            <a:ext cx="4908551" cy="44901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chor="ctr" anchorCtr="0"/>
          <a:lstStyle>
            <a:lvl1pPr marL="342900" indent="-342900" algn="l" rtl="0" eaLnBrk="0" fontAlgn="base" hangingPunct="0">
              <a:spcBef>
                <a:spcPct val="0"/>
              </a:spcBef>
              <a:spcAft>
                <a:spcPct val="20000"/>
              </a:spcAft>
              <a:buChar char="•"/>
              <a:defRPr sz="2800" b="1">
                <a:solidFill>
                  <a:schemeClr val="tx1"/>
                </a:solidFill>
                <a:latin typeface="Times New Roman" pitchFamily="18" charset="0"/>
                <a:ea typeface="+mn-ea"/>
                <a:cs typeface="+mn-cs"/>
              </a:defRPr>
            </a:lvl1pPr>
            <a:lvl2pPr marL="742950" indent="-285750" algn="l" rtl="0" eaLnBrk="0" fontAlgn="base" hangingPunct="0">
              <a:spcBef>
                <a:spcPct val="0"/>
              </a:spcBef>
              <a:spcAft>
                <a:spcPct val="20000"/>
              </a:spcAft>
              <a:buChar char="–"/>
              <a:defRPr sz="2400">
                <a:solidFill>
                  <a:schemeClr val="tx1"/>
                </a:solidFill>
                <a:latin typeface="Times New Roman" pitchFamily="18" charset="0"/>
                <a:ea typeface="+mn-ea"/>
              </a:defRPr>
            </a:lvl2pPr>
            <a:lvl3pPr marL="1143000" indent="-228600" algn="l" rtl="0" eaLnBrk="0" fontAlgn="base" hangingPunct="0">
              <a:spcBef>
                <a:spcPct val="0"/>
              </a:spcBef>
              <a:spcAft>
                <a:spcPct val="20000"/>
              </a:spcAft>
              <a:buChar char="•"/>
              <a:defRPr sz="2000">
                <a:solidFill>
                  <a:schemeClr val="tx1"/>
                </a:solidFill>
                <a:latin typeface="Times New Roman" pitchFamily="18" charset="0"/>
                <a:ea typeface="+mn-ea"/>
              </a:defRPr>
            </a:lvl3pPr>
            <a:lvl4pPr marL="1600200" indent="-228600" algn="l" rtl="0" eaLnBrk="0" fontAlgn="base" hangingPunct="0">
              <a:spcBef>
                <a:spcPct val="0"/>
              </a:spcBef>
              <a:spcAft>
                <a:spcPct val="20000"/>
              </a:spcAft>
              <a:buChar char="–"/>
              <a:defRPr sz="2000">
                <a:solidFill>
                  <a:schemeClr val="tx1"/>
                </a:solidFill>
                <a:latin typeface="Times New Roman" pitchFamily="18" charset="0"/>
                <a:ea typeface="+mn-ea"/>
              </a:defRPr>
            </a:lvl4pPr>
            <a:lvl5pPr marL="2057400" indent="-228600" algn="l" rtl="0" eaLnBrk="0" fontAlgn="base" hangingPunct="0">
              <a:spcBef>
                <a:spcPct val="0"/>
              </a:spcBef>
              <a:spcAft>
                <a:spcPct val="20000"/>
              </a:spcAft>
              <a:buChar char="»"/>
              <a:defRPr sz="2000">
                <a:solidFill>
                  <a:schemeClr val="tx1"/>
                </a:solidFill>
                <a:latin typeface="Times New Roman" pitchFamily="18" charset="0"/>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spcBef>
                <a:spcPts val="0"/>
              </a:spcBef>
              <a:spcAft>
                <a:spcPts val="200"/>
              </a:spcAft>
              <a:buFontTx/>
              <a:buNone/>
              <a:defRPr/>
            </a:pPr>
            <a:r>
              <a:rPr lang="en-US" altLang="zh-CN" sz="2000" b="0" kern="0" dirty="0"/>
              <a:t>always @(</a:t>
            </a:r>
            <a:r>
              <a:rPr lang="en-US" altLang="zh-CN" sz="2000" b="0" kern="0" err="1"/>
              <a:t>posedge</a:t>
            </a:r>
            <a:r>
              <a:rPr lang="en-US" altLang="zh-CN" sz="2000" b="0" kern="0"/>
              <a:t> clk) </a:t>
            </a:r>
            <a:r>
              <a:rPr lang="en-US" altLang="zh-CN" sz="2000" b="0" kern="0" dirty="0"/>
              <a:t>begin</a:t>
            </a:r>
          </a:p>
          <a:p>
            <a:pPr>
              <a:spcBef>
                <a:spcPts val="0"/>
              </a:spcBef>
              <a:spcAft>
                <a:spcPts val="200"/>
              </a:spcAft>
              <a:buNone/>
              <a:defRPr/>
            </a:pPr>
            <a:r>
              <a:rPr lang="en-US" altLang="zh-CN" sz="2000" b="0" kern="0" dirty="0"/>
              <a:t>    </a:t>
            </a:r>
            <a:r>
              <a:rPr lang="en-US" altLang="zh-CN" sz="2000" b="0" kern="0"/>
              <a:t>if (rst)  </a:t>
            </a:r>
            <a:r>
              <a:rPr lang="en-US" altLang="zh-CN" sz="2000" b="0" kern="0" dirty="0"/>
              <a:t>begin</a:t>
            </a:r>
          </a:p>
          <a:p>
            <a:pPr>
              <a:spcBef>
                <a:spcPts val="0"/>
              </a:spcBef>
              <a:spcAft>
                <a:spcPts val="200"/>
              </a:spcAft>
              <a:buNone/>
              <a:defRPr/>
            </a:pPr>
            <a:r>
              <a:rPr lang="en-US" altLang="zh-CN" sz="2000" b="0" kern="0" dirty="0"/>
              <a:t>        cs &lt;= </a:t>
            </a:r>
            <a:r>
              <a:rPr lang="zh-CN" altLang="en-US" sz="2000" b="0" kern="0" dirty="0"/>
              <a:t>复位状态</a:t>
            </a:r>
            <a:r>
              <a:rPr lang="en-US" altLang="zh-CN" sz="2000" b="0" kern="0" dirty="0"/>
              <a:t>;</a:t>
            </a:r>
          </a:p>
          <a:p>
            <a:pPr>
              <a:spcBef>
                <a:spcPts val="0"/>
              </a:spcBef>
              <a:spcAft>
                <a:spcPts val="200"/>
              </a:spcAft>
              <a:buNone/>
              <a:defRPr/>
            </a:pPr>
            <a:r>
              <a:rPr lang="en-US" altLang="zh-CN" sz="2000" b="0" kern="0" dirty="0"/>
              <a:t>        out &lt;= </a:t>
            </a:r>
            <a:r>
              <a:rPr lang="zh-CN" altLang="en-US" sz="2000" b="0" kern="0" dirty="0"/>
              <a:t>复位值</a:t>
            </a:r>
            <a:r>
              <a:rPr lang="en-US" altLang="zh-CN" sz="2000" b="0" kern="0" dirty="0"/>
              <a:t>;</a:t>
            </a:r>
          </a:p>
          <a:p>
            <a:pPr>
              <a:spcBef>
                <a:spcPts val="0"/>
              </a:spcBef>
              <a:spcAft>
                <a:spcPts val="200"/>
              </a:spcAft>
              <a:buNone/>
              <a:defRPr/>
            </a:pPr>
            <a:r>
              <a:rPr lang="en-US" altLang="zh-CN" sz="2000" b="0" kern="0" dirty="0"/>
              <a:t>    end</a:t>
            </a:r>
          </a:p>
          <a:p>
            <a:pPr>
              <a:spcBef>
                <a:spcPts val="0"/>
              </a:spcBef>
              <a:spcAft>
                <a:spcPts val="200"/>
              </a:spcAft>
              <a:buNone/>
              <a:defRPr/>
            </a:pPr>
            <a:r>
              <a:rPr lang="en-US" altLang="zh-CN" sz="2000" b="0" kern="0" dirty="0"/>
              <a:t>    else begin</a:t>
            </a:r>
          </a:p>
          <a:p>
            <a:pPr indent="-74613">
              <a:spcBef>
                <a:spcPts val="0"/>
              </a:spcBef>
              <a:spcAft>
                <a:spcPts val="200"/>
              </a:spcAft>
              <a:buFontTx/>
              <a:buNone/>
              <a:defRPr/>
            </a:pPr>
            <a:r>
              <a:rPr lang="en-US" altLang="zh-CN" sz="2000" b="0" kern="0" dirty="0"/>
              <a:t>    case (cs)</a:t>
            </a:r>
          </a:p>
          <a:p>
            <a:pPr indent="-74613">
              <a:spcBef>
                <a:spcPts val="0"/>
              </a:spcBef>
              <a:spcAft>
                <a:spcPts val="200"/>
              </a:spcAft>
              <a:buFontTx/>
              <a:buNone/>
              <a:defRPr/>
            </a:pPr>
            <a:r>
              <a:rPr lang="en-US" altLang="zh-CN" sz="2000" b="0" kern="0" dirty="0"/>
              <a:t>        S0: begin</a:t>
            </a:r>
          </a:p>
          <a:p>
            <a:pPr indent="-74613">
              <a:spcBef>
                <a:spcPts val="0"/>
              </a:spcBef>
              <a:spcAft>
                <a:spcPts val="200"/>
              </a:spcAft>
              <a:buFontTx/>
              <a:buNone/>
              <a:defRPr/>
            </a:pPr>
            <a:r>
              <a:rPr lang="en-US" altLang="zh-CN" sz="2000" b="0" kern="0" dirty="0"/>
              <a:t>            if (in</a:t>
            </a:r>
            <a:r>
              <a:rPr lang="zh-CN" altLang="en-US" sz="2000" b="0" kern="0" dirty="0"/>
              <a:t>条件</a:t>
            </a:r>
            <a:r>
              <a:rPr lang="en-US" altLang="zh-CN" sz="2000" b="0" kern="0" dirty="0"/>
              <a:t>) begin</a:t>
            </a:r>
          </a:p>
          <a:p>
            <a:pPr indent="-74613">
              <a:spcBef>
                <a:spcPts val="0"/>
              </a:spcBef>
              <a:spcAft>
                <a:spcPts val="200"/>
              </a:spcAft>
              <a:buFontTx/>
              <a:buNone/>
              <a:defRPr/>
            </a:pPr>
            <a:r>
              <a:rPr lang="en-US" altLang="zh-CN" sz="2000" b="0" kern="0" dirty="0"/>
              <a:t>                cs &lt;= Si;</a:t>
            </a:r>
          </a:p>
          <a:p>
            <a:pPr indent="-74613">
              <a:spcBef>
                <a:spcPts val="0"/>
              </a:spcBef>
              <a:spcAft>
                <a:spcPts val="200"/>
              </a:spcAft>
              <a:buFontTx/>
              <a:buNone/>
              <a:defRPr/>
            </a:pPr>
            <a:r>
              <a:rPr lang="en-US" altLang="zh-CN" sz="2000" b="0" kern="0" dirty="0"/>
              <a:t>                out &lt;= </a:t>
            </a:r>
            <a:r>
              <a:rPr lang="zh-CN" altLang="en-US" sz="2000" b="0" kern="0" dirty="0"/>
              <a:t>表达式</a:t>
            </a:r>
            <a:endParaRPr lang="en-US" altLang="zh-CN" sz="2000" b="0" kern="0" dirty="0"/>
          </a:p>
          <a:p>
            <a:pPr indent="-74613">
              <a:spcBef>
                <a:spcPts val="0"/>
              </a:spcBef>
              <a:spcAft>
                <a:spcPts val="0"/>
              </a:spcAft>
              <a:buFontTx/>
              <a:buNone/>
              <a:defRPr/>
            </a:pPr>
            <a:r>
              <a:rPr lang="en-US" altLang="zh-CN" sz="2000" b="0" kern="0" dirty="0"/>
              <a:t>            end</a:t>
            </a:r>
          </a:p>
          <a:p>
            <a:pPr indent="-74613">
              <a:spcBef>
                <a:spcPts val="0"/>
              </a:spcBef>
              <a:spcAft>
                <a:spcPts val="200"/>
              </a:spcAft>
              <a:buFontTx/>
              <a:buNone/>
              <a:defRPr/>
            </a:pPr>
            <a:r>
              <a:rPr lang="en-US" altLang="zh-CN" sz="2000" b="0" kern="0" dirty="0"/>
              <a:t>    ……</a:t>
            </a:r>
          </a:p>
          <a:p>
            <a:pPr>
              <a:spcBef>
                <a:spcPts val="0"/>
              </a:spcBef>
              <a:spcAft>
                <a:spcPts val="200"/>
              </a:spcAft>
              <a:buFontTx/>
              <a:buNone/>
              <a:defRPr/>
            </a:pPr>
            <a:r>
              <a:rPr lang="en-US" altLang="zh-CN" sz="2000" b="0" kern="0" dirty="0"/>
              <a:t>end</a:t>
            </a:r>
          </a:p>
        </p:txBody>
      </p:sp>
      <p:grpSp>
        <p:nvGrpSpPr>
          <p:cNvPr id="25608" name="组合 52">
            <a:extLst>
              <a:ext uri="{FF2B5EF4-FFF2-40B4-BE49-F238E27FC236}">
                <a16:creationId xmlns:a16="http://schemas.microsoft.com/office/drawing/2014/main" id="{0CEBBDD9-0F5E-40C8-A1D2-15DEDF5F9478}"/>
              </a:ext>
            </a:extLst>
          </p:cNvPr>
          <p:cNvGrpSpPr>
            <a:grpSpLocks/>
          </p:cNvGrpSpPr>
          <p:nvPr/>
        </p:nvGrpSpPr>
        <p:grpSpPr bwMode="auto">
          <a:xfrm>
            <a:off x="5364163" y="2240868"/>
            <a:ext cx="3017837" cy="1762098"/>
            <a:chOff x="5217578" y="1638788"/>
            <a:chExt cx="3018050" cy="2007700"/>
          </a:xfrm>
        </p:grpSpPr>
        <p:sp>
          <p:nvSpPr>
            <p:cNvPr id="55" name="TextBox 34">
              <a:extLst>
                <a:ext uri="{FF2B5EF4-FFF2-40B4-BE49-F238E27FC236}">
                  <a16:creationId xmlns:a16="http://schemas.microsoft.com/office/drawing/2014/main" id="{412097B6-391F-4F1A-89B1-07829E8978E2}"/>
                </a:ext>
              </a:extLst>
            </p:cNvPr>
            <p:cNvSpPr txBox="1"/>
            <p:nvPr/>
          </p:nvSpPr>
          <p:spPr bwMode="auto">
            <a:xfrm>
              <a:off x="7184629" y="2730385"/>
              <a:ext cx="466758" cy="685816"/>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eaLnBrk="1" hangingPunct="1">
                <a:defRPr/>
              </a:pPr>
              <a:r>
                <a:rPr lang="en-US" altLang="zh-CN" sz="2000" dirty="0">
                  <a:latin typeface="Times New Roman" pitchFamily="18" charset="0"/>
                  <a:cs typeface="Times New Roman" pitchFamily="18" charset="0"/>
                </a:rPr>
                <a:t>SR</a:t>
              </a:r>
              <a:endParaRPr lang="zh-CN" altLang="en-US" sz="2000" dirty="0">
                <a:latin typeface="Times New Roman" pitchFamily="18" charset="0"/>
                <a:cs typeface="Times New Roman" pitchFamily="18" charset="0"/>
              </a:endParaRPr>
            </a:p>
          </p:txBody>
        </p:sp>
        <p:sp>
          <p:nvSpPr>
            <p:cNvPr id="25632" name="TextBox 35">
              <a:extLst>
                <a:ext uri="{FF2B5EF4-FFF2-40B4-BE49-F238E27FC236}">
                  <a16:creationId xmlns:a16="http://schemas.microsoft.com/office/drawing/2014/main" id="{D553E41E-9734-4DED-B287-7AB656DE84A5}"/>
                </a:ext>
              </a:extLst>
            </p:cNvPr>
            <p:cNvSpPr txBox="1">
              <a:spLocks noChangeArrowheads="1"/>
            </p:cNvSpPr>
            <p:nvPr/>
          </p:nvSpPr>
          <p:spPr bwMode="auto">
            <a:xfrm>
              <a:off x="7243268" y="3226202"/>
              <a:ext cx="420460" cy="191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dirty="0">
                  <a:cs typeface="Times New Roman" panose="02020603050405020304" pitchFamily="18" charset="0"/>
                </a:rPr>
                <a:t>&lt;</a:t>
              </a:r>
              <a:endParaRPr lang="zh-CN" altLang="en-US" sz="2000" b="0" dirty="0">
                <a:cs typeface="Times New Roman" panose="02020603050405020304" pitchFamily="18" charset="0"/>
              </a:endParaRPr>
            </a:p>
          </p:txBody>
        </p:sp>
        <p:sp>
          <p:nvSpPr>
            <p:cNvPr id="60" name="TextBox 36">
              <a:extLst>
                <a:ext uri="{FF2B5EF4-FFF2-40B4-BE49-F238E27FC236}">
                  <a16:creationId xmlns:a16="http://schemas.microsoft.com/office/drawing/2014/main" id="{3736BC48-CD22-44EE-B0DA-1973472E0BEA}"/>
                </a:ext>
              </a:extLst>
            </p:cNvPr>
            <p:cNvSpPr txBox="1"/>
            <p:nvPr/>
          </p:nvSpPr>
          <p:spPr bwMode="auto">
            <a:xfrm>
              <a:off x="5911364" y="1814284"/>
              <a:ext cx="520737" cy="1601918"/>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algn="ctr" eaLnBrk="1" hangingPunct="1">
                <a:defRPr/>
              </a:pPr>
              <a:r>
                <a:rPr lang="en-US" altLang="zh-CN" sz="2000" dirty="0">
                  <a:latin typeface="Times New Roman" pitchFamily="18" charset="0"/>
                  <a:cs typeface="Times New Roman" pitchFamily="18" charset="0"/>
                </a:rPr>
                <a:t>CL</a:t>
              </a:r>
              <a:endParaRPr lang="en-US" altLang="zh-CN" sz="2400" dirty="0">
                <a:latin typeface="Times New Roman" pitchFamily="18" charset="0"/>
                <a:cs typeface="Times New Roman" pitchFamily="18" charset="0"/>
              </a:endParaRPr>
            </a:p>
          </p:txBody>
        </p:sp>
        <p:cxnSp>
          <p:nvCxnSpPr>
            <p:cNvPr id="62" name="直接箭头连接符 61">
              <a:extLst>
                <a:ext uri="{FF2B5EF4-FFF2-40B4-BE49-F238E27FC236}">
                  <a16:creationId xmlns:a16="http://schemas.microsoft.com/office/drawing/2014/main" id="{BFCBD785-B7FB-42AF-AAF3-B83D5F10E879}"/>
                </a:ext>
              </a:extLst>
            </p:cNvPr>
            <p:cNvCxnSpPr>
              <a:cxnSpLocks/>
            </p:cNvCxnSpPr>
            <p:nvPr/>
          </p:nvCxnSpPr>
          <p:spPr bwMode="auto">
            <a:xfrm>
              <a:off x="5555739" y="3116997"/>
              <a:ext cx="368326" cy="1681"/>
            </a:xfrm>
            <a:prstGeom prst="straightConnector1">
              <a:avLst/>
            </a:prstGeom>
            <a:ln w="19050">
              <a:solidFill>
                <a:schemeClr val="tx1"/>
              </a:solidFill>
              <a:headEnd type="none"/>
              <a:tailEnd type="triangle" w="med" len="lg"/>
            </a:ln>
          </p:spPr>
          <p:style>
            <a:lnRef idx="1">
              <a:schemeClr val="dk1"/>
            </a:lnRef>
            <a:fillRef idx="0">
              <a:schemeClr val="dk1"/>
            </a:fillRef>
            <a:effectRef idx="0">
              <a:schemeClr val="dk1"/>
            </a:effectRef>
            <a:fontRef idx="minor">
              <a:schemeClr val="tx1"/>
            </a:fontRef>
          </p:style>
        </p:cxnSp>
        <p:cxnSp>
          <p:nvCxnSpPr>
            <p:cNvPr id="70" name="直接箭头连接符 69">
              <a:extLst>
                <a:ext uri="{FF2B5EF4-FFF2-40B4-BE49-F238E27FC236}">
                  <a16:creationId xmlns:a16="http://schemas.microsoft.com/office/drawing/2014/main" id="{FEF5D9BD-830A-413F-9142-37D04EF4D1E9}"/>
                </a:ext>
              </a:extLst>
            </p:cNvPr>
            <p:cNvCxnSpPr/>
            <p:nvPr/>
          </p:nvCxnSpPr>
          <p:spPr bwMode="auto">
            <a:xfrm>
              <a:off x="7651387" y="3101869"/>
              <a:ext cx="369914" cy="3362"/>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E4A687E7-922C-4E12-82E5-6E7B33CF907A}"/>
                </a:ext>
              </a:extLst>
            </p:cNvPr>
            <p:cNvCxnSpPr>
              <a:cxnSpLocks/>
            </p:cNvCxnSpPr>
            <p:nvPr/>
          </p:nvCxnSpPr>
          <p:spPr bwMode="auto">
            <a:xfrm>
              <a:off x="8026063" y="3100188"/>
              <a:ext cx="0" cy="546300"/>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2E49AA2E-DA50-4306-BC95-B381EB8D2616}"/>
                </a:ext>
              </a:extLst>
            </p:cNvPr>
            <p:cNvCxnSpPr>
              <a:cxnSpLocks/>
            </p:cNvCxnSpPr>
            <p:nvPr/>
          </p:nvCxnSpPr>
          <p:spPr bwMode="auto">
            <a:xfrm>
              <a:off x="5543038" y="3646488"/>
              <a:ext cx="2478263" cy="0"/>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73" name="直接箭头连接符 72">
              <a:extLst>
                <a:ext uri="{FF2B5EF4-FFF2-40B4-BE49-F238E27FC236}">
                  <a16:creationId xmlns:a16="http://schemas.microsoft.com/office/drawing/2014/main" id="{B14385DE-9634-4477-8069-8078BF724FCF}"/>
                </a:ext>
              </a:extLst>
            </p:cNvPr>
            <p:cNvCxnSpPr>
              <a:cxnSpLocks/>
            </p:cNvCxnSpPr>
            <p:nvPr/>
          </p:nvCxnSpPr>
          <p:spPr bwMode="auto">
            <a:xfrm>
              <a:off x="5555739" y="3116997"/>
              <a:ext cx="0" cy="529491"/>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76" name="直接箭头连接符 75">
              <a:extLst>
                <a:ext uri="{FF2B5EF4-FFF2-40B4-BE49-F238E27FC236}">
                  <a16:creationId xmlns:a16="http://schemas.microsoft.com/office/drawing/2014/main" id="{093B29DB-3FF4-4C13-818D-A4B654F4096C}"/>
                </a:ext>
              </a:extLst>
            </p:cNvPr>
            <p:cNvCxnSpPr>
              <a:cxnSpLocks/>
            </p:cNvCxnSpPr>
            <p:nvPr/>
          </p:nvCxnSpPr>
          <p:spPr bwMode="auto">
            <a:xfrm>
              <a:off x="6432101" y="2148787"/>
              <a:ext cx="1730497"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cxnSp>
          <p:nvCxnSpPr>
            <p:cNvPr id="77" name="直接箭头连接符 76">
              <a:extLst>
                <a:ext uri="{FF2B5EF4-FFF2-40B4-BE49-F238E27FC236}">
                  <a16:creationId xmlns:a16="http://schemas.microsoft.com/office/drawing/2014/main" id="{C320CF66-1765-466C-B09D-C85F932A846C}"/>
                </a:ext>
              </a:extLst>
            </p:cNvPr>
            <p:cNvCxnSpPr>
              <a:cxnSpLocks/>
            </p:cNvCxnSpPr>
            <p:nvPr/>
          </p:nvCxnSpPr>
          <p:spPr bwMode="auto">
            <a:xfrm>
              <a:off x="6432101" y="3100188"/>
              <a:ext cx="752528"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sp>
          <p:nvSpPr>
            <p:cNvPr id="25641" name="TextBox 58">
              <a:extLst>
                <a:ext uri="{FF2B5EF4-FFF2-40B4-BE49-F238E27FC236}">
                  <a16:creationId xmlns:a16="http://schemas.microsoft.com/office/drawing/2014/main" id="{0044377D-466F-4C6F-9A11-4AD09D11E3B8}"/>
                </a:ext>
              </a:extLst>
            </p:cNvPr>
            <p:cNvSpPr txBox="1">
              <a:spLocks noChangeArrowheads="1"/>
            </p:cNvSpPr>
            <p:nvPr/>
          </p:nvSpPr>
          <p:spPr bwMode="auto">
            <a:xfrm>
              <a:off x="5217578" y="1638788"/>
              <a:ext cx="362138"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in</a:t>
              </a:r>
              <a:endParaRPr lang="zh-CN" altLang="en-US" sz="2400" b="0" dirty="0">
                <a:cs typeface="Times New Roman" panose="02020603050405020304" pitchFamily="18" charset="0"/>
              </a:endParaRPr>
            </a:p>
          </p:txBody>
        </p:sp>
        <p:sp>
          <p:nvSpPr>
            <p:cNvPr id="25642" name="TextBox 60">
              <a:extLst>
                <a:ext uri="{FF2B5EF4-FFF2-40B4-BE49-F238E27FC236}">
                  <a16:creationId xmlns:a16="http://schemas.microsoft.com/office/drawing/2014/main" id="{3EC89A0F-953D-4182-BAC8-4AE7EC590325}"/>
                </a:ext>
              </a:extLst>
            </p:cNvPr>
            <p:cNvSpPr txBox="1">
              <a:spLocks noChangeArrowheads="1"/>
            </p:cNvSpPr>
            <p:nvPr/>
          </p:nvSpPr>
          <p:spPr bwMode="auto">
            <a:xfrm>
              <a:off x="7741927" y="1638788"/>
              <a:ext cx="493701"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out</a:t>
              </a:r>
              <a:endParaRPr lang="zh-CN" altLang="en-US" sz="2400" b="0" dirty="0">
                <a:cs typeface="Times New Roman" panose="02020603050405020304" pitchFamily="18" charset="0"/>
              </a:endParaRPr>
            </a:p>
          </p:txBody>
        </p:sp>
        <p:sp>
          <p:nvSpPr>
            <p:cNvPr id="25643" name="TextBox 61">
              <a:extLst>
                <a:ext uri="{FF2B5EF4-FFF2-40B4-BE49-F238E27FC236}">
                  <a16:creationId xmlns:a16="http://schemas.microsoft.com/office/drawing/2014/main" id="{DAFC5023-3AC6-4EAA-86D3-8146D7195C32}"/>
                </a:ext>
              </a:extLst>
            </p:cNvPr>
            <p:cNvSpPr txBox="1">
              <a:spLocks noChangeArrowheads="1"/>
            </p:cNvSpPr>
            <p:nvPr/>
          </p:nvSpPr>
          <p:spPr bwMode="auto">
            <a:xfrm>
              <a:off x="7747392" y="2609528"/>
              <a:ext cx="377057"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cs</a:t>
              </a:r>
              <a:endParaRPr lang="zh-CN" altLang="en-US" sz="2400" b="0" dirty="0">
                <a:cs typeface="Times New Roman" panose="02020603050405020304" pitchFamily="18" charset="0"/>
              </a:endParaRPr>
            </a:p>
          </p:txBody>
        </p:sp>
        <p:sp>
          <p:nvSpPr>
            <p:cNvPr id="25644" name="TextBox 62">
              <a:extLst>
                <a:ext uri="{FF2B5EF4-FFF2-40B4-BE49-F238E27FC236}">
                  <a16:creationId xmlns:a16="http://schemas.microsoft.com/office/drawing/2014/main" id="{DF1BF002-FAC8-401C-8723-0667C616A8FE}"/>
                </a:ext>
              </a:extLst>
            </p:cNvPr>
            <p:cNvSpPr txBox="1">
              <a:spLocks noChangeArrowheads="1"/>
            </p:cNvSpPr>
            <p:nvPr/>
          </p:nvSpPr>
          <p:spPr bwMode="auto">
            <a:xfrm>
              <a:off x="6577705" y="2572204"/>
              <a:ext cx="391977"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ns</a:t>
              </a:r>
              <a:endParaRPr lang="zh-CN" altLang="en-US" sz="2400" b="0" dirty="0">
                <a:cs typeface="Times New Roman" panose="02020603050405020304" pitchFamily="18" charset="0"/>
              </a:endParaRPr>
            </a:p>
          </p:txBody>
        </p:sp>
        <p:cxnSp>
          <p:nvCxnSpPr>
            <p:cNvPr id="84" name="直接箭头连接符 83">
              <a:extLst>
                <a:ext uri="{FF2B5EF4-FFF2-40B4-BE49-F238E27FC236}">
                  <a16:creationId xmlns:a16="http://schemas.microsoft.com/office/drawing/2014/main" id="{8320B8B4-EC62-4A97-A8DD-90E3D4EC7315}"/>
                </a:ext>
              </a:extLst>
            </p:cNvPr>
            <p:cNvCxnSpPr>
              <a:cxnSpLocks/>
            </p:cNvCxnSpPr>
            <p:nvPr/>
          </p:nvCxnSpPr>
          <p:spPr bwMode="auto">
            <a:xfrm>
              <a:off x="5292195" y="2147106"/>
              <a:ext cx="647746"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grpSp>
      <p:sp>
        <p:nvSpPr>
          <p:cNvPr id="87" name="矩形: 圆角 86">
            <a:extLst>
              <a:ext uri="{FF2B5EF4-FFF2-40B4-BE49-F238E27FC236}">
                <a16:creationId xmlns:a16="http://schemas.microsoft.com/office/drawing/2014/main" id="{EF30EB28-2434-4D7C-9A08-CA82E29BC5C9}"/>
              </a:ext>
            </a:extLst>
          </p:cNvPr>
          <p:cNvSpPr/>
          <p:nvPr/>
        </p:nvSpPr>
        <p:spPr bwMode="auto">
          <a:xfrm>
            <a:off x="5876925" y="2286396"/>
            <a:ext cx="2054225" cy="1627403"/>
          </a:xfrm>
          <a:prstGeom prst="roundRect">
            <a:avLst/>
          </a:prstGeom>
          <a:noFill/>
          <a:ln w="19050">
            <a:solidFill>
              <a:srgbClr val="0000FF"/>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4586" name="组合 21">
            <a:extLst>
              <a:ext uri="{FF2B5EF4-FFF2-40B4-BE49-F238E27FC236}">
                <a16:creationId xmlns:a16="http://schemas.microsoft.com/office/drawing/2014/main" id="{3D567B22-53CA-4C21-AEA6-9BDE0F6997D1}"/>
              </a:ext>
            </a:extLst>
          </p:cNvPr>
          <p:cNvGrpSpPr>
            <a:grpSpLocks/>
          </p:cNvGrpSpPr>
          <p:nvPr/>
        </p:nvGrpSpPr>
        <p:grpSpPr bwMode="auto">
          <a:xfrm>
            <a:off x="5400675" y="4653135"/>
            <a:ext cx="3017838" cy="1548636"/>
            <a:chOff x="5400463" y="4345686"/>
            <a:chExt cx="3018050" cy="1927630"/>
          </a:xfrm>
        </p:grpSpPr>
        <p:sp>
          <p:nvSpPr>
            <p:cNvPr id="91" name="TextBox 34">
              <a:extLst>
                <a:ext uri="{FF2B5EF4-FFF2-40B4-BE49-F238E27FC236}">
                  <a16:creationId xmlns:a16="http://schemas.microsoft.com/office/drawing/2014/main" id="{A875439F-62CF-428E-85F1-B3792FFDEAD1}"/>
                </a:ext>
              </a:extLst>
            </p:cNvPr>
            <p:cNvSpPr txBox="1"/>
            <p:nvPr/>
          </p:nvSpPr>
          <p:spPr bwMode="auto">
            <a:xfrm>
              <a:off x="7367514" y="5415988"/>
              <a:ext cx="466758" cy="686526"/>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eaLnBrk="1" hangingPunct="1">
                <a:defRPr/>
              </a:pPr>
              <a:r>
                <a:rPr lang="en-US" altLang="zh-CN" sz="2000" dirty="0">
                  <a:latin typeface="Times New Roman" pitchFamily="18" charset="0"/>
                  <a:cs typeface="Times New Roman" pitchFamily="18" charset="0"/>
                </a:rPr>
                <a:t>SR</a:t>
              </a:r>
              <a:endParaRPr lang="zh-CN" altLang="en-US" sz="2000" dirty="0">
                <a:latin typeface="Times New Roman" pitchFamily="18" charset="0"/>
                <a:cs typeface="Times New Roman" pitchFamily="18" charset="0"/>
              </a:endParaRPr>
            </a:p>
          </p:txBody>
        </p:sp>
        <p:sp>
          <p:nvSpPr>
            <p:cNvPr id="25614" name="TextBox 35">
              <a:extLst>
                <a:ext uri="{FF2B5EF4-FFF2-40B4-BE49-F238E27FC236}">
                  <a16:creationId xmlns:a16="http://schemas.microsoft.com/office/drawing/2014/main" id="{01B429D5-7FB9-4385-B525-DF5814262D40}"/>
                </a:ext>
              </a:extLst>
            </p:cNvPr>
            <p:cNvSpPr txBox="1">
              <a:spLocks noChangeArrowheads="1"/>
            </p:cNvSpPr>
            <p:nvPr/>
          </p:nvSpPr>
          <p:spPr bwMode="auto">
            <a:xfrm>
              <a:off x="7430812" y="5887332"/>
              <a:ext cx="420460" cy="191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dirty="0">
                  <a:cs typeface="Times New Roman" panose="02020603050405020304" pitchFamily="18" charset="0"/>
                </a:rPr>
                <a:t>&lt;</a:t>
              </a:r>
              <a:endParaRPr lang="zh-CN" altLang="en-US" sz="2000" b="0" dirty="0">
                <a:cs typeface="Times New Roman" panose="02020603050405020304" pitchFamily="18" charset="0"/>
              </a:endParaRPr>
            </a:p>
          </p:txBody>
        </p:sp>
        <p:sp>
          <p:nvSpPr>
            <p:cNvPr id="93" name="TextBox 36">
              <a:extLst>
                <a:ext uri="{FF2B5EF4-FFF2-40B4-BE49-F238E27FC236}">
                  <a16:creationId xmlns:a16="http://schemas.microsoft.com/office/drawing/2014/main" id="{55C924FC-9993-4AF0-817E-62CD328DCDB7}"/>
                </a:ext>
              </a:extLst>
            </p:cNvPr>
            <p:cNvSpPr txBox="1"/>
            <p:nvPr/>
          </p:nvSpPr>
          <p:spPr bwMode="auto">
            <a:xfrm>
              <a:off x="6094250" y="4566951"/>
              <a:ext cx="520737" cy="1535563"/>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algn="ctr" eaLnBrk="1" hangingPunct="1">
                <a:defRPr/>
              </a:pPr>
              <a:r>
                <a:rPr lang="en-US" altLang="zh-CN" sz="2000" dirty="0">
                  <a:latin typeface="Times New Roman" pitchFamily="18" charset="0"/>
                  <a:cs typeface="Times New Roman" pitchFamily="18" charset="0"/>
                </a:rPr>
                <a:t>CL</a:t>
              </a:r>
              <a:endParaRPr lang="en-US" altLang="zh-CN" sz="2400" dirty="0">
                <a:latin typeface="Times New Roman" pitchFamily="18" charset="0"/>
                <a:cs typeface="Times New Roman" pitchFamily="18" charset="0"/>
              </a:endParaRPr>
            </a:p>
          </p:txBody>
        </p:sp>
        <p:cxnSp>
          <p:nvCxnSpPr>
            <p:cNvPr id="94" name="直接箭头连接符 93">
              <a:extLst>
                <a:ext uri="{FF2B5EF4-FFF2-40B4-BE49-F238E27FC236}">
                  <a16:creationId xmlns:a16="http://schemas.microsoft.com/office/drawing/2014/main" id="{58541D38-8E31-448E-B757-AC2AC8179CB2}"/>
                </a:ext>
              </a:extLst>
            </p:cNvPr>
            <p:cNvCxnSpPr>
              <a:cxnSpLocks/>
            </p:cNvCxnSpPr>
            <p:nvPr/>
          </p:nvCxnSpPr>
          <p:spPr bwMode="auto">
            <a:xfrm>
              <a:off x="5738625" y="5804025"/>
              <a:ext cx="368326" cy="1658"/>
            </a:xfrm>
            <a:prstGeom prst="straightConnector1">
              <a:avLst/>
            </a:prstGeom>
            <a:ln w="19050">
              <a:solidFill>
                <a:schemeClr val="tx1"/>
              </a:solidFill>
              <a:headEnd type="none"/>
              <a:tailEnd type="triangle" w="med" len="lg"/>
            </a:ln>
          </p:spPr>
          <p:style>
            <a:lnRef idx="1">
              <a:schemeClr val="dk1"/>
            </a:lnRef>
            <a:fillRef idx="0">
              <a:schemeClr val="dk1"/>
            </a:fillRef>
            <a:effectRef idx="0">
              <a:schemeClr val="dk1"/>
            </a:effectRef>
            <a:fontRef idx="minor">
              <a:schemeClr val="tx1"/>
            </a:fontRef>
          </p:style>
        </p:cxnSp>
        <p:cxnSp>
          <p:nvCxnSpPr>
            <p:cNvPr id="95" name="直接箭头连接符 94">
              <a:extLst>
                <a:ext uri="{FF2B5EF4-FFF2-40B4-BE49-F238E27FC236}">
                  <a16:creationId xmlns:a16="http://schemas.microsoft.com/office/drawing/2014/main" id="{EE87A652-158D-4DF2-A748-43A9C030C3AD}"/>
                </a:ext>
              </a:extLst>
            </p:cNvPr>
            <p:cNvCxnSpPr/>
            <p:nvPr/>
          </p:nvCxnSpPr>
          <p:spPr bwMode="auto">
            <a:xfrm>
              <a:off x="7834272" y="5789100"/>
              <a:ext cx="369913" cy="1659"/>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96" name="直接箭头连接符 95">
              <a:extLst>
                <a:ext uri="{FF2B5EF4-FFF2-40B4-BE49-F238E27FC236}">
                  <a16:creationId xmlns:a16="http://schemas.microsoft.com/office/drawing/2014/main" id="{CE2F4B41-7BB4-4543-8CEE-B588BFD0E4C7}"/>
                </a:ext>
              </a:extLst>
            </p:cNvPr>
            <p:cNvCxnSpPr>
              <a:cxnSpLocks/>
            </p:cNvCxnSpPr>
            <p:nvPr/>
          </p:nvCxnSpPr>
          <p:spPr bwMode="auto">
            <a:xfrm>
              <a:off x="8208948" y="5787442"/>
              <a:ext cx="0" cy="485874"/>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97" name="直接箭头连接符 96">
              <a:extLst>
                <a:ext uri="{FF2B5EF4-FFF2-40B4-BE49-F238E27FC236}">
                  <a16:creationId xmlns:a16="http://schemas.microsoft.com/office/drawing/2014/main" id="{2506E5EE-6105-41FC-BD13-2F624ECC1D95}"/>
                </a:ext>
              </a:extLst>
            </p:cNvPr>
            <p:cNvCxnSpPr>
              <a:cxnSpLocks/>
            </p:cNvCxnSpPr>
            <p:nvPr/>
          </p:nvCxnSpPr>
          <p:spPr bwMode="auto">
            <a:xfrm>
              <a:off x="5725924" y="6273316"/>
              <a:ext cx="2478261" cy="0"/>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98" name="直接箭头连接符 97">
              <a:extLst>
                <a:ext uri="{FF2B5EF4-FFF2-40B4-BE49-F238E27FC236}">
                  <a16:creationId xmlns:a16="http://schemas.microsoft.com/office/drawing/2014/main" id="{6BCF6F18-0262-4EA4-B1F3-3CDA1E7F2EAA}"/>
                </a:ext>
              </a:extLst>
            </p:cNvPr>
            <p:cNvCxnSpPr>
              <a:cxnSpLocks/>
            </p:cNvCxnSpPr>
            <p:nvPr/>
          </p:nvCxnSpPr>
          <p:spPr bwMode="auto">
            <a:xfrm>
              <a:off x="5738625" y="5804025"/>
              <a:ext cx="0" cy="469291"/>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99" name="直接箭头连接符 98">
              <a:extLst>
                <a:ext uri="{FF2B5EF4-FFF2-40B4-BE49-F238E27FC236}">
                  <a16:creationId xmlns:a16="http://schemas.microsoft.com/office/drawing/2014/main" id="{333477CE-3BB0-4B6E-86FD-A58DC02984ED}"/>
                </a:ext>
              </a:extLst>
            </p:cNvPr>
            <p:cNvCxnSpPr>
              <a:cxnSpLocks/>
            </p:cNvCxnSpPr>
            <p:nvPr/>
          </p:nvCxnSpPr>
          <p:spPr bwMode="auto">
            <a:xfrm>
              <a:off x="6614986" y="4906897"/>
              <a:ext cx="1730497"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cxnSp>
          <p:nvCxnSpPr>
            <p:cNvPr id="100" name="直接箭头连接符 99">
              <a:extLst>
                <a:ext uri="{FF2B5EF4-FFF2-40B4-BE49-F238E27FC236}">
                  <a16:creationId xmlns:a16="http://schemas.microsoft.com/office/drawing/2014/main" id="{A0BF2FB4-0B70-4B58-BBD5-1DFC08FCDA2C}"/>
                </a:ext>
              </a:extLst>
            </p:cNvPr>
            <p:cNvCxnSpPr>
              <a:cxnSpLocks/>
            </p:cNvCxnSpPr>
            <p:nvPr/>
          </p:nvCxnSpPr>
          <p:spPr bwMode="auto">
            <a:xfrm>
              <a:off x="6614986" y="5787442"/>
              <a:ext cx="752528"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sp>
          <p:nvSpPr>
            <p:cNvPr id="25623" name="TextBox 58">
              <a:extLst>
                <a:ext uri="{FF2B5EF4-FFF2-40B4-BE49-F238E27FC236}">
                  <a16:creationId xmlns:a16="http://schemas.microsoft.com/office/drawing/2014/main" id="{F9442BA4-343E-4318-8107-AB7CEAD4B181}"/>
                </a:ext>
              </a:extLst>
            </p:cNvPr>
            <p:cNvSpPr txBox="1">
              <a:spLocks noChangeArrowheads="1"/>
            </p:cNvSpPr>
            <p:nvPr/>
          </p:nvSpPr>
          <p:spPr bwMode="auto">
            <a:xfrm>
              <a:off x="5400463" y="4345686"/>
              <a:ext cx="362138"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cs typeface="Times New Roman" panose="02020603050405020304" pitchFamily="18" charset="0"/>
                </a:rPr>
                <a:t>in</a:t>
              </a:r>
              <a:endParaRPr lang="zh-CN" altLang="en-US" sz="2400" b="0">
                <a:cs typeface="Times New Roman" panose="02020603050405020304" pitchFamily="18" charset="0"/>
              </a:endParaRPr>
            </a:p>
          </p:txBody>
        </p:sp>
        <p:sp>
          <p:nvSpPr>
            <p:cNvPr id="25624" name="TextBox 60">
              <a:extLst>
                <a:ext uri="{FF2B5EF4-FFF2-40B4-BE49-F238E27FC236}">
                  <a16:creationId xmlns:a16="http://schemas.microsoft.com/office/drawing/2014/main" id="{6288AAA6-BEF1-477C-BD5C-A4CEB18DC6DB}"/>
                </a:ext>
              </a:extLst>
            </p:cNvPr>
            <p:cNvSpPr txBox="1">
              <a:spLocks noChangeArrowheads="1"/>
            </p:cNvSpPr>
            <p:nvPr/>
          </p:nvSpPr>
          <p:spPr bwMode="auto">
            <a:xfrm>
              <a:off x="7924812" y="4356971"/>
              <a:ext cx="493701"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cs typeface="Times New Roman" panose="02020603050405020304" pitchFamily="18" charset="0"/>
                </a:rPr>
                <a:t>out</a:t>
              </a:r>
              <a:endParaRPr lang="zh-CN" altLang="en-US" sz="2400" b="0">
                <a:cs typeface="Times New Roman" panose="02020603050405020304" pitchFamily="18" charset="0"/>
              </a:endParaRPr>
            </a:p>
          </p:txBody>
        </p:sp>
        <p:sp>
          <p:nvSpPr>
            <p:cNvPr id="25625" name="TextBox 61">
              <a:extLst>
                <a:ext uri="{FF2B5EF4-FFF2-40B4-BE49-F238E27FC236}">
                  <a16:creationId xmlns:a16="http://schemas.microsoft.com/office/drawing/2014/main" id="{4391FF66-881F-4320-A77B-437AE5A5E672}"/>
                </a:ext>
              </a:extLst>
            </p:cNvPr>
            <p:cNvSpPr txBox="1">
              <a:spLocks noChangeArrowheads="1"/>
            </p:cNvSpPr>
            <p:nvPr/>
          </p:nvSpPr>
          <p:spPr bwMode="auto">
            <a:xfrm>
              <a:off x="7930277" y="5255208"/>
              <a:ext cx="377057"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cs</a:t>
              </a:r>
              <a:endParaRPr lang="zh-CN" altLang="en-US" sz="2400" b="0" dirty="0">
                <a:cs typeface="Times New Roman" panose="02020603050405020304" pitchFamily="18" charset="0"/>
              </a:endParaRPr>
            </a:p>
          </p:txBody>
        </p:sp>
        <p:cxnSp>
          <p:nvCxnSpPr>
            <p:cNvPr id="105" name="直接箭头连接符 104">
              <a:extLst>
                <a:ext uri="{FF2B5EF4-FFF2-40B4-BE49-F238E27FC236}">
                  <a16:creationId xmlns:a16="http://schemas.microsoft.com/office/drawing/2014/main" id="{6D4029EF-92A5-4175-B1C8-D290E3121FD1}"/>
                </a:ext>
              </a:extLst>
            </p:cNvPr>
            <p:cNvCxnSpPr>
              <a:cxnSpLocks/>
            </p:cNvCxnSpPr>
            <p:nvPr/>
          </p:nvCxnSpPr>
          <p:spPr bwMode="auto">
            <a:xfrm>
              <a:off x="5475081" y="4905240"/>
              <a:ext cx="647746"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sp>
          <p:nvSpPr>
            <p:cNvPr id="106" name="TextBox 34">
              <a:extLst>
                <a:ext uri="{FF2B5EF4-FFF2-40B4-BE49-F238E27FC236}">
                  <a16:creationId xmlns:a16="http://schemas.microsoft.com/office/drawing/2014/main" id="{3B122A7C-D7B1-4273-A7FB-C85C438974AF}"/>
                </a:ext>
              </a:extLst>
            </p:cNvPr>
            <p:cNvSpPr txBox="1"/>
            <p:nvPr/>
          </p:nvSpPr>
          <p:spPr bwMode="auto">
            <a:xfrm>
              <a:off x="7367514" y="4566951"/>
              <a:ext cx="466758" cy="686526"/>
            </a:xfrm>
            <a:prstGeom prst="rect">
              <a:avLst/>
            </a:prstGeom>
            <a:ln w="28575">
              <a:solidFill>
                <a:srgbClr val="C00000"/>
              </a:solidFill>
            </a:ln>
          </p:spPr>
          <p:style>
            <a:lnRef idx="2">
              <a:schemeClr val="dk1"/>
            </a:lnRef>
            <a:fillRef idx="1">
              <a:schemeClr val="lt1"/>
            </a:fillRef>
            <a:effectRef idx="0">
              <a:schemeClr val="dk1"/>
            </a:effectRef>
            <a:fontRef idx="minor">
              <a:schemeClr val="dk1"/>
            </a:fontRef>
          </p:style>
          <p:txBody>
            <a:bodyPr wrap="none" lIns="0" tIns="0" rIns="0" bIns="0" anchor="ctr" anchorCtr="1"/>
            <a:lstStyle/>
            <a:p>
              <a:pPr eaLnBrk="1" hangingPunct="1">
                <a:defRPr/>
              </a:pPr>
              <a:r>
                <a:rPr lang="en-US" altLang="zh-CN" sz="2000" dirty="0">
                  <a:latin typeface="Times New Roman" pitchFamily="18" charset="0"/>
                  <a:cs typeface="Times New Roman" pitchFamily="18" charset="0"/>
                </a:rPr>
                <a:t>OR</a:t>
              </a:r>
              <a:endParaRPr lang="zh-CN" altLang="en-US" sz="2000" dirty="0">
                <a:latin typeface="Times New Roman" pitchFamily="18" charset="0"/>
                <a:cs typeface="Times New Roman" pitchFamily="18" charset="0"/>
              </a:endParaRPr>
            </a:p>
          </p:txBody>
        </p:sp>
        <p:sp>
          <p:nvSpPr>
            <p:cNvPr id="25628" name="TextBox 35">
              <a:extLst>
                <a:ext uri="{FF2B5EF4-FFF2-40B4-BE49-F238E27FC236}">
                  <a16:creationId xmlns:a16="http://schemas.microsoft.com/office/drawing/2014/main" id="{49F8614A-3017-4CDC-94A1-67D655693D61}"/>
                </a:ext>
              </a:extLst>
            </p:cNvPr>
            <p:cNvSpPr txBox="1">
              <a:spLocks noChangeArrowheads="1"/>
            </p:cNvSpPr>
            <p:nvPr/>
          </p:nvSpPr>
          <p:spPr bwMode="auto">
            <a:xfrm>
              <a:off x="7358794" y="5017888"/>
              <a:ext cx="492478" cy="247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dirty="0">
                  <a:solidFill>
                    <a:srgbClr val="FF0000"/>
                  </a:solidFill>
                  <a:cs typeface="Times New Roman" panose="02020603050405020304" pitchFamily="18" charset="0"/>
                </a:rPr>
                <a:t>&lt;</a:t>
              </a:r>
              <a:endParaRPr lang="zh-CN" altLang="en-US" sz="2000" b="0" dirty="0">
                <a:solidFill>
                  <a:srgbClr val="FF0000"/>
                </a:solidFill>
                <a:cs typeface="Times New Roman" panose="02020603050405020304" pitchFamily="18" charset="0"/>
              </a:endParaRPr>
            </a:p>
          </p:txBody>
        </p:sp>
        <p:sp>
          <p:nvSpPr>
            <p:cNvPr id="25629" name="TextBox 58">
              <a:extLst>
                <a:ext uri="{FF2B5EF4-FFF2-40B4-BE49-F238E27FC236}">
                  <a16:creationId xmlns:a16="http://schemas.microsoft.com/office/drawing/2014/main" id="{576148AD-BB1C-4808-84C7-8A07E36AF045}"/>
                </a:ext>
              </a:extLst>
            </p:cNvPr>
            <p:cNvSpPr txBox="1">
              <a:spLocks noChangeArrowheads="1"/>
            </p:cNvSpPr>
            <p:nvPr/>
          </p:nvSpPr>
          <p:spPr bwMode="auto">
            <a:xfrm>
              <a:off x="6758816" y="5241962"/>
              <a:ext cx="4587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ns</a:t>
              </a:r>
              <a:endParaRPr lang="zh-CN" altLang="en-US" sz="2400" b="0" dirty="0">
                <a:cs typeface="Times New Roman" panose="02020603050405020304" pitchFamily="18" charset="0"/>
              </a:endParaRPr>
            </a:p>
          </p:txBody>
        </p:sp>
        <p:sp>
          <p:nvSpPr>
            <p:cNvPr id="25630" name="TextBox 58">
              <a:extLst>
                <a:ext uri="{FF2B5EF4-FFF2-40B4-BE49-F238E27FC236}">
                  <a16:creationId xmlns:a16="http://schemas.microsoft.com/office/drawing/2014/main" id="{3103BD16-9C7E-4B88-96B5-E1328096771E}"/>
                </a:ext>
              </a:extLst>
            </p:cNvPr>
            <p:cNvSpPr txBox="1">
              <a:spLocks noChangeArrowheads="1"/>
            </p:cNvSpPr>
            <p:nvPr/>
          </p:nvSpPr>
          <p:spPr bwMode="auto">
            <a:xfrm>
              <a:off x="6762900" y="4345687"/>
              <a:ext cx="492478" cy="482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no</a:t>
              </a:r>
              <a:endParaRPr lang="zh-CN" altLang="en-US" sz="2400" b="0" dirty="0">
                <a:cs typeface="Times New Roman" panose="02020603050405020304" pitchFamily="18" charset="0"/>
              </a:endParaRPr>
            </a:p>
          </p:txBody>
        </p:sp>
      </p:grpSp>
      <p:sp>
        <p:nvSpPr>
          <p:cNvPr id="21" name="箭头: 下 20">
            <a:extLst>
              <a:ext uri="{FF2B5EF4-FFF2-40B4-BE49-F238E27FC236}">
                <a16:creationId xmlns:a16="http://schemas.microsoft.com/office/drawing/2014/main" id="{2F66F319-F410-4F0A-983A-FDCF8A107676}"/>
              </a:ext>
            </a:extLst>
          </p:cNvPr>
          <p:cNvSpPr/>
          <p:nvPr/>
        </p:nvSpPr>
        <p:spPr>
          <a:xfrm>
            <a:off x="6843844" y="4247876"/>
            <a:ext cx="288925" cy="330200"/>
          </a:xfrm>
          <a:prstGeom prst="downArrow">
            <a:avLst>
              <a:gd name="adj1" fmla="val 50000"/>
              <a:gd name="adj2" fmla="val 5678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6" name="组合 45">
            <a:extLst>
              <a:ext uri="{FF2B5EF4-FFF2-40B4-BE49-F238E27FC236}">
                <a16:creationId xmlns:a16="http://schemas.microsoft.com/office/drawing/2014/main" id="{EF652A49-A6AB-4527-BF19-D9356DE5CAD5}"/>
              </a:ext>
            </a:extLst>
          </p:cNvPr>
          <p:cNvGrpSpPr/>
          <p:nvPr/>
        </p:nvGrpSpPr>
        <p:grpSpPr>
          <a:xfrm>
            <a:off x="5839573" y="2290145"/>
            <a:ext cx="2096339" cy="1620703"/>
            <a:chOff x="8042143" y="1623444"/>
            <a:chExt cx="1940818" cy="1948542"/>
          </a:xfrm>
        </p:grpSpPr>
        <p:cxnSp>
          <p:nvCxnSpPr>
            <p:cNvPr id="47" name="直接连接符 46">
              <a:extLst>
                <a:ext uri="{FF2B5EF4-FFF2-40B4-BE49-F238E27FC236}">
                  <a16:creationId xmlns:a16="http://schemas.microsoft.com/office/drawing/2014/main" id="{D33C4F06-5A88-4F9C-925A-ECC793541745}"/>
                </a:ext>
              </a:extLst>
            </p:cNvPr>
            <p:cNvCxnSpPr>
              <a:cxnSpLocks/>
            </p:cNvCxnSpPr>
            <p:nvPr/>
          </p:nvCxnSpPr>
          <p:spPr>
            <a:xfrm>
              <a:off x="8042143" y="1635343"/>
              <a:ext cx="1940818" cy="193664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87AADDF1-0492-4712-BE79-7DE218BB367C}"/>
                </a:ext>
              </a:extLst>
            </p:cNvPr>
            <p:cNvCxnSpPr>
              <a:cxnSpLocks/>
            </p:cNvCxnSpPr>
            <p:nvPr/>
          </p:nvCxnSpPr>
          <p:spPr>
            <a:xfrm flipH="1">
              <a:off x="8042143" y="1623444"/>
              <a:ext cx="1940818" cy="194854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 name="矩形 2">
            <a:extLst>
              <a:ext uri="{FF2B5EF4-FFF2-40B4-BE49-F238E27FC236}">
                <a16:creationId xmlns:a16="http://schemas.microsoft.com/office/drawing/2014/main" id="{83A6C3F0-2EE2-400E-B761-70B74E30E3DE}"/>
              </a:ext>
            </a:extLst>
          </p:cNvPr>
          <p:cNvSpPr/>
          <p:nvPr/>
        </p:nvSpPr>
        <p:spPr>
          <a:xfrm>
            <a:off x="5953416" y="1523978"/>
            <a:ext cx="2040943" cy="461665"/>
          </a:xfrm>
          <a:prstGeom prst="rect">
            <a:avLst/>
          </a:prstGeom>
        </p:spPr>
        <p:txBody>
          <a:bodyPr wrap="none">
            <a:spAutoFit/>
          </a:bodyPr>
          <a:lstStyle/>
          <a:p>
            <a:r>
              <a:rPr lang="zh-CN" altLang="en-US" sz="2400" b="1" kern="0">
                <a:solidFill>
                  <a:srgbClr val="FF0000"/>
                </a:solidFill>
                <a:latin typeface="Times New Roman" pitchFamily="18" charset="0"/>
                <a:ea typeface="宋体"/>
              </a:rPr>
              <a:t>强烈</a:t>
            </a:r>
            <a:r>
              <a:rPr lang="zh-CN" altLang="en-US" sz="2400" b="1" kern="0" dirty="0">
                <a:solidFill>
                  <a:srgbClr val="FF0000"/>
                </a:solidFill>
                <a:latin typeface="Times New Roman" pitchFamily="18" charset="0"/>
                <a:ea typeface="宋体"/>
              </a:rPr>
              <a:t>不推荐！</a:t>
            </a:r>
            <a:endParaRPr lang="zh-CN" altLang="en-US" sz="1600" dirty="0">
              <a:solidFill>
                <a:srgbClr val="FF0000"/>
              </a:solidFill>
            </a:endParaRPr>
          </a:p>
        </p:txBody>
      </p:sp>
      <p:sp>
        <p:nvSpPr>
          <p:cNvPr id="49" name="Rectangle 4">
            <a:extLst>
              <a:ext uri="{FF2B5EF4-FFF2-40B4-BE49-F238E27FC236}">
                <a16:creationId xmlns:a16="http://schemas.microsoft.com/office/drawing/2014/main" id="{F959E52E-C684-45AE-AF27-930332B676AD}"/>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50" name="Rectangle 5">
            <a:extLst>
              <a:ext uri="{FF2B5EF4-FFF2-40B4-BE49-F238E27FC236}">
                <a16:creationId xmlns:a16="http://schemas.microsoft.com/office/drawing/2014/main" id="{EE7B0CA0-1B55-449D-B308-5622618A1953}"/>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51" name="Rectangle 6">
            <a:extLst>
              <a:ext uri="{FF2B5EF4-FFF2-40B4-BE49-F238E27FC236}">
                <a16:creationId xmlns:a16="http://schemas.microsoft.com/office/drawing/2014/main" id="{1C17B59F-DD5C-43DE-8F65-EA0E08A91480}"/>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14</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8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7" grpId="0" animBg="1"/>
      <p:bldP spid="21" grpId="0"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0D4D4E4-2B4E-4F93-80B1-C425DC4CBACE}"/>
              </a:ext>
            </a:extLst>
          </p:cNvPr>
          <p:cNvSpPr>
            <a:spLocks noGrp="1" noChangeArrowheads="1"/>
          </p:cNvSpPr>
          <p:nvPr>
            <p:ph type="title" idx="4294967295"/>
          </p:nvPr>
        </p:nvSpPr>
        <p:spPr/>
        <p:txBody>
          <a:bodyPr/>
          <a:lstStyle/>
          <a:p>
            <a:r>
              <a:rPr lang="zh-CN" altLang="en-US" dirty="0">
                <a:cs typeface="Times New Roman" panose="02020603050405020304" pitchFamily="18" charset="0"/>
              </a:rPr>
              <a:t>多</a:t>
            </a:r>
            <a:r>
              <a:rPr lang="zh-CN" altLang="en-US">
                <a:cs typeface="Times New Roman" panose="02020603050405020304" pitchFamily="18" charset="0"/>
              </a:rPr>
              <a:t>段式</a:t>
            </a:r>
            <a:r>
              <a:rPr lang="en-US" altLang="zh-CN">
                <a:cs typeface="Times New Roman" panose="02020603050405020304" pitchFamily="18" charset="0"/>
              </a:rPr>
              <a:t>FSM</a:t>
            </a:r>
            <a:endParaRPr lang="zh-CN" altLang="en-US" dirty="0">
              <a:cs typeface="Times New Roman" panose="02020603050405020304" pitchFamily="18" charset="0"/>
            </a:endParaRPr>
          </a:p>
        </p:txBody>
      </p:sp>
      <p:sp>
        <p:nvSpPr>
          <p:cNvPr id="201" name="Rectangle 3">
            <a:extLst>
              <a:ext uri="{FF2B5EF4-FFF2-40B4-BE49-F238E27FC236}">
                <a16:creationId xmlns:a16="http://schemas.microsoft.com/office/drawing/2014/main" id="{B447B3DF-6E42-4C5D-ADB7-F1FB72BAE4F3}"/>
              </a:ext>
            </a:extLst>
          </p:cNvPr>
          <p:cNvSpPr txBox="1">
            <a:spLocks noChangeArrowheads="1"/>
          </p:cNvSpPr>
          <p:nvPr/>
        </p:nvSpPr>
        <p:spPr bwMode="auto">
          <a:xfrm>
            <a:off x="4701333" y="4077072"/>
            <a:ext cx="3642764" cy="222589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marL="342900" indent="-342900" algn="l" rtl="0" eaLnBrk="0" fontAlgn="base" hangingPunct="0">
              <a:spcBef>
                <a:spcPct val="0"/>
              </a:spcBef>
              <a:spcAft>
                <a:spcPct val="20000"/>
              </a:spcAft>
              <a:buChar char="•"/>
              <a:defRPr sz="2800" b="1">
                <a:solidFill>
                  <a:schemeClr val="tx1"/>
                </a:solidFill>
                <a:latin typeface="Times New Roman" pitchFamily="18" charset="0"/>
                <a:ea typeface="+mn-ea"/>
                <a:cs typeface="+mn-cs"/>
              </a:defRPr>
            </a:lvl1pPr>
            <a:lvl2pPr marL="742950" indent="-285750" algn="l" rtl="0" eaLnBrk="0" fontAlgn="base" hangingPunct="0">
              <a:spcBef>
                <a:spcPct val="0"/>
              </a:spcBef>
              <a:spcAft>
                <a:spcPct val="20000"/>
              </a:spcAft>
              <a:buChar char="–"/>
              <a:defRPr sz="2400">
                <a:solidFill>
                  <a:schemeClr val="tx1"/>
                </a:solidFill>
                <a:latin typeface="Times New Roman" pitchFamily="18" charset="0"/>
                <a:ea typeface="+mn-ea"/>
              </a:defRPr>
            </a:lvl2pPr>
            <a:lvl3pPr marL="1143000" indent="-228600" algn="l" rtl="0" eaLnBrk="0" fontAlgn="base" hangingPunct="0">
              <a:spcBef>
                <a:spcPct val="0"/>
              </a:spcBef>
              <a:spcAft>
                <a:spcPct val="20000"/>
              </a:spcAft>
              <a:buChar char="•"/>
              <a:defRPr sz="2000">
                <a:solidFill>
                  <a:schemeClr val="tx1"/>
                </a:solidFill>
                <a:latin typeface="Times New Roman" pitchFamily="18" charset="0"/>
                <a:ea typeface="+mn-ea"/>
              </a:defRPr>
            </a:lvl3pPr>
            <a:lvl4pPr marL="1600200" indent="-228600" algn="l" rtl="0" eaLnBrk="0" fontAlgn="base" hangingPunct="0">
              <a:spcBef>
                <a:spcPct val="0"/>
              </a:spcBef>
              <a:spcAft>
                <a:spcPct val="20000"/>
              </a:spcAft>
              <a:buChar char="–"/>
              <a:defRPr sz="2000">
                <a:solidFill>
                  <a:schemeClr val="tx1"/>
                </a:solidFill>
                <a:latin typeface="Times New Roman" pitchFamily="18" charset="0"/>
                <a:ea typeface="+mn-ea"/>
              </a:defRPr>
            </a:lvl4pPr>
            <a:lvl5pPr marL="2057400" indent="-228600" algn="l" rtl="0" eaLnBrk="0" fontAlgn="base" hangingPunct="0">
              <a:spcBef>
                <a:spcPct val="0"/>
              </a:spcBef>
              <a:spcAft>
                <a:spcPct val="20000"/>
              </a:spcAft>
              <a:buChar char="»"/>
              <a:defRPr sz="2000">
                <a:solidFill>
                  <a:schemeClr val="tx1"/>
                </a:solidFill>
                <a:latin typeface="Times New Roman" pitchFamily="18" charset="0"/>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spcBef>
                <a:spcPts val="0"/>
              </a:spcBef>
              <a:spcAft>
                <a:spcPts val="600"/>
              </a:spcAft>
              <a:buFontTx/>
              <a:buNone/>
              <a:defRPr/>
            </a:pPr>
            <a:r>
              <a:rPr lang="en-US" altLang="zh-CN" sz="2000" b="0" kern="0" dirty="0"/>
              <a:t>//</a:t>
            </a:r>
            <a:r>
              <a:rPr lang="zh-CN" altLang="en-US" sz="2000" b="0" kern="0"/>
              <a:t>时序描述</a:t>
            </a:r>
            <a:r>
              <a:rPr lang="en-US" altLang="zh-CN" sz="2000" b="0" kern="0"/>
              <a:t>cs</a:t>
            </a:r>
            <a:endParaRPr lang="en-US" altLang="zh-CN" sz="2000" b="0" kern="0" dirty="0"/>
          </a:p>
          <a:p>
            <a:pPr>
              <a:spcBef>
                <a:spcPts val="0"/>
              </a:spcBef>
              <a:spcAft>
                <a:spcPts val="600"/>
              </a:spcAft>
              <a:buFontTx/>
              <a:buNone/>
              <a:defRPr/>
            </a:pPr>
            <a:r>
              <a:rPr lang="en-US" altLang="zh-CN" sz="2000" b="0" kern="0" dirty="0"/>
              <a:t>always @(</a:t>
            </a:r>
            <a:r>
              <a:rPr lang="en-US" altLang="zh-CN" sz="2000" b="0" kern="0" err="1"/>
              <a:t>posedge</a:t>
            </a:r>
            <a:r>
              <a:rPr lang="en-US" altLang="zh-CN" sz="2000" b="0" kern="0"/>
              <a:t> clk) </a:t>
            </a:r>
            <a:r>
              <a:rPr lang="en-US" altLang="zh-CN" sz="2000" b="0" kern="0" dirty="0"/>
              <a:t>begin</a:t>
            </a:r>
          </a:p>
          <a:p>
            <a:pPr indent="-74613">
              <a:spcBef>
                <a:spcPts val="0"/>
              </a:spcBef>
              <a:spcAft>
                <a:spcPts val="600"/>
              </a:spcAft>
              <a:buFontTx/>
              <a:buNone/>
              <a:defRPr/>
            </a:pPr>
            <a:r>
              <a:rPr lang="en-US" altLang="zh-CN" sz="2000" b="0" kern="0"/>
              <a:t>if (rst)  </a:t>
            </a:r>
            <a:r>
              <a:rPr lang="en-US" altLang="zh-CN" sz="2000" b="0" kern="0" dirty="0"/>
              <a:t>cs &lt;= </a:t>
            </a:r>
            <a:r>
              <a:rPr lang="zh-CN" altLang="en-US" sz="2000" b="0" kern="0" dirty="0"/>
              <a:t>复位状态</a:t>
            </a:r>
            <a:r>
              <a:rPr lang="en-US" altLang="zh-CN" sz="2000" b="0" kern="0" dirty="0"/>
              <a:t>;</a:t>
            </a:r>
          </a:p>
          <a:p>
            <a:pPr indent="-74613">
              <a:spcBef>
                <a:spcPts val="0"/>
              </a:spcBef>
              <a:spcAft>
                <a:spcPts val="600"/>
              </a:spcAft>
              <a:buFontTx/>
              <a:buNone/>
              <a:defRPr/>
            </a:pPr>
            <a:r>
              <a:rPr lang="en-US" altLang="zh-CN" sz="2000" b="0" kern="0" dirty="0"/>
              <a:t>else cs &lt;= ns;</a:t>
            </a:r>
          </a:p>
          <a:p>
            <a:pPr>
              <a:spcBef>
                <a:spcPts val="0"/>
              </a:spcBef>
              <a:spcAft>
                <a:spcPts val="600"/>
              </a:spcAft>
              <a:buFontTx/>
              <a:buNone/>
              <a:defRPr/>
            </a:pPr>
            <a:r>
              <a:rPr lang="en-US" altLang="zh-CN" sz="2000" b="0" kern="0" dirty="0"/>
              <a:t>end</a:t>
            </a:r>
          </a:p>
        </p:txBody>
      </p:sp>
      <p:sp>
        <p:nvSpPr>
          <p:cNvPr id="202" name="Rectangle 3">
            <a:extLst>
              <a:ext uri="{FF2B5EF4-FFF2-40B4-BE49-F238E27FC236}">
                <a16:creationId xmlns:a16="http://schemas.microsoft.com/office/drawing/2014/main" id="{573EB904-CB71-47DB-BD01-49927F3CB737}"/>
              </a:ext>
            </a:extLst>
          </p:cNvPr>
          <p:cNvSpPr txBox="1">
            <a:spLocks noChangeArrowheads="1"/>
          </p:cNvSpPr>
          <p:nvPr/>
        </p:nvSpPr>
        <p:spPr bwMode="auto">
          <a:xfrm>
            <a:off x="785643" y="1473324"/>
            <a:ext cx="3224060" cy="48296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marL="342900" indent="-342900" algn="l" rtl="0" eaLnBrk="0" fontAlgn="base" hangingPunct="0">
              <a:spcBef>
                <a:spcPct val="0"/>
              </a:spcBef>
              <a:spcAft>
                <a:spcPct val="20000"/>
              </a:spcAft>
              <a:buChar char="•"/>
              <a:defRPr sz="2800" b="1">
                <a:solidFill>
                  <a:schemeClr val="tx1"/>
                </a:solidFill>
                <a:latin typeface="Times New Roman" pitchFamily="18" charset="0"/>
                <a:ea typeface="+mn-ea"/>
                <a:cs typeface="+mn-cs"/>
              </a:defRPr>
            </a:lvl1pPr>
            <a:lvl2pPr marL="742950" indent="-285750" algn="l" rtl="0" eaLnBrk="0" fontAlgn="base" hangingPunct="0">
              <a:spcBef>
                <a:spcPct val="0"/>
              </a:spcBef>
              <a:spcAft>
                <a:spcPct val="20000"/>
              </a:spcAft>
              <a:buChar char="–"/>
              <a:defRPr sz="2400">
                <a:solidFill>
                  <a:schemeClr val="tx1"/>
                </a:solidFill>
                <a:latin typeface="Times New Roman" pitchFamily="18" charset="0"/>
                <a:ea typeface="+mn-ea"/>
              </a:defRPr>
            </a:lvl2pPr>
            <a:lvl3pPr marL="1143000" indent="-228600" algn="l" rtl="0" eaLnBrk="0" fontAlgn="base" hangingPunct="0">
              <a:spcBef>
                <a:spcPct val="0"/>
              </a:spcBef>
              <a:spcAft>
                <a:spcPct val="20000"/>
              </a:spcAft>
              <a:buChar char="•"/>
              <a:defRPr sz="2000">
                <a:solidFill>
                  <a:schemeClr val="tx1"/>
                </a:solidFill>
                <a:latin typeface="Times New Roman" pitchFamily="18" charset="0"/>
                <a:ea typeface="+mn-ea"/>
              </a:defRPr>
            </a:lvl3pPr>
            <a:lvl4pPr marL="1600200" indent="-228600" algn="l" rtl="0" eaLnBrk="0" fontAlgn="base" hangingPunct="0">
              <a:spcBef>
                <a:spcPct val="0"/>
              </a:spcBef>
              <a:spcAft>
                <a:spcPct val="20000"/>
              </a:spcAft>
              <a:buChar char="–"/>
              <a:defRPr sz="2000">
                <a:solidFill>
                  <a:schemeClr val="tx1"/>
                </a:solidFill>
                <a:latin typeface="Times New Roman" pitchFamily="18" charset="0"/>
                <a:ea typeface="+mn-ea"/>
              </a:defRPr>
            </a:lvl4pPr>
            <a:lvl5pPr marL="2057400" indent="-228600" algn="l" rtl="0" eaLnBrk="0" fontAlgn="base" hangingPunct="0">
              <a:spcBef>
                <a:spcPct val="0"/>
              </a:spcBef>
              <a:spcAft>
                <a:spcPct val="20000"/>
              </a:spcAft>
              <a:buChar char="»"/>
              <a:defRPr sz="2000">
                <a:solidFill>
                  <a:schemeClr val="tx1"/>
                </a:solidFill>
                <a:latin typeface="Times New Roman" pitchFamily="18" charset="0"/>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spcBef>
                <a:spcPts val="0"/>
              </a:spcBef>
              <a:spcAft>
                <a:spcPts val="600"/>
              </a:spcAft>
              <a:buNone/>
              <a:defRPr/>
            </a:pPr>
            <a:r>
              <a:rPr lang="en-US" altLang="zh-CN" sz="2000" b="0" kern="0" dirty="0"/>
              <a:t>//</a:t>
            </a:r>
            <a:r>
              <a:rPr lang="zh-CN" altLang="en-US" sz="2000" b="0" kern="0"/>
              <a:t>组合描述</a:t>
            </a:r>
            <a:r>
              <a:rPr lang="en-US" altLang="zh-CN" sz="2000" b="0" kern="0"/>
              <a:t>out</a:t>
            </a:r>
            <a:r>
              <a:rPr lang="zh-CN" altLang="en-US" sz="2000" b="0" kern="0"/>
              <a:t>和</a:t>
            </a:r>
            <a:r>
              <a:rPr lang="en-US" altLang="zh-CN" sz="2000" b="0" kern="0"/>
              <a:t>ns</a:t>
            </a:r>
            <a:endParaRPr lang="en-US" altLang="zh-CN" sz="2000" b="0" kern="0" dirty="0"/>
          </a:p>
          <a:p>
            <a:pPr>
              <a:spcBef>
                <a:spcPts val="0"/>
              </a:spcBef>
              <a:spcAft>
                <a:spcPts val="600"/>
              </a:spcAft>
              <a:buNone/>
              <a:defRPr/>
            </a:pPr>
            <a:r>
              <a:rPr lang="en-US" altLang="zh-CN" sz="2000" b="0" kern="0" dirty="0"/>
              <a:t>always  @*  begin</a:t>
            </a:r>
          </a:p>
          <a:p>
            <a:pPr>
              <a:spcBef>
                <a:spcPts val="0"/>
              </a:spcBef>
              <a:spcAft>
                <a:spcPts val="600"/>
              </a:spcAft>
              <a:buFontTx/>
              <a:buNone/>
              <a:defRPr/>
            </a:pPr>
            <a:r>
              <a:rPr lang="en-US" altLang="zh-CN" sz="2000" b="0" kern="0" dirty="0"/>
              <a:t>    out = </a:t>
            </a:r>
            <a:r>
              <a:rPr lang="zh-CN" altLang="en-US" sz="2000" b="0" kern="0" dirty="0"/>
              <a:t>默认值</a:t>
            </a:r>
            <a:r>
              <a:rPr lang="en-US" altLang="zh-CN" sz="2000" b="0" kern="0" dirty="0"/>
              <a:t>;</a:t>
            </a:r>
          </a:p>
          <a:p>
            <a:pPr indent="-74613">
              <a:spcBef>
                <a:spcPts val="0"/>
              </a:spcBef>
              <a:spcAft>
                <a:spcPts val="600"/>
              </a:spcAft>
              <a:buFontTx/>
              <a:buNone/>
              <a:defRPr/>
            </a:pPr>
            <a:r>
              <a:rPr lang="en-US" altLang="zh-CN" sz="2000" b="0" kern="0" dirty="0"/>
              <a:t>ns  =  cs;</a:t>
            </a:r>
          </a:p>
          <a:p>
            <a:pPr indent="-74613">
              <a:spcBef>
                <a:spcPts val="0"/>
              </a:spcBef>
              <a:spcAft>
                <a:spcPts val="600"/>
              </a:spcAft>
              <a:buFontTx/>
              <a:buNone/>
              <a:defRPr/>
            </a:pPr>
            <a:r>
              <a:rPr lang="en-US" altLang="zh-CN" sz="2000" b="0" kern="0" dirty="0"/>
              <a:t>case  (cs)</a:t>
            </a:r>
          </a:p>
          <a:p>
            <a:pPr indent="-74613">
              <a:spcBef>
                <a:spcPts val="0"/>
              </a:spcBef>
              <a:spcAft>
                <a:spcPts val="600"/>
              </a:spcAft>
              <a:buFontTx/>
              <a:buNone/>
              <a:defRPr/>
            </a:pPr>
            <a:r>
              <a:rPr lang="en-US" altLang="zh-CN" sz="2000" b="0" kern="0" dirty="0"/>
              <a:t>    S0: begin</a:t>
            </a:r>
          </a:p>
          <a:p>
            <a:pPr indent="-74613">
              <a:spcBef>
                <a:spcPts val="0"/>
              </a:spcBef>
              <a:spcAft>
                <a:spcPts val="600"/>
              </a:spcAft>
              <a:buFontTx/>
              <a:buNone/>
              <a:defRPr/>
            </a:pPr>
            <a:r>
              <a:rPr lang="en-US" altLang="zh-CN" sz="2000" b="0" kern="0" dirty="0"/>
              <a:t>        if (in</a:t>
            </a:r>
            <a:r>
              <a:rPr lang="zh-CN" altLang="en-US" sz="2000" b="0" kern="0" dirty="0"/>
              <a:t>条件</a:t>
            </a:r>
            <a:r>
              <a:rPr lang="en-US" altLang="zh-CN" sz="2000" b="0" kern="0" dirty="0"/>
              <a:t>) begin</a:t>
            </a:r>
          </a:p>
          <a:p>
            <a:pPr indent="-74613">
              <a:spcBef>
                <a:spcPts val="0"/>
              </a:spcBef>
              <a:spcAft>
                <a:spcPts val="600"/>
              </a:spcAft>
              <a:buFontTx/>
              <a:buNone/>
              <a:defRPr/>
            </a:pPr>
            <a:r>
              <a:rPr lang="en-US" altLang="zh-CN" sz="2000" b="0" kern="0" dirty="0"/>
              <a:t>            out = </a:t>
            </a:r>
            <a:r>
              <a:rPr lang="zh-CN" altLang="en-US" sz="2000" b="0" kern="0" dirty="0"/>
              <a:t>表达式</a:t>
            </a:r>
            <a:r>
              <a:rPr lang="en-US" altLang="zh-CN" sz="2000" b="0" kern="0" dirty="0"/>
              <a:t>;</a:t>
            </a:r>
          </a:p>
          <a:p>
            <a:pPr indent="-74613">
              <a:spcBef>
                <a:spcPts val="0"/>
              </a:spcBef>
              <a:spcAft>
                <a:spcPts val="600"/>
              </a:spcAft>
              <a:buFontTx/>
              <a:buNone/>
              <a:defRPr/>
            </a:pPr>
            <a:r>
              <a:rPr lang="en-US" altLang="zh-CN" sz="2000" b="0" kern="0" dirty="0"/>
              <a:t>            ns = Si;</a:t>
            </a:r>
          </a:p>
          <a:p>
            <a:pPr indent="-74613">
              <a:spcBef>
                <a:spcPts val="0"/>
              </a:spcBef>
              <a:spcAft>
                <a:spcPts val="600"/>
              </a:spcAft>
              <a:buFontTx/>
              <a:buNone/>
              <a:defRPr/>
            </a:pPr>
            <a:r>
              <a:rPr lang="en-US" altLang="zh-CN" sz="2000" b="0" kern="0" dirty="0"/>
              <a:t>        end </a:t>
            </a:r>
          </a:p>
          <a:p>
            <a:pPr indent="-74613">
              <a:spcBef>
                <a:spcPts val="0"/>
              </a:spcBef>
              <a:spcAft>
                <a:spcPts val="600"/>
              </a:spcAft>
              <a:buFontTx/>
              <a:buNone/>
              <a:defRPr/>
            </a:pPr>
            <a:r>
              <a:rPr lang="en-US" altLang="zh-CN" sz="2000" b="0" kern="0" dirty="0"/>
              <a:t>        ……</a:t>
            </a:r>
          </a:p>
          <a:p>
            <a:pPr>
              <a:spcBef>
                <a:spcPts val="0"/>
              </a:spcBef>
              <a:spcAft>
                <a:spcPts val="600"/>
              </a:spcAft>
              <a:buFontTx/>
              <a:buNone/>
              <a:defRPr/>
            </a:pPr>
            <a:r>
              <a:rPr lang="en-US" altLang="zh-CN" sz="2000" b="0" kern="0" dirty="0"/>
              <a:t>end</a:t>
            </a:r>
          </a:p>
        </p:txBody>
      </p:sp>
      <p:grpSp>
        <p:nvGrpSpPr>
          <p:cNvPr id="49" name="组合 2">
            <a:extLst>
              <a:ext uri="{FF2B5EF4-FFF2-40B4-BE49-F238E27FC236}">
                <a16:creationId xmlns:a16="http://schemas.microsoft.com/office/drawing/2014/main" id="{B6DDB45C-E91D-4783-B1E8-8F9AC77FEDD8}"/>
              </a:ext>
            </a:extLst>
          </p:cNvPr>
          <p:cNvGrpSpPr>
            <a:grpSpLocks/>
          </p:cNvGrpSpPr>
          <p:nvPr/>
        </p:nvGrpSpPr>
        <p:grpSpPr bwMode="auto">
          <a:xfrm>
            <a:off x="4932040" y="1601431"/>
            <a:ext cx="2954338" cy="1827569"/>
            <a:chOff x="5565775" y="4512773"/>
            <a:chExt cx="2954338" cy="1611802"/>
          </a:xfrm>
        </p:grpSpPr>
        <p:grpSp>
          <p:nvGrpSpPr>
            <p:cNvPr id="50" name="组合 73">
              <a:extLst>
                <a:ext uri="{FF2B5EF4-FFF2-40B4-BE49-F238E27FC236}">
                  <a16:creationId xmlns:a16="http://schemas.microsoft.com/office/drawing/2014/main" id="{5E3B14E2-C6F3-4B85-8641-189884D5A2B9}"/>
                </a:ext>
              </a:extLst>
            </p:cNvPr>
            <p:cNvGrpSpPr>
              <a:grpSpLocks/>
            </p:cNvGrpSpPr>
            <p:nvPr/>
          </p:nvGrpSpPr>
          <p:grpSpPr bwMode="auto">
            <a:xfrm>
              <a:off x="5565775" y="4512773"/>
              <a:ext cx="2954338" cy="1611802"/>
              <a:chOff x="5217578" y="2035002"/>
              <a:chExt cx="2954426" cy="1611486"/>
            </a:xfrm>
          </p:grpSpPr>
          <p:sp>
            <p:nvSpPr>
              <p:cNvPr id="53" name="TextBox 34">
                <a:extLst>
                  <a:ext uri="{FF2B5EF4-FFF2-40B4-BE49-F238E27FC236}">
                    <a16:creationId xmlns:a16="http://schemas.microsoft.com/office/drawing/2014/main" id="{048DDD26-23C5-4B65-9463-85F75E65BD6E}"/>
                  </a:ext>
                </a:extLst>
              </p:cNvPr>
              <p:cNvSpPr txBox="1"/>
              <p:nvPr/>
            </p:nvSpPr>
            <p:spPr bwMode="auto">
              <a:xfrm>
                <a:off x="7184550" y="2729093"/>
                <a:ext cx="466739" cy="687253"/>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eaLnBrk="1" hangingPunct="1">
                  <a:defRPr/>
                </a:pPr>
                <a:r>
                  <a:rPr lang="en-US" altLang="zh-CN" sz="2000" dirty="0">
                    <a:latin typeface="Times New Roman" pitchFamily="18" charset="0"/>
                    <a:cs typeface="Times New Roman" pitchFamily="18" charset="0"/>
                  </a:rPr>
                  <a:t>SR</a:t>
                </a:r>
                <a:endParaRPr lang="zh-CN" altLang="en-US" sz="2000" dirty="0">
                  <a:latin typeface="Times New Roman" pitchFamily="18" charset="0"/>
                  <a:cs typeface="Times New Roman" pitchFamily="18" charset="0"/>
                </a:endParaRPr>
              </a:p>
            </p:txBody>
          </p:sp>
          <p:sp>
            <p:nvSpPr>
              <p:cNvPr id="54" name="TextBox 35">
                <a:extLst>
                  <a:ext uri="{FF2B5EF4-FFF2-40B4-BE49-F238E27FC236}">
                    <a16:creationId xmlns:a16="http://schemas.microsoft.com/office/drawing/2014/main" id="{0AC2224D-7C7E-4B3C-A918-6FB8E76DB013}"/>
                  </a:ext>
                </a:extLst>
              </p:cNvPr>
              <p:cNvSpPr txBox="1">
                <a:spLocks noChangeArrowheads="1"/>
              </p:cNvSpPr>
              <p:nvPr/>
            </p:nvSpPr>
            <p:spPr bwMode="auto">
              <a:xfrm>
                <a:off x="7247926" y="3265489"/>
                <a:ext cx="420460" cy="191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dirty="0">
                    <a:cs typeface="Times New Roman" panose="02020603050405020304" pitchFamily="18" charset="0"/>
                  </a:rPr>
                  <a:t>&lt;</a:t>
                </a:r>
                <a:endParaRPr lang="zh-CN" altLang="en-US" sz="2000" b="0" dirty="0">
                  <a:cs typeface="Times New Roman" panose="02020603050405020304" pitchFamily="18" charset="0"/>
                </a:endParaRPr>
              </a:p>
            </p:txBody>
          </p:sp>
          <p:sp>
            <p:nvSpPr>
              <p:cNvPr id="55" name="TextBox 36">
                <a:extLst>
                  <a:ext uri="{FF2B5EF4-FFF2-40B4-BE49-F238E27FC236}">
                    <a16:creationId xmlns:a16="http://schemas.microsoft.com/office/drawing/2014/main" id="{C2BADC02-AB3B-4F1A-98A4-19097F545C98}"/>
                  </a:ext>
                </a:extLst>
              </p:cNvPr>
              <p:cNvSpPr txBox="1"/>
              <p:nvPr/>
            </p:nvSpPr>
            <p:spPr bwMode="auto">
              <a:xfrm>
                <a:off x="5911337" y="2202146"/>
                <a:ext cx="520716" cy="1214200"/>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anchor="ctr" anchorCtr="1"/>
              <a:lstStyle/>
              <a:p>
                <a:pPr algn="ctr" eaLnBrk="1" hangingPunct="1">
                  <a:defRPr/>
                </a:pPr>
                <a:r>
                  <a:rPr lang="en-US" altLang="zh-CN" sz="2000" dirty="0">
                    <a:latin typeface="Times New Roman" pitchFamily="18" charset="0"/>
                    <a:cs typeface="Times New Roman" pitchFamily="18" charset="0"/>
                  </a:rPr>
                  <a:t>CL</a:t>
                </a:r>
                <a:endParaRPr lang="en-US" altLang="zh-CN" sz="2400" dirty="0">
                  <a:latin typeface="Times New Roman" pitchFamily="18" charset="0"/>
                  <a:cs typeface="Times New Roman" pitchFamily="18" charset="0"/>
                </a:endParaRPr>
              </a:p>
            </p:txBody>
          </p:sp>
          <p:cxnSp>
            <p:nvCxnSpPr>
              <p:cNvPr id="56" name="直接箭头连接符 55">
                <a:extLst>
                  <a:ext uri="{FF2B5EF4-FFF2-40B4-BE49-F238E27FC236}">
                    <a16:creationId xmlns:a16="http://schemas.microsoft.com/office/drawing/2014/main" id="{4EB5E779-0CDF-462F-BC18-EB8DC380D7CB}"/>
                  </a:ext>
                </a:extLst>
              </p:cNvPr>
              <p:cNvCxnSpPr>
                <a:cxnSpLocks/>
              </p:cNvCxnSpPr>
              <p:nvPr/>
            </p:nvCxnSpPr>
            <p:spPr bwMode="auto">
              <a:xfrm>
                <a:off x="5555726" y="3200488"/>
                <a:ext cx="368311" cy="1587"/>
              </a:xfrm>
              <a:prstGeom prst="straightConnector1">
                <a:avLst/>
              </a:prstGeom>
              <a:ln w="19050">
                <a:solidFill>
                  <a:schemeClr val="tx1"/>
                </a:solidFill>
                <a:headEnd type="none"/>
                <a:tailEnd type="triangle" w="med" len="lg"/>
              </a:ln>
            </p:spPr>
            <p:style>
              <a:lnRef idx="1">
                <a:schemeClr val="dk1"/>
              </a:lnRef>
              <a:fillRef idx="0">
                <a:schemeClr val="dk1"/>
              </a:fillRef>
              <a:effectRef idx="0">
                <a:schemeClr val="dk1"/>
              </a:effectRef>
              <a:fontRef idx="minor">
                <a:schemeClr val="tx1"/>
              </a:fontRef>
            </p:style>
          </p:cxnSp>
          <p:cxnSp>
            <p:nvCxnSpPr>
              <p:cNvPr id="57" name="直接箭头连接符 56">
                <a:extLst>
                  <a:ext uri="{FF2B5EF4-FFF2-40B4-BE49-F238E27FC236}">
                    <a16:creationId xmlns:a16="http://schemas.microsoft.com/office/drawing/2014/main" id="{B9EB0150-DE58-4EF1-9D15-AC9E2D1006EB}"/>
                  </a:ext>
                </a:extLst>
              </p:cNvPr>
              <p:cNvCxnSpPr/>
              <p:nvPr/>
            </p:nvCxnSpPr>
            <p:spPr bwMode="auto">
              <a:xfrm>
                <a:off x="7651288" y="3102083"/>
                <a:ext cx="369898" cy="3174"/>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58" name="直接箭头连接符 57">
                <a:extLst>
                  <a:ext uri="{FF2B5EF4-FFF2-40B4-BE49-F238E27FC236}">
                    <a16:creationId xmlns:a16="http://schemas.microsoft.com/office/drawing/2014/main" id="{59898899-E555-42B2-93E8-C78CC6B06A7C}"/>
                  </a:ext>
                </a:extLst>
              </p:cNvPr>
              <p:cNvCxnSpPr>
                <a:cxnSpLocks/>
              </p:cNvCxnSpPr>
              <p:nvPr/>
            </p:nvCxnSpPr>
            <p:spPr bwMode="auto">
              <a:xfrm>
                <a:off x="8025950" y="3100495"/>
                <a:ext cx="0" cy="545993"/>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59" name="直接箭头连接符 58">
                <a:extLst>
                  <a:ext uri="{FF2B5EF4-FFF2-40B4-BE49-F238E27FC236}">
                    <a16:creationId xmlns:a16="http://schemas.microsoft.com/office/drawing/2014/main" id="{8AB82FD5-8E92-4A86-BD99-36022C0C6E50}"/>
                  </a:ext>
                </a:extLst>
              </p:cNvPr>
              <p:cNvCxnSpPr>
                <a:cxnSpLocks/>
              </p:cNvCxnSpPr>
              <p:nvPr/>
            </p:nvCxnSpPr>
            <p:spPr bwMode="auto">
              <a:xfrm>
                <a:off x="5543026" y="3646488"/>
                <a:ext cx="2478161" cy="0"/>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60" name="直接箭头连接符 59">
                <a:extLst>
                  <a:ext uri="{FF2B5EF4-FFF2-40B4-BE49-F238E27FC236}">
                    <a16:creationId xmlns:a16="http://schemas.microsoft.com/office/drawing/2014/main" id="{71471A3F-3B02-4B9D-AEC0-A3BA896FB31D}"/>
                  </a:ext>
                </a:extLst>
              </p:cNvPr>
              <p:cNvCxnSpPr>
                <a:cxnSpLocks/>
              </p:cNvCxnSpPr>
              <p:nvPr/>
            </p:nvCxnSpPr>
            <p:spPr bwMode="auto">
              <a:xfrm>
                <a:off x="5555726" y="3200488"/>
                <a:ext cx="0" cy="446000"/>
              </a:xfrm>
              <a:prstGeom prst="straightConnector1">
                <a:avLst/>
              </a:prstGeom>
              <a:ln w="19050">
                <a:solidFill>
                  <a:schemeClr val="tx1"/>
                </a:solidFill>
                <a:tailEnd type="none" w="med" len="lg"/>
              </a:ln>
            </p:spPr>
            <p:style>
              <a:lnRef idx="1">
                <a:schemeClr val="dk1"/>
              </a:lnRef>
              <a:fillRef idx="0">
                <a:schemeClr val="dk1"/>
              </a:fillRef>
              <a:effectRef idx="0">
                <a:schemeClr val="dk1"/>
              </a:effectRef>
              <a:fontRef idx="minor">
                <a:schemeClr val="tx1"/>
              </a:fontRef>
            </p:style>
          </p:cxnSp>
          <p:cxnSp>
            <p:nvCxnSpPr>
              <p:cNvPr id="61" name="直接箭头连接符 60">
                <a:extLst>
                  <a:ext uri="{FF2B5EF4-FFF2-40B4-BE49-F238E27FC236}">
                    <a16:creationId xmlns:a16="http://schemas.microsoft.com/office/drawing/2014/main" id="{66E6BFDC-E578-4C20-94AB-9057DFF4AEC5}"/>
                  </a:ext>
                </a:extLst>
              </p:cNvPr>
              <p:cNvCxnSpPr>
                <a:cxnSpLocks/>
              </p:cNvCxnSpPr>
              <p:nvPr/>
            </p:nvCxnSpPr>
            <p:spPr bwMode="auto">
              <a:xfrm>
                <a:off x="6432052" y="2421178"/>
                <a:ext cx="1595485"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cxnSp>
            <p:nvCxnSpPr>
              <p:cNvPr id="62" name="直接箭头连接符 61">
                <a:extLst>
                  <a:ext uri="{FF2B5EF4-FFF2-40B4-BE49-F238E27FC236}">
                    <a16:creationId xmlns:a16="http://schemas.microsoft.com/office/drawing/2014/main" id="{7734A104-CC60-4C5D-A44C-461CC65117E5}"/>
                  </a:ext>
                </a:extLst>
              </p:cNvPr>
              <p:cNvCxnSpPr>
                <a:cxnSpLocks/>
              </p:cNvCxnSpPr>
              <p:nvPr/>
            </p:nvCxnSpPr>
            <p:spPr bwMode="auto">
              <a:xfrm>
                <a:off x="6432052" y="3100495"/>
                <a:ext cx="752497"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sp>
            <p:nvSpPr>
              <p:cNvPr id="63" name="TextBox 58">
                <a:extLst>
                  <a:ext uri="{FF2B5EF4-FFF2-40B4-BE49-F238E27FC236}">
                    <a16:creationId xmlns:a16="http://schemas.microsoft.com/office/drawing/2014/main" id="{E296006D-4E59-4800-81BF-BEF5B9C2B354}"/>
                  </a:ext>
                </a:extLst>
              </p:cNvPr>
              <p:cNvSpPr txBox="1">
                <a:spLocks noChangeArrowheads="1"/>
              </p:cNvSpPr>
              <p:nvPr/>
            </p:nvSpPr>
            <p:spPr bwMode="auto">
              <a:xfrm>
                <a:off x="5217578" y="2035002"/>
                <a:ext cx="362138"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cs typeface="Times New Roman" panose="02020603050405020304" pitchFamily="18" charset="0"/>
                  </a:rPr>
                  <a:t>in</a:t>
                </a:r>
                <a:endParaRPr lang="zh-CN" altLang="en-US" sz="2400" b="0">
                  <a:cs typeface="Times New Roman" panose="02020603050405020304" pitchFamily="18" charset="0"/>
                </a:endParaRPr>
              </a:p>
            </p:txBody>
          </p:sp>
          <p:sp>
            <p:nvSpPr>
              <p:cNvPr id="64" name="TextBox 60">
                <a:extLst>
                  <a:ext uri="{FF2B5EF4-FFF2-40B4-BE49-F238E27FC236}">
                    <a16:creationId xmlns:a16="http://schemas.microsoft.com/office/drawing/2014/main" id="{A70F714B-9B8B-47AF-A16F-A6372E4A90E3}"/>
                  </a:ext>
                </a:extLst>
              </p:cNvPr>
              <p:cNvSpPr txBox="1">
                <a:spLocks noChangeArrowheads="1"/>
              </p:cNvSpPr>
              <p:nvPr/>
            </p:nvSpPr>
            <p:spPr bwMode="auto">
              <a:xfrm>
                <a:off x="7546523" y="2035192"/>
                <a:ext cx="493701"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out</a:t>
                </a:r>
                <a:endParaRPr lang="zh-CN" altLang="en-US" sz="2400" b="0" dirty="0">
                  <a:cs typeface="Times New Roman" panose="02020603050405020304" pitchFamily="18" charset="0"/>
                </a:endParaRPr>
              </a:p>
            </p:txBody>
          </p:sp>
          <p:sp>
            <p:nvSpPr>
              <p:cNvPr id="65" name="TextBox 61">
                <a:extLst>
                  <a:ext uri="{FF2B5EF4-FFF2-40B4-BE49-F238E27FC236}">
                    <a16:creationId xmlns:a16="http://schemas.microsoft.com/office/drawing/2014/main" id="{C264574C-75FF-4635-A2D3-EA8B7D06D47D}"/>
                  </a:ext>
                </a:extLst>
              </p:cNvPr>
              <p:cNvSpPr txBox="1">
                <a:spLocks noChangeArrowheads="1"/>
              </p:cNvSpPr>
              <p:nvPr/>
            </p:nvSpPr>
            <p:spPr bwMode="auto">
              <a:xfrm>
                <a:off x="7794947" y="2732615"/>
                <a:ext cx="377057"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cs</a:t>
                </a:r>
                <a:endParaRPr lang="zh-CN" altLang="en-US" sz="2400" b="0" dirty="0">
                  <a:cs typeface="Times New Roman" panose="02020603050405020304" pitchFamily="18" charset="0"/>
                </a:endParaRPr>
              </a:p>
            </p:txBody>
          </p:sp>
          <p:sp>
            <p:nvSpPr>
              <p:cNvPr id="66" name="TextBox 62">
                <a:extLst>
                  <a:ext uri="{FF2B5EF4-FFF2-40B4-BE49-F238E27FC236}">
                    <a16:creationId xmlns:a16="http://schemas.microsoft.com/office/drawing/2014/main" id="{A33C8FC4-E639-4D0E-A8F9-CA837CF823EE}"/>
                  </a:ext>
                </a:extLst>
              </p:cNvPr>
              <p:cNvSpPr txBox="1">
                <a:spLocks noChangeArrowheads="1"/>
              </p:cNvSpPr>
              <p:nvPr/>
            </p:nvSpPr>
            <p:spPr bwMode="auto">
              <a:xfrm>
                <a:off x="6564060" y="2732615"/>
                <a:ext cx="391977" cy="37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cs typeface="Times New Roman" panose="02020603050405020304" pitchFamily="18" charset="0"/>
                  </a:rPr>
                  <a:t>ns</a:t>
                </a:r>
                <a:endParaRPr lang="zh-CN" altLang="en-US" sz="2400" b="0" dirty="0">
                  <a:cs typeface="Times New Roman" panose="02020603050405020304" pitchFamily="18" charset="0"/>
                </a:endParaRPr>
              </a:p>
            </p:txBody>
          </p:sp>
          <p:cxnSp>
            <p:nvCxnSpPr>
              <p:cNvPr id="67" name="直接箭头连接符 66">
                <a:extLst>
                  <a:ext uri="{FF2B5EF4-FFF2-40B4-BE49-F238E27FC236}">
                    <a16:creationId xmlns:a16="http://schemas.microsoft.com/office/drawing/2014/main" id="{F1A98E18-08F2-4913-BA2F-00CB75305340}"/>
                  </a:ext>
                </a:extLst>
              </p:cNvPr>
              <p:cNvCxnSpPr>
                <a:cxnSpLocks/>
              </p:cNvCxnSpPr>
              <p:nvPr/>
            </p:nvCxnSpPr>
            <p:spPr bwMode="auto">
              <a:xfrm>
                <a:off x="5292193" y="2413243"/>
                <a:ext cx="647719" cy="0"/>
              </a:xfrm>
              <a:prstGeom prst="straightConnector1">
                <a:avLst/>
              </a:prstGeom>
              <a:ln w="19050">
                <a:solidFill>
                  <a:schemeClr val="tx1"/>
                </a:solidFill>
                <a:tailEnd type="triangle" w="med" len="lg"/>
              </a:ln>
            </p:spPr>
            <p:style>
              <a:lnRef idx="1">
                <a:schemeClr val="dk1"/>
              </a:lnRef>
              <a:fillRef idx="0">
                <a:schemeClr val="dk1"/>
              </a:fillRef>
              <a:effectRef idx="0">
                <a:schemeClr val="dk1"/>
              </a:effectRef>
              <a:fontRef idx="minor">
                <a:schemeClr val="tx1"/>
              </a:fontRef>
            </p:style>
          </p:cxnSp>
        </p:grpSp>
        <p:sp>
          <p:nvSpPr>
            <p:cNvPr id="51" name="矩形: 圆角 50">
              <a:extLst>
                <a:ext uri="{FF2B5EF4-FFF2-40B4-BE49-F238E27FC236}">
                  <a16:creationId xmlns:a16="http://schemas.microsoft.com/office/drawing/2014/main" id="{5A470285-FCAB-4BCA-A760-FB5C6243FA30}"/>
                </a:ext>
              </a:extLst>
            </p:cNvPr>
            <p:cNvSpPr/>
            <p:nvPr/>
          </p:nvSpPr>
          <p:spPr bwMode="auto">
            <a:xfrm>
              <a:off x="6072188" y="4556125"/>
              <a:ext cx="874712" cy="1466850"/>
            </a:xfrm>
            <a:prstGeom prst="roundRect">
              <a:avLst/>
            </a:prstGeom>
            <a:noFill/>
            <a:ln w="19050">
              <a:solidFill>
                <a:srgbClr val="CC33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 name="矩形: 圆角 51">
              <a:extLst>
                <a:ext uri="{FF2B5EF4-FFF2-40B4-BE49-F238E27FC236}">
                  <a16:creationId xmlns:a16="http://schemas.microsoft.com/office/drawing/2014/main" id="{4BF9C748-18F3-46E7-A605-47C7B517B523}"/>
                </a:ext>
              </a:extLst>
            </p:cNvPr>
            <p:cNvSpPr/>
            <p:nvPr/>
          </p:nvSpPr>
          <p:spPr bwMode="auto">
            <a:xfrm>
              <a:off x="7358063" y="5103813"/>
              <a:ext cx="796925" cy="919162"/>
            </a:xfrm>
            <a:prstGeom prst="roundRect">
              <a:avLst/>
            </a:prstGeom>
            <a:noFill/>
            <a:ln w="19050">
              <a:solidFill>
                <a:srgbClr val="0000FF"/>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7" name="Rectangle 4">
            <a:extLst>
              <a:ext uri="{FF2B5EF4-FFF2-40B4-BE49-F238E27FC236}">
                <a16:creationId xmlns:a16="http://schemas.microsoft.com/office/drawing/2014/main" id="{6B15D1AE-21C6-4176-864F-B57FF9F9A127}"/>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8" name="Rectangle 5">
            <a:extLst>
              <a:ext uri="{FF2B5EF4-FFF2-40B4-BE49-F238E27FC236}">
                <a16:creationId xmlns:a16="http://schemas.microsoft.com/office/drawing/2014/main" id="{970739DB-7639-471C-A60F-727D01300BFD}"/>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29" name="Rectangle 6">
            <a:extLst>
              <a:ext uri="{FF2B5EF4-FFF2-40B4-BE49-F238E27FC236}">
                <a16:creationId xmlns:a16="http://schemas.microsoft.com/office/drawing/2014/main" id="{0726EB13-DAD1-4401-BD19-D4B7FD22F169}"/>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15</a:t>
            </a:fld>
            <a:endParaRPr lang="en-US" altLang="zh-CN" sz="1800" b="0">
              <a:solidFill>
                <a:srgbClr val="B2B2B2"/>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689826E-E0D3-4C18-B7CC-72880A053611}"/>
              </a:ext>
            </a:extLst>
          </p:cNvPr>
          <p:cNvSpPr>
            <a:spLocks noGrp="1" noChangeArrowheads="1"/>
          </p:cNvSpPr>
          <p:nvPr>
            <p:ph type="title" idx="4294967295"/>
          </p:nvPr>
        </p:nvSpPr>
        <p:spPr/>
        <p:txBody>
          <a:bodyPr/>
          <a:lstStyle/>
          <a:p>
            <a:r>
              <a:rPr lang="zh-CN" altLang="en-US"/>
              <a:t>示例</a:t>
            </a:r>
            <a:r>
              <a:rPr lang="en-US" altLang="zh-CN"/>
              <a:t>—</a:t>
            </a:r>
            <a:r>
              <a:rPr lang="zh-CN" altLang="en-US"/>
              <a:t>多段式米里型</a:t>
            </a:r>
            <a:r>
              <a:rPr lang="en-US" altLang="zh-CN"/>
              <a:t>FSM</a:t>
            </a:r>
            <a:endParaRPr lang="zh-CN" altLang="en-US"/>
          </a:p>
        </p:txBody>
      </p:sp>
      <p:sp>
        <p:nvSpPr>
          <p:cNvPr id="1693699" name="Rectangle 3">
            <a:extLst>
              <a:ext uri="{FF2B5EF4-FFF2-40B4-BE49-F238E27FC236}">
                <a16:creationId xmlns:a16="http://schemas.microsoft.com/office/drawing/2014/main" id="{888DBB13-0B06-4848-9B6F-CEE96FC899A5}"/>
              </a:ext>
            </a:extLst>
          </p:cNvPr>
          <p:cNvSpPr>
            <a:spLocks noGrp="1" noChangeArrowheads="1"/>
          </p:cNvSpPr>
          <p:nvPr>
            <p:ph type="body" idx="1"/>
          </p:nvPr>
        </p:nvSpPr>
        <p:spPr>
          <a:xfrm>
            <a:off x="457200" y="1340768"/>
            <a:ext cx="5492169" cy="1871662"/>
          </a:xfrm>
        </p:spPr>
        <p:txBody>
          <a:bodyPr/>
          <a:lstStyle/>
          <a:p>
            <a:r>
              <a:rPr lang="zh-CN" altLang="en-US" sz="2400" dirty="0"/>
              <a:t>将输入序列中每次出现的第一个</a:t>
            </a:r>
            <a:r>
              <a:rPr lang="en-US" altLang="zh-CN" sz="2400" dirty="0"/>
              <a:t>1</a:t>
            </a:r>
            <a:r>
              <a:rPr lang="zh-CN" altLang="en-US" sz="2400" dirty="0"/>
              <a:t>替换为</a:t>
            </a:r>
            <a:r>
              <a:rPr lang="en-US" altLang="zh-CN" sz="2400" dirty="0"/>
              <a:t>0</a:t>
            </a:r>
            <a:r>
              <a:rPr lang="zh-CN" altLang="en-US" sz="2400" dirty="0"/>
              <a:t>，其他不变输出</a:t>
            </a:r>
          </a:p>
          <a:p>
            <a:pPr lvl="1"/>
            <a:r>
              <a:rPr lang="zh-CN" altLang="en-US" sz="2000" dirty="0"/>
              <a:t>一个时序</a:t>
            </a:r>
            <a:r>
              <a:rPr lang="zh-CN" altLang="en-US" sz="2000"/>
              <a:t>过程描述</a:t>
            </a:r>
            <a:r>
              <a:rPr lang="en-US" altLang="zh-CN" sz="2000"/>
              <a:t>cs</a:t>
            </a:r>
            <a:endParaRPr lang="en-US" altLang="zh-CN" sz="2000" dirty="0"/>
          </a:p>
          <a:p>
            <a:pPr lvl="1"/>
            <a:r>
              <a:rPr lang="zh-CN" altLang="en-US" sz="2000" dirty="0"/>
              <a:t>一个组合</a:t>
            </a:r>
            <a:r>
              <a:rPr lang="zh-CN" altLang="en-US" sz="2000"/>
              <a:t>过程描述</a:t>
            </a:r>
            <a:r>
              <a:rPr lang="en-US" altLang="zh-CN" sz="2000"/>
              <a:t>ns</a:t>
            </a:r>
            <a:r>
              <a:rPr lang="zh-CN" altLang="en-US" sz="2000"/>
              <a:t>和</a:t>
            </a:r>
            <a:r>
              <a:rPr lang="en-US" altLang="zh-CN" sz="2000"/>
              <a:t>out</a:t>
            </a:r>
            <a:endParaRPr lang="zh-CN" altLang="en-US" sz="2000" dirty="0"/>
          </a:p>
        </p:txBody>
      </p:sp>
      <p:grpSp>
        <p:nvGrpSpPr>
          <p:cNvPr id="2" name="Group 4">
            <a:extLst>
              <a:ext uri="{FF2B5EF4-FFF2-40B4-BE49-F238E27FC236}">
                <a16:creationId xmlns:a16="http://schemas.microsoft.com/office/drawing/2014/main" id="{396332F0-25D4-420D-88FB-443689F3E43B}"/>
              </a:ext>
            </a:extLst>
          </p:cNvPr>
          <p:cNvGrpSpPr>
            <a:grpSpLocks/>
          </p:cNvGrpSpPr>
          <p:nvPr/>
        </p:nvGrpSpPr>
        <p:grpSpPr bwMode="auto">
          <a:xfrm>
            <a:off x="6119813" y="2492375"/>
            <a:ext cx="1946275" cy="2138363"/>
            <a:chOff x="3855" y="1570"/>
            <a:chExt cx="1226" cy="1347"/>
          </a:xfrm>
        </p:grpSpPr>
        <p:sp>
          <p:nvSpPr>
            <p:cNvPr id="43024" name="Rectangle 5">
              <a:extLst>
                <a:ext uri="{FF2B5EF4-FFF2-40B4-BE49-F238E27FC236}">
                  <a16:creationId xmlns:a16="http://schemas.microsoft.com/office/drawing/2014/main" id="{CD1B3431-3AD8-47B6-A432-49EEB64E96A1}"/>
                </a:ext>
              </a:extLst>
            </p:cNvPr>
            <p:cNvSpPr>
              <a:spLocks noChangeArrowheads="1"/>
            </p:cNvSpPr>
            <p:nvPr/>
          </p:nvSpPr>
          <p:spPr bwMode="auto">
            <a:xfrm>
              <a:off x="4504" y="2098"/>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1/0</a:t>
              </a:r>
            </a:p>
          </p:txBody>
        </p:sp>
        <p:sp>
          <p:nvSpPr>
            <p:cNvPr id="43025" name="Rectangle 6">
              <a:extLst>
                <a:ext uri="{FF2B5EF4-FFF2-40B4-BE49-F238E27FC236}">
                  <a16:creationId xmlns:a16="http://schemas.microsoft.com/office/drawing/2014/main" id="{4782B697-822B-4255-B155-1BDEAB3FC779}"/>
                </a:ext>
              </a:extLst>
            </p:cNvPr>
            <p:cNvSpPr>
              <a:spLocks noChangeArrowheads="1"/>
            </p:cNvSpPr>
            <p:nvPr/>
          </p:nvSpPr>
          <p:spPr bwMode="auto">
            <a:xfrm>
              <a:off x="3855" y="2182"/>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0/0</a:t>
              </a:r>
            </a:p>
          </p:txBody>
        </p:sp>
        <p:sp>
          <p:nvSpPr>
            <p:cNvPr id="43026" name="Rectangle 7">
              <a:extLst>
                <a:ext uri="{FF2B5EF4-FFF2-40B4-BE49-F238E27FC236}">
                  <a16:creationId xmlns:a16="http://schemas.microsoft.com/office/drawing/2014/main" id="{1A09B3F5-4C6F-4572-8F84-57473C80F8F5}"/>
                </a:ext>
              </a:extLst>
            </p:cNvPr>
            <p:cNvSpPr>
              <a:spLocks noChangeArrowheads="1"/>
            </p:cNvSpPr>
            <p:nvPr/>
          </p:nvSpPr>
          <p:spPr bwMode="auto">
            <a:xfrm>
              <a:off x="4853" y="1706"/>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0/0</a:t>
              </a:r>
            </a:p>
          </p:txBody>
        </p:sp>
        <p:sp>
          <p:nvSpPr>
            <p:cNvPr id="43027" name="Rectangle 8">
              <a:extLst>
                <a:ext uri="{FF2B5EF4-FFF2-40B4-BE49-F238E27FC236}">
                  <a16:creationId xmlns:a16="http://schemas.microsoft.com/office/drawing/2014/main" id="{7C8289EE-6E58-454B-87C3-6DBB949D418B}"/>
                </a:ext>
              </a:extLst>
            </p:cNvPr>
            <p:cNvSpPr>
              <a:spLocks noChangeArrowheads="1"/>
            </p:cNvSpPr>
            <p:nvPr/>
          </p:nvSpPr>
          <p:spPr bwMode="auto">
            <a:xfrm>
              <a:off x="4853" y="2568"/>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1/1</a:t>
              </a:r>
            </a:p>
          </p:txBody>
        </p:sp>
        <p:sp>
          <p:nvSpPr>
            <p:cNvPr id="43028" name="Oval 9">
              <a:extLst>
                <a:ext uri="{FF2B5EF4-FFF2-40B4-BE49-F238E27FC236}">
                  <a16:creationId xmlns:a16="http://schemas.microsoft.com/office/drawing/2014/main" id="{54A616AE-8DB6-4D92-B966-6ECEE36ACCC1}"/>
                </a:ext>
              </a:extLst>
            </p:cNvPr>
            <p:cNvSpPr>
              <a:spLocks noChangeArrowheads="1"/>
            </p:cNvSpPr>
            <p:nvPr/>
          </p:nvSpPr>
          <p:spPr bwMode="auto">
            <a:xfrm>
              <a:off x="4059" y="1570"/>
              <a:ext cx="737" cy="48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ZERO</a:t>
              </a:r>
            </a:p>
          </p:txBody>
        </p:sp>
        <p:sp>
          <p:nvSpPr>
            <p:cNvPr id="43029" name="Oval 10">
              <a:extLst>
                <a:ext uri="{FF2B5EF4-FFF2-40B4-BE49-F238E27FC236}">
                  <a16:creationId xmlns:a16="http://schemas.microsoft.com/office/drawing/2014/main" id="{0C245F9C-8355-4D96-BA47-A7EFF72025FA}"/>
                </a:ext>
              </a:extLst>
            </p:cNvPr>
            <p:cNvSpPr>
              <a:spLocks noChangeArrowheads="1"/>
            </p:cNvSpPr>
            <p:nvPr/>
          </p:nvSpPr>
          <p:spPr bwMode="auto">
            <a:xfrm>
              <a:off x="4059" y="2427"/>
              <a:ext cx="737" cy="49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ONE</a:t>
              </a:r>
            </a:p>
          </p:txBody>
        </p:sp>
        <p:cxnSp>
          <p:nvCxnSpPr>
            <p:cNvPr id="43030" name="AutoShape 11">
              <a:extLst>
                <a:ext uri="{FF2B5EF4-FFF2-40B4-BE49-F238E27FC236}">
                  <a16:creationId xmlns:a16="http://schemas.microsoft.com/office/drawing/2014/main" id="{975B1996-49F9-4B1A-9822-CFCE33DBC8D8}"/>
                </a:ext>
              </a:extLst>
            </p:cNvPr>
            <p:cNvCxnSpPr>
              <a:cxnSpLocks noChangeShapeType="1"/>
              <a:stCxn id="43028" idx="4"/>
              <a:endCxn id="43029" idx="0"/>
            </p:cNvCxnSpPr>
            <p:nvPr/>
          </p:nvCxnSpPr>
          <p:spPr bwMode="auto">
            <a:xfrm>
              <a:off x="4428" y="2071"/>
              <a:ext cx="0" cy="344"/>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3031" name="AutoShape 12">
              <a:extLst>
                <a:ext uri="{FF2B5EF4-FFF2-40B4-BE49-F238E27FC236}">
                  <a16:creationId xmlns:a16="http://schemas.microsoft.com/office/drawing/2014/main" id="{997CEA57-9582-433F-9B06-09A483E09985}"/>
                </a:ext>
              </a:extLst>
            </p:cNvPr>
            <p:cNvCxnSpPr>
              <a:cxnSpLocks noChangeShapeType="1"/>
              <a:stCxn id="43029" idx="2"/>
              <a:endCxn id="43028" idx="2"/>
            </p:cNvCxnSpPr>
            <p:nvPr/>
          </p:nvCxnSpPr>
          <p:spPr bwMode="auto">
            <a:xfrm rot="10800000" flipH="1">
              <a:off x="4047" y="1815"/>
              <a:ext cx="1" cy="857"/>
            </a:xfrm>
            <a:prstGeom prst="curvedConnector3">
              <a:avLst>
                <a:gd name="adj1" fmla="val -27600009"/>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3032" name="AutoShape 13">
              <a:extLst>
                <a:ext uri="{FF2B5EF4-FFF2-40B4-BE49-F238E27FC236}">
                  <a16:creationId xmlns:a16="http://schemas.microsoft.com/office/drawing/2014/main" id="{CE50E5AA-F2A5-4E36-B5F2-0000F13E11C2}"/>
                </a:ext>
              </a:extLst>
            </p:cNvPr>
            <p:cNvCxnSpPr>
              <a:cxnSpLocks noChangeShapeType="1"/>
              <a:stCxn id="43028" idx="5"/>
              <a:endCxn id="43028" idx="7"/>
            </p:cNvCxnSpPr>
            <p:nvPr/>
          </p:nvCxnSpPr>
          <p:spPr bwMode="auto">
            <a:xfrm rot="5400000" flipH="1" flipV="1">
              <a:off x="4504" y="1814"/>
              <a:ext cx="369" cy="1"/>
            </a:xfrm>
            <a:prstGeom prst="curvedConnector5">
              <a:avLst>
                <a:gd name="adj1" fmla="val -25204"/>
                <a:gd name="adj2" fmla="val 49300014"/>
                <a:gd name="adj3" fmla="val 14173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3033" name="AutoShape 14">
              <a:extLst>
                <a:ext uri="{FF2B5EF4-FFF2-40B4-BE49-F238E27FC236}">
                  <a16:creationId xmlns:a16="http://schemas.microsoft.com/office/drawing/2014/main" id="{1BFD72A1-29D6-4590-B0F0-E4F0FE4EE34B}"/>
                </a:ext>
              </a:extLst>
            </p:cNvPr>
            <p:cNvCxnSpPr>
              <a:cxnSpLocks noChangeShapeType="1"/>
            </p:cNvCxnSpPr>
            <p:nvPr/>
          </p:nvCxnSpPr>
          <p:spPr bwMode="auto">
            <a:xfrm rot="5400000" flipH="1" flipV="1">
              <a:off x="4487" y="2684"/>
              <a:ext cx="369" cy="1"/>
            </a:xfrm>
            <a:prstGeom prst="curvedConnector5">
              <a:avLst>
                <a:gd name="adj1" fmla="val -36046"/>
                <a:gd name="adj2" fmla="val 47000014"/>
                <a:gd name="adj3" fmla="val 143898"/>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grpSp>
      <p:sp>
        <p:nvSpPr>
          <p:cNvPr id="1693711" name="Rectangle 15">
            <a:extLst>
              <a:ext uri="{FF2B5EF4-FFF2-40B4-BE49-F238E27FC236}">
                <a16:creationId xmlns:a16="http://schemas.microsoft.com/office/drawing/2014/main" id="{6A8C1B23-53AB-4519-BF72-9AEE2F09E224}"/>
              </a:ext>
            </a:extLst>
          </p:cNvPr>
          <p:cNvSpPr>
            <a:spLocks noChangeArrowheads="1"/>
          </p:cNvSpPr>
          <p:nvPr/>
        </p:nvSpPr>
        <p:spPr bwMode="auto">
          <a:xfrm>
            <a:off x="846138" y="3212976"/>
            <a:ext cx="5273675" cy="3195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8792" tIns="26621" rIns="18792" bIns="26621"/>
          <a:lstStyle>
            <a:lvl1pPr defTabSz="901700">
              <a:spcAft>
                <a:spcPct val="20000"/>
              </a:spcAft>
              <a:buChar char="•"/>
              <a:tabLst>
                <a:tab pos="450850" algn="l"/>
                <a:tab pos="901700" algn="l"/>
                <a:tab pos="1350963" algn="l"/>
                <a:tab pos="2641600"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 pos="2641600"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2000" b="0" dirty="0">
                <a:solidFill>
                  <a:srgbClr val="000000"/>
                </a:solidFill>
              </a:rPr>
              <a:t>module reduce (</a:t>
            </a:r>
            <a:br>
              <a:rPr lang="en-US" altLang="zh-CN" sz="2000" b="0" dirty="0">
                <a:solidFill>
                  <a:srgbClr val="000000"/>
                </a:solidFill>
              </a:rPr>
            </a:br>
            <a:r>
              <a:rPr lang="en-US" altLang="zh-CN" sz="2000" b="0" dirty="0">
                <a:solidFill>
                  <a:srgbClr val="000000"/>
                </a:solidFill>
              </a:rPr>
              <a:t>    input  </a:t>
            </a:r>
            <a:r>
              <a:rPr lang="en-US" altLang="zh-CN" sz="2000" b="0" dirty="0" err="1">
                <a:solidFill>
                  <a:srgbClr val="000000"/>
                </a:solidFill>
              </a:rPr>
              <a:t>clk</a:t>
            </a:r>
            <a:r>
              <a:rPr lang="en-US" altLang="zh-CN" sz="2000" b="0">
                <a:solidFill>
                  <a:srgbClr val="000000"/>
                </a:solidFill>
              </a:rPr>
              <a:t>, rst, </a:t>
            </a:r>
            <a:endParaRPr lang="en-US" altLang="zh-CN" sz="2000" b="0" dirty="0">
              <a:solidFill>
                <a:srgbClr val="000000"/>
              </a:solidFill>
            </a:endParaRPr>
          </a:p>
          <a:p>
            <a:pPr>
              <a:spcAft>
                <a:spcPct val="0"/>
              </a:spcAft>
              <a:buFontTx/>
              <a:buNone/>
            </a:pPr>
            <a:r>
              <a:rPr lang="en-US" altLang="zh-CN" sz="2000" b="0" dirty="0">
                <a:solidFill>
                  <a:srgbClr val="000000"/>
                </a:solidFill>
              </a:rPr>
              <a:t>    input in,</a:t>
            </a:r>
          </a:p>
          <a:p>
            <a:pPr>
              <a:spcAft>
                <a:spcPct val="0"/>
              </a:spcAft>
              <a:buFontTx/>
              <a:buNone/>
            </a:pPr>
            <a:r>
              <a:rPr lang="en-US" altLang="zh-CN" sz="2000" b="0" dirty="0">
                <a:solidFill>
                  <a:srgbClr val="000000"/>
                </a:solidFill>
              </a:rPr>
              <a:t>    output  out</a:t>
            </a:r>
            <a:br>
              <a:rPr lang="en-US" altLang="zh-CN" sz="2000" b="0" dirty="0">
                <a:solidFill>
                  <a:srgbClr val="000000"/>
                </a:solidFill>
              </a:rPr>
            </a:br>
            <a:r>
              <a:rPr lang="en-US" altLang="zh-CN" sz="2000" b="0" dirty="0">
                <a:solidFill>
                  <a:srgbClr val="000000"/>
                </a:solidFill>
              </a:rPr>
              <a:t>)</a:t>
            </a:r>
            <a:endParaRPr lang="en-US" altLang="zh-CN" sz="1100" b="0" dirty="0">
              <a:solidFill>
                <a:srgbClr val="000000"/>
              </a:solidFill>
            </a:endParaRPr>
          </a:p>
          <a:p>
            <a:pPr>
              <a:spcAft>
                <a:spcPct val="0"/>
              </a:spcAft>
              <a:buFontTx/>
              <a:buNone/>
            </a:pPr>
            <a:r>
              <a:rPr lang="en-US" altLang="zh-CN" sz="2000" b="0" dirty="0">
                <a:solidFill>
                  <a:srgbClr val="000000"/>
                </a:solidFill>
              </a:rPr>
              <a:t>    reg   out;</a:t>
            </a:r>
          </a:p>
          <a:p>
            <a:pPr>
              <a:spcAft>
                <a:spcPct val="0"/>
              </a:spcAft>
              <a:buFontTx/>
              <a:buNone/>
            </a:pPr>
            <a:r>
              <a:rPr lang="en-US" altLang="zh-CN" sz="2000" b="0" dirty="0">
                <a:solidFill>
                  <a:srgbClr val="000000"/>
                </a:solidFill>
              </a:rPr>
              <a:t>    reg   state,</a:t>
            </a:r>
            <a:r>
              <a:rPr lang="zh-CN" altLang="en-US" sz="2000" b="0" dirty="0">
                <a:solidFill>
                  <a:srgbClr val="000000"/>
                </a:solidFill>
              </a:rPr>
              <a:t> </a:t>
            </a:r>
            <a:r>
              <a:rPr lang="en-US" altLang="zh-CN" sz="2000" b="0" dirty="0" err="1">
                <a:solidFill>
                  <a:srgbClr val="000000"/>
                </a:solidFill>
              </a:rPr>
              <a:t>next_state</a:t>
            </a:r>
            <a:r>
              <a:rPr lang="en-US" altLang="zh-CN" sz="2000" b="0" dirty="0">
                <a:solidFill>
                  <a:srgbClr val="000000"/>
                </a:solidFill>
              </a:rPr>
              <a:t>;</a:t>
            </a:r>
          </a:p>
          <a:p>
            <a:pPr>
              <a:spcAft>
                <a:spcPct val="0"/>
              </a:spcAft>
              <a:buFontTx/>
              <a:buNone/>
            </a:pPr>
            <a:endParaRPr lang="en-US" altLang="zh-CN" sz="700" b="0" dirty="0">
              <a:solidFill>
                <a:srgbClr val="000000"/>
              </a:solidFill>
            </a:endParaRPr>
          </a:p>
          <a:p>
            <a:pPr>
              <a:spcAft>
                <a:spcPct val="0"/>
              </a:spcAft>
              <a:buFontTx/>
              <a:buNone/>
            </a:pPr>
            <a:r>
              <a:rPr lang="en-US" altLang="zh-CN" sz="2000" b="0" dirty="0">
                <a:solidFill>
                  <a:srgbClr val="000000"/>
                </a:solidFill>
              </a:rPr>
              <a:t>    parameter  ZERO = 0, ONE = 1;</a:t>
            </a:r>
            <a:endParaRPr lang="en-US" altLang="zh-CN" sz="900" b="0" dirty="0">
              <a:solidFill>
                <a:srgbClr val="000000"/>
              </a:solidFill>
            </a:endParaRPr>
          </a:p>
          <a:p>
            <a:pPr>
              <a:spcAft>
                <a:spcPct val="0"/>
              </a:spcAft>
              <a:buFontTx/>
              <a:buNone/>
            </a:pPr>
            <a:endParaRPr lang="en-US" altLang="zh-CN" sz="2000" b="0" dirty="0">
              <a:solidFill>
                <a:srgbClr val="000000"/>
              </a:solidFill>
            </a:endParaRPr>
          </a:p>
        </p:txBody>
      </p:sp>
      <p:grpSp>
        <p:nvGrpSpPr>
          <p:cNvPr id="3" name="Group 16">
            <a:extLst>
              <a:ext uri="{FF2B5EF4-FFF2-40B4-BE49-F238E27FC236}">
                <a16:creationId xmlns:a16="http://schemas.microsoft.com/office/drawing/2014/main" id="{BDFDE6C5-1CA8-40B4-ADDA-51FD4A7D4406}"/>
              </a:ext>
            </a:extLst>
          </p:cNvPr>
          <p:cNvGrpSpPr>
            <a:grpSpLocks/>
          </p:cNvGrpSpPr>
          <p:nvPr/>
        </p:nvGrpSpPr>
        <p:grpSpPr bwMode="auto">
          <a:xfrm>
            <a:off x="6721480" y="1716085"/>
            <a:ext cx="627063" cy="776289"/>
            <a:chOff x="4234" y="1003"/>
            <a:chExt cx="395" cy="567"/>
          </a:xfrm>
        </p:grpSpPr>
        <p:cxnSp>
          <p:nvCxnSpPr>
            <p:cNvPr id="43022" name="AutoShape 17">
              <a:extLst>
                <a:ext uri="{FF2B5EF4-FFF2-40B4-BE49-F238E27FC236}">
                  <a16:creationId xmlns:a16="http://schemas.microsoft.com/office/drawing/2014/main" id="{626E0DA5-AA6E-4843-B664-5BD1E36F36EB}"/>
                </a:ext>
              </a:extLst>
            </p:cNvPr>
            <p:cNvCxnSpPr>
              <a:cxnSpLocks noChangeShapeType="1"/>
              <a:stCxn id="43023" idx="2"/>
              <a:endCxn id="43028" idx="0"/>
            </p:cNvCxnSpPr>
            <p:nvPr/>
          </p:nvCxnSpPr>
          <p:spPr bwMode="auto">
            <a:xfrm flipH="1">
              <a:off x="4427" y="1239"/>
              <a:ext cx="4" cy="331"/>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43023" name="Rectangle 18">
              <a:extLst>
                <a:ext uri="{FF2B5EF4-FFF2-40B4-BE49-F238E27FC236}">
                  <a16:creationId xmlns:a16="http://schemas.microsoft.com/office/drawing/2014/main" id="{50EB6898-6B23-47BC-A940-5E6D3D2D7F41}"/>
                </a:ext>
              </a:extLst>
            </p:cNvPr>
            <p:cNvSpPr>
              <a:spLocks noChangeArrowheads="1"/>
            </p:cNvSpPr>
            <p:nvPr/>
          </p:nvSpPr>
          <p:spPr bwMode="auto">
            <a:xfrm>
              <a:off x="4234" y="1003"/>
              <a:ext cx="39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gn="ctr">
                <a:lnSpc>
                  <a:spcPts val="2075"/>
                </a:lnSpc>
                <a:spcAft>
                  <a:spcPct val="0"/>
                </a:spcAft>
                <a:buFontTx/>
                <a:buNone/>
              </a:pPr>
              <a:r>
                <a:rPr lang="en-US" altLang="zh-CN" sz="2000" dirty="0">
                  <a:solidFill>
                    <a:srgbClr val="000000"/>
                  </a:solidFill>
                </a:rPr>
                <a:t>! </a:t>
              </a:r>
              <a:r>
                <a:rPr lang="en-US" altLang="zh-CN" sz="2000" dirty="0" err="1">
                  <a:solidFill>
                    <a:srgbClr val="000000"/>
                  </a:solidFill>
                </a:rPr>
                <a:t>rstn</a:t>
              </a:r>
              <a:endParaRPr lang="en-US" altLang="zh-CN" sz="2000" dirty="0">
                <a:solidFill>
                  <a:srgbClr val="000000"/>
                </a:solidFill>
              </a:endParaRPr>
            </a:p>
          </p:txBody>
        </p:sp>
      </p:grpSp>
      <p:grpSp>
        <p:nvGrpSpPr>
          <p:cNvPr id="4" name="Group 19">
            <a:extLst>
              <a:ext uri="{FF2B5EF4-FFF2-40B4-BE49-F238E27FC236}">
                <a16:creationId xmlns:a16="http://schemas.microsoft.com/office/drawing/2014/main" id="{F6B5F2FC-C39A-439F-BC20-11E4C20BBBDE}"/>
              </a:ext>
            </a:extLst>
          </p:cNvPr>
          <p:cNvGrpSpPr>
            <a:grpSpLocks/>
          </p:cNvGrpSpPr>
          <p:nvPr/>
        </p:nvGrpSpPr>
        <p:grpSpPr bwMode="auto">
          <a:xfrm>
            <a:off x="6443663" y="5062538"/>
            <a:ext cx="1930400" cy="814387"/>
            <a:chOff x="4059" y="3189"/>
            <a:chExt cx="1216" cy="513"/>
          </a:xfrm>
        </p:grpSpPr>
        <p:sp>
          <p:nvSpPr>
            <p:cNvPr id="43019" name="Oval 20">
              <a:extLst>
                <a:ext uri="{FF2B5EF4-FFF2-40B4-BE49-F238E27FC236}">
                  <a16:creationId xmlns:a16="http://schemas.microsoft.com/office/drawing/2014/main" id="{546B03F5-35E8-4141-83EA-F00467808EE3}"/>
                </a:ext>
              </a:extLst>
            </p:cNvPr>
            <p:cNvSpPr>
              <a:spLocks noChangeArrowheads="1"/>
            </p:cNvSpPr>
            <p:nvPr/>
          </p:nvSpPr>
          <p:spPr bwMode="auto">
            <a:xfrm>
              <a:off x="4059" y="3212"/>
              <a:ext cx="737" cy="49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2000"/>
                <a:t>state</a:t>
              </a:r>
            </a:p>
          </p:txBody>
        </p:sp>
        <p:sp>
          <p:nvSpPr>
            <p:cNvPr id="43020" name="Rectangle 21">
              <a:extLst>
                <a:ext uri="{FF2B5EF4-FFF2-40B4-BE49-F238E27FC236}">
                  <a16:creationId xmlns:a16="http://schemas.microsoft.com/office/drawing/2014/main" id="{0B333DF2-08E7-43F1-8A79-8F3CF3E92659}"/>
                </a:ext>
              </a:extLst>
            </p:cNvPr>
            <p:cNvSpPr>
              <a:spLocks noChangeArrowheads="1"/>
            </p:cNvSpPr>
            <p:nvPr/>
          </p:nvSpPr>
          <p:spPr bwMode="auto">
            <a:xfrm>
              <a:off x="4852" y="3189"/>
              <a:ext cx="423"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in/out</a:t>
              </a:r>
            </a:p>
          </p:txBody>
        </p:sp>
        <p:sp>
          <p:nvSpPr>
            <p:cNvPr id="43021" name="Line 22">
              <a:extLst>
                <a:ext uri="{FF2B5EF4-FFF2-40B4-BE49-F238E27FC236}">
                  <a16:creationId xmlns:a16="http://schemas.microsoft.com/office/drawing/2014/main" id="{40A4518D-14A9-4008-A952-92F287D84201}"/>
                </a:ext>
              </a:extLst>
            </p:cNvPr>
            <p:cNvSpPr>
              <a:spLocks noChangeShapeType="1"/>
            </p:cNvSpPr>
            <p:nvPr/>
          </p:nvSpPr>
          <p:spPr bwMode="auto">
            <a:xfrm>
              <a:off x="4797" y="3463"/>
              <a:ext cx="448" cy="0"/>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26" name="Rectangle 4">
            <a:extLst>
              <a:ext uri="{FF2B5EF4-FFF2-40B4-BE49-F238E27FC236}">
                <a16:creationId xmlns:a16="http://schemas.microsoft.com/office/drawing/2014/main" id="{E64DABCD-6065-4365-9F65-5EF8DD379F60}"/>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7" name="Rectangle 5">
            <a:extLst>
              <a:ext uri="{FF2B5EF4-FFF2-40B4-BE49-F238E27FC236}">
                <a16:creationId xmlns:a16="http://schemas.microsoft.com/office/drawing/2014/main" id="{844BFEB3-40FB-4FA7-BF57-F64A489851ED}"/>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28" name="Rectangle 6">
            <a:extLst>
              <a:ext uri="{FF2B5EF4-FFF2-40B4-BE49-F238E27FC236}">
                <a16:creationId xmlns:a16="http://schemas.microsoft.com/office/drawing/2014/main" id="{641C0599-D007-4379-A371-AEE0E95FDA6F}"/>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16</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693699">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93699">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937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37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F1432A8-27AD-4AC7-AED6-4065D458CCAB}"/>
              </a:ext>
            </a:extLst>
          </p:cNvPr>
          <p:cNvSpPr>
            <a:spLocks noGrp="1" noChangeArrowheads="1"/>
          </p:cNvSpPr>
          <p:nvPr>
            <p:ph type="title" idx="4294967295"/>
          </p:nvPr>
        </p:nvSpPr>
        <p:spPr/>
        <p:txBody>
          <a:bodyPr/>
          <a:lstStyle/>
          <a:p>
            <a:r>
              <a:rPr lang="zh-CN" altLang="en-US"/>
              <a:t>示例</a:t>
            </a:r>
            <a:r>
              <a:rPr lang="en-US" altLang="zh-CN"/>
              <a:t>—</a:t>
            </a:r>
            <a:r>
              <a:rPr lang="zh-CN" altLang="en-US"/>
              <a:t>多段式米里型</a:t>
            </a:r>
            <a:r>
              <a:rPr lang="en-US" altLang="zh-CN"/>
              <a:t>FSM (</a:t>
            </a:r>
            <a:r>
              <a:rPr lang="zh-CN" altLang="en-US"/>
              <a:t>续</a:t>
            </a:r>
            <a:r>
              <a:rPr lang="en-US" altLang="zh-CN"/>
              <a:t>1)</a:t>
            </a:r>
            <a:endParaRPr lang="zh-CN" altLang="en-US"/>
          </a:p>
        </p:txBody>
      </p:sp>
      <p:sp>
        <p:nvSpPr>
          <p:cNvPr id="44035" name="Rectangle 3">
            <a:extLst>
              <a:ext uri="{FF2B5EF4-FFF2-40B4-BE49-F238E27FC236}">
                <a16:creationId xmlns:a16="http://schemas.microsoft.com/office/drawing/2014/main" id="{F1711A1C-5F89-4486-A87E-45952F0A3702}"/>
              </a:ext>
            </a:extLst>
          </p:cNvPr>
          <p:cNvSpPr>
            <a:spLocks noChangeArrowheads="1"/>
          </p:cNvSpPr>
          <p:nvPr/>
        </p:nvSpPr>
        <p:spPr bwMode="auto">
          <a:xfrm>
            <a:off x="846138" y="1484313"/>
            <a:ext cx="5454650" cy="49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8792" tIns="26621" rIns="18792" bIns="26621"/>
          <a:lstStyle>
            <a:lvl1pPr defTabSz="901700">
              <a:spcAft>
                <a:spcPct val="20000"/>
              </a:spcAft>
              <a:buChar char="•"/>
              <a:tabLst>
                <a:tab pos="450850" algn="l"/>
                <a:tab pos="901700" algn="l"/>
                <a:tab pos="1350963" algn="l"/>
                <a:tab pos="2641600"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 pos="2641600"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2000" b="0" dirty="0">
                <a:solidFill>
                  <a:srgbClr val="000000"/>
                </a:solidFill>
              </a:rPr>
              <a:t>// </a:t>
            </a:r>
            <a:r>
              <a:rPr lang="zh-CN" altLang="en-US" sz="2000" b="0" dirty="0">
                <a:solidFill>
                  <a:srgbClr val="000000"/>
                </a:solidFill>
              </a:rPr>
              <a:t>时序描述状态</a:t>
            </a:r>
            <a:endParaRPr lang="en-US" altLang="zh-CN" sz="2000" b="0" dirty="0">
              <a:solidFill>
                <a:srgbClr val="000000"/>
              </a:solidFill>
            </a:endParaRPr>
          </a:p>
          <a:p>
            <a:pPr>
              <a:buFontTx/>
              <a:buNone/>
            </a:pPr>
            <a:r>
              <a:rPr lang="en-US" altLang="zh-CN" sz="2000" b="0" dirty="0">
                <a:solidFill>
                  <a:srgbClr val="000000"/>
                </a:solidFill>
              </a:rPr>
              <a:t>   always  @(</a:t>
            </a:r>
            <a:r>
              <a:rPr lang="en-US" altLang="zh-CN" sz="2000" b="0" err="1">
                <a:solidFill>
                  <a:srgbClr val="000000"/>
                </a:solidFill>
              </a:rPr>
              <a:t>posedge</a:t>
            </a:r>
            <a:r>
              <a:rPr lang="en-US" altLang="zh-CN" sz="2000" b="0">
                <a:solidFill>
                  <a:srgbClr val="000000"/>
                </a:solidFill>
              </a:rPr>
              <a:t> clk)</a:t>
            </a:r>
            <a:endParaRPr lang="en-US" altLang="zh-CN" sz="2000" b="0" dirty="0">
              <a:solidFill>
                <a:srgbClr val="000000"/>
              </a:solidFill>
            </a:endParaRPr>
          </a:p>
          <a:p>
            <a:pPr>
              <a:spcAft>
                <a:spcPct val="0"/>
              </a:spcAft>
              <a:buFontTx/>
              <a:buNone/>
            </a:pPr>
            <a:r>
              <a:rPr lang="en-US" altLang="zh-CN" sz="2000" b="0" dirty="0">
                <a:solidFill>
                  <a:srgbClr val="000000"/>
                </a:solidFill>
              </a:rPr>
              <a:t>       </a:t>
            </a:r>
            <a:r>
              <a:rPr lang="en-US" altLang="zh-CN" sz="2000" b="0">
                <a:solidFill>
                  <a:srgbClr val="000000"/>
                </a:solidFill>
              </a:rPr>
              <a:t>if (rst)   </a:t>
            </a:r>
            <a:r>
              <a:rPr lang="en-US" altLang="zh-CN" sz="2000" b="0" dirty="0">
                <a:solidFill>
                  <a:srgbClr val="000000"/>
                </a:solidFill>
              </a:rPr>
              <a:t>state &lt;= ZERO;  //</a:t>
            </a:r>
            <a:r>
              <a:rPr lang="zh-CN" altLang="en-US" sz="2000" b="0" dirty="0">
                <a:solidFill>
                  <a:srgbClr val="000000"/>
                </a:solidFill>
              </a:rPr>
              <a:t>异步复位</a:t>
            </a:r>
          </a:p>
          <a:p>
            <a:pPr>
              <a:spcAft>
                <a:spcPct val="0"/>
              </a:spcAft>
              <a:buFontTx/>
              <a:buNone/>
            </a:pPr>
            <a:r>
              <a:rPr lang="en-US" altLang="zh-CN" sz="2000" b="0" dirty="0">
                <a:solidFill>
                  <a:srgbClr val="000000"/>
                </a:solidFill>
              </a:rPr>
              <a:t>       else   state &lt;= </a:t>
            </a:r>
            <a:r>
              <a:rPr lang="en-US" altLang="zh-CN" sz="2000" b="0" dirty="0" err="1">
                <a:solidFill>
                  <a:srgbClr val="000000"/>
                </a:solidFill>
              </a:rPr>
              <a:t>next_state</a:t>
            </a:r>
            <a:r>
              <a:rPr lang="en-US" altLang="zh-CN" sz="2000" b="0" dirty="0">
                <a:solidFill>
                  <a:srgbClr val="000000"/>
                </a:solidFill>
              </a:rPr>
              <a:t>;</a:t>
            </a:r>
          </a:p>
          <a:p>
            <a:pPr>
              <a:spcAft>
                <a:spcPct val="0"/>
              </a:spcAft>
              <a:buFontTx/>
              <a:buNone/>
            </a:pPr>
            <a:endParaRPr lang="en-US" altLang="zh-CN" sz="2000" b="0" dirty="0">
              <a:solidFill>
                <a:srgbClr val="000000"/>
              </a:solidFill>
            </a:endParaRPr>
          </a:p>
          <a:p>
            <a:pPr>
              <a:spcAft>
                <a:spcPct val="0"/>
              </a:spcAft>
              <a:buFontTx/>
              <a:buNone/>
            </a:pPr>
            <a:r>
              <a:rPr lang="en-US" altLang="zh-CN" sz="2000" b="0" dirty="0">
                <a:solidFill>
                  <a:srgbClr val="000000"/>
                </a:solidFill>
              </a:rPr>
              <a:t>// </a:t>
            </a:r>
            <a:r>
              <a:rPr lang="zh-CN" altLang="en-US" sz="2000" b="0" dirty="0">
                <a:solidFill>
                  <a:srgbClr val="000000"/>
                </a:solidFill>
              </a:rPr>
              <a:t>组合描述下一状态和输出</a:t>
            </a:r>
            <a:endParaRPr lang="en-US" altLang="zh-CN" sz="2000" b="0" dirty="0">
              <a:solidFill>
                <a:srgbClr val="000000"/>
              </a:solidFill>
            </a:endParaRPr>
          </a:p>
          <a:p>
            <a:pPr>
              <a:spcAft>
                <a:spcPct val="0"/>
              </a:spcAft>
              <a:buFontTx/>
              <a:buNone/>
            </a:pPr>
            <a:r>
              <a:rPr lang="en-US" altLang="zh-CN" sz="2000" b="0" dirty="0">
                <a:solidFill>
                  <a:srgbClr val="000000"/>
                </a:solidFill>
              </a:rPr>
              <a:t>   always  @(*)</a:t>
            </a:r>
            <a:br>
              <a:rPr lang="en-US" altLang="zh-CN" sz="2000" b="0" dirty="0">
                <a:solidFill>
                  <a:srgbClr val="000000"/>
                </a:solidFill>
              </a:rPr>
            </a:br>
            <a:r>
              <a:rPr lang="en-US" altLang="zh-CN" sz="2000" b="0" dirty="0">
                <a:solidFill>
                  <a:srgbClr val="000000"/>
                </a:solidFill>
              </a:rPr>
              <a:t>       case (state)</a:t>
            </a:r>
            <a:br>
              <a:rPr lang="en-US" altLang="zh-CN" sz="2000" b="0" dirty="0">
                <a:solidFill>
                  <a:srgbClr val="000000"/>
                </a:solidFill>
              </a:rPr>
            </a:br>
            <a:r>
              <a:rPr lang="en-US" altLang="zh-CN" sz="2000" b="0" dirty="0">
                <a:solidFill>
                  <a:srgbClr val="000000"/>
                </a:solidFill>
              </a:rPr>
              <a:t>           ZERO: begin</a:t>
            </a:r>
            <a:br>
              <a:rPr lang="en-US" altLang="zh-CN" sz="2000" b="0" dirty="0">
                <a:solidFill>
                  <a:srgbClr val="000000"/>
                </a:solidFill>
              </a:rPr>
            </a:br>
            <a:r>
              <a:rPr lang="en-US" altLang="zh-CN" sz="2000" b="0" dirty="0">
                <a:solidFill>
                  <a:srgbClr val="000000"/>
                </a:solidFill>
              </a:rPr>
              <a:t>              out = 0; </a:t>
            </a:r>
            <a:br>
              <a:rPr lang="en-US" altLang="zh-CN" sz="2000" b="0" dirty="0">
                <a:solidFill>
                  <a:srgbClr val="000000"/>
                </a:solidFill>
              </a:rPr>
            </a:br>
            <a:r>
              <a:rPr lang="en-US" altLang="zh-CN" sz="2000" b="0" dirty="0">
                <a:solidFill>
                  <a:srgbClr val="000000"/>
                </a:solidFill>
              </a:rPr>
              <a:t>              if  (in)   </a:t>
            </a:r>
            <a:r>
              <a:rPr lang="en-US" altLang="zh-CN" sz="2000" b="0" dirty="0" err="1">
                <a:solidFill>
                  <a:srgbClr val="000000"/>
                </a:solidFill>
              </a:rPr>
              <a:t>next_state</a:t>
            </a:r>
            <a:r>
              <a:rPr lang="en-US" altLang="zh-CN" sz="2000" b="0" dirty="0">
                <a:solidFill>
                  <a:srgbClr val="000000"/>
                </a:solidFill>
              </a:rPr>
              <a:t> = ONE;</a:t>
            </a:r>
            <a:br>
              <a:rPr lang="en-US" altLang="zh-CN" sz="2000" b="0" dirty="0">
                <a:solidFill>
                  <a:srgbClr val="000000"/>
                </a:solidFill>
              </a:rPr>
            </a:br>
            <a:r>
              <a:rPr lang="en-US" altLang="zh-CN" sz="2000" b="0" dirty="0">
                <a:solidFill>
                  <a:srgbClr val="000000"/>
                </a:solidFill>
              </a:rPr>
              <a:t>              else    </a:t>
            </a:r>
            <a:r>
              <a:rPr lang="en-US" altLang="zh-CN" sz="2000" b="0" dirty="0" err="1">
                <a:solidFill>
                  <a:srgbClr val="000000"/>
                </a:solidFill>
              </a:rPr>
              <a:t>next_state</a:t>
            </a:r>
            <a:r>
              <a:rPr lang="en-US" altLang="zh-CN" sz="2000" b="0" dirty="0">
                <a:solidFill>
                  <a:srgbClr val="000000"/>
                </a:solidFill>
              </a:rPr>
              <a:t> = ZERO;</a:t>
            </a:r>
          </a:p>
          <a:p>
            <a:pPr>
              <a:spcAft>
                <a:spcPct val="0"/>
              </a:spcAft>
              <a:buFontTx/>
              <a:buNone/>
            </a:pPr>
            <a:r>
              <a:rPr lang="en-US" altLang="zh-CN" sz="2000" b="0" dirty="0">
                <a:solidFill>
                  <a:srgbClr val="000000"/>
                </a:solidFill>
              </a:rPr>
              <a:t>           end</a:t>
            </a:r>
          </a:p>
        </p:txBody>
      </p:sp>
      <p:sp>
        <p:nvSpPr>
          <p:cNvPr id="22" name="Rectangle 4">
            <a:extLst>
              <a:ext uri="{FF2B5EF4-FFF2-40B4-BE49-F238E27FC236}">
                <a16:creationId xmlns:a16="http://schemas.microsoft.com/office/drawing/2014/main" id="{F1D3499E-F193-42F0-9740-7420404E2D50}"/>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3" name="Rectangle 5">
            <a:extLst>
              <a:ext uri="{FF2B5EF4-FFF2-40B4-BE49-F238E27FC236}">
                <a16:creationId xmlns:a16="http://schemas.microsoft.com/office/drawing/2014/main" id="{9A61FC91-077E-4952-8D76-9079FFBDF1F2}"/>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24" name="Rectangle 6">
            <a:extLst>
              <a:ext uri="{FF2B5EF4-FFF2-40B4-BE49-F238E27FC236}">
                <a16:creationId xmlns:a16="http://schemas.microsoft.com/office/drawing/2014/main" id="{65B94557-EBB9-4E28-8F0D-7B6F81B031A3}"/>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17</a:t>
            </a:fld>
            <a:endParaRPr lang="en-US" altLang="zh-CN" sz="1800" b="0">
              <a:solidFill>
                <a:srgbClr val="B2B2B2"/>
              </a:solidFill>
              <a:latin typeface="Arial" panose="020B0604020202020204" pitchFamily="34" charset="0"/>
            </a:endParaRPr>
          </a:p>
        </p:txBody>
      </p:sp>
      <p:grpSp>
        <p:nvGrpSpPr>
          <p:cNvPr id="25" name="Group 4">
            <a:extLst>
              <a:ext uri="{FF2B5EF4-FFF2-40B4-BE49-F238E27FC236}">
                <a16:creationId xmlns:a16="http://schemas.microsoft.com/office/drawing/2014/main" id="{092C8F43-0F26-4904-BD83-2869D753B4E6}"/>
              </a:ext>
            </a:extLst>
          </p:cNvPr>
          <p:cNvGrpSpPr>
            <a:grpSpLocks/>
          </p:cNvGrpSpPr>
          <p:nvPr/>
        </p:nvGrpSpPr>
        <p:grpSpPr bwMode="auto">
          <a:xfrm>
            <a:off x="6119813" y="2492375"/>
            <a:ext cx="1946275" cy="2138363"/>
            <a:chOff x="3855" y="1570"/>
            <a:chExt cx="1226" cy="1347"/>
          </a:xfrm>
        </p:grpSpPr>
        <p:sp>
          <p:nvSpPr>
            <p:cNvPr id="26" name="Rectangle 5">
              <a:extLst>
                <a:ext uri="{FF2B5EF4-FFF2-40B4-BE49-F238E27FC236}">
                  <a16:creationId xmlns:a16="http://schemas.microsoft.com/office/drawing/2014/main" id="{8F7BCCF9-CF76-4652-A56C-95CAD40A6C82}"/>
                </a:ext>
              </a:extLst>
            </p:cNvPr>
            <p:cNvSpPr>
              <a:spLocks noChangeArrowheads="1"/>
            </p:cNvSpPr>
            <p:nvPr/>
          </p:nvSpPr>
          <p:spPr bwMode="auto">
            <a:xfrm>
              <a:off x="4504" y="2098"/>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1/0</a:t>
              </a:r>
            </a:p>
          </p:txBody>
        </p:sp>
        <p:sp>
          <p:nvSpPr>
            <p:cNvPr id="27" name="Rectangle 6">
              <a:extLst>
                <a:ext uri="{FF2B5EF4-FFF2-40B4-BE49-F238E27FC236}">
                  <a16:creationId xmlns:a16="http://schemas.microsoft.com/office/drawing/2014/main" id="{E91197AF-28E0-4063-94B9-4B97A9353F8A}"/>
                </a:ext>
              </a:extLst>
            </p:cNvPr>
            <p:cNvSpPr>
              <a:spLocks noChangeArrowheads="1"/>
            </p:cNvSpPr>
            <p:nvPr/>
          </p:nvSpPr>
          <p:spPr bwMode="auto">
            <a:xfrm>
              <a:off x="3855" y="2182"/>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0/0</a:t>
              </a:r>
            </a:p>
          </p:txBody>
        </p:sp>
        <p:sp>
          <p:nvSpPr>
            <p:cNvPr id="28" name="Rectangle 7">
              <a:extLst>
                <a:ext uri="{FF2B5EF4-FFF2-40B4-BE49-F238E27FC236}">
                  <a16:creationId xmlns:a16="http://schemas.microsoft.com/office/drawing/2014/main" id="{53694E49-2A03-4951-9B19-1C894D05F2EA}"/>
                </a:ext>
              </a:extLst>
            </p:cNvPr>
            <p:cNvSpPr>
              <a:spLocks noChangeArrowheads="1"/>
            </p:cNvSpPr>
            <p:nvPr/>
          </p:nvSpPr>
          <p:spPr bwMode="auto">
            <a:xfrm>
              <a:off x="4853" y="1706"/>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0/0</a:t>
              </a:r>
            </a:p>
          </p:txBody>
        </p:sp>
        <p:sp>
          <p:nvSpPr>
            <p:cNvPr id="29" name="Rectangle 8">
              <a:extLst>
                <a:ext uri="{FF2B5EF4-FFF2-40B4-BE49-F238E27FC236}">
                  <a16:creationId xmlns:a16="http://schemas.microsoft.com/office/drawing/2014/main" id="{B6261770-BD39-4351-A4FB-659338FC8156}"/>
                </a:ext>
              </a:extLst>
            </p:cNvPr>
            <p:cNvSpPr>
              <a:spLocks noChangeArrowheads="1"/>
            </p:cNvSpPr>
            <p:nvPr/>
          </p:nvSpPr>
          <p:spPr bwMode="auto">
            <a:xfrm>
              <a:off x="4853" y="2568"/>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1/1</a:t>
              </a:r>
            </a:p>
          </p:txBody>
        </p:sp>
        <p:sp>
          <p:nvSpPr>
            <p:cNvPr id="30" name="Oval 9">
              <a:extLst>
                <a:ext uri="{FF2B5EF4-FFF2-40B4-BE49-F238E27FC236}">
                  <a16:creationId xmlns:a16="http://schemas.microsoft.com/office/drawing/2014/main" id="{1260DAAC-C42A-4F7F-BC0C-1BE2863ED352}"/>
                </a:ext>
              </a:extLst>
            </p:cNvPr>
            <p:cNvSpPr>
              <a:spLocks noChangeArrowheads="1"/>
            </p:cNvSpPr>
            <p:nvPr/>
          </p:nvSpPr>
          <p:spPr bwMode="auto">
            <a:xfrm>
              <a:off x="4059" y="1570"/>
              <a:ext cx="737" cy="48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ZERO</a:t>
              </a:r>
            </a:p>
          </p:txBody>
        </p:sp>
        <p:sp>
          <p:nvSpPr>
            <p:cNvPr id="31" name="Oval 10">
              <a:extLst>
                <a:ext uri="{FF2B5EF4-FFF2-40B4-BE49-F238E27FC236}">
                  <a16:creationId xmlns:a16="http://schemas.microsoft.com/office/drawing/2014/main" id="{54C846DE-0570-4E00-A9C8-94683D8DEA78}"/>
                </a:ext>
              </a:extLst>
            </p:cNvPr>
            <p:cNvSpPr>
              <a:spLocks noChangeArrowheads="1"/>
            </p:cNvSpPr>
            <p:nvPr/>
          </p:nvSpPr>
          <p:spPr bwMode="auto">
            <a:xfrm>
              <a:off x="4059" y="2427"/>
              <a:ext cx="737" cy="49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ONE</a:t>
              </a:r>
            </a:p>
          </p:txBody>
        </p:sp>
        <p:cxnSp>
          <p:nvCxnSpPr>
            <p:cNvPr id="32" name="AutoShape 11">
              <a:extLst>
                <a:ext uri="{FF2B5EF4-FFF2-40B4-BE49-F238E27FC236}">
                  <a16:creationId xmlns:a16="http://schemas.microsoft.com/office/drawing/2014/main" id="{21DABF93-9093-4E38-B1E2-6F8C2296B0ED}"/>
                </a:ext>
              </a:extLst>
            </p:cNvPr>
            <p:cNvCxnSpPr>
              <a:cxnSpLocks noChangeShapeType="1"/>
              <a:stCxn id="30" idx="4"/>
              <a:endCxn id="31" idx="0"/>
            </p:cNvCxnSpPr>
            <p:nvPr/>
          </p:nvCxnSpPr>
          <p:spPr bwMode="auto">
            <a:xfrm>
              <a:off x="4428" y="2071"/>
              <a:ext cx="0" cy="344"/>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3" name="AutoShape 12">
              <a:extLst>
                <a:ext uri="{FF2B5EF4-FFF2-40B4-BE49-F238E27FC236}">
                  <a16:creationId xmlns:a16="http://schemas.microsoft.com/office/drawing/2014/main" id="{435394AD-D365-41DD-B1D6-E49DDE5CCD33}"/>
                </a:ext>
              </a:extLst>
            </p:cNvPr>
            <p:cNvCxnSpPr>
              <a:cxnSpLocks noChangeShapeType="1"/>
              <a:stCxn id="31" idx="2"/>
              <a:endCxn id="30" idx="2"/>
            </p:cNvCxnSpPr>
            <p:nvPr/>
          </p:nvCxnSpPr>
          <p:spPr bwMode="auto">
            <a:xfrm rot="10800000" flipH="1">
              <a:off x="4047" y="1815"/>
              <a:ext cx="1" cy="857"/>
            </a:xfrm>
            <a:prstGeom prst="curvedConnector3">
              <a:avLst>
                <a:gd name="adj1" fmla="val -27600009"/>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4" name="AutoShape 13">
              <a:extLst>
                <a:ext uri="{FF2B5EF4-FFF2-40B4-BE49-F238E27FC236}">
                  <a16:creationId xmlns:a16="http://schemas.microsoft.com/office/drawing/2014/main" id="{E360CB4C-E197-46B3-8499-EF15A9F012C0}"/>
                </a:ext>
              </a:extLst>
            </p:cNvPr>
            <p:cNvCxnSpPr>
              <a:cxnSpLocks noChangeShapeType="1"/>
              <a:stCxn id="30" idx="5"/>
              <a:endCxn id="30" idx="7"/>
            </p:cNvCxnSpPr>
            <p:nvPr/>
          </p:nvCxnSpPr>
          <p:spPr bwMode="auto">
            <a:xfrm rot="5400000" flipH="1" flipV="1">
              <a:off x="4504" y="1814"/>
              <a:ext cx="369" cy="1"/>
            </a:xfrm>
            <a:prstGeom prst="curvedConnector5">
              <a:avLst>
                <a:gd name="adj1" fmla="val -25204"/>
                <a:gd name="adj2" fmla="val 49300014"/>
                <a:gd name="adj3" fmla="val 14173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5" name="AutoShape 14">
              <a:extLst>
                <a:ext uri="{FF2B5EF4-FFF2-40B4-BE49-F238E27FC236}">
                  <a16:creationId xmlns:a16="http://schemas.microsoft.com/office/drawing/2014/main" id="{9DC18A53-D0DE-4D58-BE2C-F7733E372989}"/>
                </a:ext>
              </a:extLst>
            </p:cNvPr>
            <p:cNvCxnSpPr>
              <a:cxnSpLocks noChangeShapeType="1"/>
            </p:cNvCxnSpPr>
            <p:nvPr/>
          </p:nvCxnSpPr>
          <p:spPr bwMode="auto">
            <a:xfrm rot="5400000" flipH="1" flipV="1">
              <a:off x="4487" y="2684"/>
              <a:ext cx="369" cy="1"/>
            </a:xfrm>
            <a:prstGeom prst="curvedConnector5">
              <a:avLst>
                <a:gd name="adj1" fmla="val -36046"/>
                <a:gd name="adj2" fmla="val 47000014"/>
                <a:gd name="adj3" fmla="val 143898"/>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36" name="Group 16">
            <a:extLst>
              <a:ext uri="{FF2B5EF4-FFF2-40B4-BE49-F238E27FC236}">
                <a16:creationId xmlns:a16="http://schemas.microsoft.com/office/drawing/2014/main" id="{C4CA53E6-D100-44A8-B08A-E7C27E9E582C}"/>
              </a:ext>
            </a:extLst>
          </p:cNvPr>
          <p:cNvGrpSpPr>
            <a:grpSpLocks/>
          </p:cNvGrpSpPr>
          <p:nvPr/>
        </p:nvGrpSpPr>
        <p:grpSpPr bwMode="auto">
          <a:xfrm>
            <a:off x="6721480" y="1716085"/>
            <a:ext cx="627063" cy="776289"/>
            <a:chOff x="4234" y="1003"/>
            <a:chExt cx="395" cy="567"/>
          </a:xfrm>
        </p:grpSpPr>
        <p:cxnSp>
          <p:nvCxnSpPr>
            <p:cNvPr id="37" name="AutoShape 17">
              <a:extLst>
                <a:ext uri="{FF2B5EF4-FFF2-40B4-BE49-F238E27FC236}">
                  <a16:creationId xmlns:a16="http://schemas.microsoft.com/office/drawing/2014/main" id="{528816E3-2F3A-4CE2-A871-6ACB0C5AE3E3}"/>
                </a:ext>
              </a:extLst>
            </p:cNvPr>
            <p:cNvCxnSpPr>
              <a:cxnSpLocks noChangeShapeType="1"/>
              <a:stCxn id="38" idx="2"/>
              <a:endCxn id="30" idx="0"/>
            </p:cNvCxnSpPr>
            <p:nvPr/>
          </p:nvCxnSpPr>
          <p:spPr bwMode="auto">
            <a:xfrm flipH="1">
              <a:off x="4427" y="1239"/>
              <a:ext cx="4" cy="331"/>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38" name="Rectangle 18">
              <a:extLst>
                <a:ext uri="{FF2B5EF4-FFF2-40B4-BE49-F238E27FC236}">
                  <a16:creationId xmlns:a16="http://schemas.microsoft.com/office/drawing/2014/main" id="{9F19A764-8235-4EFD-A92E-67F901B3028A}"/>
                </a:ext>
              </a:extLst>
            </p:cNvPr>
            <p:cNvSpPr>
              <a:spLocks noChangeArrowheads="1"/>
            </p:cNvSpPr>
            <p:nvPr/>
          </p:nvSpPr>
          <p:spPr bwMode="auto">
            <a:xfrm>
              <a:off x="4234" y="1003"/>
              <a:ext cx="39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gn="ctr">
                <a:lnSpc>
                  <a:spcPts val="2075"/>
                </a:lnSpc>
                <a:spcAft>
                  <a:spcPct val="0"/>
                </a:spcAft>
                <a:buFontTx/>
                <a:buNone/>
              </a:pPr>
              <a:r>
                <a:rPr lang="en-US" altLang="zh-CN" sz="2000" dirty="0">
                  <a:solidFill>
                    <a:srgbClr val="000000"/>
                  </a:solidFill>
                </a:rPr>
                <a:t>! </a:t>
              </a:r>
              <a:r>
                <a:rPr lang="en-US" altLang="zh-CN" sz="2000" dirty="0" err="1">
                  <a:solidFill>
                    <a:srgbClr val="000000"/>
                  </a:solidFill>
                </a:rPr>
                <a:t>rstn</a:t>
              </a:r>
              <a:endParaRPr lang="en-US" altLang="zh-CN" sz="2000" dirty="0">
                <a:solidFill>
                  <a:srgbClr val="000000"/>
                </a:solidFill>
              </a:endParaRPr>
            </a:p>
          </p:txBody>
        </p:sp>
      </p:grpSp>
      <p:grpSp>
        <p:nvGrpSpPr>
          <p:cNvPr id="39" name="Group 19">
            <a:extLst>
              <a:ext uri="{FF2B5EF4-FFF2-40B4-BE49-F238E27FC236}">
                <a16:creationId xmlns:a16="http://schemas.microsoft.com/office/drawing/2014/main" id="{96F6187B-E8A6-444B-B8F4-54E89B2CFB5B}"/>
              </a:ext>
            </a:extLst>
          </p:cNvPr>
          <p:cNvGrpSpPr>
            <a:grpSpLocks/>
          </p:cNvGrpSpPr>
          <p:nvPr/>
        </p:nvGrpSpPr>
        <p:grpSpPr bwMode="auto">
          <a:xfrm>
            <a:off x="6443663" y="5062538"/>
            <a:ext cx="1930400" cy="814387"/>
            <a:chOff x="4059" y="3189"/>
            <a:chExt cx="1216" cy="513"/>
          </a:xfrm>
        </p:grpSpPr>
        <p:sp>
          <p:nvSpPr>
            <p:cNvPr id="40" name="Oval 20">
              <a:extLst>
                <a:ext uri="{FF2B5EF4-FFF2-40B4-BE49-F238E27FC236}">
                  <a16:creationId xmlns:a16="http://schemas.microsoft.com/office/drawing/2014/main" id="{F230C8C8-3A2A-48EF-AF21-2B47B67A2A5D}"/>
                </a:ext>
              </a:extLst>
            </p:cNvPr>
            <p:cNvSpPr>
              <a:spLocks noChangeArrowheads="1"/>
            </p:cNvSpPr>
            <p:nvPr/>
          </p:nvSpPr>
          <p:spPr bwMode="auto">
            <a:xfrm>
              <a:off x="4059" y="3212"/>
              <a:ext cx="737" cy="49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2000"/>
                <a:t>state</a:t>
              </a:r>
            </a:p>
          </p:txBody>
        </p:sp>
        <p:sp>
          <p:nvSpPr>
            <p:cNvPr id="41" name="Rectangle 21">
              <a:extLst>
                <a:ext uri="{FF2B5EF4-FFF2-40B4-BE49-F238E27FC236}">
                  <a16:creationId xmlns:a16="http://schemas.microsoft.com/office/drawing/2014/main" id="{5B25188B-2F82-4520-A189-6AB88E200616}"/>
                </a:ext>
              </a:extLst>
            </p:cNvPr>
            <p:cNvSpPr>
              <a:spLocks noChangeArrowheads="1"/>
            </p:cNvSpPr>
            <p:nvPr/>
          </p:nvSpPr>
          <p:spPr bwMode="auto">
            <a:xfrm>
              <a:off x="4852" y="3189"/>
              <a:ext cx="423"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in/out</a:t>
              </a:r>
            </a:p>
          </p:txBody>
        </p:sp>
        <p:sp>
          <p:nvSpPr>
            <p:cNvPr id="42" name="Line 22">
              <a:extLst>
                <a:ext uri="{FF2B5EF4-FFF2-40B4-BE49-F238E27FC236}">
                  <a16:creationId xmlns:a16="http://schemas.microsoft.com/office/drawing/2014/main" id="{E044C52A-E798-4255-915A-9B367E7D4ED4}"/>
                </a:ext>
              </a:extLst>
            </p:cNvPr>
            <p:cNvSpPr>
              <a:spLocks noChangeShapeType="1"/>
            </p:cNvSpPr>
            <p:nvPr/>
          </p:nvSpPr>
          <p:spPr bwMode="auto">
            <a:xfrm>
              <a:off x="4797" y="3463"/>
              <a:ext cx="448" cy="0"/>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874AD54-18BC-471A-AD99-6B0220ED4E0E}"/>
              </a:ext>
            </a:extLst>
          </p:cNvPr>
          <p:cNvSpPr>
            <a:spLocks noGrp="1" noChangeArrowheads="1"/>
          </p:cNvSpPr>
          <p:nvPr>
            <p:ph type="title" idx="4294967295"/>
          </p:nvPr>
        </p:nvSpPr>
        <p:spPr/>
        <p:txBody>
          <a:bodyPr/>
          <a:lstStyle/>
          <a:p>
            <a:r>
              <a:rPr lang="zh-CN" altLang="en-US"/>
              <a:t>示例</a:t>
            </a:r>
            <a:r>
              <a:rPr lang="en-US" altLang="zh-CN"/>
              <a:t>—</a:t>
            </a:r>
            <a:r>
              <a:rPr lang="zh-CN" altLang="en-US"/>
              <a:t>多段式米里型</a:t>
            </a:r>
            <a:r>
              <a:rPr lang="en-US" altLang="zh-CN"/>
              <a:t>FSM (</a:t>
            </a:r>
            <a:r>
              <a:rPr lang="zh-CN" altLang="en-US"/>
              <a:t>续</a:t>
            </a:r>
            <a:r>
              <a:rPr lang="en-US" altLang="zh-CN"/>
              <a:t>2)</a:t>
            </a:r>
            <a:endParaRPr lang="zh-CN" altLang="en-US"/>
          </a:p>
        </p:txBody>
      </p:sp>
      <p:sp>
        <p:nvSpPr>
          <p:cNvPr id="45059" name="Rectangle 3">
            <a:extLst>
              <a:ext uri="{FF2B5EF4-FFF2-40B4-BE49-F238E27FC236}">
                <a16:creationId xmlns:a16="http://schemas.microsoft.com/office/drawing/2014/main" id="{A45C1B07-8A44-41C6-99DC-ABB4CDD0079D}"/>
              </a:ext>
            </a:extLst>
          </p:cNvPr>
          <p:cNvSpPr>
            <a:spLocks noChangeArrowheads="1"/>
          </p:cNvSpPr>
          <p:nvPr/>
        </p:nvSpPr>
        <p:spPr bwMode="auto">
          <a:xfrm>
            <a:off x="846138" y="1484313"/>
            <a:ext cx="5273675" cy="49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8792" tIns="26621" rIns="18792" bIns="26621"/>
          <a:lstStyle>
            <a:lvl1pPr defTabSz="901700">
              <a:spcAft>
                <a:spcPct val="20000"/>
              </a:spcAft>
              <a:buChar char="•"/>
              <a:tabLst>
                <a:tab pos="450850" algn="l"/>
                <a:tab pos="901700" algn="l"/>
                <a:tab pos="1350963" algn="l"/>
                <a:tab pos="2641600"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 pos="2641600"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2000" b="0" dirty="0">
                <a:solidFill>
                  <a:srgbClr val="000000"/>
                </a:solidFill>
              </a:rPr>
              <a:t>           ONE: begin</a:t>
            </a:r>
            <a:br>
              <a:rPr lang="en-US" altLang="zh-CN" sz="2000" b="0" dirty="0">
                <a:solidFill>
                  <a:srgbClr val="000000"/>
                </a:solidFill>
              </a:rPr>
            </a:br>
            <a:r>
              <a:rPr lang="en-US" altLang="zh-CN" sz="2000" b="0" dirty="0">
                <a:solidFill>
                  <a:srgbClr val="000000"/>
                </a:solidFill>
              </a:rPr>
              <a:t>               if  (in)  begin</a:t>
            </a:r>
            <a:br>
              <a:rPr lang="en-US" altLang="zh-CN" sz="2000" b="0" dirty="0">
                <a:solidFill>
                  <a:srgbClr val="000000"/>
                </a:solidFill>
              </a:rPr>
            </a:br>
            <a:r>
              <a:rPr lang="en-US" altLang="zh-CN" sz="2000" b="0" dirty="0">
                <a:solidFill>
                  <a:srgbClr val="000000"/>
                </a:solidFill>
              </a:rPr>
              <a:t> 		      out = 1;</a:t>
            </a:r>
            <a:br>
              <a:rPr lang="en-US" altLang="zh-CN" sz="2000" b="0" dirty="0">
                <a:solidFill>
                  <a:srgbClr val="000000"/>
                </a:solidFill>
              </a:rPr>
            </a:br>
            <a:r>
              <a:rPr lang="en-US" altLang="zh-CN" sz="2000" b="0" dirty="0">
                <a:solidFill>
                  <a:srgbClr val="000000"/>
                </a:solidFill>
              </a:rPr>
              <a:t>                   </a:t>
            </a:r>
            <a:r>
              <a:rPr lang="en-US" altLang="zh-CN" sz="2000" b="0" dirty="0" err="1">
                <a:solidFill>
                  <a:srgbClr val="000000"/>
                </a:solidFill>
              </a:rPr>
              <a:t>next_state</a:t>
            </a:r>
            <a:r>
              <a:rPr lang="en-US" altLang="zh-CN" sz="2000" b="0" dirty="0">
                <a:solidFill>
                  <a:srgbClr val="000000"/>
                </a:solidFill>
              </a:rPr>
              <a:t> = ONE; </a:t>
            </a:r>
          </a:p>
          <a:p>
            <a:pPr>
              <a:spcAft>
                <a:spcPct val="0"/>
              </a:spcAft>
              <a:buFontTx/>
              <a:buNone/>
            </a:pPr>
            <a:r>
              <a:rPr lang="en-US" altLang="zh-CN" sz="2000" b="0" dirty="0">
                <a:solidFill>
                  <a:srgbClr val="000000"/>
                </a:solidFill>
              </a:rPr>
              <a:t>	        end</a:t>
            </a:r>
            <a:br>
              <a:rPr lang="en-US" altLang="zh-CN" sz="2000" b="0" dirty="0">
                <a:solidFill>
                  <a:srgbClr val="000000"/>
                </a:solidFill>
              </a:rPr>
            </a:br>
            <a:r>
              <a:rPr lang="en-US" altLang="zh-CN" sz="2000" b="0" dirty="0">
                <a:solidFill>
                  <a:srgbClr val="000000"/>
                </a:solidFill>
              </a:rPr>
              <a:t>              else  begin</a:t>
            </a:r>
          </a:p>
          <a:p>
            <a:pPr>
              <a:spcAft>
                <a:spcPct val="0"/>
              </a:spcAft>
              <a:buFontTx/>
              <a:buNone/>
            </a:pPr>
            <a:r>
              <a:rPr lang="en-US" altLang="zh-CN" sz="2000" b="0" dirty="0">
                <a:solidFill>
                  <a:srgbClr val="000000"/>
                </a:solidFill>
              </a:rPr>
              <a:t> 		      out  = 0; </a:t>
            </a:r>
          </a:p>
          <a:p>
            <a:pPr>
              <a:spcAft>
                <a:spcPct val="0"/>
              </a:spcAft>
              <a:buFontTx/>
              <a:buNone/>
            </a:pPr>
            <a:r>
              <a:rPr lang="en-US" altLang="zh-CN" sz="2000" b="0" dirty="0">
                <a:solidFill>
                  <a:srgbClr val="000000"/>
                </a:solidFill>
              </a:rPr>
              <a:t>                   </a:t>
            </a:r>
            <a:r>
              <a:rPr lang="en-US" altLang="zh-CN" sz="2000" b="0" dirty="0" err="1">
                <a:solidFill>
                  <a:srgbClr val="000000"/>
                </a:solidFill>
              </a:rPr>
              <a:t>next_state</a:t>
            </a:r>
            <a:r>
              <a:rPr lang="en-US" altLang="zh-CN" sz="2000" b="0" dirty="0">
                <a:solidFill>
                  <a:srgbClr val="000000"/>
                </a:solidFill>
              </a:rPr>
              <a:t> = ZERO;</a:t>
            </a:r>
            <a:br>
              <a:rPr lang="en-US" altLang="zh-CN" sz="2000" b="0" dirty="0">
                <a:solidFill>
                  <a:srgbClr val="000000"/>
                </a:solidFill>
              </a:rPr>
            </a:br>
            <a:r>
              <a:rPr lang="en-US" altLang="zh-CN" sz="2000" b="0" dirty="0">
                <a:solidFill>
                  <a:srgbClr val="000000"/>
                </a:solidFill>
              </a:rPr>
              <a:t>              end</a:t>
            </a:r>
          </a:p>
          <a:p>
            <a:pPr>
              <a:spcAft>
                <a:spcPct val="0"/>
              </a:spcAft>
              <a:buFontTx/>
              <a:buNone/>
            </a:pPr>
            <a:r>
              <a:rPr lang="en-US" altLang="zh-CN" sz="2000" b="0" dirty="0">
                <a:solidFill>
                  <a:srgbClr val="000000"/>
                </a:solidFill>
              </a:rPr>
              <a:t>          end</a:t>
            </a:r>
            <a:br>
              <a:rPr lang="en-US" altLang="zh-CN" sz="2000" b="0" dirty="0">
                <a:solidFill>
                  <a:srgbClr val="000000"/>
                </a:solidFill>
              </a:rPr>
            </a:br>
            <a:r>
              <a:rPr lang="en-US" altLang="zh-CN" sz="2000" b="0" dirty="0">
                <a:solidFill>
                  <a:srgbClr val="000000"/>
                </a:solidFill>
              </a:rPr>
              <a:t>     </a:t>
            </a:r>
            <a:r>
              <a:rPr lang="en-US" altLang="zh-CN" sz="2000" b="0" dirty="0" err="1">
                <a:solidFill>
                  <a:srgbClr val="000000"/>
                </a:solidFill>
              </a:rPr>
              <a:t>endcase</a:t>
            </a:r>
            <a:endParaRPr lang="en-US" altLang="zh-CN" sz="2000" b="0" dirty="0">
              <a:solidFill>
                <a:srgbClr val="000000"/>
              </a:solidFill>
            </a:endParaRPr>
          </a:p>
          <a:p>
            <a:pPr>
              <a:spcAft>
                <a:spcPct val="0"/>
              </a:spcAft>
              <a:buFontTx/>
              <a:buNone/>
            </a:pPr>
            <a:endParaRPr lang="en-US" altLang="zh-CN" sz="2000" b="0" dirty="0">
              <a:solidFill>
                <a:srgbClr val="000000"/>
              </a:solidFill>
            </a:endParaRPr>
          </a:p>
          <a:p>
            <a:pPr>
              <a:spcAft>
                <a:spcPct val="0"/>
              </a:spcAft>
              <a:buFontTx/>
              <a:buNone/>
            </a:pPr>
            <a:r>
              <a:rPr lang="en-US" altLang="zh-CN" sz="2000" b="0" dirty="0" err="1">
                <a:solidFill>
                  <a:srgbClr val="000000"/>
                </a:solidFill>
              </a:rPr>
              <a:t>endmodule</a:t>
            </a:r>
            <a:endParaRPr lang="en-US" altLang="zh-CN" sz="2000" b="0" dirty="0">
              <a:solidFill>
                <a:srgbClr val="000000"/>
              </a:solidFill>
            </a:endParaRPr>
          </a:p>
        </p:txBody>
      </p:sp>
      <p:sp>
        <p:nvSpPr>
          <p:cNvPr id="22" name="Rectangle 4">
            <a:extLst>
              <a:ext uri="{FF2B5EF4-FFF2-40B4-BE49-F238E27FC236}">
                <a16:creationId xmlns:a16="http://schemas.microsoft.com/office/drawing/2014/main" id="{9E044706-CB66-435E-8D0B-B435B0373924}"/>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3" name="Rectangle 5">
            <a:extLst>
              <a:ext uri="{FF2B5EF4-FFF2-40B4-BE49-F238E27FC236}">
                <a16:creationId xmlns:a16="http://schemas.microsoft.com/office/drawing/2014/main" id="{73D3831F-BC4D-4127-ABEF-63331974918F}"/>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24" name="Rectangle 6">
            <a:extLst>
              <a:ext uri="{FF2B5EF4-FFF2-40B4-BE49-F238E27FC236}">
                <a16:creationId xmlns:a16="http://schemas.microsoft.com/office/drawing/2014/main" id="{0AC5EA52-C9EC-4E1F-B37C-F7C87C0DF974}"/>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18</a:t>
            </a:fld>
            <a:endParaRPr lang="en-US" altLang="zh-CN" sz="1800" b="0">
              <a:solidFill>
                <a:srgbClr val="B2B2B2"/>
              </a:solidFill>
              <a:latin typeface="Arial" panose="020B0604020202020204" pitchFamily="34" charset="0"/>
            </a:endParaRPr>
          </a:p>
        </p:txBody>
      </p:sp>
      <p:grpSp>
        <p:nvGrpSpPr>
          <p:cNvPr id="40" name="Group 4">
            <a:extLst>
              <a:ext uri="{FF2B5EF4-FFF2-40B4-BE49-F238E27FC236}">
                <a16:creationId xmlns:a16="http://schemas.microsoft.com/office/drawing/2014/main" id="{F59A5E17-C80E-46FB-9E82-4B11419F68F6}"/>
              </a:ext>
            </a:extLst>
          </p:cNvPr>
          <p:cNvGrpSpPr>
            <a:grpSpLocks/>
          </p:cNvGrpSpPr>
          <p:nvPr/>
        </p:nvGrpSpPr>
        <p:grpSpPr bwMode="auto">
          <a:xfrm>
            <a:off x="6119813" y="2492375"/>
            <a:ext cx="1946275" cy="2138363"/>
            <a:chOff x="3855" y="1570"/>
            <a:chExt cx="1226" cy="1347"/>
          </a:xfrm>
        </p:grpSpPr>
        <p:sp>
          <p:nvSpPr>
            <p:cNvPr id="41" name="Rectangle 5">
              <a:extLst>
                <a:ext uri="{FF2B5EF4-FFF2-40B4-BE49-F238E27FC236}">
                  <a16:creationId xmlns:a16="http://schemas.microsoft.com/office/drawing/2014/main" id="{245090CD-420C-43AA-B0E6-12358ADD7775}"/>
                </a:ext>
              </a:extLst>
            </p:cNvPr>
            <p:cNvSpPr>
              <a:spLocks noChangeArrowheads="1"/>
            </p:cNvSpPr>
            <p:nvPr/>
          </p:nvSpPr>
          <p:spPr bwMode="auto">
            <a:xfrm>
              <a:off x="4504" y="2098"/>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1/0</a:t>
              </a:r>
            </a:p>
          </p:txBody>
        </p:sp>
        <p:sp>
          <p:nvSpPr>
            <p:cNvPr id="42" name="Rectangle 6">
              <a:extLst>
                <a:ext uri="{FF2B5EF4-FFF2-40B4-BE49-F238E27FC236}">
                  <a16:creationId xmlns:a16="http://schemas.microsoft.com/office/drawing/2014/main" id="{37056BE3-4C5E-489B-88C6-FC227CD1B54E}"/>
                </a:ext>
              </a:extLst>
            </p:cNvPr>
            <p:cNvSpPr>
              <a:spLocks noChangeArrowheads="1"/>
            </p:cNvSpPr>
            <p:nvPr/>
          </p:nvSpPr>
          <p:spPr bwMode="auto">
            <a:xfrm>
              <a:off x="3855" y="2182"/>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0/0</a:t>
              </a:r>
            </a:p>
          </p:txBody>
        </p:sp>
        <p:sp>
          <p:nvSpPr>
            <p:cNvPr id="43" name="Rectangle 7">
              <a:extLst>
                <a:ext uri="{FF2B5EF4-FFF2-40B4-BE49-F238E27FC236}">
                  <a16:creationId xmlns:a16="http://schemas.microsoft.com/office/drawing/2014/main" id="{2C2BA9FA-9077-45F1-9D23-289DE1C1B89D}"/>
                </a:ext>
              </a:extLst>
            </p:cNvPr>
            <p:cNvSpPr>
              <a:spLocks noChangeArrowheads="1"/>
            </p:cNvSpPr>
            <p:nvPr/>
          </p:nvSpPr>
          <p:spPr bwMode="auto">
            <a:xfrm>
              <a:off x="4853" y="1706"/>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0/0</a:t>
              </a:r>
            </a:p>
          </p:txBody>
        </p:sp>
        <p:sp>
          <p:nvSpPr>
            <p:cNvPr id="44" name="Rectangle 8">
              <a:extLst>
                <a:ext uri="{FF2B5EF4-FFF2-40B4-BE49-F238E27FC236}">
                  <a16:creationId xmlns:a16="http://schemas.microsoft.com/office/drawing/2014/main" id="{86138495-0241-46D4-8847-11B657149060}"/>
                </a:ext>
              </a:extLst>
            </p:cNvPr>
            <p:cNvSpPr>
              <a:spLocks noChangeArrowheads="1"/>
            </p:cNvSpPr>
            <p:nvPr/>
          </p:nvSpPr>
          <p:spPr bwMode="auto">
            <a:xfrm>
              <a:off x="4853" y="2568"/>
              <a:ext cx="2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1/1</a:t>
              </a:r>
            </a:p>
          </p:txBody>
        </p:sp>
        <p:sp>
          <p:nvSpPr>
            <p:cNvPr id="45" name="Oval 9">
              <a:extLst>
                <a:ext uri="{FF2B5EF4-FFF2-40B4-BE49-F238E27FC236}">
                  <a16:creationId xmlns:a16="http://schemas.microsoft.com/office/drawing/2014/main" id="{BE6B4107-4966-434B-A63E-FB0E9BD53F61}"/>
                </a:ext>
              </a:extLst>
            </p:cNvPr>
            <p:cNvSpPr>
              <a:spLocks noChangeArrowheads="1"/>
            </p:cNvSpPr>
            <p:nvPr/>
          </p:nvSpPr>
          <p:spPr bwMode="auto">
            <a:xfrm>
              <a:off x="4059" y="1570"/>
              <a:ext cx="737" cy="48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ZERO</a:t>
              </a:r>
            </a:p>
          </p:txBody>
        </p:sp>
        <p:sp>
          <p:nvSpPr>
            <p:cNvPr id="46" name="Oval 10">
              <a:extLst>
                <a:ext uri="{FF2B5EF4-FFF2-40B4-BE49-F238E27FC236}">
                  <a16:creationId xmlns:a16="http://schemas.microsoft.com/office/drawing/2014/main" id="{CB5FB30C-4432-43D2-9CBD-1B7BF628CADE}"/>
                </a:ext>
              </a:extLst>
            </p:cNvPr>
            <p:cNvSpPr>
              <a:spLocks noChangeArrowheads="1"/>
            </p:cNvSpPr>
            <p:nvPr/>
          </p:nvSpPr>
          <p:spPr bwMode="auto">
            <a:xfrm>
              <a:off x="4059" y="2427"/>
              <a:ext cx="737" cy="49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ONE</a:t>
              </a:r>
            </a:p>
          </p:txBody>
        </p:sp>
        <p:cxnSp>
          <p:nvCxnSpPr>
            <p:cNvPr id="47" name="AutoShape 11">
              <a:extLst>
                <a:ext uri="{FF2B5EF4-FFF2-40B4-BE49-F238E27FC236}">
                  <a16:creationId xmlns:a16="http://schemas.microsoft.com/office/drawing/2014/main" id="{57C2EA98-4382-43AF-A128-7623EBDE651C}"/>
                </a:ext>
              </a:extLst>
            </p:cNvPr>
            <p:cNvCxnSpPr>
              <a:cxnSpLocks noChangeShapeType="1"/>
              <a:stCxn id="45" idx="4"/>
              <a:endCxn id="46" idx="0"/>
            </p:cNvCxnSpPr>
            <p:nvPr/>
          </p:nvCxnSpPr>
          <p:spPr bwMode="auto">
            <a:xfrm>
              <a:off x="4428" y="2071"/>
              <a:ext cx="0" cy="344"/>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8" name="AutoShape 12">
              <a:extLst>
                <a:ext uri="{FF2B5EF4-FFF2-40B4-BE49-F238E27FC236}">
                  <a16:creationId xmlns:a16="http://schemas.microsoft.com/office/drawing/2014/main" id="{4B3BF5F8-D4C2-4CD2-94C1-2FD1D74F84E7}"/>
                </a:ext>
              </a:extLst>
            </p:cNvPr>
            <p:cNvCxnSpPr>
              <a:cxnSpLocks noChangeShapeType="1"/>
              <a:stCxn id="46" idx="2"/>
              <a:endCxn id="45" idx="2"/>
            </p:cNvCxnSpPr>
            <p:nvPr/>
          </p:nvCxnSpPr>
          <p:spPr bwMode="auto">
            <a:xfrm rot="10800000" flipH="1">
              <a:off x="4047" y="1815"/>
              <a:ext cx="1" cy="857"/>
            </a:xfrm>
            <a:prstGeom prst="curvedConnector3">
              <a:avLst>
                <a:gd name="adj1" fmla="val -27600009"/>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9" name="AutoShape 13">
              <a:extLst>
                <a:ext uri="{FF2B5EF4-FFF2-40B4-BE49-F238E27FC236}">
                  <a16:creationId xmlns:a16="http://schemas.microsoft.com/office/drawing/2014/main" id="{4C752369-44B1-4B5C-8B95-96061AB2A517}"/>
                </a:ext>
              </a:extLst>
            </p:cNvPr>
            <p:cNvCxnSpPr>
              <a:cxnSpLocks noChangeShapeType="1"/>
              <a:stCxn id="45" idx="5"/>
              <a:endCxn id="45" idx="7"/>
            </p:cNvCxnSpPr>
            <p:nvPr/>
          </p:nvCxnSpPr>
          <p:spPr bwMode="auto">
            <a:xfrm rot="5400000" flipH="1" flipV="1">
              <a:off x="4504" y="1814"/>
              <a:ext cx="369" cy="1"/>
            </a:xfrm>
            <a:prstGeom prst="curvedConnector5">
              <a:avLst>
                <a:gd name="adj1" fmla="val -25204"/>
                <a:gd name="adj2" fmla="val 49300014"/>
                <a:gd name="adj3" fmla="val 14173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0" name="AutoShape 14">
              <a:extLst>
                <a:ext uri="{FF2B5EF4-FFF2-40B4-BE49-F238E27FC236}">
                  <a16:creationId xmlns:a16="http://schemas.microsoft.com/office/drawing/2014/main" id="{917852E6-CE9A-4763-A38F-FC18B6CC44CA}"/>
                </a:ext>
              </a:extLst>
            </p:cNvPr>
            <p:cNvCxnSpPr>
              <a:cxnSpLocks noChangeShapeType="1"/>
            </p:cNvCxnSpPr>
            <p:nvPr/>
          </p:nvCxnSpPr>
          <p:spPr bwMode="auto">
            <a:xfrm rot="5400000" flipH="1" flipV="1">
              <a:off x="4487" y="2684"/>
              <a:ext cx="369" cy="1"/>
            </a:xfrm>
            <a:prstGeom prst="curvedConnector5">
              <a:avLst>
                <a:gd name="adj1" fmla="val -36046"/>
                <a:gd name="adj2" fmla="val 47000014"/>
                <a:gd name="adj3" fmla="val 143898"/>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51" name="Group 16">
            <a:extLst>
              <a:ext uri="{FF2B5EF4-FFF2-40B4-BE49-F238E27FC236}">
                <a16:creationId xmlns:a16="http://schemas.microsoft.com/office/drawing/2014/main" id="{9A804AF8-1D7B-4DF0-A400-4C2C51E03BC4}"/>
              </a:ext>
            </a:extLst>
          </p:cNvPr>
          <p:cNvGrpSpPr>
            <a:grpSpLocks/>
          </p:cNvGrpSpPr>
          <p:nvPr/>
        </p:nvGrpSpPr>
        <p:grpSpPr bwMode="auto">
          <a:xfrm>
            <a:off x="6721480" y="1716085"/>
            <a:ext cx="627063" cy="776289"/>
            <a:chOff x="4234" y="1003"/>
            <a:chExt cx="395" cy="567"/>
          </a:xfrm>
        </p:grpSpPr>
        <p:cxnSp>
          <p:nvCxnSpPr>
            <p:cNvPr id="52" name="AutoShape 17">
              <a:extLst>
                <a:ext uri="{FF2B5EF4-FFF2-40B4-BE49-F238E27FC236}">
                  <a16:creationId xmlns:a16="http://schemas.microsoft.com/office/drawing/2014/main" id="{57483474-A1C9-4EB1-9DD7-F4753832C4AA}"/>
                </a:ext>
              </a:extLst>
            </p:cNvPr>
            <p:cNvCxnSpPr>
              <a:cxnSpLocks noChangeShapeType="1"/>
              <a:stCxn id="53" idx="2"/>
              <a:endCxn id="45" idx="0"/>
            </p:cNvCxnSpPr>
            <p:nvPr/>
          </p:nvCxnSpPr>
          <p:spPr bwMode="auto">
            <a:xfrm flipH="1">
              <a:off x="4427" y="1239"/>
              <a:ext cx="4" cy="331"/>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53" name="Rectangle 18">
              <a:extLst>
                <a:ext uri="{FF2B5EF4-FFF2-40B4-BE49-F238E27FC236}">
                  <a16:creationId xmlns:a16="http://schemas.microsoft.com/office/drawing/2014/main" id="{E204A7F2-A36C-402A-A8F6-5C39440687CC}"/>
                </a:ext>
              </a:extLst>
            </p:cNvPr>
            <p:cNvSpPr>
              <a:spLocks noChangeArrowheads="1"/>
            </p:cNvSpPr>
            <p:nvPr/>
          </p:nvSpPr>
          <p:spPr bwMode="auto">
            <a:xfrm>
              <a:off x="4234" y="1003"/>
              <a:ext cx="39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gn="ctr">
                <a:lnSpc>
                  <a:spcPts val="2075"/>
                </a:lnSpc>
                <a:spcAft>
                  <a:spcPct val="0"/>
                </a:spcAft>
                <a:buFontTx/>
                <a:buNone/>
              </a:pPr>
              <a:r>
                <a:rPr lang="en-US" altLang="zh-CN" sz="2000" dirty="0">
                  <a:solidFill>
                    <a:srgbClr val="000000"/>
                  </a:solidFill>
                </a:rPr>
                <a:t>! </a:t>
              </a:r>
              <a:r>
                <a:rPr lang="en-US" altLang="zh-CN" sz="2000" dirty="0" err="1">
                  <a:solidFill>
                    <a:srgbClr val="000000"/>
                  </a:solidFill>
                </a:rPr>
                <a:t>rstn</a:t>
              </a:r>
              <a:endParaRPr lang="en-US" altLang="zh-CN" sz="2000" dirty="0">
                <a:solidFill>
                  <a:srgbClr val="000000"/>
                </a:solidFill>
              </a:endParaRPr>
            </a:p>
          </p:txBody>
        </p:sp>
      </p:grpSp>
      <p:grpSp>
        <p:nvGrpSpPr>
          <p:cNvPr id="54" name="Group 19">
            <a:extLst>
              <a:ext uri="{FF2B5EF4-FFF2-40B4-BE49-F238E27FC236}">
                <a16:creationId xmlns:a16="http://schemas.microsoft.com/office/drawing/2014/main" id="{A5AC89F3-D044-4C92-98B2-9DCE8A2BF703}"/>
              </a:ext>
            </a:extLst>
          </p:cNvPr>
          <p:cNvGrpSpPr>
            <a:grpSpLocks/>
          </p:cNvGrpSpPr>
          <p:nvPr/>
        </p:nvGrpSpPr>
        <p:grpSpPr bwMode="auto">
          <a:xfrm>
            <a:off x="6443663" y="5062538"/>
            <a:ext cx="1930400" cy="814387"/>
            <a:chOff x="4059" y="3189"/>
            <a:chExt cx="1216" cy="513"/>
          </a:xfrm>
        </p:grpSpPr>
        <p:sp>
          <p:nvSpPr>
            <p:cNvPr id="55" name="Oval 20">
              <a:extLst>
                <a:ext uri="{FF2B5EF4-FFF2-40B4-BE49-F238E27FC236}">
                  <a16:creationId xmlns:a16="http://schemas.microsoft.com/office/drawing/2014/main" id="{A3F18005-86D1-4674-A9EF-481268F36596}"/>
                </a:ext>
              </a:extLst>
            </p:cNvPr>
            <p:cNvSpPr>
              <a:spLocks noChangeArrowheads="1"/>
            </p:cNvSpPr>
            <p:nvPr/>
          </p:nvSpPr>
          <p:spPr bwMode="auto">
            <a:xfrm>
              <a:off x="4059" y="3212"/>
              <a:ext cx="737" cy="49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2000"/>
                <a:t>state</a:t>
              </a:r>
            </a:p>
          </p:txBody>
        </p:sp>
        <p:sp>
          <p:nvSpPr>
            <p:cNvPr id="56" name="Rectangle 21">
              <a:extLst>
                <a:ext uri="{FF2B5EF4-FFF2-40B4-BE49-F238E27FC236}">
                  <a16:creationId xmlns:a16="http://schemas.microsoft.com/office/drawing/2014/main" id="{3508A261-DF79-43A5-8D51-E3D209C50438}"/>
                </a:ext>
              </a:extLst>
            </p:cNvPr>
            <p:cNvSpPr>
              <a:spLocks noChangeArrowheads="1"/>
            </p:cNvSpPr>
            <p:nvPr/>
          </p:nvSpPr>
          <p:spPr bwMode="auto">
            <a:xfrm>
              <a:off x="4852" y="3189"/>
              <a:ext cx="423"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in/out</a:t>
              </a:r>
            </a:p>
          </p:txBody>
        </p:sp>
        <p:sp>
          <p:nvSpPr>
            <p:cNvPr id="57" name="Line 22">
              <a:extLst>
                <a:ext uri="{FF2B5EF4-FFF2-40B4-BE49-F238E27FC236}">
                  <a16:creationId xmlns:a16="http://schemas.microsoft.com/office/drawing/2014/main" id="{5074FDE8-4683-4277-A504-5B12C178B87F}"/>
                </a:ext>
              </a:extLst>
            </p:cNvPr>
            <p:cNvSpPr>
              <a:spLocks noChangeShapeType="1"/>
            </p:cNvSpPr>
            <p:nvPr/>
          </p:nvSpPr>
          <p:spPr bwMode="auto">
            <a:xfrm>
              <a:off x="4797" y="3463"/>
              <a:ext cx="448" cy="0"/>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4E452B0-FA3B-4723-B299-9DDC6CEB35AE}"/>
              </a:ext>
            </a:extLst>
          </p:cNvPr>
          <p:cNvSpPr>
            <a:spLocks noGrp="1" noChangeArrowheads="1"/>
          </p:cNvSpPr>
          <p:nvPr>
            <p:ph type="title" idx="4294967295"/>
          </p:nvPr>
        </p:nvSpPr>
        <p:spPr/>
        <p:txBody>
          <a:bodyPr/>
          <a:lstStyle/>
          <a:p>
            <a:r>
              <a:rPr lang="zh-CN" altLang="en-US"/>
              <a:t>示例</a:t>
            </a:r>
            <a:r>
              <a:rPr lang="en-US" altLang="zh-CN"/>
              <a:t>—</a:t>
            </a:r>
            <a:r>
              <a:rPr lang="zh-CN" altLang="en-US" dirty="0"/>
              <a:t>多</a:t>
            </a:r>
            <a:r>
              <a:rPr lang="zh-CN" altLang="en-US"/>
              <a:t>段</a:t>
            </a:r>
            <a:r>
              <a:rPr lang="zh-CN" altLang="en-US" dirty="0"/>
              <a:t>式摩尔型</a:t>
            </a:r>
            <a:r>
              <a:rPr lang="en-US" altLang="zh-CN" dirty="0"/>
              <a:t>FSM</a:t>
            </a:r>
            <a:endParaRPr lang="zh-CN" altLang="en-US" dirty="0"/>
          </a:p>
        </p:txBody>
      </p:sp>
      <p:grpSp>
        <p:nvGrpSpPr>
          <p:cNvPr id="2" name="Group 3">
            <a:extLst>
              <a:ext uri="{FF2B5EF4-FFF2-40B4-BE49-F238E27FC236}">
                <a16:creationId xmlns:a16="http://schemas.microsoft.com/office/drawing/2014/main" id="{7CB2D5C2-ADC0-48CA-BF3B-6C0F88FCCF86}"/>
              </a:ext>
            </a:extLst>
          </p:cNvPr>
          <p:cNvGrpSpPr>
            <a:grpSpLocks/>
          </p:cNvGrpSpPr>
          <p:nvPr/>
        </p:nvGrpSpPr>
        <p:grpSpPr bwMode="auto">
          <a:xfrm>
            <a:off x="6372225" y="1917601"/>
            <a:ext cx="1820863" cy="3240087"/>
            <a:chOff x="4020" y="1253"/>
            <a:chExt cx="1147" cy="2041"/>
          </a:xfrm>
        </p:grpSpPr>
        <p:sp>
          <p:nvSpPr>
            <p:cNvPr id="46096" name="Rectangle 4">
              <a:extLst>
                <a:ext uri="{FF2B5EF4-FFF2-40B4-BE49-F238E27FC236}">
                  <a16:creationId xmlns:a16="http://schemas.microsoft.com/office/drawing/2014/main" id="{12D9B064-DA12-4821-9CD2-1A27B7293921}"/>
                </a:ext>
              </a:extLst>
            </p:cNvPr>
            <p:cNvSpPr>
              <a:spLocks noChangeArrowheads="1"/>
            </p:cNvSpPr>
            <p:nvPr/>
          </p:nvSpPr>
          <p:spPr bwMode="auto">
            <a:xfrm>
              <a:off x="4663" y="1742"/>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a:t>
              </a:r>
            </a:p>
          </p:txBody>
        </p:sp>
        <p:sp>
          <p:nvSpPr>
            <p:cNvPr id="46097" name="Rectangle 5">
              <a:extLst>
                <a:ext uri="{FF2B5EF4-FFF2-40B4-BE49-F238E27FC236}">
                  <a16:creationId xmlns:a16="http://schemas.microsoft.com/office/drawing/2014/main" id="{D43C91B3-F983-4CA0-97FB-34A75B726251}"/>
                </a:ext>
              </a:extLst>
            </p:cNvPr>
            <p:cNvSpPr>
              <a:spLocks noChangeArrowheads="1"/>
            </p:cNvSpPr>
            <p:nvPr/>
          </p:nvSpPr>
          <p:spPr bwMode="auto">
            <a:xfrm>
              <a:off x="4020" y="2685"/>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a:t>
              </a:r>
            </a:p>
          </p:txBody>
        </p:sp>
        <p:sp>
          <p:nvSpPr>
            <p:cNvPr id="46098" name="Rectangle 6">
              <a:extLst>
                <a:ext uri="{FF2B5EF4-FFF2-40B4-BE49-F238E27FC236}">
                  <a16:creationId xmlns:a16="http://schemas.microsoft.com/office/drawing/2014/main" id="{8898F3B8-4EDF-4113-8C71-83A9E924F860}"/>
                </a:ext>
              </a:extLst>
            </p:cNvPr>
            <p:cNvSpPr>
              <a:spLocks noChangeArrowheads="1"/>
            </p:cNvSpPr>
            <p:nvPr/>
          </p:nvSpPr>
          <p:spPr bwMode="auto">
            <a:xfrm>
              <a:off x="4111" y="1803"/>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a:t>
              </a:r>
            </a:p>
          </p:txBody>
        </p:sp>
        <p:sp>
          <p:nvSpPr>
            <p:cNvPr id="46099" name="Rectangle 7">
              <a:extLst>
                <a:ext uri="{FF2B5EF4-FFF2-40B4-BE49-F238E27FC236}">
                  <a16:creationId xmlns:a16="http://schemas.microsoft.com/office/drawing/2014/main" id="{52B202B4-B810-417C-8B59-A032679D81FB}"/>
                </a:ext>
              </a:extLst>
            </p:cNvPr>
            <p:cNvSpPr>
              <a:spLocks noChangeArrowheads="1"/>
            </p:cNvSpPr>
            <p:nvPr/>
          </p:nvSpPr>
          <p:spPr bwMode="auto">
            <a:xfrm>
              <a:off x="5063" y="1361"/>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a:t>
              </a:r>
            </a:p>
          </p:txBody>
        </p:sp>
        <p:sp>
          <p:nvSpPr>
            <p:cNvPr id="46100" name="Rectangle 8">
              <a:extLst>
                <a:ext uri="{FF2B5EF4-FFF2-40B4-BE49-F238E27FC236}">
                  <a16:creationId xmlns:a16="http://schemas.microsoft.com/office/drawing/2014/main" id="{EB8CD209-81AA-47C9-9480-DE075E813AA6}"/>
                </a:ext>
              </a:extLst>
            </p:cNvPr>
            <p:cNvSpPr>
              <a:spLocks noChangeArrowheads="1"/>
            </p:cNvSpPr>
            <p:nvPr/>
          </p:nvSpPr>
          <p:spPr bwMode="auto">
            <a:xfrm>
              <a:off x="5063" y="2979"/>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a:t>
              </a:r>
            </a:p>
          </p:txBody>
        </p:sp>
        <p:sp>
          <p:nvSpPr>
            <p:cNvPr id="46101" name="Rectangle 9">
              <a:extLst>
                <a:ext uri="{FF2B5EF4-FFF2-40B4-BE49-F238E27FC236}">
                  <a16:creationId xmlns:a16="http://schemas.microsoft.com/office/drawing/2014/main" id="{4A57999E-DBC9-4877-8C73-6EAFBF8B6DDF}"/>
                </a:ext>
              </a:extLst>
            </p:cNvPr>
            <p:cNvSpPr>
              <a:spLocks noChangeArrowheads="1"/>
            </p:cNvSpPr>
            <p:nvPr/>
          </p:nvSpPr>
          <p:spPr bwMode="auto">
            <a:xfrm>
              <a:off x="4663" y="2523"/>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a:t>
              </a:r>
            </a:p>
          </p:txBody>
        </p:sp>
        <p:sp>
          <p:nvSpPr>
            <p:cNvPr id="46102" name="Oval 10">
              <a:extLst>
                <a:ext uri="{FF2B5EF4-FFF2-40B4-BE49-F238E27FC236}">
                  <a16:creationId xmlns:a16="http://schemas.microsoft.com/office/drawing/2014/main" id="{798029A5-CF08-4CBC-9960-CE8B555C52C4}"/>
                </a:ext>
              </a:extLst>
            </p:cNvPr>
            <p:cNvSpPr>
              <a:spLocks noChangeArrowheads="1"/>
            </p:cNvSpPr>
            <p:nvPr/>
          </p:nvSpPr>
          <p:spPr bwMode="auto">
            <a:xfrm>
              <a:off x="4218" y="1253"/>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ZERO</a:t>
              </a:r>
              <a:r>
                <a:rPr lang="en-US" altLang="zh-CN" sz="2000" dirty="0"/>
                <a:t>/0</a:t>
              </a:r>
            </a:p>
          </p:txBody>
        </p:sp>
        <p:sp>
          <p:nvSpPr>
            <p:cNvPr id="46103" name="Oval 11">
              <a:extLst>
                <a:ext uri="{FF2B5EF4-FFF2-40B4-BE49-F238E27FC236}">
                  <a16:creationId xmlns:a16="http://schemas.microsoft.com/office/drawing/2014/main" id="{06579875-C548-4D52-A2F8-1D6251AF5E96}"/>
                </a:ext>
              </a:extLst>
            </p:cNvPr>
            <p:cNvSpPr>
              <a:spLocks noChangeArrowheads="1"/>
            </p:cNvSpPr>
            <p:nvPr/>
          </p:nvSpPr>
          <p:spPr bwMode="auto">
            <a:xfrm>
              <a:off x="4218" y="2047"/>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ONE</a:t>
              </a:r>
              <a:r>
                <a:rPr lang="en-US" altLang="zh-CN" sz="2000" dirty="0"/>
                <a:t>/0</a:t>
              </a:r>
            </a:p>
          </p:txBody>
        </p:sp>
        <p:sp>
          <p:nvSpPr>
            <p:cNvPr id="46104" name="Oval 12">
              <a:extLst>
                <a:ext uri="{FF2B5EF4-FFF2-40B4-BE49-F238E27FC236}">
                  <a16:creationId xmlns:a16="http://schemas.microsoft.com/office/drawing/2014/main" id="{746C7A50-2916-4B2C-980B-B1F9E75CDF3C}"/>
                </a:ext>
              </a:extLst>
            </p:cNvPr>
            <p:cNvSpPr>
              <a:spLocks noChangeArrowheads="1"/>
            </p:cNvSpPr>
            <p:nvPr/>
          </p:nvSpPr>
          <p:spPr bwMode="auto">
            <a:xfrm>
              <a:off x="4218" y="2841"/>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TWO</a:t>
              </a:r>
              <a:r>
                <a:rPr lang="en-US" altLang="zh-CN" sz="2000" dirty="0"/>
                <a:t>/1</a:t>
              </a:r>
            </a:p>
          </p:txBody>
        </p:sp>
        <p:cxnSp>
          <p:nvCxnSpPr>
            <p:cNvPr id="46105" name="AutoShape 13">
              <a:extLst>
                <a:ext uri="{FF2B5EF4-FFF2-40B4-BE49-F238E27FC236}">
                  <a16:creationId xmlns:a16="http://schemas.microsoft.com/office/drawing/2014/main" id="{E5634762-5825-44D6-B405-B6694F97EF95}"/>
                </a:ext>
              </a:extLst>
            </p:cNvPr>
            <p:cNvCxnSpPr>
              <a:cxnSpLocks noChangeShapeType="1"/>
              <a:stCxn id="46102" idx="4"/>
              <a:endCxn id="46103" idx="0"/>
            </p:cNvCxnSpPr>
            <p:nvPr/>
          </p:nvCxnSpPr>
          <p:spPr bwMode="auto">
            <a:xfrm>
              <a:off x="4587" y="1717"/>
              <a:ext cx="0" cy="319"/>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6106" name="AutoShape 14">
              <a:extLst>
                <a:ext uri="{FF2B5EF4-FFF2-40B4-BE49-F238E27FC236}">
                  <a16:creationId xmlns:a16="http://schemas.microsoft.com/office/drawing/2014/main" id="{3D24AFBD-86A5-4D5F-BE47-406917197FB6}"/>
                </a:ext>
              </a:extLst>
            </p:cNvPr>
            <p:cNvCxnSpPr>
              <a:cxnSpLocks noChangeShapeType="1"/>
              <a:stCxn id="46103" idx="4"/>
              <a:endCxn id="46104" idx="0"/>
            </p:cNvCxnSpPr>
            <p:nvPr/>
          </p:nvCxnSpPr>
          <p:spPr bwMode="auto">
            <a:xfrm>
              <a:off x="4587" y="2511"/>
              <a:ext cx="0" cy="319"/>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6107" name="AutoShape 15">
              <a:extLst>
                <a:ext uri="{FF2B5EF4-FFF2-40B4-BE49-F238E27FC236}">
                  <a16:creationId xmlns:a16="http://schemas.microsoft.com/office/drawing/2014/main" id="{4803481B-7B2C-493E-9226-87AE1F4A752A}"/>
                </a:ext>
              </a:extLst>
            </p:cNvPr>
            <p:cNvCxnSpPr>
              <a:cxnSpLocks noChangeShapeType="1"/>
              <a:stCxn id="46103" idx="2"/>
              <a:endCxn id="46102" idx="2"/>
            </p:cNvCxnSpPr>
            <p:nvPr/>
          </p:nvCxnSpPr>
          <p:spPr bwMode="auto">
            <a:xfrm rot="10800000" flipH="1">
              <a:off x="4206" y="1480"/>
              <a:ext cx="1" cy="794"/>
            </a:xfrm>
            <a:prstGeom prst="curvedConnector3">
              <a:avLst>
                <a:gd name="adj1" fmla="val -19600009"/>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6108" name="AutoShape 16">
              <a:extLst>
                <a:ext uri="{FF2B5EF4-FFF2-40B4-BE49-F238E27FC236}">
                  <a16:creationId xmlns:a16="http://schemas.microsoft.com/office/drawing/2014/main" id="{95EE6C4A-2315-4DB6-9D48-50A364154F5E}"/>
                </a:ext>
              </a:extLst>
            </p:cNvPr>
            <p:cNvCxnSpPr>
              <a:cxnSpLocks noChangeShapeType="1"/>
              <a:stCxn id="46104" idx="2"/>
              <a:endCxn id="46102" idx="2"/>
            </p:cNvCxnSpPr>
            <p:nvPr/>
          </p:nvCxnSpPr>
          <p:spPr bwMode="auto">
            <a:xfrm rot="10800000" flipH="1">
              <a:off x="4206" y="1480"/>
              <a:ext cx="1" cy="1588"/>
            </a:xfrm>
            <a:prstGeom prst="curvedConnector3">
              <a:avLst>
                <a:gd name="adj1" fmla="val -36400014"/>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6109" name="AutoShape 17">
              <a:extLst>
                <a:ext uri="{FF2B5EF4-FFF2-40B4-BE49-F238E27FC236}">
                  <a16:creationId xmlns:a16="http://schemas.microsoft.com/office/drawing/2014/main" id="{7BAA9DEB-2EBD-4A0C-82B1-13EEEBF81CAA}"/>
                </a:ext>
              </a:extLst>
            </p:cNvPr>
            <p:cNvCxnSpPr>
              <a:cxnSpLocks noChangeShapeType="1"/>
              <a:stCxn id="46102" idx="5"/>
              <a:endCxn id="46102" idx="7"/>
            </p:cNvCxnSpPr>
            <p:nvPr/>
          </p:nvCxnSpPr>
          <p:spPr bwMode="auto">
            <a:xfrm rot="5400000" flipH="1" flipV="1">
              <a:off x="4677" y="1479"/>
              <a:ext cx="341" cy="1"/>
            </a:xfrm>
            <a:prstGeom prst="curvedConnector5">
              <a:avLst>
                <a:gd name="adj1" fmla="val -25745"/>
                <a:gd name="adj2" fmla="val 41300014"/>
                <a:gd name="adj3" fmla="val 146069"/>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6110" name="AutoShape 18">
              <a:extLst>
                <a:ext uri="{FF2B5EF4-FFF2-40B4-BE49-F238E27FC236}">
                  <a16:creationId xmlns:a16="http://schemas.microsoft.com/office/drawing/2014/main" id="{DF7758EF-1999-4DFC-8CFD-599ABD10331D}"/>
                </a:ext>
              </a:extLst>
            </p:cNvPr>
            <p:cNvCxnSpPr>
              <a:cxnSpLocks noChangeShapeType="1"/>
              <a:stCxn id="46104" idx="5"/>
              <a:endCxn id="46104" idx="7"/>
            </p:cNvCxnSpPr>
            <p:nvPr/>
          </p:nvCxnSpPr>
          <p:spPr bwMode="auto">
            <a:xfrm rot="5400000" flipH="1" flipV="1">
              <a:off x="4677" y="3067"/>
              <a:ext cx="341" cy="1"/>
            </a:xfrm>
            <a:prstGeom prst="curvedConnector5">
              <a:avLst>
                <a:gd name="adj1" fmla="val -36046"/>
                <a:gd name="adj2" fmla="val 42100014"/>
                <a:gd name="adj3" fmla="val 143898"/>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grpSp>
      <p:sp>
        <p:nvSpPr>
          <p:cNvPr id="1696787" name="Rectangle 19">
            <a:extLst>
              <a:ext uri="{FF2B5EF4-FFF2-40B4-BE49-F238E27FC236}">
                <a16:creationId xmlns:a16="http://schemas.microsoft.com/office/drawing/2014/main" id="{DC44E0C5-1D72-4B75-9CC9-77C164F0C19F}"/>
              </a:ext>
            </a:extLst>
          </p:cNvPr>
          <p:cNvSpPr>
            <a:spLocks noChangeArrowheads="1"/>
          </p:cNvSpPr>
          <p:nvPr/>
        </p:nvSpPr>
        <p:spPr bwMode="auto">
          <a:xfrm>
            <a:off x="846138" y="3752280"/>
            <a:ext cx="5273675" cy="2700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8792" tIns="26621" rIns="18792" bIns="26621"/>
          <a:lstStyle>
            <a:lvl1pPr defTabSz="901700">
              <a:spcAft>
                <a:spcPct val="20000"/>
              </a:spcAft>
              <a:buChar char="•"/>
              <a:tabLst>
                <a:tab pos="450850" algn="l"/>
                <a:tab pos="901700" algn="l"/>
                <a:tab pos="1350963" algn="l"/>
                <a:tab pos="2641600"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 pos="2641600"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9pPr>
          </a:lstStyle>
          <a:p>
            <a:pPr>
              <a:spcAft>
                <a:spcPts val="600"/>
              </a:spcAft>
              <a:buNone/>
            </a:pPr>
            <a:r>
              <a:rPr lang="en-US" altLang="zh-CN" sz="2000" b="0">
                <a:solidFill>
                  <a:srgbClr val="000000"/>
                </a:solidFill>
              </a:rPr>
              <a:t>reg out</a:t>
            </a:r>
            <a:r>
              <a:rPr lang="en-US" altLang="zh-CN" sz="2000" b="0" dirty="0">
                <a:solidFill>
                  <a:srgbClr val="000000"/>
                </a:solidFill>
              </a:rPr>
              <a:t>;</a:t>
            </a:r>
            <a:br>
              <a:rPr lang="en-US" altLang="zh-CN" sz="2000" b="0" dirty="0">
                <a:solidFill>
                  <a:srgbClr val="000000"/>
                </a:solidFill>
              </a:rPr>
            </a:br>
            <a:r>
              <a:rPr lang="en-US" altLang="zh-CN" sz="2000" b="0" dirty="0">
                <a:solidFill>
                  <a:srgbClr val="000000"/>
                </a:solidFill>
              </a:rPr>
              <a:t>reg [2:0]   cs, ns; </a:t>
            </a:r>
          </a:p>
          <a:p>
            <a:pPr>
              <a:spcAft>
                <a:spcPts val="600"/>
              </a:spcAft>
              <a:buNone/>
            </a:pPr>
            <a:endParaRPr lang="en-US" altLang="zh-CN" sz="1400" b="0" dirty="0">
              <a:solidFill>
                <a:srgbClr val="000000"/>
              </a:solidFill>
            </a:endParaRPr>
          </a:p>
          <a:p>
            <a:pPr>
              <a:spcAft>
                <a:spcPts val="600"/>
              </a:spcAft>
              <a:buFontTx/>
              <a:buNone/>
            </a:pPr>
            <a:r>
              <a:rPr lang="en-US" altLang="zh-CN" sz="2000" b="0" dirty="0">
                <a:solidFill>
                  <a:srgbClr val="000000"/>
                </a:solidFill>
              </a:rPr>
              <a:t>// </a:t>
            </a:r>
            <a:r>
              <a:rPr lang="zh-CN" altLang="en-US" sz="2000" b="0" dirty="0">
                <a:solidFill>
                  <a:srgbClr val="000000"/>
                </a:solidFill>
              </a:rPr>
              <a:t>定义状态编码：独热码</a:t>
            </a:r>
            <a:endParaRPr lang="en-US" altLang="zh-CN" sz="2000" b="0" dirty="0">
              <a:solidFill>
                <a:srgbClr val="000000"/>
              </a:solidFill>
            </a:endParaRPr>
          </a:p>
          <a:p>
            <a:pPr>
              <a:spcAft>
                <a:spcPts val="600"/>
              </a:spcAft>
              <a:buFontTx/>
              <a:buNone/>
            </a:pPr>
            <a:r>
              <a:rPr lang="en-US" altLang="zh-CN" sz="2000" b="0" dirty="0" err="1">
                <a:solidFill>
                  <a:srgbClr val="000000"/>
                </a:solidFill>
              </a:rPr>
              <a:t>localparam</a:t>
            </a:r>
            <a:r>
              <a:rPr lang="en-US" altLang="zh-CN" sz="2000" b="0" dirty="0">
                <a:solidFill>
                  <a:srgbClr val="000000"/>
                </a:solidFill>
              </a:rPr>
              <a:t>  ZERO = 3’b001, </a:t>
            </a:r>
          </a:p>
          <a:p>
            <a:pPr>
              <a:spcAft>
                <a:spcPts val="600"/>
              </a:spcAft>
              <a:buFontTx/>
              <a:buNone/>
            </a:pPr>
            <a:r>
              <a:rPr lang="en-US" altLang="zh-CN" sz="2000" b="0" dirty="0">
                <a:solidFill>
                  <a:srgbClr val="000000"/>
                </a:solidFill>
              </a:rPr>
              <a:t>                     ONE = 3’b010, </a:t>
            </a:r>
          </a:p>
          <a:p>
            <a:pPr>
              <a:spcAft>
                <a:spcPts val="600"/>
              </a:spcAft>
              <a:buFontTx/>
              <a:buNone/>
            </a:pPr>
            <a:r>
              <a:rPr lang="en-US" altLang="zh-CN" sz="2000" b="0" dirty="0">
                <a:solidFill>
                  <a:srgbClr val="000000"/>
                </a:solidFill>
              </a:rPr>
              <a:t>                     TWO = 3’b100;</a:t>
            </a:r>
          </a:p>
          <a:p>
            <a:pPr>
              <a:spcAft>
                <a:spcPts val="600"/>
              </a:spcAft>
              <a:buFontTx/>
              <a:buNone/>
            </a:pPr>
            <a:endParaRPr lang="en-US" altLang="zh-CN" sz="1200" b="0" dirty="0">
              <a:solidFill>
                <a:srgbClr val="000000"/>
              </a:solidFill>
            </a:endParaRPr>
          </a:p>
        </p:txBody>
      </p:sp>
      <p:sp>
        <p:nvSpPr>
          <p:cNvPr id="46085" name="Rectangle 20">
            <a:extLst>
              <a:ext uri="{FF2B5EF4-FFF2-40B4-BE49-F238E27FC236}">
                <a16:creationId xmlns:a16="http://schemas.microsoft.com/office/drawing/2014/main" id="{849328EB-9548-431C-BA9F-F8A90FF40EEF}"/>
              </a:ext>
            </a:extLst>
          </p:cNvPr>
          <p:cNvSpPr>
            <a:spLocks noGrp="1" noChangeArrowheads="1"/>
          </p:cNvSpPr>
          <p:nvPr>
            <p:ph type="body" idx="1"/>
          </p:nvPr>
        </p:nvSpPr>
        <p:spPr>
          <a:xfrm>
            <a:off x="457201" y="1340768"/>
            <a:ext cx="5272088" cy="2340260"/>
          </a:xfrm>
          <a:noFill/>
        </p:spPr>
        <p:txBody>
          <a:bodyPr/>
          <a:lstStyle/>
          <a:p>
            <a:pPr>
              <a:spcAft>
                <a:spcPts val="600"/>
              </a:spcAft>
            </a:pPr>
            <a:r>
              <a:rPr lang="zh-CN" altLang="en-US" sz="2400" dirty="0"/>
              <a:t>将输入序列中每次出现的第一个</a:t>
            </a:r>
            <a:r>
              <a:rPr lang="en-US" altLang="zh-CN" sz="2400" dirty="0"/>
              <a:t>1</a:t>
            </a:r>
            <a:r>
              <a:rPr lang="zh-CN" altLang="en-US" sz="2400" dirty="0"/>
              <a:t>替换为</a:t>
            </a:r>
            <a:r>
              <a:rPr lang="en-US" altLang="zh-CN" sz="2400" dirty="0"/>
              <a:t>0</a:t>
            </a:r>
            <a:r>
              <a:rPr lang="zh-CN" altLang="en-US" sz="2400" dirty="0"/>
              <a:t>，其他不变输出</a:t>
            </a:r>
          </a:p>
          <a:p>
            <a:pPr lvl="1">
              <a:spcAft>
                <a:spcPts val="600"/>
              </a:spcAft>
            </a:pPr>
            <a:r>
              <a:rPr lang="zh-CN" altLang="en-US" sz="2000" dirty="0"/>
              <a:t>一个时序</a:t>
            </a:r>
            <a:r>
              <a:rPr lang="zh-CN" altLang="en-US" sz="2000"/>
              <a:t>过程描述</a:t>
            </a:r>
            <a:r>
              <a:rPr lang="en-US" altLang="zh-CN" sz="2000"/>
              <a:t>cs</a:t>
            </a:r>
            <a:endParaRPr lang="en-US" altLang="zh-CN" sz="2000" dirty="0"/>
          </a:p>
          <a:p>
            <a:pPr lvl="1">
              <a:spcAft>
                <a:spcPts val="600"/>
              </a:spcAft>
            </a:pPr>
            <a:r>
              <a:rPr lang="zh-CN" altLang="en-US" sz="2000" dirty="0"/>
              <a:t>一个组合</a:t>
            </a:r>
            <a:r>
              <a:rPr lang="zh-CN" altLang="en-US" sz="2000"/>
              <a:t>过程描述</a:t>
            </a:r>
            <a:r>
              <a:rPr lang="en-US" altLang="zh-CN" sz="2000"/>
              <a:t>ns</a:t>
            </a:r>
            <a:endParaRPr lang="en-US" altLang="zh-CN" sz="2000" dirty="0"/>
          </a:p>
          <a:p>
            <a:pPr lvl="1">
              <a:spcAft>
                <a:spcPts val="600"/>
              </a:spcAft>
            </a:pPr>
            <a:r>
              <a:rPr lang="zh-CN" altLang="en-US" sz="2000"/>
              <a:t>一个组合过程描述</a:t>
            </a:r>
            <a:r>
              <a:rPr lang="en-US" altLang="zh-CN" sz="2000"/>
              <a:t>out</a:t>
            </a:r>
            <a:endParaRPr lang="zh-CN" altLang="en-US" sz="2000" dirty="0"/>
          </a:p>
        </p:txBody>
      </p:sp>
      <p:grpSp>
        <p:nvGrpSpPr>
          <p:cNvPr id="46086" name="Group 21">
            <a:extLst>
              <a:ext uri="{FF2B5EF4-FFF2-40B4-BE49-F238E27FC236}">
                <a16:creationId xmlns:a16="http://schemas.microsoft.com/office/drawing/2014/main" id="{A41CB727-C2F7-4E3D-804A-349521AE3210}"/>
              </a:ext>
            </a:extLst>
          </p:cNvPr>
          <p:cNvGrpSpPr>
            <a:grpSpLocks/>
          </p:cNvGrpSpPr>
          <p:nvPr/>
        </p:nvGrpSpPr>
        <p:grpSpPr bwMode="auto">
          <a:xfrm>
            <a:off x="6669088" y="5481538"/>
            <a:ext cx="1781175" cy="720725"/>
            <a:chOff x="4201" y="3498"/>
            <a:chExt cx="1122" cy="454"/>
          </a:xfrm>
        </p:grpSpPr>
        <p:sp>
          <p:nvSpPr>
            <p:cNvPr id="46093" name="Rectangle 22">
              <a:extLst>
                <a:ext uri="{FF2B5EF4-FFF2-40B4-BE49-F238E27FC236}">
                  <a16:creationId xmlns:a16="http://schemas.microsoft.com/office/drawing/2014/main" id="{BDA00DD8-E584-4EB5-B4C3-8340B7E8A904}"/>
                </a:ext>
              </a:extLst>
            </p:cNvPr>
            <p:cNvSpPr>
              <a:spLocks noChangeArrowheads="1"/>
            </p:cNvSpPr>
            <p:nvPr/>
          </p:nvSpPr>
          <p:spPr bwMode="auto">
            <a:xfrm>
              <a:off x="5050" y="3498"/>
              <a:ext cx="15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in</a:t>
              </a:r>
            </a:p>
          </p:txBody>
        </p:sp>
        <p:sp>
          <p:nvSpPr>
            <p:cNvPr id="46094" name="Line 23">
              <a:extLst>
                <a:ext uri="{FF2B5EF4-FFF2-40B4-BE49-F238E27FC236}">
                  <a16:creationId xmlns:a16="http://schemas.microsoft.com/office/drawing/2014/main" id="{661BCB8A-3EB7-4F4B-A011-CA7666266936}"/>
                </a:ext>
              </a:extLst>
            </p:cNvPr>
            <p:cNvSpPr>
              <a:spLocks noChangeShapeType="1"/>
            </p:cNvSpPr>
            <p:nvPr/>
          </p:nvSpPr>
          <p:spPr bwMode="auto">
            <a:xfrm>
              <a:off x="4949" y="3725"/>
              <a:ext cx="374" cy="0"/>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6095" name="Oval 24">
              <a:extLst>
                <a:ext uri="{FF2B5EF4-FFF2-40B4-BE49-F238E27FC236}">
                  <a16:creationId xmlns:a16="http://schemas.microsoft.com/office/drawing/2014/main" id="{C33135A6-924D-450A-B04B-8BC62A41A36C}"/>
                </a:ext>
              </a:extLst>
            </p:cNvPr>
            <p:cNvSpPr>
              <a:spLocks noChangeArrowheads="1"/>
            </p:cNvSpPr>
            <p:nvPr/>
          </p:nvSpPr>
          <p:spPr bwMode="auto">
            <a:xfrm>
              <a:off x="4201" y="3499"/>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2000" dirty="0"/>
                <a:t>cs/out</a:t>
              </a:r>
            </a:p>
          </p:txBody>
        </p:sp>
      </p:grpSp>
      <p:grpSp>
        <p:nvGrpSpPr>
          <p:cNvPr id="4" name="Group 25">
            <a:extLst>
              <a:ext uri="{FF2B5EF4-FFF2-40B4-BE49-F238E27FC236}">
                <a16:creationId xmlns:a16="http://schemas.microsoft.com/office/drawing/2014/main" id="{A72EAA50-EAB7-4DE8-8A8E-C11A444B4F8F}"/>
              </a:ext>
            </a:extLst>
          </p:cNvPr>
          <p:cNvGrpSpPr>
            <a:grpSpLocks/>
          </p:cNvGrpSpPr>
          <p:nvPr/>
        </p:nvGrpSpPr>
        <p:grpSpPr bwMode="auto">
          <a:xfrm>
            <a:off x="6578600" y="1412776"/>
            <a:ext cx="693738" cy="504825"/>
            <a:chOff x="4144" y="932"/>
            <a:chExt cx="437" cy="318"/>
          </a:xfrm>
        </p:grpSpPr>
        <p:cxnSp>
          <p:nvCxnSpPr>
            <p:cNvPr id="46091" name="AutoShape 26">
              <a:extLst>
                <a:ext uri="{FF2B5EF4-FFF2-40B4-BE49-F238E27FC236}">
                  <a16:creationId xmlns:a16="http://schemas.microsoft.com/office/drawing/2014/main" id="{0420F171-5181-4043-90B1-DA57F2FAB3CF}"/>
                </a:ext>
              </a:extLst>
            </p:cNvPr>
            <p:cNvCxnSpPr>
              <a:cxnSpLocks noChangeShapeType="1"/>
              <a:endCxn id="46102" idx="0"/>
            </p:cNvCxnSpPr>
            <p:nvPr/>
          </p:nvCxnSpPr>
          <p:spPr bwMode="auto">
            <a:xfrm>
              <a:off x="4580" y="932"/>
              <a:ext cx="1" cy="318"/>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46092" name="Rectangle 27">
              <a:extLst>
                <a:ext uri="{FF2B5EF4-FFF2-40B4-BE49-F238E27FC236}">
                  <a16:creationId xmlns:a16="http://schemas.microsoft.com/office/drawing/2014/main" id="{30253F57-F867-4D88-86DC-612384E06C04}"/>
                </a:ext>
              </a:extLst>
            </p:cNvPr>
            <p:cNvSpPr>
              <a:spLocks noChangeArrowheads="1"/>
            </p:cNvSpPr>
            <p:nvPr/>
          </p:nvSpPr>
          <p:spPr bwMode="auto">
            <a:xfrm>
              <a:off x="4144" y="935"/>
              <a:ext cx="39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dirty="0">
                  <a:solidFill>
                    <a:srgbClr val="000000"/>
                  </a:solidFill>
                </a:rPr>
                <a:t>! </a:t>
              </a:r>
              <a:r>
                <a:rPr lang="en-US" altLang="zh-CN" sz="2000" dirty="0" err="1">
                  <a:solidFill>
                    <a:srgbClr val="000000"/>
                  </a:solidFill>
                </a:rPr>
                <a:t>rstn</a:t>
              </a:r>
              <a:endParaRPr lang="en-US" altLang="zh-CN" sz="2000" dirty="0">
                <a:solidFill>
                  <a:srgbClr val="000000"/>
                </a:solidFill>
              </a:endParaRPr>
            </a:p>
          </p:txBody>
        </p:sp>
      </p:grpSp>
      <p:sp>
        <p:nvSpPr>
          <p:cNvPr id="31" name="Rectangle 4">
            <a:extLst>
              <a:ext uri="{FF2B5EF4-FFF2-40B4-BE49-F238E27FC236}">
                <a16:creationId xmlns:a16="http://schemas.microsoft.com/office/drawing/2014/main" id="{B690000F-A66C-4CD6-BFBF-603DE5A8A2F6}"/>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32" name="Rectangle 5">
            <a:extLst>
              <a:ext uri="{FF2B5EF4-FFF2-40B4-BE49-F238E27FC236}">
                <a16:creationId xmlns:a16="http://schemas.microsoft.com/office/drawing/2014/main" id="{DBF45F0E-F5A7-41A3-AAD7-5363333FE2A9}"/>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33" name="Rectangle 6">
            <a:extLst>
              <a:ext uri="{FF2B5EF4-FFF2-40B4-BE49-F238E27FC236}">
                <a16:creationId xmlns:a16="http://schemas.microsoft.com/office/drawing/2014/main" id="{2016771A-5965-4992-B8E9-4165184A168F}"/>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19</a:t>
            </a:fld>
            <a:endParaRPr lang="en-US" altLang="zh-CN" sz="1800" b="0">
              <a:solidFill>
                <a:srgbClr val="B2B2B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08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967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678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00518B6-E6F4-45D9-B194-C72E7020773E}"/>
              </a:ext>
            </a:extLst>
          </p:cNvPr>
          <p:cNvSpPr>
            <a:spLocks noGrp="1" noChangeArrowheads="1"/>
          </p:cNvSpPr>
          <p:nvPr>
            <p:ph type="title" idx="4294967295"/>
          </p:nvPr>
        </p:nvSpPr>
        <p:spPr/>
        <p:txBody>
          <a:bodyPr/>
          <a:lstStyle/>
          <a:p>
            <a:r>
              <a:rPr lang="zh-CN" altLang="en-US"/>
              <a:t>示例</a:t>
            </a:r>
            <a:r>
              <a:rPr lang="en-US" altLang="zh-CN"/>
              <a:t>—</a:t>
            </a:r>
            <a:r>
              <a:rPr lang="zh-CN" altLang="en-US" dirty="0"/>
              <a:t>多</a:t>
            </a:r>
            <a:r>
              <a:rPr lang="zh-CN" altLang="en-US"/>
              <a:t>段</a:t>
            </a:r>
            <a:r>
              <a:rPr lang="zh-CN" altLang="en-US" dirty="0"/>
              <a:t>式摩尔型</a:t>
            </a:r>
            <a:r>
              <a:rPr lang="en-US" altLang="zh-CN" dirty="0"/>
              <a:t>FSM (</a:t>
            </a:r>
            <a:r>
              <a:rPr lang="zh-CN" altLang="en-US" dirty="0"/>
              <a:t>续</a:t>
            </a:r>
            <a:r>
              <a:rPr lang="en-US" altLang="zh-CN" dirty="0"/>
              <a:t>1)</a:t>
            </a:r>
            <a:endParaRPr lang="zh-CN" altLang="en-US" dirty="0"/>
          </a:p>
        </p:txBody>
      </p:sp>
      <p:sp>
        <p:nvSpPr>
          <p:cNvPr id="47107" name="Rectangle 3">
            <a:extLst>
              <a:ext uri="{FF2B5EF4-FFF2-40B4-BE49-F238E27FC236}">
                <a16:creationId xmlns:a16="http://schemas.microsoft.com/office/drawing/2014/main" id="{508659CD-B876-4932-B36B-D0458D0AA998}"/>
              </a:ext>
            </a:extLst>
          </p:cNvPr>
          <p:cNvSpPr>
            <a:spLocks noChangeArrowheads="1"/>
          </p:cNvSpPr>
          <p:nvPr/>
        </p:nvSpPr>
        <p:spPr bwMode="auto">
          <a:xfrm>
            <a:off x="846138" y="1341648"/>
            <a:ext cx="5508624" cy="51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8792" tIns="26621" rIns="18792" bIns="26621"/>
          <a:lstStyle>
            <a:lvl1pPr defTabSz="901700">
              <a:spcAft>
                <a:spcPct val="20000"/>
              </a:spcAft>
              <a:buChar char="•"/>
              <a:tabLst>
                <a:tab pos="450850" algn="l"/>
                <a:tab pos="901700" algn="l"/>
                <a:tab pos="1350963" algn="l"/>
                <a:tab pos="2641600"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 pos="2641600"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9pPr>
          </a:lstStyle>
          <a:p>
            <a:pPr>
              <a:spcAft>
                <a:spcPts val="300"/>
              </a:spcAft>
              <a:buFontTx/>
              <a:buNone/>
            </a:pPr>
            <a:r>
              <a:rPr lang="en-US" altLang="zh-CN" sz="2000" b="0" dirty="0">
                <a:solidFill>
                  <a:srgbClr val="000000"/>
                </a:solidFill>
              </a:rPr>
              <a:t>// </a:t>
            </a:r>
            <a:r>
              <a:rPr lang="zh-CN" altLang="en-US" sz="2000" b="0">
                <a:solidFill>
                  <a:srgbClr val="000000"/>
                </a:solidFill>
              </a:rPr>
              <a:t>时序描述</a:t>
            </a:r>
            <a:r>
              <a:rPr lang="en-US" altLang="zh-CN" sz="2000" b="0">
                <a:solidFill>
                  <a:srgbClr val="000000"/>
                </a:solidFill>
              </a:rPr>
              <a:t>cs</a:t>
            </a:r>
            <a:endParaRPr lang="en-US" altLang="zh-CN" sz="2000" b="0" dirty="0">
              <a:solidFill>
                <a:srgbClr val="000000"/>
              </a:solidFill>
            </a:endParaRPr>
          </a:p>
          <a:p>
            <a:pPr>
              <a:spcAft>
                <a:spcPts val="300"/>
              </a:spcAft>
              <a:buFontTx/>
              <a:buNone/>
            </a:pPr>
            <a:r>
              <a:rPr lang="en-US" altLang="zh-CN" sz="2000" b="0" dirty="0">
                <a:solidFill>
                  <a:srgbClr val="000000"/>
                </a:solidFill>
              </a:rPr>
              <a:t>always  @(</a:t>
            </a:r>
            <a:r>
              <a:rPr lang="en-US" altLang="zh-CN" sz="2000" b="0" err="1">
                <a:solidFill>
                  <a:srgbClr val="000000"/>
                </a:solidFill>
              </a:rPr>
              <a:t>posedge</a:t>
            </a:r>
            <a:r>
              <a:rPr lang="en-US" altLang="zh-CN" sz="2000" b="0">
                <a:solidFill>
                  <a:srgbClr val="000000"/>
                </a:solidFill>
              </a:rPr>
              <a:t> clk)</a:t>
            </a:r>
            <a:endParaRPr lang="en-US" altLang="zh-CN" sz="2000" b="0" dirty="0">
              <a:solidFill>
                <a:srgbClr val="000000"/>
              </a:solidFill>
            </a:endParaRPr>
          </a:p>
          <a:p>
            <a:pPr>
              <a:spcAft>
                <a:spcPts val="300"/>
              </a:spcAft>
              <a:buFontTx/>
              <a:buNone/>
            </a:pPr>
            <a:r>
              <a:rPr lang="en-US" altLang="zh-CN" sz="2000" b="0" dirty="0">
                <a:solidFill>
                  <a:srgbClr val="000000"/>
                </a:solidFill>
              </a:rPr>
              <a:t>    </a:t>
            </a:r>
            <a:r>
              <a:rPr lang="en-US" altLang="zh-CN" sz="2000" b="0">
                <a:solidFill>
                  <a:srgbClr val="000000"/>
                </a:solidFill>
              </a:rPr>
              <a:t>if (rst)   </a:t>
            </a:r>
            <a:r>
              <a:rPr lang="en-US" altLang="zh-CN" sz="2000" b="0" dirty="0">
                <a:solidFill>
                  <a:srgbClr val="000000"/>
                </a:solidFill>
              </a:rPr>
              <a:t>cs &lt;= ZERO;  //</a:t>
            </a:r>
            <a:r>
              <a:rPr lang="zh-CN" altLang="en-US" sz="2000" b="0" dirty="0">
                <a:solidFill>
                  <a:srgbClr val="000000"/>
                </a:solidFill>
              </a:rPr>
              <a:t>异步复位</a:t>
            </a:r>
          </a:p>
          <a:p>
            <a:pPr>
              <a:spcAft>
                <a:spcPts val="300"/>
              </a:spcAft>
              <a:buFontTx/>
              <a:buNone/>
            </a:pPr>
            <a:r>
              <a:rPr lang="en-US" altLang="zh-CN" sz="2000" b="0" dirty="0">
                <a:solidFill>
                  <a:srgbClr val="000000"/>
                </a:solidFill>
              </a:rPr>
              <a:t>    else   cs &lt;= ns;</a:t>
            </a:r>
          </a:p>
          <a:p>
            <a:pPr>
              <a:spcAft>
                <a:spcPts val="300"/>
              </a:spcAft>
              <a:buFontTx/>
              <a:buNone/>
            </a:pPr>
            <a:endParaRPr lang="en-US" altLang="zh-CN" sz="1000" b="0" dirty="0">
              <a:solidFill>
                <a:srgbClr val="000000"/>
              </a:solidFill>
            </a:endParaRPr>
          </a:p>
          <a:p>
            <a:pPr>
              <a:spcAft>
                <a:spcPts val="300"/>
              </a:spcAft>
              <a:buFontTx/>
              <a:buNone/>
            </a:pPr>
            <a:r>
              <a:rPr lang="en-US" altLang="zh-CN" sz="2000" b="0" dirty="0">
                <a:solidFill>
                  <a:srgbClr val="000000"/>
                </a:solidFill>
              </a:rPr>
              <a:t>// </a:t>
            </a:r>
            <a:r>
              <a:rPr lang="zh-CN" altLang="en-US" sz="2000" b="0">
                <a:solidFill>
                  <a:srgbClr val="000000"/>
                </a:solidFill>
              </a:rPr>
              <a:t>组合描述</a:t>
            </a:r>
            <a:r>
              <a:rPr lang="en-US" altLang="zh-CN" sz="2000" b="0">
                <a:solidFill>
                  <a:srgbClr val="000000"/>
                </a:solidFill>
              </a:rPr>
              <a:t>ns</a:t>
            </a:r>
            <a:endParaRPr lang="en-US" altLang="zh-CN" sz="2000" b="0" dirty="0">
              <a:solidFill>
                <a:srgbClr val="000000"/>
              </a:solidFill>
            </a:endParaRPr>
          </a:p>
          <a:p>
            <a:pPr>
              <a:spcAft>
                <a:spcPts val="300"/>
              </a:spcAft>
              <a:buFontTx/>
              <a:buNone/>
            </a:pPr>
            <a:r>
              <a:rPr lang="en-US" altLang="zh-CN" sz="2000" b="0" dirty="0">
                <a:solidFill>
                  <a:srgbClr val="000000"/>
                </a:solidFill>
              </a:rPr>
              <a:t>always  @(*) begin</a:t>
            </a:r>
          </a:p>
          <a:p>
            <a:pPr>
              <a:spcAft>
                <a:spcPts val="300"/>
              </a:spcAft>
              <a:buFontTx/>
              <a:buNone/>
            </a:pPr>
            <a:r>
              <a:rPr lang="en-US" altLang="zh-CN" sz="2000" b="0" dirty="0">
                <a:solidFill>
                  <a:srgbClr val="000000"/>
                </a:solidFill>
              </a:rPr>
              <a:t>    ns = cs</a:t>
            </a:r>
            <a:br>
              <a:rPr lang="en-US" altLang="zh-CN" sz="2000" b="0" dirty="0">
                <a:solidFill>
                  <a:srgbClr val="000000"/>
                </a:solidFill>
              </a:rPr>
            </a:br>
            <a:r>
              <a:rPr lang="en-US" altLang="zh-CN" sz="2000" b="0" dirty="0">
                <a:solidFill>
                  <a:srgbClr val="000000"/>
                </a:solidFill>
              </a:rPr>
              <a:t>    case (cs)</a:t>
            </a:r>
            <a:br>
              <a:rPr lang="en-US" altLang="zh-CN" sz="2000" b="0" dirty="0">
                <a:solidFill>
                  <a:srgbClr val="000000"/>
                </a:solidFill>
              </a:rPr>
            </a:br>
            <a:r>
              <a:rPr lang="en-US" altLang="zh-CN" sz="2000" b="0" dirty="0">
                <a:solidFill>
                  <a:srgbClr val="000000"/>
                </a:solidFill>
              </a:rPr>
              <a:t>        ZERO: if (in)  ns = ONE;</a:t>
            </a:r>
          </a:p>
          <a:p>
            <a:pPr>
              <a:spcAft>
                <a:spcPts val="300"/>
              </a:spcAft>
              <a:buFontTx/>
              <a:buNone/>
            </a:pPr>
            <a:r>
              <a:rPr lang="en-US" altLang="zh-CN" sz="2000" b="0" dirty="0">
                <a:solidFill>
                  <a:srgbClr val="000000"/>
                </a:solidFill>
              </a:rPr>
              <a:t>        ONE: if (in) ns =  TWO;</a:t>
            </a:r>
          </a:p>
          <a:p>
            <a:pPr>
              <a:spcAft>
                <a:spcPts val="300"/>
              </a:spcAft>
              <a:buFontTx/>
              <a:buNone/>
            </a:pPr>
            <a:r>
              <a:rPr lang="en-US" altLang="zh-CN" sz="2000" b="0" dirty="0">
                <a:solidFill>
                  <a:srgbClr val="000000"/>
                </a:solidFill>
              </a:rPr>
              <a:t>                  else ns = ZERO;</a:t>
            </a:r>
          </a:p>
          <a:p>
            <a:pPr>
              <a:spcAft>
                <a:spcPts val="300"/>
              </a:spcAft>
              <a:buFontTx/>
              <a:buNone/>
            </a:pPr>
            <a:r>
              <a:rPr lang="en-US" altLang="zh-CN" sz="2000" b="0" dirty="0">
                <a:solidFill>
                  <a:srgbClr val="000000"/>
                </a:solidFill>
              </a:rPr>
              <a:t>        TWO: if (!in) ns = ZERO;</a:t>
            </a:r>
          </a:p>
          <a:p>
            <a:pPr>
              <a:spcAft>
                <a:spcPts val="300"/>
              </a:spcAft>
              <a:buFontTx/>
              <a:buNone/>
            </a:pPr>
            <a:r>
              <a:rPr lang="en-US" altLang="zh-CN" sz="2000" b="0" dirty="0">
                <a:solidFill>
                  <a:srgbClr val="000000"/>
                </a:solidFill>
              </a:rPr>
              <a:t>    </a:t>
            </a:r>
            <a:r>
              <a:rPr lang="en-US" altLang="zh-CN" sz="2000" b="0" dirty="0" err="1">
                <a:solidFill>
                  <a:srgbClr val="000000"/>
                </a:solidFill>
              </a:rPr>
              <a:t>endcase</a:t>
            </a:r>
            <a:endParaRPr lang="en-US" altLang="zh-CN" sz="2000" b="0" dirty="0">
              <a:solidFill>
                <a:srgbClr val="000000"/>
              </a:solidFill>
            </a:endParaRPr>
          </a:p>
          <a:p>
            <a:pPr>
              <a:spcAft>
                <a:spcPts val="300"/>
              </a:spcAft>
              <a:buFontTx/>
              <a:buNone/>
            </a:pPr>
            <a:r>
              <a:rPr lang="en-US" altLang="zh-CN" sz="2000" b="0" dirty="0">
                <a:solidFill>
                  <a:srgbClr val="000000"/>
                </a:solidFill>
              </a:rPr>
              <a:t>end</a:t>
            </a:r>
          </a:p>
        </p:txBody>
      </p:sp>
      <p:sp>
        <p:nvSpPr>
          <p:cNvPr id="28" name="Rectangle 4">
            <a:extLst>
              <a:ext uri="{FF2B5EF4-FFF2-40B4-BE49-F238E27FC236}">
                <a16:creationId xmlns:a16="http://schemas.microsoft.com/office/drawing/2014/main" id="{833EB896-A64C-47BA-B74B-4F9AE7EBF136}"/>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9" name="Rectangle 5">
            <a:extLst>
              <a:ext uri="{FF2B5EF4-FFF2-40B4-BE49-F238E27FC236}">
                <a16:creationId xmlns:a16="http://schemas.microsoft.com/office/drawing/2014/main" id="{67847A3D-C5E2-43F3-8A5C-1BCFB683BFD4}"/>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30" name="Rectangle 6">
            <a:extLst>
              <a:ext uri="{FF2B5EF4-FFF2-40B4-BE49-F238E27FC236}">
                <a16:creationId xmlns:a16="http://schemas.microsoft.com/office/drawing/2014/main" id="{906E9C7C-0075-46E4-A5D1-09E1AAD538C7}"/>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20</a:t>
            </a:fld>
            <a:endParaRPr lang="en-US" altLang="zh-CN" sz="1800" b="0">
              <a:solidFill>
                <a:srgbClr val="B2B2B2"/>
              </a:solidFill>
              <a:latin typeface="Arial" panose="020B0604020202020204" pitchFamily="34" charset="0"/>
            </a:endParaRPr>
          </a:p>
        </p:txBody>
      </p:sp>
      <p:grpSp>
        <p:nvGrpSpPr>
          <p:cNvPr id="54" name="Group 3">
            <a:extLst>
              <a:ext uri="{FF2B5EF4-FFF2-40B4-BE49-F238E27FC236}">
                <a16:creationId xmlns:a16="http://schemas.microsoft.com/office/drawing/2014/main" id="{57548103-6953-4B98-A73A-268EC0E941EA}"/>
              </a:ext>
            </a:extLst>
          </p:cNvPr>
          <p:cNvGrpSpPr>
            <a:grpSpLocks/>
          </p:cNvGrpSpPr>
          <p:nvPr/>
        </p:nvGrpSpPr>
        <p:grpSpPr bwMode="auto">
          <a:xfrm>
            <a:off x="6372225" y="1917601"/>
            <a:ext cx="1820863" cy="3240087"/>
            <a:chOff x="4020" y="1253"/>
            <a:chExt cx="1147" cy="2041"/>
          </a:xfrm>
        </p:grpSpPr>
        <p:sp>
          <p:nvSpPr>
            <p:cNvPr id="55" name="Rectangle 4">
              <a:extLst>
                <a:ext uri="{FF2B5EF4-FFF2-40B4-BE49-F238E27FC236}">
                  <a16:creationId xmlns:a16="http://schemas.microsoft.com/office/drawing/2014/main" id="{7F1A3B93-5F04-4005-A5A3-59DAE0253FD7}"/>
                </a:ext>
              </a:extLst>
            </p:cNvPr>
            <p:cNvSpPr>
              <a:spLocks noChangeArrowheads="1"/>
            </p:cNvSpPr>
            <p:nvPr/>
          </p:nvSpPr>
          <p:spPr bwMode="auto">
            <a:xfrm>
              <a:off x="4663" y="1742"/>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a:t>
              </a:r>
            </a:p>
          </p:txBody>
        </p:sp>
        <p:sp>
          <p:nvSpPr>
            <p:cNvPr id="56" name="Rectangle 5">
              <a:extLst>
                <a:ext uri="{FF2B5EF4-FFF2-40B4-BE49-F238E27FC236}">
                  <a16:creationId xmlns:a16="http://schemas.microsoft.com/office/drawing/2014/main" id="{AD362E55-7713-4216-9FEC-EEE65581E8CC}"/>
                </a:ext>
              </a:extLst>
            </p:cNvPr>
            <p:cNvSpPr>
              <a:spLocks noChangeArrowheads="1"/>
            </p:cNvSpPr>
            <p:nvPr/>
          </p:nvSpPr>
          <p:spPr bwMode="auto">
            <a:xfrm>
              <a:off x="4020" y="2685"/>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a:t>
              </a:r>
            </a:p>
          </p:txBody>
        </p:sp>
        <p:sp>
          <p:nvSpPr>
            <p:cNvPr id="57" name="Rectangle 6">
              <a:extLst>
                <a:ext uri="{FF2B5EF4-FFF2-40B4-BE49-F238E27FC236}">
                  <a16:creationId xmlns:a16="http://schemas.microsoft.com/office/drawing/2014/main" id="{34CA694C-C42B-4A1D-B4F0-CBF573246019}"/>
                </a:ext>
              </a:extLst>
            </p:cNvPr>
            <p:cNvSpPr>
              <a:spLocks noChangeArrowheads="1"/>
            </p:cNvSpPr>
            <p:nvPr/>
          </p:nvSpPr>
          <p:spPr bwMode="auto">
            <a:xfrm>
              <a:off x="4111" y="1803"/>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a:t>
              </a:r>
            </a:p>
          </p:txBody>
        </p:sp>
        <p:sp>
          <p:nvSpPr>
            <p:cNvPr id="58" name="Rectangle 7">
              <a:extLst>
                <a:ext uri="{FF2B5EF4-FFF2-40B4-BE49-F238E27FC236}">
                  <a16:creationId xmlns:a16="http://schemas.microsoft.com/office/drawing/2014/main" id="{2E420185-B2AC-48DE-B3B6-A4C70E90C3E1}"/>
                </a:ext>
              </a:extLst>
            </p:cNvPr>
            <p:cNvSpPr>
              <a:spLocks noChangeArrowheads="1"/>
            </p:cNvSpPr>
            <p:nvPr/>
          </p:nvSpPr>
          <p:spPr bwMode="auto">
            <a:xfrm>
              <a:off x="5063" y="1361"/>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a:t>
              </a:r>
            </a:p>
          </p:txBody>
        </p:sp>
        <p:sp>
          <p:nvSpPr>
            <p:cNvPr id="59" name="Rectangle 8">
              <a:extLst>
                <a:ext uri="{FF2B5EF4-FFF2-40B4-BE49-F238E27FC236}">
                  <a16:creationId xmlns:a16="http://schemas.microsoft.com/office/drawing/2014/main" id="{648A1A6C-71E8-429F-8BCD-320280351B5E}"/>
                </a:ext>
              </a:extLst>
            </p:cNvPr>
            <p:cNvSpPr>
              <a:spLocks noChangeArrowheads="1"/>
            </p:cNvSpPr>
            <p:nvPr/>
          </p:nvSpPr>
          <p:spPr bwMode="auto">
            <a:xfrm>
              <a:off x="5063" y="2979"/>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a:t>
              </a:r>
            </a:p>
          </p:txBody>
        </p:sp>
        <p:sp>
          <p:nvSpPr>
            <p:cNvPr id="60" name="Rectangle 9">
              <a:extLst>
                <a:ext uri="{FF2B5EF4-FFF2-40B4-BE49-F238E27FC236}">
                  <a16:creationId xmlns:a16="http://schemas.microsoft.com/office/drawing/2014/main" id="{3CD748A2-5A01-496D-BA6A-713F252E7BC4}"/>
                </a:ext>
              </a:extLst>
            </p:cNvPr>
            <p:cNvSpPr>
              <a:spLocks noChangeArrowheads="1"/>
            </p:cNvSpPr>
            <p:nvPr/>
          </p:nvSpPr>
          <p:spPr bwMode="auto">
            <a:xfrm>
              <a:off x="4663" y="2523"/>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a:t>
              </a:r>
            </a:p>
          </p:txBody>
        </p:sp>
        <p:sp>
          <p:nvSpPr>
            <p:cNvPr id="61" name="Oval 10">
              <a:extLst>
                <a:ext uri="{FF2B5EF4-FFF2-40B4-BE49-F238E27FC236}">
                  <a16:creationId xmlns:a16="http://schemas.microsoft.com/office/drawing/2014/main" id="{217A938C-EEF8-48FE-9411-6612D4A2CE62}"/>
                </a:ext>
              </a:extLst>
            </p:cNvPr>
            <p:cNvSpPr>
              <a:spLocks noChangeArrowheads="1"/>
            </p:cNvSpPr>
            <p:nvPr/>
          </p:nvSpPr>
          <p:spPr bwMode="auto">
            <a:xfrm>
              <a:off x="4218" y="1253"/>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ZERO</a:t>
              </a:r>
              <a:r>
                <a:rPr lang="en-US" altLang="zh-CN" sz="2000" dirty="0"/>
                <a:t>/0</a:t>
              </a:r>
            </a:p>
          </p:txBody>
        </p:sp>
        <p:sp>
          <p:nvSpPr>
            <p:cNvPr id="62" name="Oval 11">
              <a:extLst>
                <a:ext uri="{FF2B5EF4-FFF2-40B4-BE49-F238E27FC236}">
                  <a16:creationId xmlns:a16="http://schemas.microsoft.com/office/drawing/2014/main" id="{53F536B7-3C08-42A3-A099-626B63F78EA3}"/>
                </a:ext>
              </a:extLst>
            </p:cNvPr>
            <p:cNvSpPr>
              <a:spLocks noChangeArrowheads="1"/>
            </p:cNvSpPr>
            <p:nvPr/>
          </p:nvSpPr>
          <p:spPr bwMode="auto">
            <a:xfrm>
              <a:off x="4218" y="2047"/>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ONE</a:t>
              </a:r>
              <a:r>
                <a:rPr lang="en-US" altLang="zh-CN" sz="2000" dirty="0"/>
                <a:t>/0</a:t>
              </a:r>
            </a:p>
          </p:txBody>
        </p:sp>
        <p:sp>
          <p:nvSpPr>
            <p:cNvPr id="63" name="Oval 12">
              <a:extLst>
                <a:ext uri="{FF2B5EF4-FFF2-40B4-BE49-F238E27FC236}">
                  <a16:creationId xmlns:a16="http://schemas.microsoft.com/office/drawing/2014/main" id="{965D001F-968F-46D5-94EE-661AF7112FAE}"/>
                </a:ext>
              </a:extLst>
            </p:cNvPr>
            <p:cNvSpPr>
              <a:spLocks noChangeArrowheads="1"/>
            </p:cNvSpPr>
            <p:nvPr/>
          </p:nvSpPr>
          <p:spPr bwMode="auto">
            <a:xfrm>
              <a:off x="4218" y="2841"/>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TWO</a:t>
              </a:r>
              <a:r>
                <a:rPr lang="en-US" altLang="zh-CN" sz="2000" dirty="0"/>
                <a:t>/1</a:t>
              </a:r>
            </a:p>
          </p:txBody>
        </p:sp>
        <p:cxnSp>
          <p:nvCxnSpPr>
            <p:cNvPr id="64" name="AutoShape 13">
              <a:extLst>
                <a:ext uri="{FF2B5EF4-FFF2-40B4-BE49-F238E27FC236}">
                  <a16:creationId xmlns:a16="http://schemas.microsoft.com/office/drawing/2014/main" id="{6EBF1583-982E-49A9-B5EC-A9E95D7498EA}"/>
                </a:ext>
              </a:extLst>
            </p:cNvPr>
            <p:cNvCxnSpPr>
              <a:cxnSpLocks noChangeShapeType="1"/>
              <a:stCxn id="61" idx="4"/>
              <a:endCxn id="62" idx="0"/>
            </p:cNvCxnSpPr>
            <p:nvPr/>
          </p:nvCxnSpPr>
          <p:spPr bwMode="auto">
            <a:xfrm>
              <a:off x="4587" y="1717"/>
              <a:ext cx="0" cy="319"/>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5" name="AutoShape 14">
              <a:extLst>
                <a:ext uri="{FF2B5EF4-FFF2-40B4-BE49-F238E27FC236}">
                  <a16:creationId xmlns:a16="http://schemas.microsoft.com/office/drawing/2014/main" id="{8849D9C1-CD7E-45A4-8C5F-17790367045D}"/>
                </a:ext>
              </a:extLst>
            </p:cNvPr>
            <p:cNvCxnSpPr>
              <a:cxnSpLocks noChangeShapeType="1"/>
              <a:stCxn id="62" idx="4"/>
              <a:endCxn id="63" idx="0"/>
            </p:cNvCxnSpPr>
            <p:nvPr/>
          </p:nvCxnSpPr>
          <p:spPr bwMode="auto">
            <a:xfrm>
              <a:off x="4587" y="2511"/>
              <a:ext cx="0" cy="319"/>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6" name="AutoShape 15">
              <a:extLst>
                <a:ext uri="{FF2B5EF4-FFF2-40B4-BE49-F238E27FC236}">
                  <a16:creationId xmlns:a16="http://schemas.microsoft.com/office/drawing/2014/main" id="{523DBC4A-F70D-4484-8692-D734042CFBC7}"/>
                </a:ext>
              </a:extLst>
            </p:cNvPr>
            <p:cNvCxnSpPr>
              <a:cxnSpLocks noChangeShapeType="1"/>
              <a:stCxn id="62" idx="2"/>
              <a:endCxn id="61" idx="2"/>
            </p:cNvCxnSpPr>
            <p:nvPr/>
          </p:nvCxnSpPr>
          <p:spPr bwMode="auto">
            <a:xfrm rot="10800000" flipH="1">
              <a:off x="4206" y="1480"/>
              <a:ext cx="1" cy="794"/>
            </a:xfrm>
            <a:prstGeom prst="curvedConnector3">
              <a:avLst>
                <a:gd name="adj1" fmla="val -19600009"/>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7" name="AutoShape 16">
              <a:extLst>
                <a:ext uri="{FF2B5EF4-FFF2-40B4-BE49-F238E27FC236}">
                  <a16:creationId xmlns:a16="http://schemas.microsoft.com/office/drawing/2014/main" id="{2230865F-2036-4FF9-9DC7-62F42FAEA454}"/>
                </a:ext>
              </a:extLst>
            </p:cNvPr>
            <p:cNvCxnSpPr>
              <a:cxnSpLocks noChangeShapeType="1"/>
              <a:stCxn id="63" idx="2"/>
              <a:endCxn id="61" idx="2"/>
            </p:cNvCxnSpPr>
            <p:nvPr/>
          </p:nvCxnSpPr>
          <p:spPr bwMode="auto">
            <a:xfrm rot="10800000" flipH="1">
              <a:off x="4206" y="1480"/>
              <a:ext cx="1" cy="1588"/>
            </a:xfrm>
            <a:prstGeom prst="curvedConnector3">
              <a:avLst>
                <a:gd name="adj1" fmla="val -36400014"/>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8" name="AutoShape 17">
              <a:extLst>
                <a:ext uri="{FF2B5EF4-FFF2-40B4-BE49-F238E27FC236}">
                  <a16:creationId xmlns:a16="http://schemas.microsoft.com/office/drawing/2014/main" id="{28B091CE-E2EA-4FEB-9A61-E231EBF11064}"/>
                </a:ext>
              </a:extLst>
            </p:cNvPr>
            <p:cNvCxnSpPr>
              <a:cxnSpLocks noChangeShapeType="1"/>
              <a:stCxn id="61" idx="5"/>
              <a:endCxn id="61" idx="7"/>
            </p:cNvCxnSpPr>
            <p:nvPr/>
          </p:nvCxnSpPr>
          <p:spPr bwMode="auto">
            <a:xfrm rot="5400000" flipH="1" flipV="1">
              <a:off x="4677" y="1479"/>
              <a:ext cx="341" cy="1"/>
            </a:xfrm>
            <a:prstGeom prst="curvedConnector5">
              <a:avLst>
                <a:gd name="adj1" fmla="val -25745"/>
                <a:gd name="adj2" fmla="val 41300014"/>
                <a:gd name="adj3" fmla="val 146069"/>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9" name="AutoShape 18">
              <a:extLst>
                <a:ext uri="{FF2B5EF4-FFF2-40B4-BE49-F238E27FC236}">
                  <a16:creationId xmlns:a16="http://schemas.microsoft.com/office/drawing/2014/main" id="{D9037FF8-AC59-49A1-A7E4-60BAE26818C1}"/>
                </a:ext>
              </a:extLst>
            </p:cNvPr>
            <p:cNvCxnSpPr>
              <a:cxnSpLocks noChangeShapeType="1"/>
              <a:stCxn id="63" idx="5"/>
              <a:endCxn id="63" idx="7"/>
            </p:cNvCxnSpPr>
            <p:nvPr/>
          </p:nvCxnSpPr>
          <p:spPr bwMode="auto">
            <a:xfrm rot="5400000" flipH="1" flipV="1">
              <a:off x="4677" y="3067"/>
              <a:ext cx="341" cy="1"/>
            </a:xfrm>
            <a:prstGeom prst="curvedConnector5">
              <a:avLst>
                <a:gd name="adj1" fmla="val -36046"/>
                <a:gd name="adj2" fmla="val 42100014"/>
                <a:gd name="adj3" fmla="val 143898"/>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70" name="Group 21">
            <a:extLst>
              <a:ext uri="{FF2B5EF4-FFF2-40B4-BE49-F238E27FC236}">
                <a16:creationId xmlns:a16="http://schemas.microsoft.com/office/drawing/2014/main" id="{D3AC1CE5-B923-4D44-8D43-5862749618C1}"/>
              </a:ext>
            </a:extLst>
          </p:cNvPr>
          <p:cNvGrpSpPr>
            <a:grpSpLocks/>
          </p:cNvGrpSpPr>
          <p:nvPr/>
        </p:nvGrpSpPr>
        <p:grpSpPr bwMode="auto">
          <a:xfrm>
            <a:off x="6669088" y="5481538"/>
            <a:ext cx="1781175" cy="720725"/>
            <a:chOff x="4201" y="3498"/>
            <a:chExt cx="1122" cy="454"/>
          </a:xfrm>
        </p:grpSpPr>
        <p:sp>
          <p:nvSpPr>
            <p:cNvPr id="71" name="Rectangle 22">
              <a:extLst>
                <a:ext uri="{FF2B5EF4-FFF2-40B4-BE49-F238E27FC236}">
                  <a16:creationId xmlns:a16="http://schemas.microsoft.com/office/drawing/2014/main" id="{CACAABF6-3AC3-4160-85A1-B448FE1E21A9}"/>
                </a:ext>
              </a:extLst>
            </p:cNvPr>
            <p:cNvSpPr>
              <a:spLocks noChangeArrowheads="1"/>
            </p:cNvSpPr>
            <p:nvPr/>
          </p:nvSpPr>
          <p:spPr bwMode="auto">
            <a:xfrm>
              <a:off x="5050" y="3498"/>
              <a:ext cx="15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in</a:t>
              </a:r>
            </a:p>
          </p:txBody>
        </p:sp>
        <p:sp>
          <p:nvSpPr>
            <p:cNvPr id="72" name="Line 23">
              <a:extLst>
                <a:ext uri="{FF2B5EF4-FFF2-40B4-BE49-F238E27FC236}">
                  <a16:creationId xmlns:a16="http://schemas.microsoft.com/office/drawing/2014/main" id="{0F0D401E-7630-4B42-BA9A-FC55BF805D66}"/>
                </a:ext>
              </a:extLst>
            </p:cNvPr>
            <p:cNvSpPr>
              <a:spLocks noChangeShapeType="1"/>
            </p:cNvSpPr>
            <p:nvPr/>
          </p:nvSpPr>
          <p:spPr bwMode="auto">
            <a:xfrm>
              <a:off x="4949" y="3725"/>
              <a:ext cx="374" cy="0"/>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3" name="Oval 24">
              <a:extLst>
                <a:ext uri="{FF2B5EF4-FFF2-40B4-BE49-F238E27FC236}">
                  <a16:creationId xmlns:a16="http://schemas.microsoft.com/office/drawing/2014/main" id="{E2AAF692-7F94-4A9D-98BB-8D0EE3294A9E}"/>
                </a:ext>
              </a:extLst>
            </p:cNvPr>
            <p:cNvSpPr>
              <a:spLocks noChangeArrowheads="1"/>
            </p:cNvSpPr>
            <p:nvPr/>
          </p:nvSpPr>
          <p:spPr bwMode="auto">
            <a:xfrm>
              <a:off x="4201" y="3499"/>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2000" dirty="0"/>
                <a:t>cs/out</a:t>
              </a:r>
            </a:p>
          </p:txBody>
        </p:sp>
      </p:grpSp>
      <p:grpSp>
        <p:nvGrpSpPr>
          <p:cNvPr id="74" name="Group 25">
            <a:extLst>
              <a:ext uri="{FF2B5EF4-FFF2-40B4-BE49-F238E27FC236}">
                <a16:creationId xmlns:a16="http://schemas.microsoft.com/office/drawing/2014/main" id="{B3F3E386-DCBF-4B0D-8244-4BE7DBAE679B}"/>
              </a:ext>
            </a:extLst>
          </p:cNvPr>
          <p:cNvGrpSpPr>
            <a:grpSpLocks/>
          </p:cNvGrpSpPr>
          <p:nvPr/>
        </p:nvGrpSpPr>
        <p:grpSpPr bwMode="auto">
          <a:xfrm>
            <a:off x="6578600" y="1412776"/>
            <a:ext cx="693738" cy="419100"/>
            <a:chOff x="4144" y="932"/>
            <a:chExt cx="437" cy="264"/>
          </a:xfrm>
        </p:grpSpPr>
        <p:cxnSp>
          <p:nvCxnSpPr>
            <p:cNvPr id="75" name="AutoShape 26">
              <a:extLst>
                <a:ext uri="{FF2B5EF4-FFF2-40B4-BE49-F238E27FC236}">
                  <a16:creationId xmlns:a16="http://schemas.microsoft.com/office/drawing/2014/main" id="{C4899B25-D08E-45C9-9F1E-AE8CAA386011}"/>
                </a:ext>
              </a:extLst>
            </p:cNvPr>
            <p:cNvCxnSpPr>
              <a:cxnSpLocks noChangeShapeType="1"/>
              <a:endCxn id="61" idx="0"/>
            </p:cNvCxnSpPr>
            <p:nvPr/>
          </p:nvCxnSpPr>
          <p:spPr bwMode="auto">
            <a:xfrm>
              <a:off x="4580" y="932"/>
              <a:ext cx="1" cy="264"/>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76" name="Rectangle 27">
              <a:extLst>
                <a:ext uri="{FF2B5EF4-FFF2-40B4-BE49-F238E27FC236}">
                  <a16:creationId xmlns:a16="http://schemas.microsoft.com/office/drawing/2014/main" id="{77D364B7-64D9-498B-9213-B4E443392FB2}"/>
                </a:ext>
              </a:extLst>
            </p:cNvPr>
            <p:cNvSpPr>
              <a:spLocks noChangeArrowheads="1"/>
            </p:cNvSpPr>
            <p:nvPr/>
          </p:nvSpPr>
          <p:spPr bwMode="auto">
            <a:xfrm>
              <a:off x="4144" y="935"/>
              <a:ext cx="39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dirty="0">
                  <a:solidFill>
                    <a:srgbClr val="000000"/>
                  </a:solidFill>
                </a:rPr>
                <a:t>! </a:t>
              </a:r>
              <a:r>
                <a:rPr lang="en-US" altLang="zh-CN" sz="2000" dirty="0" err="1">
                  <a:solidFill>
                    <a:srgbClr val="000000"/>
                  </a:solidFill>
                </a:rPr>
                <a:t>rstn</a:t>
              </a:r>
              <a:endParaRPr lang="en-US" altLang="zh-CN" sz="2000" dirty="0">
                <a:solidFill>
                  <a:srgbClr val="000000"/>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00518B6-E6F4-45D9-B194-C72E7020773E}"/>
              </a:ext>
            </a:extLst>
          </p:cNvPr>
          <p:cNvSpPr>
            <a:spLocks noGrp="1" noChangeArrowheads="1"/>
          </p:cNvSpPr>
          <p:nvPr>
            <p:ph type="title" idx="4294967295"/>
          </p:nvPr>
        </p:nvSpPr>
        <p:spPr/>
        <p:txBody>
          <a:bodyPr/>
          <a:lstStyle/>
          <a:p>
            <a:r>
              <a:rPr lang="zh-CN" altLang="en-US"/>
              <a:t>示例</a:t>
            </a:r>
            <a:r>
              <a:rPr lang="en-US" altLang="zh-CN"/>
              <a:t>—</a:t>
            </a:r>
            <a:r>
              <a:rPr lang="zh-CN" altLang="en-US" dirty="0"/>
              <a:t>多</a:t>
            </a:r>
            <a:r>
              <a:rPr lang="zh-CN" altLang="en-US"/>
              <a:t>段</a:t>
            </a:r>
            <a:r>
              <a:rPr lang="zh-CN" altLang="en-US" dirty="0"/>
              <a:t>式摩尔型</a:t>
            </a:r>
            <a:r>
              <a:rPr lang="en-US" altLang="zh-CN" dirty="0"/>
              <a:t>FSM (</a:t>
            </a:r>
            <a:r>
              <a:rPr lang="zh-CN" altLang="en-US" dirty="0"/>
              <a:t>续</a:t>
            </a:r>
            <a:r>
              <a:rPr lang="en-US" altLang="zh-CN" dirty="0"/>
              <a:t>2)</a:t>
            </a:r>
            <a:endParaRPr lang="zh-CN" altLang="en-US" dirty="0"/>
          </a:p>
        </p:txBody>
      </p:sp>
      <p:sp>
        <p:nvSpPr>
          <p:cNvPr id="47107" name="Rectangle 3">
            <a:extLst>
              <a:ext uri="{FF2B5EF4-FFF2-40B4-BE49-F238E27FC236}">
                <a16:creationId xmlns:a16="http://schemas.microsoft.com/office/drawing/2014/main" id="{508659CD-B876-4932-B36B-D0458D0AA998}"/>
              </a:ext>
            </a:extLst>
          </p:cNvPr>
          <p:cNvSpPr>
            <a:spLocks noChangeArrowheads="1"/>
          </p:cNvSpPr>
          <p:nvPr/>
        </p:nvSpPr>
        <p:spPr bwMode="auto">
          <a:xfrm>
            <a:off x="846138" y="1592796"/>
            <a:ext cx="5508624" cy="4860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8792" tIns="26621" rIns="18792" bIns="26621"/>
          <a:lstStyle>
            <a:lvl1pPr defTabSz="901700">
              <a:spcAft>
                <a:spcPct val="20000"/>
              </a:spcAft>
              <a:buChar char="•"/>
              <a:tabLst>
                <a:tab pos="450850" algn="l"/>
                <a:tab pos="901700" algn="l"/>
                <a:tab pos="1350963" algn="l"/>
                <a:tab pos="2641600"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 pos="2641600"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 pos="2641600" algn="l"/>
              </a:tabLst>
              <a:defRPr sz="2000">
                <a:solidFill>
                  <a:schemeClr val="tx1"/>
                </a:solidFill>
                <a:latin typeface="Times New Roman" panose="02020603050405020304" pitchFamily="18" charset="0"/>
                <a:ea typeface="宋体" panose="02010600030101010101" pitchFamily="2" charset="-122"/>
              </a:defRPr>
            </a:lvl9pPr>
          </a:lstStyle>
          <a:p>
            <a:pPr>
              <a:spcAft>
                <a:spcPts val="600"/>
              </a:spcAft>
              <a:buNone/>
            </a:pPr>
            <a:r>
              <a:rPr lang="en-US" altLang="zh-CN" sz="2000" b="0" dirty="0">
                <a:solidFill>
                  <a:srgbClr val="000000"/>
                </a:solidFill>
              </a:rPr>
              <a:t>// </a:t>
            </a:r>
            <a:r>
              <a:rPr lang="zh-CN" altLang="en-US" sz="2000" b="0">
                <a:solidFill>
                  <a:srgbClr val="000000"/>
                </a:solidFill>
              </a:rPr>
              <a:t>时序描述</a:t>
            </a:r>
            <a:r>
              <a:rPr lang="en-US" altLang="zh-CN" sz="2000" b="0">
                <a:solidFill>
                  <a:srgbClr val="000000"/>
                </a:solidFill>
              </a:rPr>
              <a:t>out</a:t>
            </a:r>
            <a:endParaRPr lang="en-US" altLang="zh-CN" sz="2000" b="0" dirty="0">
              <a:solidFill>
                <a:srgbClr val="000000"/>
              </a:solidFill>
            </a:endParaRPr>
          </a:p>
          <a:p>
            <a:pPr>
              <a:spcAft>
                <a:spcPts val="600"/>
              </a:spcAft>
              <a:buFontTx/>
              <a:buNone/>
            </a:pPr>
            <a:r>
              <a:rPr lang="en-US" altLang="zh-CN" sz="2000" b="0">
                <a:solidFill>
                  <a:srgbClr val="000000"/>
                </a:solidFill>
              </a:rPr>
              <a:t>always @(</a:t>
            </a:r>
            <a:r>
              <a:rPr lang="zh-CN" altLang="en-US" sz="2000" b="0">
                <a:solidFill>
                  <a:srgbClr val="000000"/>
                </a:solidFill>
              </a:rPr>
              <a:t>*</a:t>
            </a:r>
            <a:r>
              <a:rPr lang="en-US" altLang="zh-CN" sz="2000" b="0">
                <a:solidFill>
                  <a:srgbClr val="000000"/>
                </a:solidFill>
              </a:rPr>
              <a:t>)  begin</a:t>
            </a:r>
            <a:br>
              <a:rPr lang="en-US" altLang="zh-CN" sz="2000" b="0" dirty="0">
                <a:solidFill>
                  <a:srgbClr val="000000"/>
                </a:solidFill>
              </a:rPr>
            </a:br>
            <a:r>
              <a:rPr lang="en-US" altLang="zh-CN" sz="2000" b="0">
                <a:solidFill>
                  <a:srgbClr val="000000"/>
                </a:solidFill>
              </a:rPr>
              <a:t>    out = </a:t>
            </a:r>
            <a:r>
              <a:rPr lang="en-US" altLang="zh-CN" sz="2000" b="0" dirty="0">
                <a:solidFill>
                  <a:srgbClr val="000000"/>
                </a:solidFill>
              </a:rPr>
              <a:t>1’b0</a:t>
            </a:r>
            <a:r>
              <a:rPr lang="en-US" altLang="zh-CN" sz="2000" b="0">
                <a:solidFill>
                  <a:srgbClr val="000000"/>
                </a:solidFill>
              </a:rPr>
              <a:t>; </a:t>
            </a:r>
            <a:endParaRPr lang="en-US" altLang="zh-CN" sz="2000" b="0" dirty="0">
              <a:solidFill>
                <a:srgbClr val="000000"/>
              </a:solidFill>
            </a:endParaRPr>
          </a:p>
          <a:p>
            <a:pPr>
              <a:spcAft>
                <a:spcPts val="600"/>
              </a:spcAft>
              <a:buFontTx/>
              <a:buNone/>
            </a:pPr>
            <a:r>
              <a:rPr lang="en-US" altLang="zh-CN" sz="2000" b="0">
                <a:solidFill>
                  <a:srgbClr val="000000"/>
                </a:solidFill>
              </a:rPr>
              <a:t>    case </a:t>
            </a:r>
            <a:r>
              <a:rPr lang="en-US" altLang="zh-CN" sz="2000" b="0"/>
              <a:t>(cs)</a:t>
            </a:r>
            <a:endParaRPr lang="en-US" altLang="zh-CN" sz="2000" b="0" dirty="0"/>
          </a:p>
          <a:p>
            <a:pPr>
              <a:spcAft>
                <a:spcPts val="600"/>
              </a:spcAft>
              <a:buFontTx/>
              <a:buNone/>
            </a:pPr>
            <a:r>
              <a:rPr lang="en-US" altLang="zh-CN" sz="2000" b="0">
                <a:solidFill>
                  <a:srgbClr val="000000"/>
                </a:solidFill>
              </a:rPr>
              <a:t>        ZERO</a:t>
            </a:r>
            <a:r>
              <a:rPr lang="en-US" altLang="zh-CN" sz="2000" b="0" dirty="0">
                <a:solidFill>
                  <a:srgbClr val="000000"/>
                </a:solidFill>
              </a:rPr>
              <a:t>: </a:t>
            </a:r>
            <a:r>
              <a:rPr lang="en-US" altLang="zh-CN" sz="2000" b="0">
                <a:solidFill>
                  <a:srgbClr val="000000"/>
                </a:solidFill>
              </a:rPr>
              <a:t>out = </a:t>
            </a:r>
            <a:r>
              <a:rPr lang="en-US" altLang="zh-CN" sz="2000" b="0" dirty="0">
                <a:solidFill>
                  <a:srgbClr val="000000"/>
                </a:solidFill>
              </a:rPr>
              <a:t>1’b0;</a:t>
            </a:r>
          </a:p>
          <a:p>
            <a:pPr>
              <a:spcAft>
                <a:spcPts val="600"/>
              </a:spcAft>
              <a:buFontTx/>
              <a:buNone/>
            </a:pPr>
            <a:r>
              <a:rPr lang="en-US" altLang="zh-CN" sz="2000" b="0">
                <a:solidFill>
                  <a:srgbClr val="000000"/>
                </a:solidFill>
              </a:rPr>
              <a:t>        ONE</a:t>
            </a:r>
            <a:r>
              <a:rPr lang="en-US" altLang="zh-CN" sz="2000" b="0" dirty="0">
                <a:solidFill>
                  <a:srgbClr val="000000"/>
                </a:solidFill>
              </a:rPr>
              <a:t>: </a:t>
            </a:r>
            <a:r>
              <a:rPr lang="en-US" altLang="zh-CN" sz="2000" b="0">
                <a:solidFill>
                  <a:srgbClr val="000000"/>
                </a:solidFill>
              </a:rPr>
              <a:t>out =  </a:t>
            </a:r>
            <a:r>
              <a:rPr lang="en-US" altLang="zh-CN" sz="2000" b="0" dirty="0">
                <a:solidFill>
                  <a:srgbClr val="000000"/>
                </a:solidFill>
              </a:rPr>
              <a:t>1’b0;</a:t>
            </a:r>
          </a:p>
          <a:p>
            <a:pPr>
              <a:spcAft>
                <a:spcPts val="600"/>
              </a:spcAft>
              <a:buFontTx/>
              <a:buNone/>
            </a:pPr>
            <a:r>
              <a:rPr lang="en-US" altLang="zh-CN" sz="2000" b="0">
                <a:solidFill>
                  <a:srgbClr val="000000"/>
                </a:solidFill>
              </a:rPr>
              <a:t>        TWO</a:t>
            </a:r>
            <a:r>
              <a:rPr lang="en-US" altLang="zh-CN" sz="2000" b="0" dirty="0">
                <a:solidFill>
                  <a:srgbClr val="000000"/>
                </a:solidFill>
              </a:rPr>
              <a:t>: </a:t>
            </a:r>
            <a:r>
              <a:rPr lang="en-US" altLang="zh-CN" sz="2000" b="0">
                <a:solidFill>
                  <a:srgbClr val="000000"/>
                </a:solidFill>
              </a:rPr>
              <a:t>out = </a:t>
            </a:r>
            <a:r>
              <a:rPr lang="en-US" altLang="zh-CN" sz="2000" b="0" dirty="0">
                <a:solidFill>
                  <a:srgbClr val="000000"/>
                </a:solidFill>
              </a:rPr>
              <a:t>1’b1;</a:t>
            </a:r>
          </a:p>
          <a:p>
            <a:pPr>
              <a:spcAft>
                <a:spcPts val="600"/>
              </a:spcAft>
              <a:buFontTx/>
              <a:buNone/>
            </a:pPr>
            <a:r>
              <a:rPr lang="en-US" altLang="zh-CN" sz="2000" b="0">
                <a:solidFill>
                  <a:srgbClr val="000000"/>
                </a:solidFill>
              </a:rPr>
              <a:t>    endcase</a:t>
            </a:r>
            <a:endParaRPr lang="en-US" altLang="zh-CN" sz="2000" b="0" dirty="0">
              <a:solidFill>
                <a:srgbClr val="000000"/>
              </a:solidFill>
            </a:endParaRPr>
          </a:p>
          <a:p>
            <a:pPr>
              <a:spcAft>
                <a:spcPts val="600"/>
              </a:spcAft>
              <a:buFontTx/>
              <a:buNone/>
            </a:pPr>
            <a:r>
              <a:rPr lang="en-US" altLang="zh-CN" sz="2000" b="0">
                <a:solidFill>
                  <a:srgbClr val="000000"/>
                </a:solidFill>
              </a:rPr>
              <a:t>end</a:t>
            </a:r>
            <a:endParaRPr lang="en-US" altLang="zh-CN" sz="2000" b="0" dirty="0">
              <a:solidFill>
                <a:srgbClr val="000000"/>
              </a:solidFill>
            </a:endParaRPr>
          </a:p>
          <a:p>
            <a:pPr>
              <a:spcAft>
                <a:spcPts val="600"/>
              </a:spcAft>
              <a:buFontTx/>
              <a:buNone/>
            </a:pPr>
            <a:endParaRPr lang="en-US" altLang="zh-CN" sz="1100" b="0" dirty="0">
              <a:solidFill>
                <a:srgbClr val="000000"/>
              </a:solidFill>
            </a:endParaRPr>
          </a:p>
          <a:p>
            <a:pPr>
              <a:spcAft>
                <a:spcPts val="600"/>
              </a:spcAft>
              <a:buFontTx/>
              <a:buNone/>
            </a:pPr>
            <a:r>
              <a:rPr lang="en-US" altLang="zh-CN" sz="2000" b="0">
                <a:solidFill>
                  <a:srgbClr val="000000"/>
                </a:solidFill>
              </a:rPr>
              <a:t>// </a:t>
            </a:r>
            <a:r>
              <a:rPr lang="en-US" altLang="zh-CN" sz="2000" b="0" dirty="0">
                <a:solidFill>
                  <a:srgbClr val="000000"/>
                </a:solidFill>
              </a:rPr>
              <a:t>assign out = (cs == TWO);</a:t>
            </a:r>
          </a:p>
          <a:p>
            <a:pPr>
              <a:spcAft>
                <a:spcPts val="600"/>
              </a:spcAft>
              <a:buFontTx/>
              <a:buNone/>
            </a:pPr>
            <a:endParaRPr lang="en-US" altLang="zh-CN" sz="2000" b="0" dirty="0">
              <a:solidFill>
                <a:srgbClr val="000000"/>
              </a:solidFill>
            </a:endParaRPr>
          </a:p>
        </p:txBody>
      </p:sp>
      <p:sp>
        <p:nvSpPr>
          <p:cNvPr id="28" name="Rectangle 4">
            <a:extLst>
              <a:ext uri="{FF2B5EF4-FFF2-40B4-BE49-F238E27FC236}">
                <a16:creationId xmlns:a16="http://schemas.microsoft.com/office/drawing/2014/main" id="{833EB896-A64C-47BA-B74B-4F9AE7EBF136}"/>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29" name="Rectangle 5">
            <a:extLst>
              <a:ext uri="{FF2B5EF4-FFF2-40B4-BE49-F238E27FC236}">
                <a16:creationId xmlns:a16="http://schemas.microsoft.com/office/drawing/2014/main" id="{67847A3D-C5E2-43F3-8A5C-1BCFB683BFD4}"/>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30" name="Rectangle 6">
            <a:extLst>
              <a:ext uri="{FF2B5EF4-FFF2-40B4-BE49-F238E27FC236}">
                <a16:creationId xmlns:a16="http://schemas.microsoft.com/office/drawing/2014/main" id="{906E9C7C-0075-46E4-A5D1-09E1AAD538C7}"/>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21</a:t>
            </a:fld>
            <a:endParaRPr lang="en-US" altLang="zh-CN" sz="1800" b="0">
              <a:solidFill>
                <a:srgbClr val="B2B2B2"/>
              </a:solidFill>
              <a:latin typeface="Arial" panose="020B0604020202020204" pitchFamily="34" charset="0"/>
            </a:endParaRPr>
          </a:p>
        </p:txBody>
      </p:sp>
      <p:grpSp>
        <p:nvGrpSpPr>
          <p:cNvPr id="54" name="Group 3">
            <a:extLst>
              <a:ext uri="{FF2B5EF4-FFF2-40B4-BE49-F238E27FC236}">
                <a16:creationId xmlns:a16="http://schemas.microsoft.com/office/drawing/2014/main" id="{67452C1C-CAD0-4A1C-B9B2-789AD1BB60F3}"/>
              </a:ext>
            </a:extLst>
          </p:cNvPr>
          <p:cNvGrpSpPr>
            <a:grpSpLocks/>
          </p:cNvGrpSpPr>
          <p:nvPr/>
        </p:nvGrpSpPr>
        <p:grpSpPr bwMode="auto">
          <a:xfrm>
            <a:off x="6372225" y="1917601"/>
            <a:ext cx="1820863" cy="3240087"/>
            <a:chOff x="4020" y="1253"/>
            <a:chExt cx="1147" cy="2041"/>
          </a:xfrm>
        </p:grpSpPr>
        <p:sp>
          <p:nvSpPr>
            <p:cNvPr id="55" name="Rectangle 4">
              <a:extLst>
                <a:ext uri="{FF2B5EF4-FFF2-40B4-BE49-F238E27FC236}">
                  <a16:creationId xmlns:a16="http://schemas.microsoft.com/office/drawing/2014/main" id="{9C0D7B98-B655-44AB-9B8A-8FF813730B9E}"/>
                </a:ext>
              </a:extLst>
            </p:cNvPr>
            <p:cNvSpPr>
              <a:spLocks noChangeArrowheads="1"/>
            </p:cNvSpPr>
            <p:nvPr/>
          </p:nvSpPr>
          <p:spPr bwMode="auto">
            <a:xfrm>
              <a:off x="4663" y="1742"/>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a:t>
              </a:r>
            </a:p>
          </p:txBody>
        </p:sp>
        <p:sp>
          <p:nvSpPr>
            <p:cNvPr id="56" name="Rectangle 5">
              <a:extLst>
                <a:ext uri="{FF2B5EF4-FFF2-40B4-BE49-F238E27FC236}">
                  <a16:creationId xmlns:a16="http://schemas.microsoft.com/office/drawing/2014/main" id="{DD1B1B33-2106-4E67-954F-B4FF270B1916}"/>
                </a:ext>
              </a:extLst>
            </p:cNvPr>
            <p:cNvSpPr>
              <a:spLocks noChangeArrowheads="1"/>
            </p:cNvSpPr>
            <p:nvPr/>
          </p:nvSpPr>
          <p:spPr bwMode="auto">
            <a:xfrm>
              <a:off x="4020" y="2685"/>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a:t>
              </a:r>
            </a:p>
          </p:txBody>
        </p:sp>
        <p:sp>
          <p:nvSpPr>
            <p:cNvPr id="57" name="Rectangle 6">
              <a:extLst>
                <a:ext uri="{FF2B5EF4-FFF2-40B4-BE49-F238E27FC236}">
                  <a16:creationId xmlns:a16="http://schemas.microsoft.com/office/drawing/2014/main" id="{09B96BA3-FD05-4A67-9B4D-9F63F1F59152}"/>
                </a:ext>
              </a:extLst>
            </p:cNvPr>
            <p:cNvSpPr>
              <a:spLocks noChangeArrowheads="1"/>
            </p:cNvSpPr>
            <p:nvPr/>
          </p:nvSpPr>
          <p:spPr bwMode="auto">
            <a:xfrm>
              <a:off x="4111" y="1803"/>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a:t>
              </a:r>
            </a:p>
          </p:txBody>
        </p:sp>
        <p:sp>
          <p:nvSpPr>
            <p:cNvPr id="58" name="Rectangle 7">
              <a:extLst>
                <a:ext uri="{FF2B5EF4-FFF2-40B4-BE49-F238E27FC236}">
                  <a16:creationId xmlns:a16="http://schemas.microsoft.com/office/drawing/2014/main" id="{0F0FDBC2-768C-467E-A885-40FA559B4421}"/>
                </a:ext>
              </a:extLst>
            </p:cNvPr>
            <p:cNvSpPr>
              <a:spLocks noChangeArrowheads="1"/>
            </p:cNvSpPr>
            <p:nvPr/>
          </p:nvSpPr>
          <p:spPr bwMode="auto">
            <a:xfrm>
              <a:off x="5063" y="1361"/>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0</a:t>
              </a:r>
            </a:p>
          </p:txBody>
        </p:sp>
        <p:sp>
          <p:nvSpPr>
            <p:cNvPr id="59" name="Rectangle 8">
              <a:extLst>
                <a:ext uri="{FF2B5EF4-FFF2-40B4-BE49-F238E27FC236}">
                  <a16:creationId xmlns:a16="http://schemas.microsoft.com/office/drawing/2014/main" id="{49E296B0-935E-4203-A5B4-C02075E4E624}"/>
                </a:ext>
              </a:extLst>
            </p:cNvPr>
            <p:cNvSpPr>
              <a:spLocks noChangeArrowheads="1"/>
            </p:cNvSpPr>
            <p:nvPr/>
          </p:nvSpPr>
          <p:spPr bwMode="auto">
            <a:xfrm>
              <a:off x="5063" y="2979"/>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a:t>
              </a:r>
            </a:p>
          </p:txBody>
        </p:sp>
        <p:sp>
          <p:nvSpPr>
            <p:cNvPr id="60" name="Rectangle 9">
              <a:extLst>
                <a:ext uri="{FF2B5EF4-FFF2-40B4-BE49-F238E27FC236}">
                  <a16:creationId xmlns:a16="http://schemas.microsoft.com/office/drawing/2014/main" id="{D92E2572-AA0A-4ADA-BF36-B135FA287CE2}"/>
                </a:ext>
              </a:extLst>
            </p:cNvPr>
            <p:cNvSpPr>
              <a:spLocks noChangeArrowheads="1"/>
            </p:cNvSpPr>
            <p:nvPr/>
          </p:nvSpPr>
          <p:spPr bwMode="auto">
            <a:xfrm>
              <a:off x="4663" y="2523"/>
              <a:ext cx="1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1</a:t>
              </a:r>
            </a:p>
          </p:txBody>
        </p:sp>
        <p:sp>
          <p:nvSpPr>
            <p:cNvPr id="61" name="Oval 10">
              <a:extLst>
                <a:ext uri="{FF2B5EF4-FFF2-40B4-BE49-F238E27FC236}">
                  <a16:creationId xmlns:a16="http://schemas.microsoft.com/office/drawing/2014/main" id="{36BE12C9-65B0-4638-978E-587A7BF26935}"/>
                </a:ext>
              </a:extLst>
            </p:cNvPr>
            <p:cNvSpPr>
              <a:spLocks noChangeArrowheads="1"/>
            </p:cNvSpPr>
            <p:nvPr/>
          </p:nvSpPr>
          <p:spPr bwMode="auto">
            <a:xfrm>
              <a:off x="4218" y="1253"/>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ZERO</a:t>
              </a:r>
              <a:r>
                <a:rPr lang="en-US" altLang="zh-CN" sz="2000" dirty="0"/>
                <a:t>/0</a:t>
              </a:r>
            </a:p>
          </p:txBody>
        </p:sp>
        <p:sp>
          <p:nvSpPr>
            <p:cNvPr id="62" name="Oval 11">
              <a:extLst>
                <a:ext uri="{FF2B5EF4-FFF2-40B4-BE49-F238E27FC236}">
                  <a16:creationId xmlns:a16="http://schemas.microsoft.com/office/drawing/2014/main" id="{A7042DBB-5594-4D19-A8AE-48FAC6E91BB7}"/>
                </a:ext>
              </a:extLst>
            </p:cNvPr>
            <p:cNvSpPr>
              <a:spLocks noChangeArrowheads="1"/>
            </p:cNvSpPr>
            <p:nvPr/>
          </p:nvSpPr>
          <p:spPr bwMode="auto">
            <a:xfrm>
              <a:off x="4218" y="2047"/>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ONE</a:t>
              </a:r>
              <a:r>
                <a:rPr lang="en-US" altLang="zh-CN" sz="2000" dirty="0"/>
                <a:t>/0</a:t>
              </a:r>
            </a:p>
          </p:txBody>
        </p:sp>
        <p:sp>
          <p:nvSpPr>
            <p:cNvPr id="63" name="Oval 12">
              <a:extLst>
                <a:ext uri="{FF2B5EF4-FFF2-40B4-BE49-F238E27FC236}">
                  <a16:creationId xmlns:a16="http://schemas.microsoft.com/office/drawing/2014/main" id="{A253D109-287E-4924-B990-DBE622797C44}"/>
                </a:ext>
              </a:extLst>
            </p:cNvPr>
            <p:cNvSpPr>
              <a:spLocks noChangeArrowheads="1"/>
            </p:cNvSpPr>
            <p:nvPr/>
          </p:nvSpPr>
          <p:spPr bwMode="auto">
            <a:xfrm>
              <a:off x="4218" y="2841"/>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1800" dirty="0"/>
                <a:t>TWO</a:t>
              </a:r>
              <a:r>
                <a:rPr lang="en-US" altLang="zh-CN" sz="2000" dirty="0"/>
                <a:t>/1</a:t>
              </a:r>
            </a:p>
          </p:txBody>
        </p:sp>
        <p:cxnSp>
          <p:nvCxnSpPr>
            <p:cNvPr id="64" name="AutoShape 13">
              <a:extLst>
                <a:ext uri="{FF2B5EF4-FFF2-40B4-BE49-F238E27FC236}">
                  <a16:creationId xmlns:a16="http://schemas.microsoft.com/office/drawing/2014/main" id="{51082E27-DE58-4DA8-89CC-C0644F62D7C2}"/>
                </a:ext>
              </a:extLst>
            </p:cNvPr>
            <p:cNvCxnSpPr>
              <a:cxnSpLocks noChangeShapeType="1"/>
              <a:stCxn id="61" idx="4"/>
              <a:endCxn id="62" idx="0"/>
            </p:cNvCxnSpPr>
            <p:nvPr/>
          </p:nvCxnSpPr>
          <p:spPr bwMode="auto">
            <a:xfrm>
              <a:off x="4587" y="1717"/>
              <a:ext cx="0" cy="319"/>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5" name="AutoShape 14">
              <a:extLst>
                <a:ext uri="{FF2B5EF4-FFF2-40B4-BE49-F238E27FC236}">
                  <a16:creationId xmlns:a16="http://schemas.microsoft.com/office/drawing/2014/main" id="{200A4C41-2020-4124-B384-648D4B28CB29}"/>
                </a:ext>
              </a:extLst>
            </p:cNvPr>
            <p:cNvCxnSpPr>
              <a:cxnSpLocks noChangeShapeType="1"/>
              <a:stCxn id="62" idx="4"/>
              <a:endCxn id="63" idx="0"/>
            </p:cNvCxnSpPr>
            <p:nvPr/>
          </p:nvCxnSpPr>
          <p:spPr bwMode="auto">
            <a:xfrm>
              <a:off x="4587" y="2511"/>
              <a:ext cx="0" cy="319"/>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6" name="AutoShape 15">
              <a:extLst>
                <a:ext uri="{FF2B5EF4-FFF2-40B4-BE49-F238E27FC236}">
                  <a16:creationId xmlns:a16="http://schemas.microsoft.com/office/drawing/2014/main" id="{C7A65E35-7C67-4B0A-87CD-B7C930502B3D}"/>
                </a:ext>
              </a:extLst>
            </p:cNvPr>
            <p:cNvCxnSpPr>
              <a:cxnSpLocks noChangeShapeType="1"/>
              <a:stCxn id="62" idx="2"/>
              <a:endCxn id="61" idx="2"/>
            </p:cNvCxnSpPr>
            <p:nvPr/>
          </p:nvCxnSpPr>
          <p:spPr bwMode="auto">
            <a:xfrm rot="10800000" flipH="1">
              <a:off x="4206" y="1480"/>
              <a:ext cx="1" cy="794"/>
            </a:xfrm>
            <a:prstGeom prst="curvedConnector3">
              <a:avLst>
                <a:gd name="adj1" fmla="val -19600009"/>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7" name="AutoShape 16">
              <a:extLst>
                <a:ext uri="{FF2B5EF4-FFF2-40B4-BE49-F238E27FC236}">
                  <a16:creationId xmlns:a16="http://schemas.microsoft.com/office/drawing/2014/main" id="{FE658B73-7F9B-4699-A639-3DE67083F48D}"/>
                </a:ext>
              </a:extLst>
            </p:cNvPr>
            <p:cNvCxnSpPr>
              <a:cxnSpLocks noChangeShapeType="1"/>
              <a:stCxn id="63" idx="2"/>
              <a:endCxn id="61" idx="2"/>
            </p:cNvCxnSpPr>
            <p:nvPr/>
          </p:nvCxnSpPr>
          <p:spPr bwMode="auto">
            <a:xfrm rot="10800000" flipH="1">
              <a:off x="4206" y="1480"/>
              <a:ext cx="1" cy="1588"/>
            </a:xfrm>
            <a:prstGeom prst="curvedConnector3">
              <a:avLst>
                <a:gd name="adj1" fmla="val -36400014"/>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8" name="AutoShape 17">
              <a:extLst>
                <a:ext uri="{FF2B5EF4-FFF2-40B4-BE49-F238E27FC236}">
                  <a16:creationId xmlns:a16="http://schemas.microsoft.com/office/drawing/2014/main" id="{EE384DAB-FA76-4370-8A79-A6A0BF35A8C9}"/>
                </a:ext>
              </a:extLst>
            </p:cNvPr>
            <p:cNvCxnSpPr>
              <a:cxnSpLocks noChangeShapeType="1"/>
              <a:stCxn id="61" idx="5"/>
              <a:endCxn id="61" idx="7"/>
            </p:cNvCxnSpPr>
            <p:nvPr/>
          </p:nvCxnSpPr>
          <p:spPr bwMode="auto">
            <a:xfrm rot="5400000" flipH="1" flipV="1">
              <a:off x="4677" y="1479"/>
              <a:ext cx="341" cy="1"/>
            </a:xfrm>
            <a:prstGeom prst="curvedConnector5">
              <a:avLst>
                <a:gd name="adj1" fmla="val -25745"/>
                <a:gd name="adj2" fmla="val 41300014"/>
                <a:gd name="adj3" fmla="val 146069"/>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9" name="AutoShape 18">
              <a:extLst>
                <a:ext uri="{FF2B5EF4-FFF2-40B4-BE49-F238E27FC236}">
                  <a16:creationId xmlns:a16="http://schemas.microsoft.com/office/drawing/2014/main" id="{1BCCBDFD-AA0A-4635-9254-72AD06E5720B}"/>
                </a:ext>
              </a:extLst>
            </p:cNvPr>
            <p:cNvCxnSpPr>
              <a:cxnSpLocks noChangeShapeType="1"/>
              <a:stCxn id="63" idx="5"/>
              <a:endCxn id="63" idx="7"/>
            </p:cNvCxnSpPr>
            <p:nvPr/>
          </p:nvCxnSpPr>
          <p:spPr bwMode="auto">
            <a:xfrm rot="5400000" flipH="1" flipV="1">
              <a:off x="4677" y="3067"/>
              <a:ext cx="341" cy="1"/>
            </a:xfrm>
            <a:prstGeom prst="curvedConnector5">
              <a:avLst>
                <a:gd name="adj1" fmla="val -36046"/>
                <a:gd name="adj2" fmla="val 42100014"/>
                <a:gd name="adj3" fmla="val 143898"/>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70" name="Group 21">
            <a:extLst>
              <a:ext uri="{FF2B5EF4-FFF2-40B4-BE49-F238E27FC236}">
                <a16:creationId xmlns:a16="http://schemas.microsoft.com/office/drawing/2014/main" id="{ABA3639F-F47A-4D3E-9242-6224BE5A7639}"/>
              </a:ext>
            </a:extLst>
          </p:cNvPr>
          <p:cNvGrpSpPr>
            <a:grpSpLocks/>
          </p:cNvGrpSpPr>
          <p:nvPr/>
        </p:nvGrpSpPr>
        <p:grpSpPr bwMode="auto">
          <a:xfrm>
            <a:off x="6669088" y="5481538"/>
            <a:ext cx="1781175" cy="720725"/>
            <a:chOff x="4201" y="3498"/>
            <a:chExt cx="1122" cy="454"/>
          </a:xfrm>
        </p:grpSpPr>
        <p:sp>
          <p:nvSpPr>
            <p:cNvPr id="71" name="Rectangle 22">
              <a:extLst>
                <a:ext uri="{FF2B5EF4-FFF2-40B4-BE49-F238E27FC236}">
                  <a16:creationId xmlns:a16="http://schemas.microsoft.com/office/drawing/2014/main" id="{92192665-0477-416E-9DAA-F3E9DB4EA79D}"/>
                </a:ext>
              </a:extLst>
            </p:cNvPr>
            <p:cNvSpPr>
              <a:spLocks noChangeArrowheads="1"/>
            </p:cNvSpPr>
            <p:nvPr/>
          </p:nvSpPr>
          <p:spPr bwMode="auto">
            <a:xfrm>
              <a:off x="5050" y="3498"/>
              <a:ext cx="15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a:solidFill>
                    <a:srgbClr val="000000"/>
                  </a:solidFill>
                </a:rPr>
                <a:t>in</a:t>
              </a:r>
            </a:p>
          </p:txBody>
        </p:sp>
        <p:sp>
          <p:nvSpPr>
            <p:cNvPr id="72" name="Line 23">
              <a:extLst>
                <a:ext uri="{FF2B5EF4-FFF2-40B4-BE49-F238E27FC236}">
                  <a16:creationId xmlns:a16="http://schemas.microsoft.com/office/drawing/2014/main" id="{1FB1B87B-461D-46F1-B953-C6800B304D61}"/>
                </a:ext>
              </a:extLst>
            </p:cNvPr>
            <p:cNvSpPr>
              <a:spLocks noChangeShapeType="1"/>
            </p:cNvSpPr>
            <p:nvPr/>
          </p:nvSpPr>
          <p:spPr bwMode="auto">
            <a:xfrm>
              <a:off x="4949" y="3725"/>
              <a:ext cx="374" cy="0"/>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3" name="Oval 24">
              <a:extLst>
                <a:ext uri="{FF2B5EF4-FFF2-40B4-BE49-F238E27FC236}">
                  <a16:creationId xmlns:a16="http://schemas.microsoft.com/office/drawing/2014/main" id="{CA0498BF-B656-42F5-A526-038E941C201B}"/>
                </a:ext>
              </a:extLst>
            </p:cNvPr>
            <p:cNvSpPr>
              <a:spLocks noChangeArrowheads="1"/>
            </p:cNvSpPr>
            <p:nvPr/>
          </p:nvSpPr>
          <p:spPr bwMode="auto">
            <a:xfrm>
              <a:off x="4201" y="3499"/>
              <a:ext cx="737" cy="45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199" tIns="45098" rIns="90199" bIns="45098" anchor="ctr"/>
            <a:lstStyle>
              <a:lvl1pPr defTabSz="9017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Aft>
                  <a:spcPct val="0"/>
                </a:spcAft>
                <a:buFontTx/>
                <a:buNone/>
              </a:pPr>
              <a:r>
                <a:rPr lang="en-US" altLang="zh-CN" sz="2000" dirty="0"/>
                <a:t>cs/out</a:t>
              </a:r>
            </a:p>
          </p:txBody>
        </p:sp>
      </p:grpSp>
      <p:grpSp>
        <p:nvGrpSpPr>
          <p:cNvPr id="74" name="Group 25">
            <a:extLst>
              <a:ext uri="{FF2B5EF4-FFF2-40B4-BE49-F238E27FC236}">
                <a16:creationId xmlns:a16="http://schemas.microsoft.com/office/drawing/2014/main" id="{50B98C03-F860-4BC6-B8E1-3F25DAAA5075}"/>
              </a:ext>
            </a:extLst>
          </p:cNvPr>
          <p:cNvGrpSpPr>
            <a:grpSpLocks/>
          </p:cNvGrpSpPr>
          <p:nvPr/>
        </p:nvGrpSpPr>
        <p:grpSpPr bwMode="auto">
          <a:xfrm>
            <a:off x="6578600" y="1412776"/>
            <a:ext cx="693738" cy="419100"/>
            <a:chOff x="4144" y="932"/>
            <a:chExt cx="437" cy="264"/>
          </a:xfrm>
        </p:grpSpPr>
        <p:cxnSp>
          <p:nvCxnSpPr>
            <p:cNvPr id="75" name="AutoShape 26">
              <a:extLst>
                <a:ext uri="{FF2B5EF4-FFF2-40B4-BE49-F238E27FC236}">
                  <a16:creationId xmlns:a16="http://schemas.microsoft.com/office/drawing/2014/main" id="{68C058B6-2F9F-4792-9001-AAF274BA337E}"/>
                </a:ext>
              </a:extLst>
            </p:cNvPr>
            <p:cNvCxnSpPr>
              <a:cxnSpLocks noChangeShapeType="1"/>
              <a:endCxn id="61" idx="0"/>
            </p:cNvCxnSpPr>
            <p:nvPr/>
          </p:nvCxnSpPr>
          <p:spPr bwMode="auto">
            <a:xfrm>
              <a:off x="4580" y="932"/>
              <a:ext cx="1" cy="264"/>
            </a:xfrm>
            <a:prstGeom prst="straightConnector1">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76" name="Rectangle 27">
              <a:extLst>
                <a:ext uri="{FF2B5EF4-FFF2-40B4-BE49-F238E27FC236}">
                  <a16:creationId xmlns:a16="http://schemas.microsoft.com/office/drawing/2014/main" id="{3B655C3D-7B9C-4383-9A85-D3C2547723C6}"/>
                </a:ext>
              </a:extLst>
            </p:cNvPr>
            <p:cNvSpPr>
              <a:spLocks noChangeArrowheads="1"/>
            </p:cNvSpPr>
            <p:nvPr/>
          </p:nvSpPr>
          <p:spPr bwMode="auto">
            <a:xfrm>
              <a:off x="4144" y="935"/>
              <a:ext cx="39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2" tIns="26621" rIns="18792" bIns="26621">
              <a:spAutoFit/>
            </a:bodyPr>
            <a:lstStyle>
              <a:lvl1pPr defTabSz="901700">
                <a:spcAft>
                  <a:spcPct val="20000"/>
                </a:spcAft>
                <a:buChar char="•"/>
                <a:tabLst>
                  <a:tab pos="450850" algn="l"/>
                  <a:tab pos="901700" algn="l"/>
                  <a:tab pos="1350963" algn="l"/>
                </a:tabLst>
                <a:defRPr sz="2800" b="1">
                  <a:solidFill>
                    <a:schemeClr val="tx1"/>
                  </a:solidFill>
                  <a:latin typeface="Times New Roman" panose="02020603050405020304" pitchFamily="18" charset="0"/>
                  <a:ea typeface="宋体" panose="02010600030101010101" pitchFamily="2" charset="-122"/>
                </a:defRPr>
              </a:lvl1pPr>
              <a:lvl2pPr marL="742950" indent="-285750" defTabSz="901700">
                <a:spcAft>
                  <a:spcPct val="20000"/>
                </a:spcAft>
                <a:buChar char="–"/>
                <a:tabLst>
                  <a:tab pos="450850" algn="l"/>
                  <a:tab pos="901700" algn="l"/>
                  <a:tab pos="1350963" algn="l"/>
                </a:tabLst>
                <a:defRPr sz="2400">
                  <a:solidFill>
                    <a:schemeClr val="tx1"/>
                  </a:solidFill>
                  <a:latin typeface="Times New Roman" panose="02020603050405020304" pitchFamily="18" charset="0"/>
                  <a:ea typeface="宋体" panose="02010600030101010101" pitchFamily="2" charset="-122"/>
                </a:defRPr>
              </a:lvl2pPr>
              <a:lvl3pPr marL="11430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3pPr>
              <a:lvl4pPr marL="16002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4pPr>
              <a:lvl5pPr marL="2057400" indent="-228600" defTabSz="901700">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5pPr>
              <a:lvl6pPr marL="25146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6pPr>
              <a:lvl7pPr marL="29718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7pPr>
              <a:lvl8pPr marL="34290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8pPr>
              <a:lvl9pPr marL="3886200" indent="-228600" defTabSz="901700" eaLnBrk="0" fontAlgn="base" hangingPunct="0">
                <a:spcBef>
                  <a:spcPct val="0"/>
                </a:spcBef>
                <a:spcAft>
                  <a:spcPct val="20000"/>
                </a:spcAft>
                <a:buChar char="»"/>
                <a:tabLst>
                  <a:tab pos="450850" algn="l"/>
                  <a:tab pos="901700" algn="l"/>
                  <a:tab pos="1350963" algn="l"/>
                </a:tabLst>
                <a:defRPr sz="2000">
                  <a:solidFill>
                    <a:schemeClr val="tx1"/>
                  </a:solidFill>
                  <a:latin typeface="Times New Roman" panose="02020603050405020304" pitchFamily="18" charset="0"/>
                  <a:ea typeface="宋体" panose="02010600030101010101" pitchFamily="2" charset="-122"/>
                </a:defRPr>
              </a:lvl9pPr>
            </a:lstStyle>
            <a:p>
              <a:pPr>
                <a:lnSpc>
                  <a:spcPts val="2075"/>
                </a:lnSpc>
                <a:spcAft>
                  <a:spcPct val="0"/>
                </a:spcAft>
                <a:buFontTx/>
                <a:buNone/>
              </a:pPr>
              <a:r>
                <a:rPr lang="en-US" altLang="zh-CN" sz="2000" dirty="0">
                  <a:solidFill>
                    <a:srgbClr val="000000"/>
                  </a:solidFill>
                </a:rPr>
                <a:t>! </a:t>
              </a:r>
              <a:r>
                <a:rPr lang="en-US" altLang="zh-CN" sz="2000" dirty="0" err="1">
                  <a:solidFill>
                    <a:srgbClr val="000000"/>
                  </a:solidFill>
                </a:rPr>
                <a:t>rstn</a:t>
              </a:r>
              <a:endParaRPr lang="en-US" altLang="zh-CN" sz="2000" dirty="0">
                <a:solidFill>
                  <a:srgbClr val="000000"/>
                </a:solidFill>
              </a:endParaRPr>
            </a:p>
          </p:txBody>
        </p:sp>
      </p:grpSp>
    </p:spTree>
    <p:extLst>
      <p:ext uri="{BB962C8B-B14F-4D97-AF65-F5344CB8AC3E}">
        <p14:creationId xmlns:p14="http://schemas.microsoft.com/office/powerpoint/2010/main" val="72007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EEE1B3D-AC75-4827-82AB-4A8539D4D70A}"/>
              </a:ext>
            </a:extLst>
          </p:cNvPr>
          <p:cNvSpPr>
            <a:spLocks noGrp="1"/>
          </p:cNvSpPr>
          <p:nvPr>
            <p:ph idx="1"/>
          </p:nvPr>
        </p:nvSpPr>
        <p:spPr>
          <a:xfrm>
            <a:off x="457200" y="1412776"/>
            <a:ext cx="8264526" cy="4968974"/>
          </a:xfrm>
        </p:spPr>
        <p:txBody>
          <a:bodyPr/>
          <a:lstStyle/>
          <a:p>
            <a:pPr marL="354013" indent="-354013">
              <a:spcBef>
                <a:spcPts val="0"/>
              </a:spcBef>
              <a:spcAft>
                <a:spcPts val="1200"/>
              </a:spcAft>
              <a:defRPr/>
            </a:pPr>
            <a:r>
              <a:rPr lang="zh-CN" altLang="en-US" sz="2400" dirty="0"/>
              <a:t>建议使用简单规范的描述方式</a:t>
            </a:r>
            <a:endParaRPr lang="en-US" altLang="zh-CN" sz="2400" dirty="0"/>
          </a:p>
          <a:p>
            <a:pPr marL="354013" indent="-354013">
              <a:spcBef>
                <a:spcPts val="0"/>
              </a:spcBef>
              <a:spcAft>
                <a:spcPts val="1200"/>
              </a:spcAft>
              <a:defRPr/>
            </a:pPr>
            <a:r>
              <a:rPr lang="zh-CN" altLang="en-US" sz="2400" dirty="0"/>
              <a:t>组合电路</a:t>
            </a:r>
            <a:endParaRPr lang="en-US" altLang="zh-CN" sz="2400" dirty="0"/>
          </a:p>
          <a:p>
            <a:pPr marL="754063" lvl="1" indent="-354013">
              <a:spcBef>
                <a:spcPts val="0"/>
              </a:spcBef>
              <a:spcAft>
                <a:spcPts val="1200"/>
              </a:spcAft>
              <a:defRPr/>
            </a:pPr>
            <a:r>
              <a:rPr lang="zh-CN" altLang="en-US" sz="2000" dirty="0"/>
              <a:t>使用</a:t>
            </a:r>
            <a:r>
              <a:rPr lang="en-US" altLang="zh-CN" sz="2000" dirty="0"/>
              <a:t>assign </a:t>
            </a:r>
            <a:r>
              <a:rPr lang="zh-CN" altLang="en-US" sz="2000" dirty="0"/>
              <a:t>或者 </a:t>
            </a:r>
            <a:r>
              <a:rPr lang="en-US" altLang="zh-CN" sz="2000" dirty="0"/>
              <a:t>always @* </a:t>
            </a:r>
            <a:r>
              <a:rPr lang="zh-CN" altLang="en-US" sz="2000" dirty="0"/>
              <a:t>描述</a:t>
            </a:r>
            <a:r>
              <a:rPr lang="en-US" altLang="zh-CN" sz="2000" dirty="0"/>
              <a:t>, “ = ” </a:t>
            </a:r>
            <a:r>
              <a:rPr lang="zh-CN" altLang="en-US" sz="2000" dirty="0"/>
              <a:t>赋值</a:t>
            </a:r>
          </a:p>
          <a:p>
            <a:pPr marL="754063" lvl="1" indent="-354013">
              <a:spcBef>
                <a:spcPts val="0"/>
              </a:spcBef>
              <a:spcAft>
                <a:spcPts val="1200"/>
              </a:spcAft>
              <a:defRPr/>
            </a:pPr>
            <a:r>
              <a:rPr lang="en-US" altLang="zh-CN" sz="2000" dirty="0"/>
              <a:t>always</a:t>
            </a:r>
            <a:r>
              <a:rPr lang="zh-CN" altLang="en-US" sz="2000" dirty="0"/>
              <a:t>描述时避免不完全赋值（否则出现锁存器</a:t>
            </a:r>
            <a:r>
              <a:rPr lang="en-US" altLang="zh-CN" sz="2000" dirty="0"/>
              <a:t>)</a:t>
            </a:r>
            <a:r>
              <a:rPr lang="zh-CN" altLang="en-US" sz="2000" dirty="0"/>
              <a:t>！</a:t>
            </a:r>
          </a:p>
          <a:p>
            <a:pPr marL="754063" lvl="1" indent="-354013">
              <a:spcBef>
                <a:spcPts val="0"/>
              </a:spcBef>
              <a:spcAft>
                <a:spcPts val="1200"/>
              </a:spcAft>
              <a:defRPr/>
            </a:pPr>
            <a:r>
              <a:rPr lang="zh-CN" altLang="en-US" sz="2000" dirty="0"/>
              <a:t>避免出现组合环路！例如，</a:t>
            </a:r>
            <a:r>
              <a:rPr lang="en-US" altLang="zh-CN" sz="2000" dirty="0"/>
              <a:t>y = y + x</a:t>
            </a:r>
          </a:p>
          <a:p>
            <a:pPr lvl="1">
              <a:spcBef>
                <a:spcPts val="0"/>
              </a:spcBef>
              <a:spcAft>
                <a:spcPts val="1200"/>
              </a:spcAft>
              <a:defRPr/>
            </a:pPr>
            <a:r>
              <a:rPr lang="zh-CN" altLang="en-US" sz="2000" dirty="0"/>
              <a:t>无需</a:t>
            </a:r>
            <a:r>
              <a:rPr lang="zh-CN" altLang="zh-CN" sz="2000" dirty="0"/>
              <a:t>复位</a:t>
            </a:r>
            <a:r>
              <a:rPr lang="zh-CN" altLang="en-US" sz="2000" dirty="0"/>
              <a:t>，即组合函数的自变量中无复位信号</a:t>
            </a:r>
            <a:endParaRPr lang="en-US" altLang="zh-CN" sz="2000" dirty="0"/>
          </a:p>
          <a:p>
            <a:pPr marL="354013" indent="-354013">
              <a:spcBef>
                <a:spcPts val="0"/>
              </a:spcBef>
              <a:spcAft>
                <a:spcPts val="1200"/>
              </a:spcAft>
              <a:defRPr/>
            </a:pPr>
            <a:r>
              <a:rPr lang="zh-CN" altLang="en-US" sz="2400" dirty="0"/>
              <a:t>时序电路</a:t>
            </a:r>
            <a:endParaRPr lang="en-US" altLang="zh-CN" sz="2400" dirty="0"/>
          </a:p>
          <a:p>
            <a:pPr lvl="1">
              <a:spcBef>
                <a:spcPts val="0"/>
              </a:spcBef>
              <a:spcAft>
                <a:spcPts val="1200"/>
              </a:spcAft>
              <a:buFont typeface="Calibri" panose="020F0502020204030204" pitchFamily="34" charset="0"/>
              <a:buChar char="‒"/>
              <a:defRPr/>
            </a:pPr>
            <a:r>
              <a:rPr lang="zh-CN" altLang="en-US" sz="2000" dirty="0"/>
              <a:t>使用</a:t>
            </a:r>
            <a:r>
              <a:rPr lang="en-US" altLang="zh-CN" sz="2000" dirty="0"/>
              <a:t>always @(</a:t>
            </a:r>
            <a:r>
              <a:rPr lang="en-US" altLang="zh-CN" sz="2000" err="1"/>
              <a:t>posedge</a:t>
            </a:r>
            <a:r>
              <a:rPr lang="en-US" altLang="zh-CN" sz="2000"/>
              <a:t> clk) </a:t>
            </a:r>
            <a:r>
              <a:rPr lang="zh-CN" altLang="en-US" sz="2000"/>
              <a:t>描述</a:t>
            </a:r>
            <a:r>
              <a:rPr lang="en-US" altLang="zh-CN" sz="2000" dirty="0"/>
              <a:t>, “&lt;=” </a:t>
            </a:r>
            <a:r>
              <a:rPr lang="zh-CN" altLang="en-US" sz="2000" dirty="0"/>
              <a:t>赋值</a:t>
            </a:r>
          </a:p>
          <a:p>
            <a:pPr lvl="1">
              <a:spcBef>
                <a:spcPts val="0"/>
              </a:spcBef>
              <a:spcAft>
                <a:spcPts val="1200"/>
              </a:spcAft>
              <a:buFont typeface="Calibri" panose="020F0502020204030204" pitchFamily="34" charset="0"/>
              <a:buChar char="‒"/>
              <a:defRPr/>
            </a:pPr>
            <a:r>
              <a:rPr lang="zh-CN" altLang="en-US" sz="2000" dirty="0"/>
              <a:t>边沿敏感变量表中避免出现除时钟和复位外的其他信号</a:t>
            </a:r>
          </a:p>
          <a:p>
            <a:pPr lvl="1">
              <a:spcBef>
                <a:spcPts val="0"/>
              </a:spcBef>
              <a:spcAft>
                <a:spcPts val="1200"/>
              </a:spcAft>
              <a:buFont typeface="Calibri" panose="020F0502020204030204" pitchFamily="34" charset="0"/>
              <a:buChar char="‒"/>
              <a:defRPr/>
            </a:pPr>
            <a:r>
              <a:rPr lang="en-US" altLang="zh-CN" sz="2000" dirty="0"/>
              <a:t>always</a:t>
            </a:r>
            <a:r>
              <a:rPr lang="zh-CN" altLang="en-US" sz="2000" dirty="0"/>
              <a:t>块首句处理复位，时钟信号避免出现在语句块内</a:t>
            </a:r>
            <a:endParaRPr lang="en-US" altLang="zh-CN" sz="2000" dirty="0"/>
          </a:p>
        </p:txBody>
      </p:sp>
      <p:sp>
        <p:nvSpPr>
          <p:cNvPr id="3" name="Rectangle 2">
            <a:extLst>
              <a:ext uri="{FF2B5EF4-FFF2-40B4-BE49-F238E27FC236}">
                <a16:creationId xmlns:a16="http://schemas.microsoft.com/office/drawing/2014/main" id="{D9BEAD2D-549C-48DC-B7F7-880AC34502CD}"/>
              </a:ext>
            </a:extLst>
          </p:cNvPr>
          <p:cNvSpPr txBox="1">
            <a:spLocks noChangeArrowheads="1"/>
          </p:cNvSpPr>
          <p:nvPr/>
        </p:nvSpPr>
        <p:spPr bwMode="auto">
          <a:xfrm>
            <a:off x="457200" y="152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000" b="1">
                <a:solidFill>
                  <a:schemeClr val="tx2"/>
                </a:solidFill>
                <a:latin typeface="Times New Roman" pitchFamily="18" charset="0"/>
                <a:ea typeface="+mj-ea"/>
                <a:cs typeface="+mj-cs"/>
              </a:defRPr>
            </a:lvl1pPr>
            <a:lvl2pPr algn="ctr" rtl="0" eaLnBrk="0" fontAlgn="base" hangingPunct="0">
              <a:spcBef>
                <a:spcPct val="0"/>
              </a:spcBef>
              <a:spcAft>
                <a:spcPct val="0"/>
              </a:spcAft>
              <a:defRPr sz="4000" b="1">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000" b="1">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000" b="1">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000" b="1">
                <a:solidFill>
                  <a:schemeClr val="tx2"/>
                </a:solidFill>
                <a:latin typeface="Times New Roman" pitchFamily="18" charset="0"/>
                <a:ea typeface="宋体" pitchFamily="2" charset="-122"/>
              </a:defRPr>
            </a:lvl5pPr>
            <a:lvl6pPr marL="457200" algn="ctr" rtl="0" fontAlgn="base">
              <a:spcBef>
                <a:spcPct val="0"/>
              </a:spcBef>
              <a:spcAft>
                <a:spcPct val="0"/>
              </a:spcAft>
              <a:defRPr sz="4400" b="1">
                <a:solidFill>
                  <a:schemeClr val="tx2"/>
                </a:solidFill>
                <a:latin typeface="Arial" pitchFamily="34" charset="0"/>
                <a:ea typeface="宋体" pitchFamily="2" charset="-122"/>
              </a:defRPr>
            </a:lvl6pPr>
            <a:lvl7pPr marL="914400" algn="ctr" rtl="0" fontAlgn="base">
              <a:spcBef>
                <a:spcPct val="0"/>
              </a:spcBef>
              <a:spcAft>
                <a:spcPct val="0"/>
              </a:spcAft>
              <a:defRPr sz="4400" b="1">
                <a:solidFill>
                  <a:schemeClr val="tx2"/>
                </a:solidFill>
                <a:latin typeface="Arial" pitchFamily="34" charset="0"/>
                <a:ea typeface="宋体" pitchFamily="2" charset="-122"/>
              </a:defRPr>
            </a:lvl7pPr>
            <a:lvl8pPr marL="1371600" algn="ctr" rtl="0" fontAlgn="base">
              <a:spcBef>
                <a:spcPct val="0"/>
              </a:spcBef>
              <a:spcAft>
                <a:spcPct val="0"/>
              </a:spcAft>
              <a:defRPr sz="4400" b="1">
                <a:solidFill>
                  <a:schemeClr val="tx2"/>
                </a:solidFill>
                <a:latin typeface="Arial" pitchFamily="34" charset="0"/>
                <a:ea typeface="宋体" pitchFamily="2" charset="-122"/>
              </a:defRPr>
            </a:lvl8pPr>
            <a:lvl9pPr marL="1828800" algn="ctr" rtl="0" fontAlgn="base">
              <a:spcBef>
                <a:spcPct val="0"/>
              </a:spcBef>
              <a:spcAft>
                <a:spcPct val="0"/>
              </a:spcAft>
              <a:defRPr sz="4400" b="1">
                <a:solidFill>
                  <a:schemeClr val="tx2"/>
                </a:solidFill>
                <a:latin typeface="Arial" pitchFamily="34" charset="0"/>
                <a:ea typeface="宋体" pitchFamily="2" charset="-122"/>
              </a:defRPr>
            </a:lvl9pPr>
          </a:lstStyle>
          <a:p>
            <a:r>
              <a:rPr lang="en-US" altLang="zh-CN" dirty="0">
                <a:cs typeface="Times New Roman" panose="02020603050405020304" pitchFamily="18" charset="0"/>
              </a:rPr>
              <a:t>Verilog</a:t>
            </a:r>
            <a:r>
              <a:rPr lang="zh-CN" altLang="en-US" dirty="0">
                <a:cs typeface="Times New Roman" panose="02020603050405020304" pitchFamily="18" charset="0"/>
              </a:rPr>
              <a:t>描述注意事项</a:t>
            </a:r>
            <a:endParaRPr lang="zh-CN" altLang="en-US" kern="0" dirty="0">
              <a:cs typeface="Times New Roman" panose="02020603050405020304" pitchFamily="18" charset="0"/>
            </a:endParaRPr>
          </a:p>
        </p:txBody>
      </p:sp>
      <p:sp>
        <p:nvSpPr>
          <p:cNvPr id="4" name="Rectangle 4">
            <a:extLst>
              <a:ext uri="{FF2B5EF4-FFF2-40B4-BE49-F238E27FC236}">
                <a16:creationId xmlns:a16="http://schemas.microsoft.com/office/drawing/2014/main" id="{ED406A46-5C29-43B3-A090-711001304984}"/>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5" name="Rectangle 5">
            <a:extLst>
              <a:ext uri="{FF2B5EF4-FFF2-40B4-BE49-F238E27FC236}">
                <a16:creationId xmlns:a16="http://schemas.microsoft.com/office/drawing/2014/main" id="{63991134-4A0F-46BA-84EB-8B4448882474}"/>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6" name="Rectangle 6">
            <a:extLst>
              <a:ext uri="{FF2B5EF4-FFF2-40B4-BE49-F238E27FC236}">
                <a16:creationId xmlns:a16="http://schemas.microsoft.com/office/drawing/2014/main" id="{AA225D93-C969-4614-915A-D01FAA2B2DE4}"/>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22</a:t>
            </a:fld>
            <a:endParaRPr lang="en-US" altLang="zh-CN" sz="1800" b="0">
              <a:solidFill>
                <a:srgbClr val="B2B2B2"/>
              </a:solidFill>
              <a:latin typeface="Arial" panose="020B0604020202020204" pitchFamily="34" charset="0"/>
            </a:endParaRPr>
          </a:p>
        </p:txBody>
      </p:sp>
    </p:spTree>
    <p:extLst>
      <p:ext uri="{BB962C8B-B14F-4D97-AF65-F5344CB8AC3E}">
        <p14:creationId xmlns:p14="http://schemas.microsoft.com/office/powerpoint/2010/main" val="1330208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EEE1B3D-AC75-4827-82AB-4A8539D4D70A}"/>
              </a:ext>
            </a:extLst>
          </p:cNvPr>
          <p:cNvSpPr>
            <a:spLocks noGrp="1"/>
          </p:cNvSpPr>
          <p:nvPr>
            <p:ph idx="1"/>
          </p:nvPr>
        </p:nvSpPr>
        <p:spPr/>
        <p:txBody>
          <a:bodyPr/>
          <a:lstStyle/>
          <a:p>
            <a:pPr>
              <a:spcBef>
                <a:spcPts val="0"/>
              </a:spcBef>
              <a:spcAft>
                <a:spcPts val="1200"/>
              </a:spcAft>
            </a:pPr>
            <a:r>
              <a:rPr lang="zh-CN" altLang="zh-CN" sz="2400" dirty="0"/>
              <a:t>使用</a:t>
            </a:r>
            <a:r>
              <a:rPr lang="en-US" altLang="zh-CN" sz="2400" dirty="0"/>
              <a:t>always</a:t>
            </a:r>
            <a:r>
              <a:rPr lang="zh-CN" altLang="zh-CN" sz="2400" dirty="0"/>
              <a:t>语句描述的变量，</a:t>
            </a:r>
            <a:r>
              <a:rPr lang="zh-CN" altLang="en-US" sz="2400" dirty="0"/>
              <a:t>务必</a:t>
            </a:r>
            <a:r>
              <a:rPr lang="zh-CN" altLang="zh-CN" sz="2400" dirty="0"/>
              <a:t>声明为</a:t>
            </a:r>
            <a:r>
              <a:rPr lang="en-US" altLang="zh-CN" sz="2400" dirty="0"/>
              <a:t>reg</a:t>
            </a:r>
            <a:r>
              <a:rPr lang="zh-CN" altLang="zh-CN" sz="2400" dirty="0"/>
              <a:t>类型（声明为</a:t>
            </a:r>
            <a:r>
              <a:rPr lang="en-US" altLang="zh-CN" sz="2400" dirty="0"/>
              <a:t>reg</a:t>
            </a:r>
            <a:r>
              <a:rPr lang="zh-CN" altLang="zh-CN" sz="2400" dirty="0"/>
              <a:t>类型的变量，综合后不一定生成寄存器）！</a:t>
            </a:r>
          </a:p>
          <a:p>
            <a:pPr>
              <a:spcBef>
                <a:spcPts val="0"/>
              </a:spcBef>
              <a:spcAft>
                <a:spcPts val="1200"/>
              </a:spcAft>
            </a:pPr>
            <a:r>
              <a:rPr lang="zh-CN" altLang="zh-CN" sz="2400" dirty="0"/>
              <a:t>使用</a:t>
            </a:r>
            <a:r>
              <a:rPr lang="en-US" altLang="zh-CN" sz="2400" dirty="0"/>
              <a:t>assign</a:t>
            </a:r>
            <a:r>
              <a:rPr lang="zh-CN" altLang="zh-CN" sz="2400" dirty="0"/>
              <a:t>语句描述的变量，应声明为</a:t>
            </a:r>
            <a:r>
              <a:rPr lang="en-US" altLang="zh-CN" sz="2400" dirty="0"/>
              <a:t>wire</a:t>
            </a:r>
            <a:r>
              <a:rPr lang="zh-CN" altLang="zh-CN" sz="2400" dirty="0"/>
              <a:t>类型</a:t>
            </a:r>
          </a:p>
          <a:p>
            <a:pPr>
              <a:spcBef>
                <a:spcPts val="0"/>
              </a:spcBef>
              <a:spcAft>
                <a:spcPts val="1200"/>
              </a:spcAft>
            </a:pPr>
            <a:r>
              <a:rPr lang="zh-CN" altLang="zh-CN" sz="2400" dirty="0"/>
              <a:t>未定义直接使用的变量默认为</a:t>
            </a:r>
            <a:r>
              <a:rPr lang="en-US" altLang="zh-CN" sz="2400" dirty="0"/>
              <a:t>net</a:t>
            </a:r>
            <a:r>
              <a:rPr lang="zh-CN" altLang="zh-CN" sz="2400" dirty="0"/>
              <a:t>类型的标量，向量变量必须先定义后使用</a:t>
            </a:r>
          </a:p>
        </p:txBody>
      </p:sp>
      <p:sp>
        <p:nvSpPr>
          <p:cNvPr id="3" name="Rectangle 2">
            <a:extLst>
              <a:ext uri="{FF2B5EF4-FFF2-40B4-BE49-F238E27FC236}">
                <a16:creationId xmlns:a16="http://schemas.microsoft.com/office/drawing/2014/main" id="{D9BEAD2D-549C-48DC-B7F7-880AC34502CD}"/>
              </a:ext>
            </a:extLst>
          </p:cNvPr>
          <p:cNvSpPr txBox="1">
            <a:spLocks noChangeArrowheads="1"/>
          </p:cNvSpPr>
          <p:nvPr/>
        </p:nvSpPr>
        <p:spPr bwMode="auto">
          <a:xfrm>
            <a:off x="457200" y="152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000" b="1">
                <a:solidFill>
                  <a:schemeClr val="tx2"/>
                </a:solidFill>
                <a:latin typeface="Times New Roman" pitchFamily="18" charset="0"/>
                <a:ea typeface="+mj-ea"/>
                <a:cs typeface="+mj-cs"/>
              </a:defRPr>
            </a:lvl1pPr>
            <a:lvl2pPr algn="ctr" rtl="0" eaLnBrk="0" fontAlgn="base" hangingPunct="0">
              <a:spcBef>
                <a:spcPct val="0"/>
              </a:spcBef>
              <a:spcAft>
                <a:spcPct val="0"/>
              </a:spcAft>
              <a:defRPr sz="4000" b="1">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000" b="1">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000" b="1">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000" b="1">
                <a:solidFill>
                  <a:schemeClr val="tx2"/>
                </a:solidFill>
                <a:latin typeface="Times New Roman" pitchFamily="18" charset="0"/>
                <a:ea typeface="宋体" pitchFamily="2" charset="-122"/>
              </a:defRPr>
            </a:lvl5pPr>
            <a:lvl6pPr marL="457200" algn="ctr" rtl="0" fontAlgn="base">
              <a:spcBef>
                <a:spcPct val="0"/>
              </a:spcBef>
              <a:spcAft>
                <a:spcPct val="0"/>
              </a:spcAft>
              <a:defRPr sz="4400" b="1">
                <a:solidFill>
                  <a:schemeClr val="tx2"/>
                </a:solidFill>
                <a:latin typeface="Arial" pitchFamily="34" charset="0"/>
                <a:ea typeface="宋体" pitchFamily="2" charset="-122"/>
              </a:defRPr>
            </a:lvl6pPr>
            <a:lvl7pPr marL="914400" algn="ctr" rtl="0" fontAlgn="base">
              <a:spcBef>
                <a:spcPct val="0"/>
              </a:spcBef>
              <a:spcAft>
                <a:spcPct val="0"/>
              </a:spcAft>
              <a:defRPr sz="4400" b="1">
                <a:solidFill>
                  <a:schemeClr val="tx2"/>
                </a:solidFill>
                <a:latin typeface="Arial" pitchFamily="34" charset="0"/>
                <a:ea typeface="宋体" pitchFamily="2" charset="-122"/>
              </a:defRPr>
            </a:lvl7pPr>
            <a:lvl8pPr marL="1371600" algn="ctr" rtl="0" fontAlgn="base">
              <a:spcBef>
                <a:spcPct val="0"/>
              </a:spcBef>
              <a:spcAft>
                <a:spcPct val="0"/>
              </a:spcAft>
              <a:defRPr sz="4400" b="1">
                <a:solidFill>
                  <a:schemeClr val="tx2"/>
                </a:solidFill>
                <a:latin typeface="Arial" pitchFamily="34" charset="0"/>
                <a:ea typeface="宋体" pitchFamily="2" charset="-122"/>
              </a:defRPr>
            </a:lvl8pPr>
            <a:lvl9pPr marL="1828800" algn="ctr" rtl="0" fontAlgn="base">
              <a:spcBef>
                <a:spcPct val="0"/>
              </a:spcBef>
              <a:spcAft>
                <a:spcPct val="0"/>
              </a:spcAft>
              <a:defRPr sz="4400" b="1">
                <a:solidFill>
                  <a:schemeClr val="tx2"/>
                </a:solidFill>
                <a:latin typeface="Arial" pitchFamily="34" charset="0"/>
                <a:ea typeface="宋体" pitchFamily="2" charset="-122"/>
              </a:defRPr>
            </a:lvl9pPr>
          </a:lstStyle>
          <a:p>
            <a:r>
              <a:rPr lang="zh-CN" altLang="zh-CN" dirty="0"/>
              <a:t>变量类型问题</a:t>
            </a:r>
            <a:endParaRPr lang="zh-CN" altLang="en-US" kern="0" dirty="0">
              <a:cs typeface="Times New Roman" panose="02020603050405020304" pitchFamily="18" charset="0"/>
            </a:endParaRPr>
          </a:p>
        </p:txBody>
      </p:sp>
      <p:sp>
        <p:nvSpPr>
          <p:cNvPr id="4" name="Rectangle 4">
            <a:extLst>
              <a:ext uri="{FF2B5EF4-FFF2-40B4-BE49-F238E27FC236}">
                <a16:creationId xmlns:a16="http://schemas.microsoft.com/office/drawing/2014/main" id="{ED406A46-5C29-43B3-A090-711001304984}"/>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5" name="Rectangle 5">
            <a:extLst>
              <a:ext uri="{FF2B5EF4-FFF2-40B4-BE49-F238E27FC236}">
                <a16:creationId xmlns:a16="http://schemas.microsoft.com/office/drawing/2014/main" id="{63991134-4A0F-46BA-84EB-8B4448882474}"/>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6" name="Rectangle 6">
            <a:extLst>
              <a:ext uri="{FF2B5EF4-FFF2-40B4-BE49-F238E27FC236}">
                <a16:creationId xmlns:a16="http://schemas.microsoft.com/office/drawing/2014/main" id="{AA225D93-C969-4614-915A-D01FAA2B2DE4}"/>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23</a:t>
            </a:fld>
            <a:endParaRPr lang="en-US" altLang="zh-CN" sz="1800" b="0">
              <a:solidFill>
                <a:srgbClr val="B2B2B2"/>
              </a:solidFill>
              <a:latin typeface="Arial" panose="020B0604020202020204" pitchFamily="34" charset="0"/>
            </a:endParaRPr>
          </a:p>
        </p:txBody>
      </p:sp>
    </p:spTree>
    <p:extLst>
      <p:ext uri="{BB962C8B-B14F-4D97-AF65-F5344CB8AC3E}">
        <p14:creationId xmlns:p14="http://schemas.microsoft.com/office/powerpoint/2010/main" val="3375120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EEE1B3D-AC75-4827-82AB-4A8539D4D70A}"/>
              </a:ext>
            </a:extLst>
          </p:cNvPr>
          <p:cNvSpPr>
            <a:spLocks noGrp="1"/>
          </p:cNvSpPr>
          <p:nvPr>
            <p:ph idx="1"/>
          </p:nvPr>
        </p:nvSpPr>
        <p:spPr/>
        <p:txBody>
          <a:bodyPr/>
          <a:lstStyle/>
          <a:p>
            <a:pPr>
              <a:spcBef>
                <a:spcPts val="0"/>
              </a:spcBef>
              <a:spcAft>
                <a:spcPts val="1200"/>
              </a:spcAft>
              <a:defRPr/>
            </a:pPr>
            <a:r>
              <a:rPr lang="zh-CN" altLang="zh-CN" sz="2400" dirty="0"/>
              <a:t>多驱动问题</a:t>
            </a:r>
            <a:endParaRPr lang="zh-CN" altLang="zh-CN" sz="1800" dirty="0"/>
          </a:p>
          <a:p>
            <a:pPr lvl="1">
              <a:spcBef>
                <a:spcPts val="0"/>
              </a:spcBef>
              <a:spcAft>
                <a:spcPts val="1200"/>
              </a:spcAft>
              <a:defRPr/>
            </a:pPr>
            <a:r>
              <a:rPr lang="zh-CN" altLang="zh-CN" sz="2000" dirty="0"/>
              <a:t>模块中所有的</a:t>
            </a:r>
            <a:r>
              <a:rPr lang="en-US" altLang="zh-CN" sz="2000" dirty="0"/>
              <a:t>assign</a:t>
            </a:r>
            <a:r>
              <a:rPr lang="zh-CN" altLang="zh-CN" sz="2000" dirty="0"/>
              <a:t>和</a:t>
            </a:r>
            <a:r>
              <a:rPr lang="en-US" altLang="zh-CN" sz="2000" dirty="0"/>
              <a:t>always</a:t>
            </a:r>
            <a:r>
              <a:rPr lang="zh-CN" altLang="zh-CN" sz="2000" dirty="0"/>
              <a:t>块都是并行执行的，不要在多个并行执行体中对同一变量赋值</a:t>
            </a:r>
            <a:endParaRPr lang="zh-CN" altLang="zh-CN" sz="1600" dirty="0"/>
          </a:p>
          <a:p>
            <a:pPr>
              <a:spcBef>
                <a:spcPts val="0"/>
              </a:spcBef>
              <a:spcAft>
                <a:spcPts val="1200"/>
              </a:spcAft>
              <a:defRPr/>
            </a:pPr>
            <a:r>
              <a:rPr lang="zh-CN" altLang="zh-CN" sz="2400" dirty="0"/>
              <a:t>多重时钟问题</a:t>
            </a:r>
            <a:endParaRPr lang="zh-CN" altLang="zh-CN" sz="1800" dirty="0"/>
          </a:p>
          <a:p>
            <a:pPr lvl="1">
              <a:spcBef>
                <a:spcPts val="0"/>
              </a:spcBef>
              <a:spcAft>
                <a:spcPts val="1200"/>
              </a:spcAft>
              <a:defRPr/>
            </a:pPr>
            <a:r>
              <a:rPr lang="zh-CN" altLang="zh-CN" sz="2000" dirty="0"/>
              <a:t>不能采用行为描述方式来综合实现多个时钟或多个边沿驱动的触发器</a:t>
            </a:r>
            <a:r>
              <a:rPr lang="zh-CN" altLang="en-US" sz="2000" dirty="0"/>
              <a:t>，例如</a:t>
            </a:r>
            <a:endParaRPr lang="zh-CN" altLang="zh-CN" sz="1600" dirty="0"/>
          </a:p>
          <a:p>
            <a:pPr marL="457200" lvl="1" indent="0">
              <a:spcBef>
                <a:spcPts val="0"/>
              </a:spcBef>
              <a:spcAft>
                <a:spcPts val="1200"/>
              </a:spcAft>
              <a:buFontTx/>
              <a:buNone/>
              <a:defRPr/>
            </a:pPr>
            <a:r>
              <a:rPr lang="en-US" altLang="zh-CN" sz="2000" dirty="0"/>
              <a:t>	always @(</a:t>
            </a:r>
            <a:r>
              <a:rPr lang="en-US" altLang="zh-CN" sz="2000" dirty="0" err="1"/>
              <a:t>posedge</a:t>
            </a:r>
            <a:r>
              <a:rPr lang="en-US" altLang="zh-CN" sz="2000" dirty="0"/>
              <a:t> </a:t>
            </a:r>
            <a:r>
              <a:rPr lang="en-US" altLang="zh-CN" sz="2000" dirty="0" err="1"/>
              <a:t>clka</a:t>
            </a:r>
            <a:r>
              <a:rPr lang="en-US" altLang="zh-CN" sz="2000" dirty="0"/>
              <a:t>, </a:t>
            </a:r>
            <a:r>
              <a:rPr lang="en-US" altLang="zh-CN" sz="2000" dirty="0" err="1"/>
              <a:t>posedge</a:t>
            </a:r>
            <a:r>
              <a:rPr lang="en-US" altLang="zh-CN" sz="2000" dirty="0"/>
              <a:t> </a:t>
            </a:r>
            <a:r>
              <a:rPr lang="en-US" altLang="zh-CN" sz="2000" dirty="0" err="1"/>
              <a:t>clkb</a:t>
            </a:r>
            <a:r>
              <a:rPr lang="en-US" altLang="zh-CN" sz="2000" dirty="0"/>
              <a:t>)</a:t>
            </a:r>
            <a:endParaRPr lang="zh-CN" altLang="zh-CN" sz="1400" dirty="0"/>
          </a:p>
          <a:p>
            <a:pPr marL="457200" lvl="1" indent="0">
              <a:spcBef>
                <a:spcPts val="0"/>
              </a:spcBef>
              <a:spcAft>
                <a:spcPts val="1200"/>
              </a:spcAft>
              <a:buFontTx/>
              <a:buNone/>
              <a:defRPr/>
            </a:pPr>
            <a:r>
              <a:rPr lang="en-US" altLang="zh-CN" sz="2000" dirty="0"/>
              <a:t>	always @(</a:t>
            </a:r>
            <a:r>
              <a:rPr lang="en-US" altLang="zh-CN" sz="2000" dirty="0" err="1"/>
              <a:t>posedge</a:t>
            </a:r>
            <a:r>
              <a:rPr lang="en-US" altLang="zh-CN" sz="2000" dirty="0"/>
              <a:t> </a:t>
            </a:r>
            <a:r>
              <a:rPr lang="en-US" altLang="zh-CN" sz="2000" dirty="0" err="1"/>
              <a:t>clk</a:t>
            </a:r>
            <a:r>
              <a:rPr lang="en-US" altLang="zh-CN" sz="2000" dirty="0"/>
              <a:t>, </a:t>
            </a:r>
            <a:r>
              <a:rPr lang="en-US" altLang="zh-CN" sz="2000" dirty="0" err="1"/>
              <a:t>negedge</a:t>
            </a:r>
            <a:r>
              <a:rPr lang="en-US" altLang="zh-CN" sz="2000" dirty="0"/>
              <a:t> </a:t>
            </a:r>
            <a:r>
              <a:rPr lang="en-US" altLang="zh-CN" sz="2000" dirty="0" err="1"/>
              <a:t>clk</a:t>
            </a:r>
            <a:r>
              <a:rPr lang="en-US" altLang="zh-CN" sz="2000" dirty="0"/>
              <a:t>)</a:t>
            </a:r>
            <a:endParaRPr lang="zh-CN" altLang="zh-CN" sz="1400" dirty="0"/>
          </a:p>
        </p:txBody>
      </p:sp>
      <p:sp>
        <p:nvSpPr>
          <p:cNvPr id="3" name="Rectangle 2">
            <a:extLst>
              <a:ext uri="{FF2B5EF4-FFF2-40B4-BE49-F238E27FC236}">
                <a16:creationId xmlns:a16="http://schemas.microsoft.com/office/drawing/2014/main" id="{D9BEAD2D-549C-48DC-B7F7-880AC34502CD}"/>
              </a:ext>
            </a:extLst>
          </p:cNvPr>
          <p:cNvSpPr txBox="1">
            <a:spLocks noChangeArrowheads="1"/>
          </p:cNvSpPr>
          <p:nvPr/>
        </p:nvSpPr>
        <p:spPr bwMode="auto">
          <a:xfrm>
            <a:off x="457200" y="152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000" b="1">
                <a:solidFill>
                  <a:schemeClr val="tx2"/>
                </a:solidFill>
                <a:latin typeface="Times New Roman" pitchFamily="18" charset="0"/>
                <a:ea typeface="+mj-ea"/>
                <a:cs typeface="+mj-cs"/>
              </a:defRPr>
            </a:lvl1pPr>
            <a:lvl2pPr algn="ctr" rtl="0" eaLnBrk="0" fontAlgn="base" hangingPunct="0">
              <a:spcBef>
                <a:spcPct val="0"/>
              </a:spcBef>
              <a:spcAft>
                <a:spcPct val="0"/>
              </a:spcAft>
              <a:defRPr sz="4000" b="1">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000" b="1">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000" b="1">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000" b="1">
                <a:solidFill>
                  <a:schemeClr val="tx2"/>
                </a:solidFill>
                <a:latin typeface="Times New Roman" pitchFamily="18" charset="0"/>
                <a:ea typeface="宋体" pitchFamily="2" charset="-122"/>
              </a:defRPr>
            </a:lvl5pPr>
            <a:lvl6pPr marL="457200" algn="ctr" rtl="0" fontAlgn="base">
              <a:spcBef>
                <a:spcPct val="0"/>
              </a:spcBef>
              <a:spcAft>
                <a:spcPct val="0"/>
              </a:spcAft>
              <a:defRPr sz="4400" b="1">
                <a:solidFill>
                  <a:schemeClr val="tx2"/>
                </a:solidFill>
                <a:latin typeface="Arial" pitchFamily="34" charset="0"/>
                <a:ea typeface="宋体" pitchFamily="2" charset="-122"/>
              </a:defRPr>
            </a:lvl6pPr>
            <a:lvl7pPr marL="914400" algn="ctr" rtl="0" fontAlgn="base">
              <a:spcBef>
                <a:spcPct val="0"/>
              </a:spcBef>
              <a:spcAft>
                <a:spcPct val="0"/>
              </a:spcAft>
              <a:defRPr sz="4400" b="1">
                <a:solidFill>
                  <a:schemeClr val="tx2"/>
                </a:solidFill>
                <a:latin typeface="Arial" pitchFamily="34" charset="0"/>
                <a:ea typeface="宋体" pitchFamily="2" charset="-122"/>
              </a:defRPr>
            </a:lvl7pPr>
            <a:lvl8pPr marL="1371600" algn="ctr" rtl="0" fontAlgn="base">
              <a:spcBef>
                <a:spcPct val="0"/>
              </a:spcBef>
              <a:spcAft>
                <a:spcPct val="0"/>
              </a:spcAft>
              <a:defRPr sz="4400" b="1">
                <a:solidFill>
                  <a:schemeClr val="tx2"/>
                </a:solidFill>
                <a:latin typeface="Arial" pitchFamily="34" charset="0"/>
                <a:ea typeface="宋体" pitchFamily="2" charset="-122"/>
              </a:defRPr>
            </a:lvl8pPr>
            <a:lvl9pPr marL="1828800" algn="ctr" rtl="0" fontAlgn="base">
              <a:spcBef>
                <a:spcPct val="0"/>
              </a:spcBef>
              <a:spcAft>
                <a:spcPct val="0"/>
              </a:spcAft>
              <a:defRPr sz="4400" b="1">
                <a:solidFill>
                  <a:schemeClr val="tx2"/>
                </a:solidFill>
                <a:latin typeface="Arial" pitchFamily="34" charset="0"/>
                <a:ea typeface="宋体" pitchFamily="2" charset="-122"/>
              </a:defRPr>
            </a:lvl9pPr>
          </a:lstStyle>
          <a:p>
            <a:r>
              <a:rPr lang="zh-CN" altLang="zh-CN" dirty="0"/>
              <a:t>多驱动</a:t>
            </a:r>
            <a:r>
              <a:rPr lang="zh-CN" altLang="en-US" dirty="0"/>
              <a:t>与</a:t>
            </a:r>
            <a:r>
              <a:rPr lang="zh-CN" altLang="zh-CN" dirty="0"/>
              <a:t>多重时钟问题</a:t>
            </a:r>
            <a:endParaRPr lang="zh-CN" altLang="en-US" kern="0" dirty="0">
              <a:cs typeface="Times New Roman" panose="02020603050405020304" pitchFamily="18" charset="0"/>
            </a:endParaRPr>
          </a:p>
        </p:txBody>
      </p:sp>
      <p:sp>
        <p:nvSpPr>
          <p:cNvPr id="4" name="Rectangle 4">
            <a:extLst>
              <a:ext uri="{FF2B5EF4-FFF2-40B4-BE49-F238E27FC236}">
                <a16:creationId xmlns:a16="http://schemas.microsoft.com/office/drawing/2014/main" id="{ED406A46-5C29-43B3-A090-711001304984}"/>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5" name="Rectangle 5">
            <a:extLst>
              <a:ext uri="{FF2B5EF4-FFF2-40B4-BE49-F238E27FC236}">
                <a16:creationId xmlns:a16="http://schemas.microsoft.com/office/drawing/2014/main" id="{63991134-4A0F-46BA-84EB-8B4448882474}"/>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6" name="Rectangle 6">
            <a:extLst>
              <a:ext uri="{FF2B5EF4-FFF2-40B4-BE49-F238E27FC236}">
                <a16:creationId xmlns:a16="http://schemas.microsoft.com/office/drawing/2014/main" id="{AA225D93-C969-4614-915A-D01FAA2B2DE4}"/>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24</a:t>
            </a:fld>
            <a:endParaRPr lang="en-US" altLang="zh-CN" sz="1800" b="0">
              <a:solidFill>
                <a:srgbClr val="B2B2B2"/>
              </a:solidFill>
              <a:latin typeface="Arial" panose="020B0604020202020204" pitchFamily="34" charset="0"/>
            </a:endParaRPr>
          </a:p>
        </p:txBody>
      </p:sp>
    </p:spTree>
    <p:extLst>
      <p:ext uri="{BB962C8B-B14F-4D97-AF65-F5344CB8AC3E}">
        <p14:creationId xmlns:p14="http://schemas.microsoft.com/office/powerpoint/2010/main" val="4286960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a:extLst>
              <a:ext uri="{FF2B5EF4-FFF2-40B4-BE49-F238E27FC236}">
                <a16:creationId xmlns:a16="http://schemas.microsoft.com/office/drawing/2014/main" id="{4DCFE3C9-946D-43F1-8D0D-CAF1984B5F2E}"/>
              </a:ext>
            </a:extLst>
          </p:cNvPr>
          <p:cNvSpPr>
            <a:spLocks noGrp="1" noChangeArrowheads="1"/>
          </p:cNvSpPr>
          <p:nvPr>
            <p:ph type="title" idx="4294967295"/>
          </p:nvPr>
        </p:nvSpPr>
        <p:spPr>
          <a:xfrm>
            <a:off x="457200" y="2744788"/>
            <a:ext cx="8229600" cy="1143000"/>
          </a:xfrm>
        </p:spPr>
        <p:txBody>
          <a:bodyPr/>
          <a:lstStyle/>
          <a:p>
            <a:r>
              <a:rPr lang="en-US" altLang="zh-CN"/>
              <a:t>The End</a:t>
            </a:r>
          </a:p>
        </p:txBody>
      </p:sp>
      <p:sp>
        <p:nvSpPr>
          <p:cNvPr id="6" name="Rectangle 4">
            <a:extLst>
              <a:ext uri="{FF2B5EF4-FFF2-40B4-BE49-F238E27FC236}">
                <a16:creationId xmlns:a16="http://schemas.microsoft.com/office/drawing/2014/main" id="{EDC27FA1-9634-438C-90A9-2D104C682672}"/>
              </a:ext>
            </a:extLst>
          </p:cNvPr>
          <p:cNvSpPr txBox="1">
            <a:spLocks noChangeArrowheads="1"/>
          </p:cNvSpPr>
          <p:nvPr/>
        </p:nvSpPr>
        <p:spPr bwMode="auto">
          <a:xfrm>
            <a:off x="395288" y="6453188"/>
            <a:ext cx="172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fld id="{566A99A3-CADC-4769-9892-1B38B244FADE}" type="datetime1">
              <a:rPr lang="zh-CN" altLang="en-US" sz="1800" b="0">
                <a:solidFill>
                  <a:srgbClr val="B2B2B2"/>
                </a:solidFill>
                <a:latin typeface="Arial" panose="020B0604020202020204" pitchFamily="34" charset="0"/>
              </a:rPr>
              <a:pPr>
                <a:spcAft>
                  <a:spcPct val="0"/>
                </a:spcAft>
                <a:buFontTx/>
                <a:buNone/>
              </a:pPr>
              <a:t>2025/10/30</a:t>
            </a:fld>
            <a:endParaRPr lang="en-US" altLang="zh-CN" sz="1800" b="0">
              <a:solidFill>
                <a:srgbClr val="B2B2B2"/>
              </a:solidFill>
              <a:latin typeface="Arial" panose="020B0604020202020204" pitchFamily="34" charset="0"/>
            </a:endParaRPr>
          </a:p>
        </p:txBody>
      </p:sp>
      <p:sp>
        <p:nvSpPr>
          <p:cNvPr id="7" name="Rectangle 5">
            <a:extLst>
              <a:ext uri="{FF2B5EF4-FFF2-40B4-BE49-F238E27FC236}">
                <a16:creationId xmlns:a16="http://schemas.microsoft.com/office/drawing/2014/main" id="{4E29A1BE-E395-4503-9EF9-48B767CC3EBB}"/>
              </a:ext>
            </a:extLst>
          </p:cNvPr>
          <p:cNvSpPr txBox="1">
            <a:spLocks noChangeArrowheads="1"/>
          </p:cNvSpPr>
          <p:nvPr/>
        </p:nvSpPr>
        <p:spPr bwMode="auto">
          <a:xfrm>
            <a:off x="2195513" y="6453188"/>
            <a:ext cx="5148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zh-CN" altLang="en-US" sz="1800" b="0">
                <a:solidFill>
                  <a:srgbClr val="B2B2B2"/>
                </a:solidFill>
                <a:cs typeface="Times New Roman" panose="02020603050405020304" pitchFamily="18" charset="0"/>
              </a:rPr>
              <a:t>模拟与数字电路 </a:t>
            </a:r>
            <a:r>
              <a:rPr lang="en-US" altLang="zh-CN" sz="1800" b="0">
                <a:solidFill>
                  <a:srgbClr val="B2B2B2"/>
                </a:solidFill>
                <a:cs typeface="Times New Roman" panose="02020603050405020304" pitchFamily="18" charset="0"/>
              </a:rPr>
              <a:t>— </a:t>
            </a:r>
            <a:r>
              <a:rPr kumimoji="1" lang="en-US" altLang="zh-CN" sz="1800" b="0">
                <a:solidFill>
                  <a:srgbClr val="B2B2B2"/>
                </a:solidFill>
                <a:cs typeface="Times New Roman" panose="02020603050405020304" pitchFamily="18" charset="0"/>
              </a:rPr>
              <a:t>Verilog HDL(2)</a:t>
            </a:r>
          </a:p>
        </p:txBody>
      </p:sp>
      <p:sp>
        <p:nvSpPr>
          <p:cNvPr id="8" name="Rectangle 6">
            <a:extLst>
              <a:ext uri="{FF2B5EF4-FFF2-40B4-BE49-F238E27FC236}">
                <a16:creationId xmlns:a16="http://schemas.microsoft.com/office/drawing/2014/main" id="{2C38102B-9059-4CD8-B40F-260718665E65}"/>
              </a:ext>
            </a:extLst>
          </p:cNvPr>
          <p:cNvSpPr txBox="1">
            <a:spLocks noChangeArrowheads="1"/>
          </p:cNvSpPr>
          <p:nvPr/>
        </p:nvSpPr>
        <p:spPr bwMode="auto">
          <a:xfrm>
            <a:off x="7502525" y="6453188"/>
            <a:ext cx="121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a:spcAft>
                <a:spcPct val="0"/>
              </a:spcAft>
              <a:buFontTx/>
              <a:buNone/>
            </a:pPr>
            <a:fld id="{AF55E989-B963-4BE5-B183-BFC18B6E1B46}" type="slidenum">
              <a:rPr lang="en-US" altLang="zh-CN" sz="1800" b="0">
                <a:solidFill>
                  <a:srgbClr val="B2B2B2"/>
                </a:solidFill>
                <a:latin typeface="Arial" panose="020B0604020202020204" pitchFamily="34" charset="0"/>
              </a:rPr>
              <a:pPr algn="r">
                <a:spcAft>
                  <a:spcPct val="0"/>
                </a:spcAft>
                <a:buFontTx/>
                <a:buNone/>
              </a:pPr>
              <a:t>25</a:t>
            </a:fld>
            <a:endParaRPr lang="en-US" altLang="zh-CN" sz="1800" b="0">
              <a:solidFill>
                <a:srgbClr val="B2B2B2"/>
              </a:solidFill>
              <a:latin typeface="Arial" panose="020B0604020202020204" pitchFamily="34" charset="0"/>
            </a:endParaRP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45912</TotalTime>
  <Pages>0</Pages>
  <Words>2124</Words>
  <Characters>0</Characters>
  <Application>Microsoft Office PowerPoint</Application>
  <DocSecurity>0</DocSecurity>
  <PresentationFormat>全屏显示(4:3)</PresentationFormat>
  <Lines>0</Lines>
  <Paragraphs>520</Paragraphs>
  <Slides>25</Slides>
  <Notes>15</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32" baseType="lpstr">
      <vt:lpstr>楷体_GB2312</vt:lpstr>
      <vt:lpstr>宋体</vt:lpstr>
      <vt:lpstr>Arial</vt:lpstr>
      <vt:lpstr>Calibri</vt:lpstr>
      <vt:lpstr>Times New Roman</vt:lpstr>
      <vt:lpstr>默认设计模板</vt:lpstr>
      <vt:lpstr>位图图像</vt:lpstr>
      <vt:lpstr>模拟与数字电路 Analog and Digital Circuits</vt:lpstr>
      <vt:lpstr>内容提纲</vt:lpstr>
      <vt:lpstr>Verilog过程赋值语句</vt:lpstr>
      <vt:lpstr>Verilog描述D锁存器和触发器</vt:lpstr>
      <vt:lpstr>异步或同步复位D触发器</vt:lpstr>
      <vt:lpstr>示例—阻塞赋值语句</vt:lpstr>
      <vt:lpstr>示例—非阻塞赋值语句</vt:lpstr>
      <vt:lpstr>示例—两种赋值语句比较</vt:lpstr>
      <vt:lpstr>示例—两种赋值语句比较(续)</vt:lpstr>
      <vt:lpstr>Verilog描述FSM</vt:lpstr>
      <vt:lpstr>米里型和摩尔型时序电路</vt:lpstr>
      <vt:lpstr>状态图和时序图</vt:lpstr>
      <vt:lpstr>PowerPoint 演示文稿</vt:lpstr>
      <vt:lpstr>一段式FSM</vt:lpstr>
      <vt:lpstr>多段式FSM</vt:lpstr>
      <vt:lpstr>示例—多段式米里型FSM</vt:lpstr>
      <vt:lpstr>示例—多段式米里型FSM (续1)</vt:lpstr>
      <vt:lpstr>示例—多段式米里型FSM (续2)</vt:lpstr>
      <vt:lpstr>示例—多段式摩尔型FSM</vt:lpstr>
      <vt:lpstr>示例—多段式摩尔型FSM (续1)</vt:lpstr>
      <vt:lpstr>示例—多段式摩尔型FSM (续2)</vt:lpstr>
      <vt:lpstr>PowerPoint 演示文稿</vt:lpstr>
      <vt:lpstr>PowerPoint 演示文稿</vt:lpstr>
      <vt:lpstr>PowerPoint 演示文稿</vt:lpstr>
      <vt:lpstr>The End</vt:lpstr>
    </vt:vector>
  </TitlesOfParts>
  <Company>ustc</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第1章_计算机基础知识_概述</dc:title>
  <dc:creator>张俊霞</dc:creator>
  <cp:lastModifiedBy>Wendy H</cp:lastModifiedBy>
  <cp:revision>597</cp:revision>
  <cp:lastPrinted>1900-01-04T05:08:28Z</cp:lastPrinted>
  <dcterms:created xsi:type="dcterms:W3CDTF">2004-01-05T23:56:53Z</dcterms:created>
  <dcterms:modified xsi:type="dcterms:W3CDTF">2025-10-30T07:03:27Z</dcterms:modified>
  <cp:category>16位微机原理与接口</cp:category>
</cp:coreProperties>
</file>