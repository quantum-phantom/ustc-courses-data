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528" r:id="rId2"/>
    <p:sldMasterId id="2147484540" r:id="rId3"/>
    <p:sldMasterId id="2147484544" r:id="rId4"/>
  </p:sldMasterIdLst>
  <p:notesMasterIdLst>
    <p:notesMasterId r:id="rId38"/>
  </p:notesMasterIdLst>
  <p:sldIdLst>
    <p:sldId id="536" r:id="rId5"/>
    <p:sldId id="735" r:id="rId6"/>
    <p:sldId id="762" r:id="rId7"/>
    <p:sldId id="757" r:id="rId8"/>
    <p:sldId id="822" r:id="rId9"/>
    <p:sldId id="741" r:id="rId10"/>
    <p:sldId id="777" r:id="rId11"/>
    <p:sldId id="764" r:id="rId12"/>
    <p:sldId id="794" r:id="rId13"/>
    <p:sldId id="740" r:id="rId14"/>
    <p:sldId id="742" r:id="rId15"/>
    <p:sldId id="743" r:id="rId16"/>
    <p:sldId id="744" r:id="rId17"/>
    <p:sldId id="745" r:id="rId18"/>
    <p:sldId id="746" r:id="rId19"/>
    <p:sldId id="767" r:id="rId20"/>
    <p:sldId id="766" r:id="rId21"/>
    <p:sldId id="760" r:id="rId22"/>
    <p:sldId id="835" r:id="rId23"/>
    <p:sldId id="829" r:id="rId24"/>
    <p:sldId id="833" r:id="rId25"/>
    <p:sldId id="834" r:id="rId26"/>
    <p:sldId id="832" r:id="rId27"/>
    <p:sldId id="826" r:id="rId28"/>
    <p:sldId id="761" r:id="rId29"/>
    <p:sldId id="804" r:id="rId30"/>
    <p:sldId id="821" r:id="rId31"/>
    <p:sldId id="808" r:id="rId32"/>
    <p:sldId id="809" r:id="rId33"/>
    <p:sldId id="806" r:id="rId34"/>
    <p:sldId id="810" r:id="rId35"/>
    <p:sldId id="789" r:id="rId36"/>
    <p:sldId id="539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80" autoAdjust="0"/>
    <p:restoredTop sz="95380" autoAdjust="0"/>
  </p:normalViewPr>
  <p:slideViewPr>
    <p:cSldViewPr>
      <p:cViewPr varScale="1">
        <p:scale>
          <a:sx n="83" d="100"/>
          <a:sy n="83" d="100"/>
        </p:scale>
        <p:origin x="10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8001A61-1FCA-468B-A382-992914DBF1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8320D1-094D-46B2-9E35-0AA7F93FA6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2E46205-B45D-40CB-A9FB-5C94F8B3DC8B}" type="datetimeFigureOut">
              <a:rPr lang="zh-CN" altLang="en-US"/>
              <a:pPr>
                <a:defRPr/>
              </a:pPr>
              <a:t>2024/11/14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B8CD7F3-1167-43AB-8ADF-182AF2BB3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2D10AA84-7349-4108-A880-29DB629FD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284511-0F8F-4397-A28E-954A2A1DF8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AC5951-A31E-455A-AD3A-E1CDD1D5B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F500DD0-A66D-4187-BDD5-C824C4E636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B8D9BF80-B760-4299-8F54-8B890EE2C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EB2191-6C78-45BB-A3A8-2D7783442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80853005-3210-4BA8-8810-EA5639CB2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4C919-1770-4D2D-9DA6-8689C7BD73A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 HDL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程序可以利用两个系统任务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readmemb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readmemh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，从文件中读取数据来初始化存储器。其语法格式（以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readmemb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为例，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readmemh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类似）如下：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readmemb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("&lt;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数据文件名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&gt;",&lt;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存储器名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起始地址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&gt;,&lt;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终止地址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&gt;);</a:t>
            </a: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数据文件是文本格式，只能包含空白（空格、换行、制表格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）、注释和二进制（对于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readmemb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）或十六进制数据（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readmemh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），数据中可以有不定值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、高阻值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、或者下画线，但不能包含位宽书名和格式说明。起始地址和结束地址是可选的。当地址出现在数据文件中时，其格式是字符“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@”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后跟上十六进制数据，例如：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@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hhhh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。当读取中遇到地址说明符，会将地址后的数据存放到相应的地址中。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例如，从文件“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rx.vec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中读取的第一个数字被存储在地址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中，下一个存储在地址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，并以此类推直到地址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readmemb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rx.vex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",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15, 30);</a:t>
            </a: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例如，文件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init.vec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内容如下：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@002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11111111  01010101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00000000  10101010</a:t>
            </a: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@008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1111zzzz  00001111</a:t>
            </a: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程序如下：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 [7:0] mem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[0:9];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initial $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readmemb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init.vec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", mem);</a:t>
            </a: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则存储器中的内容如下：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mem[0]=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xxxxxxxx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mem[1]=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xxxxxxxx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mem[2]=11111111;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mem[3]=01010101;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mem[4]=00000000;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mem[5]=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10101010;</a:t>
            </a: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mem[6]=xxxxxxxx;</a:t>
            </a: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mem[7]=xxxxxxxx;</a:t>
            </a: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mem[8]=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1111zzzz;</a:t>
            </a: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mem[9]=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00001111;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3379E7-EFB6-4D19-8480-DBA827EA8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6550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5352B366-E30E-4E9D-B5C3-D039A12BD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F6F4DDD0-1D1C-4AD4-95FB-47C9A7E35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0973B48E-D3AB-49E8-A07F-1BED09FFDC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9DF5792-71F5-440A-B205-0F1D14D57466}" type="slidenum">
              <a:rPr lang="zh-CN" altLang="en-US" smtClean="0">
                <a:solidFill>
                  <a:srgbClr val="000000"/>
                </a:solidFill>
              </a:rPr>
              <a:pPr/>
              <a:t>6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DC9E73C5-95AF-4F61-901D-275D9633C4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8B551EAB-A955-47F7-8F42-DA93D7486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9C6CE15F-D06C-420C-9223-650D487C24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65C12F-46AD-4D48-A936-E7D1FF32568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>
            <a:extLst>
              <a:ext uri="{FF2B5EF4-FFF2-40B4-BE49-F238E27FC236}">
                <a16:creationId xmlns:a16="http://schemas.microsoft.com/office/drawing/2014/main" id="{45ECA576-9A78-4718-A90E-45E3EAD7FE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备注占位符 2">
            <a:extLst>
              <a:ext uri="{FF2B5EF4-FFF2-40B4-BE49-F238E27FC236}">
                <a16:creationId xmlns:a16="http://schemas.microsoft.com/office/drawing/2014/main" id="{CE9958DD-68F3-4481-B1D7-4599B99F2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040DADC1-EF61-4EA1-B75A-CC075044EE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CB5A0E-9701-4B6F-AB52-ADA55B561004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E9F9BDB1-E757-4B01-84CF-70ED4FA34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D01169AA-C682-4DA7-8614-7E0BC962F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D30505EA-B4D8-4DE5-A2E8-79B6837881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1898D5-08F0-4BC4-9F30-C6C9C91306B5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646B6930-2C27-4481-AB38-5178FF31AC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69DD5428-3C06-419A-9BB4-3D8C51C71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F7E0EBE1-4614-42E3-B523-2BE5073DB1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AB22425-9499-45B9-B808-14698817A6A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FD006212-D1B3-488C-AF31-39F2E7507F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817FE669-B65B-4EC7-B42A-D31CFD3D87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516C5ADD-996A-4D3E-A38A-869CBD2FF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EA6A828-4DD3-4F89-B652-8DCDB9F81B08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9791D48E-2E6D-4A88-8ABA-6FDA82FFF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CDD0569A-5725-4E21-9C59-EB722EC77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C80D97DF-ADB5-4314-971E-98D7DBF49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3F6E497-935E-497A-B28F-F73BC8452726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00E34D15-611A-4723-A88A-F632A8326D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B96121BF-8E6F-4366-B341-5ADB09A95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605EC2BB-9433-4EAF-B242-426981ED6C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131DB5-E271-4A82-9D5D-C315E9E3E968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8D3F4BC3-7D42-483E-AF75-38156377C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CEEBD7C6-E8AD-41DB-9C9F-1DDB7C878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FD67239-EAEA-4260-A034-52E5337769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4275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57350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2013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892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64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36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08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F84CE-BB48-4827-B564-FE2101B12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1437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8D3F4BC3-7D42-483E-AF75-38156377C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CEEBD7C6-E8AD-41DB-9C9F-1DDB7C878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FD67239-EAEA-4260-A034-52E5337769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4275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57350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2013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892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64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36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08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F84CE-BB48-4827-B564-FE2101B12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35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8D3F4BC3-7D42-483E-AF75-38156377C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CEEBD7C6-E8AD-41DB-9C9F-1DDB7C878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FD67239-EAEA-4260-A034-52E5337769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4275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57350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2013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892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64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36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08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F84CE-BB48-4827-B564-FE2101B12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9037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8D3F4BC3-7D42-483E-AF75-38156377C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CEEBD7C6-E8AD-41DB-9C9F-1DDB7C878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dirty="0"/>
              <a:t>1</a:t>
            </a:r>
            <a:r>
              <a:rPr lang="zh-CN" altLang="en-US" dirty="0"/>
              <a:t>位</a:t>
            </a:r>
            <a:r>
              <a:rPr lang="en-US" altLang="zh-CN" dirty="0"/>
              <a:t>16</a:t>
            </a:r>
            <a:r>
              <a:rPr lang="zh-CN" altLang="en-US" dirty="0"/>
              <a:t>进制数</a:t>
            </a:r>
            <a:r>
              <a:rPr lang="en-US" altLang="zh-CN" dirty="0"/>
              <a:t>data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位</a:t>
            </a:r>
            <a:r>
              <a:rPr lang="en-US" altLang="zh-CN" dirty="0"/>
              <a:t>2</a:t>
            </a:r>
            <a:r>
              <a:rPr lang="zh-CN" altLang="en-US" dirty="0"/>
              <a:t>进制数）</a:t>
            </a:r>
            <a:r>
              <a:rPr lang="en-US" altLang="zh-CN" dirty="0">
                <a:sym typeface="Wingdings" panose="05000000000000000000" pitchFamily="2" charset="2"/>
              </a:rPr>
              <a:t> 1</a:t>
            </a:r>
            <a:r>
              <a:rPr lang="zh-CN" altLang="en-US" dirty="0">
                <a:sym typeface="Wingdings" panose="05000000000000000000" pitchFamily="2" charset="2"/>
              </a:rPr>
              <a:t>个文本字符</a:t>
            </a:r>
            <a:r>
              <a:rPr lang="en-US" altLang="zh-CN" dirty="0">
                <a:sym typeface="Wingdings" panose="05000000000000000000" pitchFamily="2" charset="2"/>
              </a:rPr>
              <a:t>text</a:t>
            </a:r>
            <a:r>
              <a:rPr lang="zh-CN" altLang="en-US" dirty="0">
                <a:sym typeface="Wingdings" panose="05000000000000000000" pitchFamily="2" charset="2"/>
              </a:rPr>
              <a:t>（</a:t>
            </a:r>
            <a:r>
              <a:rPr lang="en-US" altLang="zh-CN" dirty="0">
                <a:sym typeface="Wingdings" panose="05000000000000000000" pitchFamily="2" charset="2"/>
              </a:rPr>
              <a:t>8</a:t>
            </a:r>
            <a:r>
              <a:rPr lang="zh-CN" altLang="en-US" dirty="0">
                <a:sym typeface="Wingdings" panose="05000000000000000000" pitchFamily="2" charset="2"/>
              </a:rPr>
              <a:t>位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进制</a:t>
            </a:r>
            <a:r>
              <a:rPr lang="en-US" altLang="zh-CN" dirty="0">
                <a:sym typeface="Wingdings" panose="05000000000000000000" pitchFamily="2" charset="2"/>
              </a:rPr>
              <a:t>ASCII</a:t>
            </a:r>
            <a:r>
              <a:rPr lang="zh-CN" altLang="en-US" dirty="0">
                <a:sym typeface="Wingdings" panose="05000000000000000000" pitchFamily="2" charset="2"/>
              </a:rPr>
              <a:t>码）</a:t>
            </a:r>
            <a:endParaRPr lang="en-US" altLang="zh-CN" dirty="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ym typeface="Wingdings" panose="05000000000000000000" pitchFamily="2" charset="2"/>
              </a:rPr>
              <a:t>wire [7:0] t;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ym typeface="Wingdings" panose="05000000000000000000" pitchFamily="2" charset="2"/>
              </a:rPr>
              <a:t>wire [3:0] d, </a:t>
            </a:r>
            <a:r>
              <a:rPr lang="en-US" altLang="zh-CN" dirty="0" err="1">
                <a:sym typeface="Wingdings" panose="05000000000000000000" pitchFamily="2" charset="2"/>
              </a:rPr>
              <a:t>th</a:t>
            </a:r>
            <a:r>
              <a:rPr lang="en-US" altLang="zh-CN" dirty="0">
                <a:sym typeface="Wingdings" panose="05000000000000000000" pitchFamily="2" charset="2"/>
              </a:rPr>
              <a:t>, </a:t>
            </a:r>
            <a:r>
              <a:rPr lang="en-US" altLang="zh-CN" dirty="0" err="1">
                <a:sym typeface="Wingdings" panose="05000000000000000000" pitchFamily="2" charset="2"/>
              </a:rPr>
              <a:t>tl</a:t>
            </a:r>
            <a:r>
              <a:rPr lang="en-US" altLang="zh-CN" dirty="0">
                <a:sym typeface="Wingdings" panose="05000000000000000000" pitchFamily="2" charset="2"/>
              </a:rPr>
              <a:t>;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ym typeface="Wingdings" panose="05000000000000000000" pitchFamily="2" charset="2"/>
              </a:rPr>
              <a:t>assign t = {</a:t>
            </a:r>
            <a:r>
              <a:rPr lang="en-US" altLang="zh-CN" dirty="0" err="1">
                <a:sym typeface="Wingdings" panose="05000000000000000000" pitchFamily="2" charset="2"/>
              </a:rPr>
              <a:t>th</a:t>
            </a:r>
            <a:r>
              <a:rPr lang="en-US" altLang="zh-CN" dirty="0">
                <a:sym typeface="Wingdings" panose="05000000000000000000" pitchFamily="2" charset="2"/>
              </a:rPr>
              <a:t>, </a:t>
            </a:r>
            <a:r>
              <a:rPr lang="en-US" altLang="zh-CN" dirty="0" err="1">
                <a:sym typeface="Wingdings" panose="05000000000000000000" pitchFamily="2" charset="2"/>
              </a:rPr>
              <a:t>tl</a:t>
            </a:r>
            <a:r>
              <a:rPr lang="en-US" altLang="zh-CN" dirty="0">
                <a:sym typeface="Wingdings" panose="05000000000000000000" pitchFamily="2" charset="2"/>
              </a:rPr>
              <a:t>};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ym typeface="Wingdings" panose="05000000000000000000" pitchFamily="2" charset="2"/>
              </a:rPr>
              <a:t>assign </a:t>
            </a:r>
            <a:r>
              <a:rPr lang="en-US" altLang="zh-CN" dirty="0" err="1">
                <a:sym typeface="Wingdings" panose="05000000000000000000" pitchFamily="2" charset="2"/>
              </a:rPr>
              <a:t>th</a:t>
            </a:r>
            <a:r>
              <a:rPr lang="en-US" altLang="zh-CN" dirty="0">
                <a:sym typeface="Wingdings" panose="05000000000000000000" pitchFamily="2" charset="2"/>
              </a:rPr>
              <a:t> = (d &gt; 9) ? 4’d4 : 4’d3;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ym typeface="Wingdings" panose="05000000000000000000" pitchFamily="2" charset="2"/>
              </a:rPr>
              <a:t>assign </a:t>
            </a:r>
            <a:r>
              <a:rPr lang="en-US" altLang="zh-CN" dirty="0" err="1">
                <a:sym typeface="Wingdings" panose="05000000000000000000" pitchFamily="2" charset="2"/>
              </a:rPr>
              <a:t>tl</a:t>
            </a:r>
            <a:r>
              <a:rPr lang="en-US" altLang="zh-CN" dirty="0">
                <a:sym typeface="Wingdings" panose="05000000000000000000" pitchFamily="2" charset="2"/>
              </a:rPr>
              <a:t> = (d &gt; 9) ? (d + 4’d7) : d;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CN" dirty="0">
                <a:sym typeface="Wingdings" panose="05000000000000000000" pitchFamily="2" charset="2"/>
              </a:rPr>
              <a:t>//d &gt; 9: d3 &amp; (d2 | d1)</a:t>
            </a:r>
          </a:p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FD67239-EAEA-4260-A034-52E5337769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4275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57350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2013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892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64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36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08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F84CE-BB48-4827-B564-FE2101B12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766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8D3F4BC3-7D42-483E-AF75-38156377C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CEEBD7C6-E8AD-41DB-9C9F-1DDB7C878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FD67239-EAEA-4260-A034-52E5337769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4275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57350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2013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892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64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36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08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F84CE-BB48-4827-B564-FE2101B12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076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8D3F4BC3-7D42-483E-AF75-38156377C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CEEBD7C6-E8AD-41DB-9C9F-1DDB7C878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FD67239-EAEA-4260-A034-52E5337769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4275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57350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2013" indent="-23653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892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64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36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0813" indent="-2365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CF84CE-BB48-4827-B564-FE2101B122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27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A0FB62-F0C2-4A0B-A9CB-52D8A992FE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800"/>
            </a:lvl1pPr>
          </a:lstStyle>
          <a:p>
            <a:pPr>
              <a:defRPr/>
            </a:pPr>
            <a:fld id="{79CF1348-7FF9-45EA-AC26-F3C445ED2D03}" type="datetime1">
              <a:rPr lang="zh-CN" altLang="en-US" smtClean="0"/>
              <a:t>2024/11/14</a:t>
            </a:fld>
            <a:endParaRPr lang="zh-CN" alt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18494F-EAC8-4D1E-836D-EF6A275B85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1728E5-6C0D-4907-9FDC-4B40E29CAD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1676400" cy="339725"/>
          </a:xfrm>
        </p:spPr>
        <p:txBody>
          <a:bodyPr anchor="ctr"/>
          <a:lstStyle>
            <a:lvl1pPr>
              <a:defRPr sz="1800"/>
            </a:lvl1pPr>
          </a:lstStyle>
          <a:p>
            <a:pPr>
              <a:defRPr/>
            </a:pPr>
            <a:fld id="{01068DAE-1BB7-4349-B4CD-2AF889D7C9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479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9000"/>
            <a:ext cx="8229600" cy="5040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3DF9C7-6ED0-4FE0-9093-4EA3D0C320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800"/>
            </a:lvl1pPr>
          </a:lstStyle>
          <a:p>
            <a:pPr>
              <a:defRPr/>
            </a:pPr>
            <a:fld id="{6AE9DE36-92C7-46B0-B418-4D802923D282}" type="datetime1">
              <a:rPr lang="zh-CN" altLang="en-US" smtClean="0"/>
              <a:t>2024/11/14</a:t>
            </a:fld>
            <a:endParaRPr lang="zh-CN" alt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BD68E1-F9E4-4FC9-AD94-5442327996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86600" y="6381750"/>
            <a:ext cx="1600200" cy="339725"/>
          </a:xfrm>
        </p:spPr>
        <p:txBody>
          <a:bodyPr anchor="ctr"/>
          <a:lstStyle>
            <a:lvl1pPr>
              <a:defRPr sz="1800"/>
            </a:lvl1pPr>
          </a:lstStyle>
          <a:p>
            <a:pPr>
              <a:defRPr/>
            </a:pPr>
            <a:fld id="{758BA439-628B-4EB1-9181-2A24D75396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9700ED-6F09-4035-AAD3-82D72014585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</p:spTree>
    <p:extLst>
      <p:ext uri="{BB962C8B-B14F-4D97-AF65-F5344CB8AC3E}">
        <p14:creationId xmlns:p14="http://schemas.microsoft.com/office/powerpoint/2010/main" val="355061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3025BB-334B-4721-8906-90D8E73C14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D78EA749-3C4B-4405-B107-45A5A98B4F01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0C15F3-C403-49C0-94AF-107A5FC17A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381750"/>
            <a:ext cx="44196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B9C4CB-2A18-4684-A8D0-A702922ABB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16764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AD4F34A6-D7C2-4715-9011-AD6A3624E0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490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3000"/>
            <a:ext cx="8229600" cy="489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D0757D-6BE4-40E2-AFCA-9CAD8A395B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10FC046F-C8B0-4E23-B1AA-02926C53D775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BD6457-052B-4A54-A4B0-27C7DBEE89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36BB9A-6392-42A6-863C-B27F05446D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6D601D92-7DBD-45E5-8861-874C856BB5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922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26532C-3D6E-40D4-A393-39A0F3ED59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0B073-89B5-4B5A-9E45-0B3B6D53DAA5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C94878-DC8C-4294-AC64-12D225B4D9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A5E9A4-2C67-4ADF-A69E-1B00BC33A8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F84C4-8774-46EC-A188-A8D0EAD98F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393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1643D8-18D6-4794-B4DA-CE32FBD5BD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C5ED3-5780-461A-92B8-181EB8E17BA6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352658-65F3-4A69-B87B-09C981042B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9656B-9C73-4D23-B32F-90E695B630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1616E-E4A3-4E4A-B149-95C2FE8923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39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8078B6E-4136-4D73-8E99-7DC5CC89C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423BD-57B5-42D1-ACAA-56D4915A9DE7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5639515-C955-4ACE-9E8B-608CD453FD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B1BE647-6CFD-4DB9-9834-49B62F4970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27D17-5BC0-4629-B6AD-9FB1E754C3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5212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A09DF53-94B5-4FE7-A513-8DAEAEB37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30928-766E-4227-A934-9BABC1E16E5F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EAB328E-AE24-4B8C-B41F-4C9A646CF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7E553A-EEB2-4274-8EBA-FFDF9736B2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E496C-A059-4B46-9D91-199232D9E7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326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92B59061-54F9-4285-B865-49BE12B4F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381000"/>
            <a:ext cx="8575675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29A4187E-5D4E-46BE-935D-A49D946C9D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8D4E4-82C8-4C16-A258-07FBF00A35FB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E2F496C-7F0D-4D90-9B1B-4E3DADEEBF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F82AEEC-ED13-4563-B497-5514E42D9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206C4-345A-44F7-A3FE-9FB18F9C16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0763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8C6083-4893-49E0-BD51-22CAB0B16D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3B41B-3A6B-461D-AE54-46C3C2FCD612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2DE86-E1FB-4E1E-8491-39E7ECD106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6A6C2-F9D5-490E-A8ED-2839ED2F9B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009E3-56A4-4F39-9F35-AB0F7C685C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209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D8114-FCA0-49D4-A2C2-266BA64558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F85E0-0A24-4761-8111-3A408CD421DA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E86DAE-0B37-4067-89C5-17E907F388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ED3464-7A92-4F78-9F69-8F8378A211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F6682-7168-4E10-B33D-126E6908D7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5780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5D1B68-0E45-405B-BBD6-60A3B73C2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EB3A6-11C8-42CD-9851-2F07AA96A768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EE0374-3F20-4507-8467-45720F720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13A18A-3783-4747-90B2-0346CE7782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81230-D201-4F28-B02B-CA60645BF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4424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D31877-D78A-406A-92D9-E463C38AC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6349D-D360-45B3-A18E-58DAF749A7D2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F34CA4-9399-4AFF-ADF1-6DA2599B83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26ADBF-E96C-4AFC-BAC3-9695D2BDD2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9BF1F-A836-4607-825D-0688B9A0A1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0912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9126D6B2-9BB7-4660-89DA-A75111754E7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D946E3-2C41-4B89-BF25-C8BB1062C5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F0EA1324-5DBC-4F8A-8ADA-8D029475A14E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ECB19B-3F60-4A45-BDC8-3F3988F053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(H)</a:t>
            </a:r>
            <a:r>
              <a:rPr lang="zh-CN" altLang="en-US"/>
              <a:t>实验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C12DE9-0E11-4E2E-A2C8-7FB957182D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94E40C90-7900-4F14-A068-5C9FDD7974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989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E9026A45-EA62-4C2A-A36B-DCE8E88E9AC4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DC8366-D6AA-4CD6-B452-CDB2CADB14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7F7B4506-1C55-46A2-9481-E11D68B2B467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F6241-3A47-43ED-902F-6190D631C5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(H)</a:t>
            </a:r>
            <a:r>
              <a:rPr lang="zh-CN" altLang="en-US"/>
              <a:t>实验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395D7-8BDE-41C8-990F-A4F46C5C5B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BC8C60AE-82CD-4DDD-A42F-7164357096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5665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8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AA85A52B-C458-4389-9610-2320DCF4522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DD7CB9-3B4E-4F1D-A6C0-0D48B68D57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C249D599-1515-412E-AA4B-EE2442FCC231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8E2F7-364B-46E8-A6AB-10774079CF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(C)</a:t>
            </a:r>
            <a:r>
              <a:rPr lang="zh-CN" altLang="en-US"/>
              <a:t>实验 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8B3EA9-4E05-4167-96BA-0A567EF5A3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2367035A-0266-466B-898C-0B21620FB8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1817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id="{552A4FD3-50B2-4C3D-9F3A-C994D3D12F2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/>
          <a:lstStyle>
            <a:lvl1pPr>
              <a:defRPr sz="2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694E22-72C8-4D33-BE49-7A239C5AB9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7855583E-2E96-4879-A402-4C1ABDEFF94B}" type="datetime1">
              <a:rPr lang="zh-CN" altLang="en-US" smtClean="0"/>
              <a:t>2024/11/14</a:t>
            </a:fld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48481C-3B76-4658-9CEB-1CF4008B8B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958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(C)</a:t>
            </a:r>
            <a:r>
              <a:rPr lang="zh-CN" altLang="en-US"/>
              <a:t>实验 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BFEABC-1CA6-4BDD-8BD3-32593AF567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9508606F-694E-4BCF-92BA-23CC96414D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5956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61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AC7ED9-0A65-4459-AB3E-8D3B77BE84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E948675-63F1-49D3-A01C-ADC5932EDB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0000"/>
            <a:ext cx="822960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1C9B55-13F1-4DF3-9659-303847C88AD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00"/>
            </a:lvl1pPr>
          </a:lstStyle>
          <a:p>
            <a:pPr>
              <a:defRPr/>
            </a:pPr>
            <a:fld id="{D5C5A6FD-9A93-44FE-B954-6BF06D33095C}" type="datetime1">
              <a:rPr lang="zh-CN" altLang="en-US" smtClean="0"/>
              <a:t>2024/11/14</a:t>
            </a:fld>
            <a:endParaRPr lang="zh-CN" altLang="en-US" dirty="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F0408F8-FD16-4DF0-BBBE-9E71CA4B44E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/>
            </a:lvl1pPr>
          </a:lstStyle>
          <a:p>
            <a:pPr>
              <a:defRPr/>
            </a:pPr>
            <a:fld id="{7D79F776-288D-4ADA-8801-5424589563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2" name="直接连接符 6">
            <a:extLst>
              <a:ext uri="{FF2B5EF4-FFF2-40B4-BE49-F238E27FC236}">
                <a16:creationId xmlns:a16="http://schemas.microsoft.com/office/drawing/2014/main" id="{813171D1-177C-4397-B66C-54B39DB52C36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3087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5">
            <a:extLst>
              <a:ext uri="{FF2B5EF4-FFF2-40B4-BE49-F238E27FC236}">
                <a16:creationId xmlns:a16="http://schemas.microsoft.com/office/drawing/2014/main" id="{34CBC483-9F41-4948-BC57-04364B57FB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381750"/>
            <a:ext cx="4419600" cy="339725"/>
          </a:xfrm>
          <a:prstGeom prst="rect">
            <a:avLst/>
          </a:prstGeom>
        </p:spPr>
        <p:txBody>
          <a:bodyPr anchor="ctr"/>
          <a:lstStyle>
            <a:lvl1pPr algn="ctr">
              <a:defRPr sz="18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6" r:id="rId1"/>
    <p:sldLayoutId id="2147484527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600"/>
        </a:spcAft>
        <a:buChar char="•"/>
        <a:defRPr sz="32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0"/>
        </a:spcBef>
        <a:spcAft>
          <a:spcPts val="60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0"/>
        </a:spcBef>
        <a:spcAft>
          <a:spcPts val="60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0"/>
        </a:spcBef>
        <a:spcAft>
          <a:spcPts val="60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0"/>
        </a:spcBef>
        <a:spcAft>
          <a:spcPts val="60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E9DD25-C14B-48E9-9550-32E34B13B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A08995-FA17-4909-BB6A-C759AE8E3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1438"/>
            <a:ext cx="8229600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666F136-C1FD-4F09-B050-D4EE46BD49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4B11424E-960E-4D02-8688-136A1E7B595B}" type="datetime1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716FC9B-B7DC-4B10-9651-BD6A13FFB80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AA7B35-05C5-4B26-AA05-FA2B87934F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4432A76-D428-482F-9511-D8BD57B96E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031" name="直接连接符 6">
            <a:extLst>
              <a:ext uri="{FF2B5EF4-FFF2-40B4-BE49-F238E27FC236}">
                <a16:creationId xmlns:a16="http://schemas.microsoft.com/office/drawing/2014/main" id="{C99F6052-7A8B-46AA-B5BF-77D7A077453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3087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25615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30" r:id="rId2"/>
    <p:sldLayoutId id="2147484531" r:id="rId3"/>
    <p:sldLayoutId id="2147484532" r:id="rId4"/>
    <p:sldLayoutId id="2147484533" r:id="rId5"/>
    <p:sldLayoutId id="2147484534" r:id="rId6"/>
    <p:sldLayoutId id="2147484535" r:id="rId7"/>
    <p:sldLayoutId id="2147484536" r:id="rId8"/>
    <p:sldLayoutId id="2147484537" r:id="rId9"/>
    <p:sldLayoutId id="2147484538" r:id="rId10"/>
    <p:sldLayoutId id="214748453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01B1175-2421-44A9-94E7-72758197E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FB8A71D-4002-41DF-AF70-EA24ECF3A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EFF689F-B402-496E-8DD4-FCE4CA74F2C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8D7A1BA-0126-4EC9-9BE0-7C27B683B8C7}" type="datetime1">
              <a:rPr lang="zh-CN" altLang="en-US" smtClean="0"/>
              <a:t>2024/11/14</a:t>
            </a:fld>
            <a:endParaRPr lang="zh-CN" alt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4C820DE-006A-4A27-BFDD-06B12984A9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1800" y="6245225"/>
            <a:ext cx="358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(H)</a:t>
            </a:r>
            <a:r>
              <a:rPr lang="zh-CN" altLang="en-US"/>
              <a:t>实验 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C645E81-5597-4D66-A4A0-ED44A47235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9420A9C-1754-4575-AC0F-401219E048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031" name="直接连接符 6">
            <a:extLst>
              <a:ext uri="{FF2B5EF4-FFF2-40B4-BE49-F238E27FC236}">
                <a16:creationId xmlns:a16="http://schemas.microsoft.com/office/drawing/2014/main" id="{5A8D0E43-F2AB-4E72-846E-C974FDBBA2A4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6210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1" r:id="rId1"/>
    <p:sldLayoutId id="2147484542" r:id="rId2"/>
    <p:sldLayoutId id="2147484543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69DC65E-DCF1-4C5E-B880-24C21C606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10ED4D-6394-43DA-8518-47EC71A2F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CDCAA36-D4D3-49AE-8497-85FFF6962A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0EA5FDDD-849C-4547-A8A8-95428BD15922}" type="datetime1">
              <a:rPr lang="zh-CN" altLang="en-US" smtClean="0"/>
              <a:t>2024/11/14</a:t>
            </a:fld>
            <a:endParaRPr lang="zh-CN" altLang="en-US" dirty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77B012-8A92-4111-8FED-B5FD2B020D6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1800" y="6245225"/>
            <a:ext cx="358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2023</a:t>
            </a:r>
            <a:r>
              <a:rPr lang="zh-CN" altLang="en-US"/>
              <a:t>春</a:t>
            </a:r>
            <a:r>
              <a:rPr lang="en-US" altLang="zh-CN"/>
              <a:t>_</a:t>
            </a:r>
            <a:r>
              <a:rPr lang="zh-CN" altLang="en-US"/>
              <a:t>计算机组成原理</a:t>
            </a:r>
            <a:r>
              <a:rPr lang="en-US" altLang="zh-CN"/>
              <a:t>(C)</a:t>
            </a:r>
            <a:r>
              <a:rPr lang="zh-CN" altLang="en-US"/>
              <a:t>实验 </a:t>
            </a:r>
            <a:endParaRPr lang="zh-CN" altLang="en-US" dirty="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9C16803-6D3E-4C67-A4B0-D403BC3B0E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3D8A974-593B-4EE6-8384-6C2B92CB7F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031" name="直接连接符 6">
            <a:extLst>
              <a:ext uri="{FF2B5EF4-FFF2-40B4-BE49-F238E27FC236}">
                <a16:creationId xmlns:a16="http://schemas.microsoft.com/office/drawing/2014/main" id="{4E1A8A3C-4F97-4FBA-9D78-6120364E651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2452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779838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5" r:id="rId1"/>
    <p:sldLayoutId id="2147484546" r:id="rId2"/>
    <p:sldLayoutId id="2147484547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6716CA5F-F192-494D-B51A-74E411609A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数字逻辑设计进阶实验</a:t>
            </a:r>
            <a:endParaRPr lang="zh-CN" altLang="en-US" dirty="0"/>
          </a:p>
        </p:txBody>
      </p:sp>
      <p:sp>
        <p:nvSpPr>
          <p:cNvPr id="5123" name="副标题 2">
            <a:extLst>
              <a:ext uri="{FF2B5EF4-FFF2-40B4-BE49-F238E27FC236}">
                <a16:creationId xmlns:a16="http://schemas.microsoft.com/office/drawing/2014/main" id="{2A0A3C03-EF5D-46C4-B6A5-8DE0E6C353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实验四  寄存器堆与存储器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050897AF-4D61-47CE-B68E-3C58EFEED78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7CEB62AF-A023-4AF8-B410-7C675ED4DC31}"/>
              </a:ext>
            </a:extLst>
          </p:cNvPr>
          <p:cNvSpPr txBox="1">
            <a:spLocks noChangeArrowheads="1"/>
          </p:cNvSpPr>
          <p:nvPr/>
        </p:nvSpPr>
        <p:spPr>
          <a:xfrm>
            <a:off x="7086600" y="6381750"/>
            <a:ext cx="1600200" cy="3397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2" name="页脚占位符 5">
            <a:extLst>
              <a:ext uri="{FF2B5EF4-FFF2-40B4-BE49-F238E27FC236}">
                <a16:creationId xmlns:a16="http://schemas.microsoft.com/office/drawing/2014/main" id="{A722839D-0C5F-465A-ABF3-B028D11F1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A9C552A-E099-4805-8F86-8B63933F3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</a:p>
        </p:txBody>
      </p:sp>
      <p:sp>
        <p:nvSpPr>
          <p:cNvPr id="8198" name="内容占位符 1">
            <a:extLst>
              <a:ext uri="{FF2B5EF4-FFF2-40B4-BE49-F238E27FC236}">
                <a16:creationId xmlns:a16="http://schemas.microsoft.com/office/drawing/2014/main" id="{DE3B3327-D4F7-443B-96A5-A9F133E28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039236" cy="47212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dirty="0"/>
              <a:t>掌握</a:t>
            </a:r>
            <a:r>
              <a:rPr lang="zh-CN" altLang="en-US" sz="2400"/>
              <a:t>寄存器堆和存储器的</a:t>
            </a:r>
            <a:r>
              <a:rPr lang="zh-CN" altLang="en-US" sz="2400" dirty="0"/>
              <a:t>功能</a:t>
            </a:r>
            <a:r>
              <a:rPr lang="zh-CN" altLang="en-US" sz="2400"/>
              <a:t>及其应用</a:t>
            </a:r>
            <a:endParaRPr lang="en-US" altLang="zh-CN" sz="2400"/>
          </a:p>
          <a:p>
            <a:pPr>
              <a:spcBef>
                <a:spcPts val="600"/>
              </a:spcBef>
            </a:pPr>
            <a:r>
              <a:rPr lang="zh-CN" altLang="en-US" sz="2400"/>
              <a:t>掌握存储器</a:t>
            </a:r>
            <a:r>
              <a:rPr lang="en-US" altLang="zh-CN" sz="2400"/>
              <a:t>IP</a:t>
            </a:r>
            <a:r>
              <a:rPr lang="zh-CN" altLang="en-US" sz="2400"/>
              <a:t>核的使用，分布式与块式存储器的区别，以及存储器的读写时序</a:t>
            </a:r>
            <a:endParaRPr lang="en-US" altLang="zh-CN" sz="2400"/>
          </a:p>
          <a:p>
            <a:pPr>
              <a:spcBef>
                <a:spcPts val="600"/>
              </a:spcBef>
            </a:pPr>
            <a:r>
              <a:rPr lang="zh-CN" altLang="en-US" sz="2400"/>
              <a:t>掌握</a:t>
            </a:r>
            <a:r>
              <a:rPr lang="zh-CN" altLang="en-US" sz="2400" dirty="0"/>
              <a:t>数字系统的数据通路和控制器的设计方法</a:t>
            </a:r>
            <a:endParaRPr lang="en-US" altLang="zh-CN" sz="2400" dirty="0"/>
          </a:p>
          <a:p>
            <a:pPr>
              <a:spcBef>
                <a:spcPts val="600"/>
              </a:spcBef>
            </a:pPr>
            <a:r>
              <a:rPr lang="zh-CN" altLang="en-US" sz="2400" dirty="0"/>
              <a:t>熟练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描述组合和时序逻辑电路的方法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熟练掌握利用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工具，进行逻辑电路的设计、仿真、调试、下载测试等基本方法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400" b="1" dirty="0"/>
              <a:t>熟练掌握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查看生成电路及其性能和资源使用情况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E3780449-5446-4553-AC4C-2DDE50C33E5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灯片编号占位符 4">
            <a:extLst>
              <a:ext uri="{FF2B5EF4-FFF2-40B4-BE49-F238E27FC236}">
                <a16:creationId xmlns:a16="http://schemas.microsoft.com/office/drawing/2014/main" id="{70714A48-1FA9-440B-9E80-34A52B5B5A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5" name="页脚占位符 5">
            <a:extLst>
              <a:ext uri="{FF2B5EF4-FFF2-40B4-BE49-F238E27FC236}">
                <a16:creationId xmlns:a16="http://schemas.microsoft.com/office/drawing/2014/main" id="{699F6C6D-9731-4319-874C-40C5F9DDE95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xfrm>
            <a:off x="2590800" y="6381750"/>
            <a:ext cx="4419600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>
            <a:extLst>
              <a:ext uri="{FF2B5EF4-FFF2-40B4-BE49-F238E27FC236}">
                <a16:creationId xmlns:a16="http://schemas.microsoft.com/office/drawing/2014/main" id="{0E147B1E-9D9A-42D5-93CF-7BD6D265E1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1" y="1341439"/>
            <a:ext cx="8002799" cy="4859869"/>
          </a:xfrm>
        </p:spPr>
        <p:txBody>
          <a:bodyPr/>
          <a:lstStyle/>
          <a:p>
            <a:pPr marL="358775" indent="-358775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/>
              <a:t>分布式和块式存储器</a:t>
            </a:r>
            <a:endParaRPr lang="en-US" altLang="zh-CN" sz="2400"/>
          </a:p>
          <a:p>
            <a:pPr marL="758825" lvl="1" indent="-358775">
              <a:spcBef>
                <a:spcPts val="600"/>
              </a:spcBef>
              <a:spcAft>
                <a:spcPts val="600"/>
              </a:spcAft>
              <a:buFont typeface="微软雅黑" panose="020B0503020204020204" pitchFamily="34" charset="-122"/>
              <a:buChar char="−"/>
            </a:pPr>
            <a:r>
              <a:rPr lang="zh-CN" altLang="en-US" sz="2000"/>
              <a:t>单端口</a:t>
            </a:r>
            <a:r>
              <a:rPr lang="en-US" altLang="zh-CN" sz="2000"/>
              <a:t>RAM</a:t>
            </a:r>
            <a:r>
              <a:rPr lang="zh-CN" altLang="en-US" sz="2000"/>
              <a:t>，容量</a:t>
            </a:r>
            <a:r>
              <a:rPr lang="en-US" altLang="zh-CN" sz="2000"/>
              <a:t>1024 x 32</a:t>
            </a:r>
          </a:p>
          <a:p>
            <a:pPr marL="758825" lvl="1" indent="-358775">
              <a:spcBef>
                <a:spcPts val="600"/>
              </a:spcBef>
              <a:spcAft>
                <a:spcPts val="600"/>
              </a:spcAft>
              <a:buFont typeface="微软雅黑" panose="020B0503020204020204" pitchFamily="34" charset="-122"/>
              <a:buChar char="−"/>
            </a:pPr>
            <a:r>
              <a:rPr lang="en-US" altLang="zh-CN" sz="2000"/>
              <a:t>IP</a:t>
            </a:r>
            <a:r>
              <a:rPr lang="zh-CN" altLang="en-US" sz="2000"/>
              <a:t>例化和</a:t>
            </a:r>
            <a:r>
              <a:rPr lang="en-US" altLang="zh-CN" sz="2000"/>
              <a:t>Verilog</a:t>
            </a:r>
            <a:r>
              <a:rPr lang="zh-CN" altLang="en-US" sz="2000"/>
              <a:t>参数化描述</a:t>
            </a:r>
            <a:endParaRPr lang="en-US" altLang="zh-CN" sz="2000"/>
          </a:p>
          <a:p>
            <a:pPr marL="758825" lvl="1" indent="-358775">
              <a:spcBef>
                <a:spcPts val="600"/>
              </a:spcBef>
              <a:spcAft>
                <a:spcPts val="600"/>
              </a:spcAft>
              <a:buFont typeface="微软雅黑" panose="020B0503020204020204" pitchFamily="34" charset="-122"/>
              <a:buChar char="−"/>
            </a:pPr>
            <a:r>
              <a:rPr lang="zh-CN" altLang="en-US" sz="2000"/>
              <a:t>比较实现后 </a:t>
            </a:r>
            <a:r>
              <a:rPr lang="en-US" altLang="zh-CN" sz="2000"/>
              <a:t>(Post-Implementation) </a:t>
            </a:r>
            <a:r>
              <a:rPr lang="zh-CN" altLang="en-US" sz="2000"/>
              <a:t>的时序 </a:t>
            </a:r>
            <a:r>
              <a:rPr lang="en-US" altLang="zh-CN" sz="2000"/>
              <a:t>(Timing) </a:t>
            </a:r>
            <a:r>
              <a:rPr lang="zh-CN" altLang="en-US" sz="2000"/>
              <a:t>仿真、资源</a:t>
            </a:r>
            <a:r>
              <a:rPr lang="en-US" altLang="zh-CN" sz="2000"/>
              <a:t>(Utilization) </a:t>
            </a:r>
            <a:r>
              <a:rPr lang="zh-CN" altLang="en-US" sz="2000"/>
              <a:t>和性能 </a:t>
            </a:r>
            <a:r>
              <a:rPr lang="en-US" altLang="zh-CN" sz="2000"/>
              <a:t>(Timing)</a:t>
            </a:r>
            <a:r>
              <a:rPr lang="zh-CN" altLang="en-US" sz="2000"/>
              <a:t>报告</a:t>
            </a:r>
            <a:endParaRPr lang="en-US" altLang="zh-CN" sz="2000"/>
          </a:p>
          <a:p>
            <a:pPr marL="358775" indent="-358775">
              <a:spcBef>
                <a:spcPts val="12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/>
              <a:t>先进先出 </a:t>
            </a:r>
            <a:r>
              <a:rPr lang="en-US" altLang="zh-CN" sz="2400" b="0"/>
              <a:t>(First In First Out, FIFO)</a:t>
            </a:r>
            <a:r>
              <a:rPr lang="zh-CN" altLang="en-US" sz="2400" b="0"/>
              <a:t> </a:t>
            </a:r>
            <a:r>
              <a:rPr lang="zh-CN" altLang="en-US" sz="2400"/>
              <a:t>队列</a:t>
            </a:r>
            <a:endParaRPr lang="en-US" altLang="zh-CN" sz="2400"/>
          </a:p>
          <a:p>
            <a:pPr marL="758825" lvl="1" indent="-358775">
              <a:spcBef>
                <a:spcPts val="600"/>
              </a:spcBef>
              <a:spcAft>
                <a:spcPts val="600"/>
              </a:spcAft>
            </a:pPr>
            <a:r>
              <a:rPr lang="zh-CN" altLang="en-US" sz="2000"/>
              <a:t>功能仿真：</a:t>
            </a:r>
            <a:r>
              <a:rPr lang="en-US" altLang="zh-CN" sz="2000"/>
              <a:t>IP</a:t>
            </a:r>
            <a:r>
              <a:rPr lang="zh-CN" altLang="en-US" sz="2000"/>
              <a:t>例化，容量</a:t>
            </a:r>
            <a:r>
              <a:rPr lang="en-US" altLang="zh-CN" sz="2000"/>
              <a:t>16x16</a:t>
            </a:r>
          </a:p>
          <a:p>
            <a:pPr marL="758825" lvl="1" indent="-358775">
              <a:spcBef>
                <a:spcPts val="600"/>
              </a:spcBef>
              <a:spcAft>
                <a:spcPts val="600"/>
              </a:spcAft>
            </a:pPr>
            <a:r>
              <a:rPr lang="zh-CN" altLang="en-US" sz="2000"/>
              <a:t>下载测试：使用</a:t>
            </a:r>
            <a:r>
              <a:rPr lang="en-US" altLang="zh-CN" sz="2000"/>
              <a:t>3</a:t>
            </a:r>
            <a:r>
              <a:rPr lang="zh-CN" altLang="en-US" sz="2000"/>
              <a:t>端口寄存器堆实现，容量</a:t>
            </a:r>
            <a:r>
              <a:rPr lang="en-US" altLang="zh-CN" sz="2000"/>
              <a:t>8x16</a:t>
            </a:r>
          </a:p>
          <a:p>
            <a:pPr marL="758825" lvl="1" indent="-358775">
              <a:spcBef>
                <a:spcPts val="600"/>
              </a:spcBef>
              <a:spcAft>
                <a:spcPts val="600"/>
              </a:spcAft>
            </a:pPr>
            <a:endParaRPr lang="en-US" altLang="zh-CN" sz="2000"/>
          </a:p>
          <a:p>
            <a:pPr marL="758825" lvl="1" indent="-358775">
              <a:spcBef>
                <a:spcPts val="0"/>
              </a:spcBef>
              <a:spcAft>
                <a:spcPts val="600"/>
              </a:spcAft>
            </a:pPr>
            <a:endParaRPr lang="en-US" altLang="zh-CN" sz="2400" b="1"/>
          </a:p>
        </p:txBody>
      </p:sp>
      <p:sp>
        <p:nvSpPr>
          <p:cNvPr id="29699" name="标题 1">
            <a:extLst>
              <a:ext uri="{FF2B5EF4-FFF2-40B4-BE49-F238E27FC236}">
                <a16:creationId xmlns:a16="http://schemas.microsoft.com/office/drawing/2014/main" id="{9B090555-F78C-49FA-9FFA-805592AB5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D24D2AA-F62E-4C46-9E59-851FFFB8EDE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1B0B3339-5662-4D21-AF0A-DD850AB42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3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83D2182D-CD44-46AC-B102-B09891734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78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0FABA849-7FF9-4A1B-9FA9-A2F92A6D5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寄存器堆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B67040-3E91-4A68-ADC8-AB37CA99C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7514899" cy="5040312"/>
          </a:xfrm>
        </p:spPr>
        <p:txBody>
          <a:bodyPr/>
          <a:lstStyle/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/>
              <a:t>module  reg_</a:t>
            </a:r>
            <a:r>
              <a:rPr lang="en-US" altLang="zh-CN" sz="1800" b="0" dirty="0" err="1"/>
              <a:t>file</a:t>
            </a:r>
            <a:r>
              <a:rPr lang="en-US" altLang="zh-CN" sz="1800" b="0" dirty="0"/>
              <a:t> # (</a:t>
            </a:r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</a:t>
            </a:r>
            <a:r>
              <a:rPr lang="en-US" altLang="zh-CN" sz="1800" b="0"/>
              <a:t>parameter ADDR_WIDTH  </a:t>
            </a:r>
            <a:r>
              <a:rPr lang="en-US" altLang="zh-CN" sz="1800" b="0" dirty="0"/>
              <a:t>= 5,</a:t>
            </a:r>
            <a:r>
              <a:rPr lang="en-US" altLang="zh-CN" sz="1800" b="0"/>
              <a:t>	       //</a:t>
            </a:r>
            <a:r>
              <a:rPr lang="zh-CN" altLang="en-US" sz="1800" b="0" dirty="0"/>
              <a:t>地址宽度</a:t>
            </a:r>
            <a:endParaRPr lang="en-US" altLang="zh-CN" sz="1800" b="0" dirty="0"/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</a:t>
            </a:r>
            <a:r>
              <a:rPr lang="en-US" altLang="zh-CN" sz="1800" b="0"/>
              <a:t>parameter DATA_WIDTH  = 32	       //</a:t>
            </a:r>
            <a:r>
              <a:rPr lang="zh-CN" altLang="en-US" sz="1800" b="0" dirty="0"/>
              <a:t>数据宽度</a:t>
            </a:r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)(</a:t>
            </a:r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</a:t>
            </a:r>
            <a:r>
              <a:rPr lang="en-US" altLang="zh-CN" sz="1800" b="0"/>
              <a:t>input  clk</a:t>
            </a:r>
            <a:r>
              <a:rPr lang="en-US" altLang="zh-CN" sz="1800" b="0" dirty="0"/>
              <a:t>,		</a:t>
            </a:r>
            <a:r>
              <a:rPr lang="en-US" altLang="zh-CN" sz="1800" b="0"/>
              <a:t>	        //</a:t>
            </a:r>
            <a:r>
              <a:rPr lang="zh-CN" altLang="en-US" sz="1800" b="0" dirty="0"/>
              <a:t>时钟</a:t>
            </a:r>
            <a:endParaRPr lang="en-US" altLang="zh-CN" sz="1800" b="0" dirty="0"/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</a:t>
            </a:r>
            <a:r>
              <a:rPr lang="en-US" altLang="zh-CN" sz="1800" b="0"/>
              <a:t>input [ADDR_WIDTH -</a:t>
            </a:r>
            <a:r>
              <a:rPr lang="en-US" altLang="zh-CN" sz="1800" b="0" dirty="0"/>
              <a:t>1:0</a:t>
            </a:r>
            <a:r>
              <a:rPr lang="en-US" altLang="zh-CN" sz="1800" b="0"/>
              <a:t>]  ra0</a:t>
            </a:r>
            <a:r>
              <a:rPr lang="en-US" altLang="zh-CN" sz="1800" b="0" dirty="0"/>
              <a:t>, </a:t>
            </a:r>
            <a:r>
              <a:rPr lang="en-US" altLang="zh-CN" sz="1800" b="0"/>
              <a:t>ra1,      //</a:t>
            </a:r>
            <a:r>
              <a:rPr lang="zh-CN" altLang="en-US" sz="1800" b="0" dirty="0"/>
              <a:t>读地址</a:t>
            </a:r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</a:t>
            </a:r>
            <a:r>
              <a:rPr lang="en-US" altLang="zh-CN" sz="1800" b="0"/>
              <a:t>output [DATA_WIDTH -</a:t>
            </a:r>
            <a:r>
              <a:rPr lang="en-US" altLang="zh-CN" sz="1800" b="0" dirty="0"/>
              <a:t>1:0</a:t>
            </a:r>
            <a:r>
              <a:rPr lang="en-US" altLang="zh-CN" sz="1800" b="0"/>
              <a:t>]  rd0, rd1,    //</a:t>
            </a:r>
            <a:r>
              <a:rPr lang="zh-CN" altLang="en-US" sz="1800" b="0" dirty="0"/>
              <a:t>读数据</a:t>
            </a:r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</a:t>
            </a:r>
            <a:r>
              <a:rPr lang="en-US" altLang="zh-CN" sz="1800" b="0"/>
              <a:t>input [ADDR_WIDTH -</a:t>
            </a:r>
            <a:r>
              <a:rPr lang="en-US" altLang="zh-CN" sz="1800" b="0" dirty="0"/>
              <a:t>1:0</a:t>
            </a:r>
            <a:r>
              <a:rPr lang="en-US" altLang="zh-CN" sz="1800" b="0"/>
              <a:t>]  wa</a:t>
            </a:r>
            <a:r>
              <a:rPr lang="en-US" altLang="zh-CN" sz="1800" b="0" dirty="0"/>
              <a:t>, </a:t>
            </a:r>
            <a:r>
              <a:rPr lang="en-US" altLang="zh-CN" sz="1800" b="0"/>
              <a:t>	       //</a:t>
            </a:r>
            <a:r>
              <a:rPr lang="zh-CN" altLang="en-US" sz="1800" b="0" dirty="0"/>
              <a:t>写地址</a:t>
            </a:r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</a:t>
            </a:r>
            <a:r>
              <a:rPr lang="en-US" altLang="zh-CN" sz="1800" b="0"/>
              <a:t>input [DATA_WIDTH -</a:t>
            </a:r>
            <a:r>
              <a:rPr lang="en-US" altLang="zh-CN" sz="1800" b="0" dirty="0"/>
              <a:t>1:0</a:t>
            </a:r>
            <a:r>
              <a:rPr lang="en-US" altLang="zh-CN" sz="1800" b="0"/>
              <a:t>]  wd</a:t>
            </a:r>
            <a:r>
              <a:rPr lang="en-US" altLang="zh-CN" sz="1800" b="0" dirty="0"/>
              <a:t>,</a:t>
            </a:r>
            <a:r>
              <a:rPr lang="en-US" altLang="zh-CN" sz="1800" b="0"/>
              <a:t>	       //</a:t>
            </a:r>
            <a:r>
              <a:rPr lang="zh-CN" altLang="en-US" sz="1800" b="0" dirty="0"/>
              <a:t>写数据</a:t>
            </a:r>
            <a:endParaRPr lang="en-US" altLang="zh-CN" sz="1800" b="0" dirty="0"/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</a:t>
            </a:r>
            <a:r>
              <a:rPr lang="en-US" altLang="zh-CN" sz="1800" b="0"/>
              <a:t>input  we</a:t>
            </a:r>
            <a:r>
              <a:rPr lang="en-US" altLang="zh-CN" sz="1800" b="0" dirty="0"/>
              <a:t>		</a:t>
            </a:r>
            <a:r>
              <a:rPr lang="en-US" altLang="zh-CN" sz="1800" b="0"/>
              <a:t>	       //</a:t>
            </a:r>
            <a:r>
              <a:rPr lang="zh-CN" altLang="en-US" sz="1800" b="0" dirty="0"/>
              <a:t>写使能</a:t>
            </a:r>
            <a:endParaRPr lang="en-US" altLang="zh-CN" sz="1800" b="0" dirty="0"/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);</a:t>
            </a:r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</a:t>
            </a:r>
            <a:r>
              <a:rPr lang="en-US" altLang="zh-CN" sz="1800" b="0"/>
              <a:t>reg [DATA_WIDTH -</a:t>
            </a:r>
            <a:r>
              <a:rPr lang="en-US" altLang="zh-CN" sz="1800" b="0" dirty="0"/>
              <a:t>1:0</a:t>
            </a:r>
            <a:r>
              <a:rPr lang="en-US" altLang="zh-CN" sz="1800" b="0"/>
              <a:t>]  rf </a:t>
            </a:r>
            <a:r>
              <a:rPr lang="en-US" altLang="zh-CN" sz="1800" b="0" dirty="0"/>
              <a:t>[0: (</a:t>
            </a:r>
            <a:r>
              <a:rPr lang="en-US" altLang="zh-CN" sz="1800" b="0"/>
              <a:t>1&lt;&lt;ADDR_WIDTH) - 1];    //</a:t>
            </a:r>
            <a:r>
              <a:rPr lang="zh-CN" altLang="en-US" sz="1800" b="0"/>
              <a:t>寄存器堆</a:t>
            </a:r>
            <a:endParaRPr lang="en-US" altLang="zh-CN" sz="1800" b="0"/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en-US" altLang="zh-CN" sz="1000" b="0" dirty="0"/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assign rd0 = rf[</a:t>
            </a:r>
            <a:r>
              <a:rPr lang="en-US" altLang="zh-CN" sz="1800" b="0"/>
              <a:t>ra0],	//</a:t>
            </a:r>
            <a:r>
              <a:rPr lang="zh-CN" altLang="en-US" sz="1800" b="0"/>
              <a:t>读操作</a:t>
            </a:r>
            <a:endParaRPr lang="en-US" altLang="zh-CN" sz="1800" b="0"/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/>
              <a:t>               rd1 = rf[ra1];</a:t>
            </a:r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en-US" altLang="zh-CN" sz="1000" b="0" dirty="0"/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always  @ (</a:t>
            </a:r>
            <a:r>
              <a:rPr lang="en-US" altLang="zh-CN" sz="1800" b="0" dirty="0" err="1"/>
              <a:t>posedeg</a:t>
            </a:r>
            <a:r>
              <a:rPr lang="en-US" altLang="zh-CN" sz="1800" b="0" dirty="0"/>
              <a:t>  </a:t>
            </a:r>
            <a:r>
              <a:rPr lang="en-US" altLang="zh-CN" sz="1800" b="0" dirty="0" err="1"/>
              <a:t>clk</a:t>
            </a:r>
            <a:r>
              <a:rPr lang="en-US" altLang="zh-CN" sz="1800" b="0" dirty="0"/>
              <a:t>)</a:t>
            </a:r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/>
              <a:t>        if (we)  rf[</a:t>
            </a:r>
            <a:r>
              <a:rPr lang="en-US" altLang="zh-CN" sz="1800" b="0" dirty="0" err="1"/>
              <a:t>wa</a:t>
            </a:r>
            <a:r>
              <a:rPr lang="en-US" altLang="zh-CN" sz="1800" b="0" dirty="0"/>
              <a:t>]  &lt;=  </a:t>
            </a:r>
            <a:r>
              <a:rPr lang="en-US" altLang="zh-CN" sz="1800" b="0"/>
              <a:t>wd;	//</a:t>
            </a:r>
            <a:r>
              <a:rPr lang="zh-CN" altLang="en-US" sz="1800" b="0"/>
              <a:t>写操作</a:t>
            </a:r>
            <a:endParaRPr lang="en-US" altLang="zh-CN" sz="1800" b="0"/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en-US" altLang="zh-CN" sz="1000" b="0" dirty="0"/>
          </a:p>
          <a:p>
            <a:pPr marL="0" indent="0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800" b="0" dirty="0" err="1"/>
              <a:t>endmodule</a:t>
            </a:r>
            <a:endParaRPr lang="en-US" altLang="zh-CN" sz="1800" b="0" dirty="0"/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/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12743182-9C8F-4452-B0E3-CDBEC163CE9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53664187-9CFF-479D-81BB-1DF85DECB078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197" name="灯片编号占位符 4">
            <a:extLst>
              <a:ext uri="{FF2B5EF4-FFF2-40B4-BE49-F238E27FC236}">
                <a16:creationId xmlns:a16="http://schemas.microsoft.com/office/drawing/2014/main" id="{DC748F01-3F5D-47D7-B3F0-89B9E1BC9E9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CEDDC71D-9259-4276-B2D6-BDAAE25924EA}" type="slidenum">
              <a:rPr lang="en-US" altLang="zh-CN" sz="1800" b="0" smtClean="0"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4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8198" name="页脚占位符 5">
            <a:extLst>
              <a:ext uri="{FF2B5EF4-FFF2-40B4-BE49-F238E27FC236}">
                <a16:creationId xmlns:a16="http://schemas.microsoft.com/office/drawing/2014/main" id="{801C70E7-FC2E-45C2-BD6A-84AA64F5A04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grpSp>
        <p:nvGrpSpPr>
          <p:cNvPr id="8199" name="组合 146">
            <a:extLst>
              <a:ext uri="{FF2B5EF4-FFF2-40B4-BE49-F238E27FC236}">
                <a16:creationId xmlns:a16="http://schemas.microsoft.com/office/drawing/2014/main" id="{DCACAE41-03B7-48C6-B777-D1676340D2AE}"/>
              </a:ext>
            </a:extLst>
          </p:cNvPr>
          <p:cNvGrpSpPr>
            <a:grpSpLocks/>
          </p:cNvGrpSpPr>
          <p:nvPr/>
        </p:nvGrpSpPr>
        <p:grpSpPr bwMode="auto">
          <a:xfrm>
            <a:off x="6372225" y="1543050"/>
            <a:ext cx="2016125" cy="1957388"/>
            <a:chOff x="1219044" y="3076344"/>
            <a:chExt cx="2067191" cy="1823857"/>
          </a:xfrm>
        </p:grpSpPr>
        <p:sp>
          <p:nvSpPr>
            <p:cNvPr id="8200" name="文本框 149">
              <a:extLst>
                <a:ext uri="{FF2B5EF4-FFF2-40B4-BE49-F238E27FC236}">
                  <a16:creationId xmlns:a16="http://schemas.microsoft.com/office/drawing/2014/main" id="{6CD04C65-FF37-4043-8D82-F8D208F2D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8493" y="3106919"/>
              <a:ext cx="1174773" cy="179328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RF</a:t>
              </a:r>
              <a:endParaRPr lang="zh-CN" altLang="en-US" sz="2000" b="0"/>
            </a:p>
          </p:txBody>
        </p:sp>
        <p:sp>
          <p:nvSpPr>
            <p:cNvPr id="8201" name="TextBox 32">
              <a:extLst>
                <a:ext uri="{FF2B5EF4-FFF2-40B4-BE49-F238E27FC236}">
                  <a16:creationId xmlns:a16="http://schemas.microsoft.com/office/drawing/2014/main" id="{4F33E701-249A-4561-8952-68EF595866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456" y="4518190"/>
              <a:ext cx="312586" cy="284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clk</a:t>
              </a:r>
              <a:endParaRPr lang="zh-CN" altLang="en-US" sz="2000" b="0"/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EAE416D-3BB7-41CE-BAAF-B9BF8212899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20672" y="4691633"/>
              <a:ext cx="44762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03" name="文本框 154">
              <a:extLst>
                <a:ext uri="{FF2B5EF4-FFF2-40B4-BE49-F238E27FC236}">
                  <a16:creationId xmlns:a16="http://schemas.microsoft.com/office/drawing/2014/main" id="{A0F9EF37-07FD-4637-9975-638DAF225D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884" y="3076344"/>
              <a:ext cx="524672" cy="40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lnSpc>
                  <a:spcPts val="29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ra0</a:t>
              </a:r>
            </a:p>
          </p:txBody>
        </p:sp>
        <p:sp>
          <p:nvSpPr>
            <p:cNvPr id="8204" name="文本框 155">
              <a:extLst>
                <a:ext uri="{FF2B5EF4-FFF2-40B4-BE49-F238E27FC236}">
                  <a16:creationId xmlns:a16="http://schemas.microsoft.com/office/drawing/2014/main" id="{F27DE3F7-2573-492C-8F37-39386C055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9975" y="4027393"/>
              <a:ext cx="539465" cy="40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>
                <a:lnSpc>
                  <a:spcPts val="29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rd1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157A1CD6-1DD7-4562-99F2-ABEB994F93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20672" y="3324850"/>
              <a:ext cx="4476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6236FF61-F29D-4739-B2A5-6350CCC32A7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38615" y="4284853"/>
              <a:ext cx="4476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07" name="文本框 159">
              <a:extLst>
                <a:ext uri="{FF2B5EF4-FFF2-40B4-BE49-F238E27FC236}">
                  <a16:creationId xmlns:a16="http://schemas.microsoft.com/office/drawing/2014/main" id="{A7EFD10B-A9C2-402A-B328-895590D2A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1186" y="3493038"/>
              <a:ext cx="539465" cy="40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>
                <a:lnSpc>
                  <a:spcPts val="29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rd0</a:t>
              </a: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6C57D34-1568-4218-8D7A-75849A83A68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38615" y="3749382"/>
              <a:ext cx="4476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09" name="文本框 154">
              <a:extLst>
                <a:ext uri="{FF2B5EF4-FFF2-40B4-BE49-F238E27FC236}">
                  <a16:creationId xmlns:a16="http://schemas.microsoft.com/office/drawing/2014/main" id="{BB3C4BB7-3F53-4C87-A47F-E97D693E3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884" y="3358636"/>
              <a:ext cx="524672" cy="40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lnSpc>
                  <a:spcPts val="29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ra1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8A3645A-8E87-4E4D-80F8-6D5A111F55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20672" y="3607378"/>
              <a:ext cx="4476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11" name="文本框 154">
              <a:extLst>
                <a:ext uri="{FF2B5EF4-FFF2-40B4-BE49-F238E27FC236}">
                  <a16:creationId xmlns:a16="http://schemas.microsoft.com/office/drawing/2014/main" id="{4DD8E2CA-2752-445D-9319-4D685DFD2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9472" y="3626323"/>
              <a:ext cx="496729" cy="40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lnSpc>
                  <a:spcPts val="29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wa</a:t>
              </a: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9A9BE4B-08EA-4DF0-8C6F-D228CF207BA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19044" y="3875113"/>
              <a:ext cx="44762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13" name="文本框 154">
              <a:extLst>
                <a:ext uri="{FF2B5EF4-FFF2-40B4-BE49-F238E27FC236}">
                  <a16:creationId xmlns:a16="http://schemas.microsoft.com/office/drawing/2014/main" id="{4B0578C3-1313-4B75-9950-DD3615A380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1026" y="3908615"/>
              <a:ext cx="511522" cy="40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lnSpc>
                  <a:spcPts val="29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wd</a:t>
              </a: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7EE56950-013F-4F90-B4A5-61A0A9D0939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19044" y="4157641"/>
              <a:ext cx="44762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15" name="TextBox 32">
              <a:extLst>
                <a:ext uri="{FF2B5EF4-FFF2-40B4-BE49-F238E27FC236}">
                  <a16:creationId xmlns:a16="http://schemas.microsoft.com/office/drawing/2014/main" id="{0CB4BE8E-7A5F-4D56-B693-BF2CDDE47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3497" y="4244084"/>
              <a:ext cx="307374" cy="286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/>
                <a:t>we</a:t>
              </a:r>
              <a:endParaRPr lang="zh-CN" altLang="en-US" sz="2000" b="0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EBAD0059-37DD-4DC6-A71F-362FE8D0F70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19044" y="4417981"/>
              <a:ext cx="44762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64F59E-7262-4ABA-82E4-870212F0D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9000"/>
            <a:ext cx="8147248" cy="4904225"/>
          </a:xfrm>
        </p:spPr>
        <p:txBody>
          <a:bodyPr/>
          <a:lstStyle/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module block_ram #(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parameter DATA_WIDTH = 8,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                ADDR_WIDTH = 10,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                INIT_FILE = ""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)(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input clk,                                                       // clock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input [ADDR_WIDTH-1:0] addr,                // address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input [DATA_WIDTH-1:0] din,                  // data input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input we,                                                       // write enable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output reg</a:t>
            </a:r>
            <a:r>
              <a:rPr lang="zh-CN" altLang="en-US" sz="1800" b="0"/>
              <a:t> </a:t>
            </a:r>
            <a:r>
              <a:rPr lang="en-US" altLang="zh-CN" sz="1800" b="0"/>
              <a:t>[DATA_WIDTH-1:0] dout         // data output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); 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reg [DATA_WIDTH-1:0] bram [0: (1 &lt;&lt; ADDR_WIDTH) - 1];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endParaRPr lang="en-US" altLang="zh-CN" sz="1800" b="0"/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initial $readmemh(INIT_FILE, bram);        // initialize memory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endParaRPr lang="en-US" altLang="zh-CN" sz="1800" b="0"/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always @(posedge clk) begin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    </a:t>
            </a:r>
            <a:r>
              <a:rPr lang="en-US" altLang="zh-CN" sz="1800" b="0">
                <a:solidFill>
                  <a:srgbClr val="0070C0"/>
                </a:solidFill>
              </a:rPr>
              <a:t>dout &lt;= bram[addr];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    if (we) bram[addr] &lt;= din;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    end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endParaRPr lang="en-US" altLang="zh-CN" sz="1800" b="0"/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</a:pPr>
            <a:r>
              <a:rPr lang="en-US" altLang="zh-CN" sz="1800" b="0"/>
              <a:t>endmodule</a:t>
            </a:r>
            <a:endParaRPr lang="zh-CN" altLang="en-US" sz="1800" b="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B4BF60D-6670-4D6E-BF27-D0A2C511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000"/>
            <a:ext cx="8229600" cy="1143000"/>
          </a:xfrm>
        </p:spPr>
        <p:txBody>
          <a:bodyPr/>
          <a:lstStyle/>
          <a:p>
            <a:r>
              <a:rPr lang="zh-CN" altLang="en-US" dirty="0"/>
              <a:t>块式存储器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C51F11-A030-4C51-B82C-14B408696D72}"/>
              </a:ext>
            </a:extLst>
          </p:cNvPr>
          <p:cNvSpPr/>
          <p:nvPr/>
        </p:nvSpPr>
        <p:spPr>
          <a:xfrm>
            <a:off x="4212000" y="4727535"/>
            <a:ext cx="4402800" cy="1365465"/>
          </a:xfrm>
          <a:prstGeom prst="rect">
            <a:avLst/>
          </a:prstGeom>
          <a:ln w="12700">
            <a:solidFill>
              <a:srgbClr val="7030A0"/>
            </a:solidFill>
          </a:ln>
        </p:spPr>
        <p:txBody>
          <a:bodyPr anchor="ctr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Arial Narrow" panose="020B0606020202030204" pitchFamily="34" charset="0"/>
                <a:cs typeface="Times New Roman" panose="02020603050405020304" pitchFamily="18" charset="0"/>
              </a:rPr>
              <a:t>Flow Navigator &gt;&gt; Project Manager &gt;&gt; Language Templates</a:t>
            </a:r>
            <a:endParaRPr lang="en-US" altLang="zh-CN">
              <a:latin typeface="Arial Narrow" panose="020B0606020202030204" pitchFamily="34" charset="0"/>
              <a:cs typeface="Times New Roman" panose="02020603050405020304" pitchFamily="18" charset="0"/>
            </a:endParaRPr>
          </a:p>
          <a:p>
            <a:pPr marL="625475" lvl="1" indent="-357188">
              <a:spcBef>
                <a:spcPts val="600"/>
              </a:spcBef>
              <a:buFont typeface="微软雅黑" panose="020B0503020204020204" pitchFamily="34" charset="-122"/>
              <a:buChar char="−"/>
            </a:pPr>
            <a:r>
              <a:rPr lang="zh-CN" altLang="en-US">
                <a:latin typeface="Arial Narrow" panose="020B0606020202030204" pitchFamily="34" charset="0"/>
                <a:cs typeface="Times New Roman" panose="02020603050405020304" pitchFamily="18" charset="0"/>
              </a:rPr>
              <a:t>Verilog &gt;&gt; Synthesis Constructs &gt;&gt; Coding Examples </a:t>
            </a:r>
            <a:r>
              <a:rPr lang="en-US" altLang="zh-CN">
                <a:latin typeface="Arial Narrow" panose="020B0606020202030204" pitchFamily="34" charset="0"/>
                <a:cs typeface="Times New Roman" panose="02020603050405020304" pitchFamily="18" charset="0"/>
              </a:rPr>
              <a:t>/ </a:t>
            </a:r>
            <a:r>
              <a:rPr lang="zh-CN" altLang="en-US">
                <a:latin typeface="Arial Narrow" panose="020B0606020202030204" pitchFamily="34" charset="0"/>
                <a:cs typeface="Times New Roman" panose="02020603050405020304" pitchFamily="18" charset="0"/>
              </a:rPr>
              <a:t>Example Modules &gt;&gt; RAM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2EA16AA6-974C-46DF-A6C1-07EE6D3393E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CCB2C835-1195-4BD6-B935-5AC7A6A39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5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3" name="页脚占位符 5">
            <a:extLst>
              <a:ext uri="{FF2B5EF4-FFF2-40B4-BE49-F238E27FC236}">
                <a16:creationId xmlns:a16="http://schemas.microsoft.com/office/drawing/2014/main" id="{311F7C74-3FEB-4249-AA95-333BAB7C2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43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>
            <a:extLst>
              <a:ext uri="{FF2B5EF4-FFF2-40B4-BE49-F238E27FC236}">
                <a16:creationId xmlns:a16="http://schemas.microsoft.com/office/drawing/2014/main" id="{0DE7D04C-D2EB-435F-811F-2296D2150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zh-CN"/>
              <a:t>存储器</a:t>
            </a:r>
            <a:r>
              <a:rPr lang="en-US" altLang="zh-CN"/>
              <a:t>IP</a:t>
            </a:r>
            <a:r>
              <a:rPr lang="zh-CN" altLang="en-US"/>
              <a:t>核</a:t>
            </a:r>
          </a:p>
        </p:txBody>
      </p:sp>
      <p:sp>
        <p:nvSpPr>
          <p:cNvPr id="18435" name="内容占位符 1">
            <a:extLst>
              <a:ext uri="{FF2B5EF4-FFF2-40B4-BE49-F238E27FC236}">
                <a16:creationId xmlns:a16="http://schemas.microsoft.com/office/drawing/2014/main" id="{9B80ACA9-6422-4937-9222-A2A2B09A77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7967663" cy="460216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400"/>
              <a:t>Vivado</a:t>
            </a:r>
            <a:r>
              <a:rPr lang="zh-CN" altLang="en-US" sz="2400"/>
              <a:t>有可配置的存储器 </a:t>
            </a:r>
            <a:r>
              <a:rPr lang="en-US" altLang="zh-CN" sz="2400"/>
              <a:t>IP (Intellectual Property) </a:t>
            </a:r>
            <a:r>
              <a:rPr lang="zh-CN" altLang="en-US" sz="2400"/>
              <a:t>核</a:t>
            </a:r>
            <a:r>
              <a:rPr lang="zh-CN" altLang="en-US" sz="2400" dirty="0"/>
              <a:t>可以直接使用</a:t>
            </a:r>
          </a:p>
          <a:p>
            <a:pPr>
              <a:spcBef>
                <a:spcPts val="1200"/>
              </a:spcBef>
            </a:pPr>
            <a:r>
              <a:rPr lang="en-US" altLang="zh-CN" sz="2400" dirty="0"/>
              <a:t>IP</a:t>
            </a:r>
            <a:r>
              <a:rPr lang="zh-CN" altLang="en-US" sz="2400" dirty="0"/>
              <a:t>核类型</a:t>
            </a:r>
            <a:r>
              <a:rPr lang="zh-CN" altLang="en-US" sz="2400"/>
              <a:t>：</a:t>
            </a:r>
            <a:r>
              <a:rPr lang="zh-CN" altLang="zh-CN" sz="2400"/>
              <a:t>分布式</a:t>
            </a:r>
            <a:r>
              <a:rPr lang="en-US" altLang="zh-CN" sz="2400"/>
              <a:t> (Distributed</a:t>
            </a:r>
            <a:r>
              <a:rPr lang="en-US" altLang="zh-CN" sz="2400" dirty="0"/>
              <a:t>)</a:t>
            </a:r>
            <a:r>
              <a:rPr lang="zh-CN" altLang="en-US" sz="2400"/>
              <a:t>、</a:t>
            </a:r>
            <a:r>
              <a:rPr lang="zh-CN" altLang="zh-CN" sz="2400"/>
              <a:t>块式</a:t>
            </a:r>
            <a:r>
              <a:rPr lang="en-US" altLang="zh-CN" sz="2400"/>
              <a:t> (Block) </a:t>
            </a:r>
            <a:r>
              <a:rPr lang="zh-CN" altLang="en-US" sz="2400"/>
              <a:t>存储器</a:t>
            </a:r>
            <a:endParaRPr lang="en-US" altLang="zh-CN" sz="2400" dirty="0"/>
          </a:p>
          <a:p>
            <a:pPr>
              <a:spcBef>
                <a:spcPts val="1200"/>
              </a:spcBef>
            </a:pPr>
            <a:r>
              <a:rPr lang="zh-CN" altLang="en-US" sz="2400" dirty="0"/>
              <a:t>存储器类型：</a:t>
            </a:r>
            <a:r>
              <a:rPr lang="en-US" altLang="zh-CN" sz="2400" dirty="0"/>
              <a:t>ROM/RAM</a:t>
            </a:r>
            <a:r>
              <a:rPr lang="zh-CN" altLang="zh-CN" sz="2400" dirty="0"/>
              <a:t>、单端口</a:t>
            </a:r>
            <a:r>
              <a:rPr lang="en-US" altLang="zh-CN" sz="2400" dirty="0"/>
              <a:t>/</a:t>
            </a:r>
            <a:r>
              <a:rPr lang="zh-CN" altLang="zh-CN" sz="2400" dirty="0"/>
              <a:t>简单双端口</a:t>
            </a:r>
            <a:r>
              <a:rPr lang="en-US" altLang="zh-CN" sz="2400" dirty="0"/>
              <a:t>/</a:t>
            </a:r>
            <a:r>
              <a:rPr lang="zh-CN" altLang="zh-CN" sz="2400" dirty="0"/>
              <a:t>真正双端口等</a:t>
            </a:r>
            <a:endParaRPr lang="en-US" altLang="zh-CN" sz="2400" dirty="0"/>
          </a:p>
          <a:p>
            <a:pPr>
              <a:spcBef>
                <a:spcPts val="1200"/>
              </a:spcBef>
            </a:pPr>
            <a:endParaRPr lang="zh-CN" altLang="en-US" dirty="0"/>
          </a:p>
        </p:txBody>
      </p:sp>
      <p:sp>
        <p:nvSpPr>
          <p:cNvPr id="39940" name="日期占位符 3">
            <a:extLst>
              <a:ext uri="{FF2B5EF4-FFF2-40B4-BE49-F238E27FC236}">
                <a16:creationId xmlns:a16="http://schemas.microsoft.com/office/drawing/2014/main" id="{D7923DED-DE48-4E84-961D-EB6C4D26E18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151734-684A-441B-A7C8-84EDC93388FC}" type="datetime1">
              <a:rPr lang="zh-CN" altLang="en-US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9941" name="灯片编号占位符 4">
            <a:extLst>
              <a:ext uri="{FF2B5EF4-FFF2-40B4-BE49-F238E27FC236}">
                <a16:creationId xmlns:a16="http://schemas.microsoft.com/office/drawing/2014/main" id="{81F2062C-50B9-40BD-8B27-E761702B4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3160364-3514-4951-A339-67AE8AFE6D51}" type="slidenum">
              <a:rPr lang="en-US" altLang="zh-CN" sz="1800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39942" name="页脚占位符 5">
            <a:extLst>
              <a:ext uri="{FF2B5EF4-FFF2-40B4-BE49-F238E27FC236}">
                <a16:creationId xmlns:a16="http://schemas.microsoft.com/office/drawing/2014/main" id="{EB1FF309-79D1-46B6-A0F7-3135EC658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>
            <a:extLst>
              <a:ext uri="{FF2B5EF4-FFF2-40B4-BE49-F238E27FC236}">
                <a16:creationId xmlns:a16="http://schemas.microsoft.com/office/drawing/2014/main" id="{E34221BD-6F28-4779-8D1F-44E5092C8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存储器</a:t>
            </a:r>
            <a:r>
              <a:rPr lang="en-US" altLang="zh-CN"/>
              <a:t>IP</a:t>
            </a:r>
            <a:r>
              <a:rPr lang="zh-CN" altLang="en-US"/>
              <a:t>核配置</a:t>
            </a:r>
            <a:endParaRPr lang="zh-CN" altLang="en-US" dirty="0"/>
          </a:p>
        </p:txBody>
      </p:sp>
      <p:sp>
        <p:nvSpPr>
          <p:cNvPr id="44036" name="日期占位符 3">
            <a:extLst>
              <a:ext uri="{FF2B5EF4-FFF2-40B4-BE49-F238E27FC236}">
                <a16:creationId xmlns:a16="http://schemas.microsoft.com/office/drawing/2014/main" id="{5B792738-55A6-4974-9A69-AD5CB72660C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618E5B-5D9B-4C40-B10C-E526EFD3747A}" type="datetime1">
              <a:rPr lang="zh-CN" altLang="en-US" sz="18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4037" name="灯片编号占位符 4">
            <a:extLst>
              <a:ext uri="{FF2B5EF4-FFF2-40B4-BE49-F238E27FC236}">
                <a16:creationId xmlns:a16="http://schemas.microsoft.com/office/drawing/2014/main" id="{43A54B0C-0F13-4244-B4A9-276C52AC7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5C001F-F7AF-45C2-89DD-9BAA074DC552}" type="slidenum">
              <a:rPr lang="en-US" altLang="zh-CN" sz="1800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44038" name="页脚占位符 5">
            <a:extLst>
              <a:ext uri="{FF2B5EF4-FFF2-40B4-BE49-F238E27FC236}">
                <a16:creationId xmlns:a16="http://schemas.microsoft.com/office/drawing/2014/main" id="{3F297A1F-F2BA-44D9-A8A5-DAFCBB5DC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69171DC-6027-4C98-9A93-FE39B63FCD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9"/>
            <a:ext cx="8229600" cy="2648384"/>
          </a:xfrm>
        </p:spPr>
        <p:txBody>
          <a:bodyPr/>
          <a:lstStyle/>
          <a:p>
            <a:r>
              <a:rPr lang="en-US" altLang="zh-CN" sz="2400" dirty="0"/>
              <a:t>Flow Navigator &gt;&gt; Project Manager &gt;&gt; IP Catalog</a:t>
            </a:r>
          </a:p>
          <a:p>
            <a:pPr lvl="1"/>
            <a:r>
              <a:rPr lang="en-US" altLang="zh-CN" sz="2000" dirty="0"/>
              <a:t>Memories &amp; Storage Elements &gt;&gt; RAMs &amp; ROMs &gt;&gt; Distributed Memory Generator</a:t>
            </a:r>
          </a:p>
          <a:p>
            <a:pPr lvl="1"/>
            <a:r>
              <a:rPr lang="zh-CN" altLang="en-US" sz="2000" dirty="0"/>
              <a:t>或者 </a:t>
            </a:r>
            <a:r>
              <a:rPr lang="en-US" altLang="zh-CN" sz="2000" dirty="0"/>
              <a:t>Basic Elements &gt;&gt; Memory Elements &gt;&gt; Distributed Memory Generator </a:t>
            </a:r>
          </a:p>
          <a:p>
            <a:pPr lvl="2"/>
            <a:r>
              <a:rPr lang="en-US" altLang="zh-CN" sz="1800" dirty="0"/>
              <a:t>Memory config &gt;&gt; Memory Type: Single Port RAM</a:t>
            </a:r>
          </a:p>
          <a:p>
            <a:pPr lvl="2"/>
            <a:r>
              <a:rPr lang="en-US" altLang="zh-CN" sz="1800" dirty="0"/>
              <a:t>RST &amp; Initialization &gt;&gt; Load COE File</a:t>
            </a:r>
          </a:p>
          <a:p>
            <a:pPr lvl="2"/>
            <a:endParaRPr lang="en-US" altLang="zh-CN" sz="18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4F8EB88-A264-453A-98F8-7D065871C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4071601"/>
            <a:ext cx="2448272" cy="1862199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ACD641D-649B-485F-B396-BED939E0892E}"/>
              </a:ext>
            </a:extLst>
          </p:cNvPr>
          <p:cNvSpPr/>
          <p:nvPr/>
        </p:nvSpPr>
        <p:spPr>
          <a:xfrm>
            <a:off x="1205627" y="4225564"/>
            <a:ext cx="4140459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  <a:buFontTx/>
              <a:buNone/>
            </a:pPr>
            <a:r>
              <a:rPr lang="zh-CN" altLang="en-US" sz="2000" dirty="0"/>
              <a:t>例如，单端口分布式存储器</a:t>
            </a:r>
            <a:endParaRPr lang="en-US" altLang="zh-CN" sz="2000" dirty="0"/>
          </a:p>
          <a:p>
            <a:pPr marL="0" lvl="1">
              <a:spcBef>
                <a:spcPts val="1200"/>
              </a:spcBef>
              <a:buFontTx/>
              <a:buNone/>
            </a:pPr>
            <a:r>
              <a:rPr lang="zh-CN" altLang="en-US" sz="2000" dirty="0"/>
              <a:t>同步写端口：</a:t>
            </a:r>
            <a:r>
              <a:rPr lang="en-US" altLang="zh-CN" sz="2000" dirty="0"/>
              <a:t>a (</a:t>
            </a:r>
            <a:r>
              <a:rPr lang="zh-CN" altLang="en-US" sz="2000" dirty="0"/>
              <a:t>地址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en-US" altLang="zh-CN" sz="2000" dirty="0"/>
              <a:t>d (</a:t>
            </a:r>
            <a:r>
              <a:rPr lang="zh-CN" altLang="en-US" sz="2000" dirty="0"/>
              <a:t>数据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en-US" altLang="zh-CN" sz="2000" dirty="0"/>
              <a:t>we (</a:t>
            </a:r>
            <a:r>
              <a:rPr lang="zh-CN" altLang="en-US" sz="2000" dirty="0"/>
              <a:t>写使能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clk</a:t>
            </a:r>
            <a:endParaRPr lang="en-US" altLang="zh-CN" sz="2000" dirty="0"/>
          </a:p>
          <a:p>
            <a:pPr marL="0" lvl="1">
              <a:spcBef>
                <a:spcPts val="600"/>
              </a:spcBef>
              <a:buFontTx/>
              <a:buNone/>
            </a:pPr>
            <a:r>
              <a:rPr lang="zh-CN" altLang="en-US" sz="2000" dirty="0"/>
              <a:t>异步读端口：</a:t>
            </a:r>
            <a:r>
              <a:rPr lang="en-US" altLang="zh-CN" sz="2000" dirty="0"/>
              <a:t>a (</a:t>
            </a:r>
            <a:r>
              <a:rPr lang="zh-CN" altLang="en-US" sz="2000" dirty="0"/>
              <a:t>地址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spo</a:t>
            </a:r>
            <a:r>
              <a:rPr lang="en-US" altLang="zh-CN" sz="2000" dirty="0"/>
              <a:t> (</a:t>
            </a:r>
            <a:r>
              <a:rPr lang="zh-CN" altLang="en-US" sz="2000" dirty="0"/>
              <a:t>数据</a:t>
            </a:r>
            <a:r>
              <a:rPr lang="en-US" altLang="zh-CN" sz="20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5B1E52F6-5342-432B-B3C8-2DF610E6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存储器</a:t>
            </a:r>
            <a:r>
              <a:rPr lang="en-US" altLang="zh-CN"/>
              <a:t>IP</a:t>
            </a:r>
            <a:r>
              <a:rPr lang="zh-CN" altLang="en-US"/>
              <a:t>核例化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FF154C6E-9A88-4CFE-86E1-5FC36EF17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r>
              <a:rPr lang="en-US" altLang="zh-CN" sz="2400" dirty="0"/>
              <a:t>Project Manager – </a:t>
            </a:r>
            <a:r>
              <a:rPr lang="en-US" altLang="zh-CN" sz="2400" dirty="0" err="1"/>
              <a:t>xxxx</a:t>
            </a:r>
            <a:r>
              <a:rPr lang="en-US" altLang="zh-CN" sz="2400" dirty="0"/>
              <a:t> &gt;&gt; Sources &gt;&gt; IP Sources</a:t>
            </a:r>
          </a:p>
          <a:p>
            <a:pPr lvl="1"/>
            <a:r>
              <a:rPr lang="en-US" altLang="zh-CN" sz="2000" dirty="0"/>
              <a:t>IP &gt;&gt; dist_mem_gen_</a:t>
            </a:r>
            <a:r>
              <a:rPr lang="en-US" altLang="zh-CN" sz="2000"/>
              <a:t>0 &gt;&gt; Instantiation </a:t>
            </a:r>
            <a:r>
              <a:rPr lang="en-US" altLang="zh-CN" sz="2000" dirty="0"/>
              <a:t>Template &gt;&gt; dist_mem_gen_0.veo</a:t>
            </a:r>
          </a:p>
          <a:p>
            <a:pPr lvl="1"/>
            <a:endParaRPr lang="en-US" altLang="zh-CN" sz="2000" dirty="0"/>
          </a:p>
        </p:txBody>
      </p:sp>
      <p:sp>
        <p:nvSpPr>
          <p:cNvPr id="30727" name="矩形 6">
            <a:extLst>
              <a:ext uri="{FF2B5EF4-FFF2-40B4-BE49-F238E27FC236}">
                <a16:creationId xmlns:a16="http://schemas.microsoft.com/office/drawing/2014/main" id="{503A2F40-DF15-417E-9307-C6D61E94E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636" y="3104964"/>
            <a:ext cx="510540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dist_mem_gen_0   your_instance_name 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.a(a),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// input wire [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:0] 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.d(d),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// input wire [1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:0] 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.clk(clk),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// input wire clk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.we(we),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// input wire we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.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po(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po)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	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// output wire [1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:0]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);</a:t>
            </a:r>
          </a:p>
        </p:txBody>
      </p:sp>
      <p:sp>
        <p:nvSpPr>
          <p:cNvPr id="30728" name="TextBox 34">
            <a:extLst>
              <a:ext uri="{FF2B5EF4-FFF2-40B4-BE49-F238E27FC236}">
                <a16:creationId xmlns:a16="http://schemas.microsoft.com/office/drawing/2014/main" id="{83811684-5E85-4ACE-A2A7-0F4BEE0E2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0" y="3933000"/>
            <a:ext cx="23622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例化模板</a:t>
            </a:r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30ED6D39-67C8-42BB-99DD-5853336A9AE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8A51977B-EAFB-4AB5-835D-CED00617F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8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1" name="页脚占位符 5">
            <a:extLst>
              <a:ext uri="{FF2B5EF4-FFF2-40B4-BE49-F238E27FC236}">
                <a16:creationId xmlns:a16="http://schemas.microsoft.com/office/drawing/2014/main" id="{D90A7308-6B77-4D17-8DC7-DBCE6D602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/>
      <p:bldP spid="307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92FBB39A-C649-4351-8056-FFD0F230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初始化文件格式</a:t>
            </a:r>
          </a:p>
        </p:txBody>
      </p:sp>
      <p:sp>
        <p:nvSpPr>
          <p:cNvPr id="22531" name="内容占位符 2">
            <a:extLst>
              <a:ext uri="{FF2B5EF4-FFF2-40B4-BE49-F238E27FC236}">
                <a16:creationId xmlns:a16="http://schemas.microsoft.com/office/drawing/2014/main" id="{A105C2B2-4843-4454-ADE2-EA800553D8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An example COE file:</a:t>
            </a:r>
          </a:p>
          <a:p>
            <a:pPr marL="400050" lvl="1" indent="0">
              <a:spcBef>
                <a:spcPts val="1200"/>
              </a:spcBef>
              <a:buFontTx/>
              <a:buNone/>
            </a:pPr>
            <a:r>
              <a:rPr lang="en-US" altLang="zh-CN" sz="2000" dirty="0"/>
              <a:t>; Sample Initialization file for a 32x16 distributed ROM</a:t>
            </a:r>
          </a:p>
          <a:p>
            <a:pPr marL="400050" lvl="1" indent="0">
              <a:buFontTx/>
              <a:buNone/>
            </a:pPr>
            <a:r>
              <a:rPr lang="en-US" altLang="zh-CN" sz="2000" dirty="0" err="1"/>
              <a:t>memory_initialization_radix</a:t>
            </a:r>
            <a:r>
              <a:rPr lang="en-US" altLang="zh-CN" sz="2000" dirty="0"/>
              <a:t> = 16;</a:t>
            </a:r>
          </a:p>
          <a:p>
            <a:pPr marL="400050" lvl="1" indent="0">
              <a:buFontTx/>
              <a:buNone/>
            </a:pPr>
            <a:r>
              <a:rPr lang="en-US" altLang="zh-CN" sz="2000" dirty="0" err="1"/>
              <a:t>memory_initialization_vector</a:t>
            </a:r>
            <a:r>
              <a:rPr lang="en-US" altLang="zh-CN" sz="2000" dirty="0"/>
              <a:t> =</a:t>
            </a:r>
          </a:p>
          <a:p>
            <a:pPr marL="400050" lvl="1" indent="0">
              <a:spcBef>
                <a:spcPts val="1200"/>
              </a:spcBef>
              <a:buFontTx/>
              <a:buNone/>
            </a:pPr>
            <a:r>
              <a:rPr lang="en-US" altLang="zh-CN" sz="2000" dirty="0"/>
              <a:t>23f4 0721 11ff ABe1 0001 1 0A 0</a:t>
            </a:r>
          </a:p>
          <a:p>
            <a:pPr marL="400050" lvl="1" indent="0">
              <a:buFontTx/>
              <a:buNone/>
            </a:pPr>
            <a:r>
              <a:rPr lang="en-US" altLang="zh-CN" sz="2000" dirty="0"/>
              <a:t>23f4 0721 11ff ABe1 0001 1 0A 0</a:t>
            </a:r>
          </a:p>
          <a:p>
            <a:pPr marL="400050" lvl="1" indent="0">
              <a:buFontTx/>
              <a:buNone/>
            </a:pPr>
            <a:r>
              <a:rPr lang="en-US" altLang="zh-CN" sz="2000" dirty="0"/>
              <a:t>23f4  721  11ff  ABe1  1  1  A  0</a:t>
            </a:r>
          </a:p>
          <a:p>
            <a:pPr marL="400050" lvl="1" indent="0">
              <a:buFontTx/>
              <a:buNone/>
            </a:pPr>
            <a:r>
              <a:rPr lang="en-US" altLang="zh-CN" sz="2000" dirty="0"/>
              <a:t>23f4  721  11ff  ABe1  1  1  A  0;</a:t>
            </a:r>
            <a:endParaRPr lang="zh-CN" altLang="en-US" sz="2800" dirty="0"/>
          </a:p>
        </p:txBody>
      </p:sp>
      <p:sp>
        <p:nvSpPr>
          <p:cNvPr id="31751" name="TextBox 34">
            <a:extLst>
              <a:ext uri="{FF2B5EF4-FFF2-40B4-BE49-F238E27FC236}">
                <a16:creationId xmlns:a16="http://schemas.microsoft.com/office/drawing/2014/main" id="{00161CED-093B-46D3-959D-AB8A7A5C5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00" y="3069000"/>
            <a:ext cx="28813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32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逗号或空格分隔每项数据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不允许为负数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9F51B660-87B5-4E28-8E50-2898485D994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D592F5B6-AC39-4E67-B796-E5E52A00F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9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77BC7A48-1D19-4624-8005-07AEFC6A2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图片 26">
            <a:extLst>
              <a:ext uri="{FF2B5EF4-FFF2-40B4-BE49-F238E27FC236}">
                <a16:creationId xmlns:a16="http://schemas.microsoft.com/office/drawing/2014/main" id="{F0740ADE-177C-4535-8C86-CC37038EB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19075"/>
            <a:ext cx="6324600" cy="588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770E24D7-3FB9-4BF0-8885-AE307DBD2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0000" y="274638"/>
            <a:ext cx="864000" cy="5592762"/>
          </a:xfrm>
        </p:spPr>
        <p:txBody>
          <a:bodyPr/>
          <a:lstStyle/>
          <a:p>
            <a:pPr eaLnBrk="1" hangingPunct="1"/>
            <a:r>
              <a:rPr lang="zh-CN" altLang="zh-CN" sz="4000"/>
              <a:t>分布式存储器</a:t>
            </a:r>
            <a:r>
              <a:rPr lang="en-US" altLang="zh-CN" sz="4000"/>
              <a:t>IP</a:t>
            </a:r>
            <a:br>
              <a:rPr lang="en-US" altLang="zh-CN" sz="4000"/>
            </a:br>
            <a:r>
              <a:rPr lang="en-US" altLang="zh-CN" sz="4000"/>
              <a:t>(1)</a:t>
            </a:r>
            <a:endParaRPr lang="zh-CN" altLang="en-US" sz="4000"/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BD9D844-BBF5-418B-948A-C7DA393B553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7EE8DD77-51FD-47B9-AC45-32EF56524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10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C1491894-861B-4C55-B57B-3AEA26BE8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图片 6">
            <a:extLst>
              <a:ext uri="{FF2B5EF4-FFF2-40B4-BE49-F238E27FC236}">
                <a16:creationId xmlns:a16="http://schemas.microsoft.com/office/drawing/2014/main" id="{4657BFFA-C0F5-4992-AE7D-74FDCFC11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74638"/>
            <a:ext cx="5410200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1">
            <a:extLst>
              <a:ext uri="{FF2B5EF4-FFF2-40B4-BE49-F238E27FC236}">
                <a16:creationId xmlns:a16="http://schemas.microsoft.com/office/drawing/2014/main" id="{3CAC266C-4C29-44C9-9F64-A4ED23FD9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0000" y="274638"/>
            <a:ext cx="864000" cy="5592762"/>
          </a:xfrm>
        </p:spPr>
        <p:txBody>
          <a:bodyPr/>
          <a:lstStyle/>
          <a:p>
            <a:pPr eaLnBrk="1" hangingPunct="1"/>
            <a:r>
              <a:rPr lang="zh-CN" altLang="zh-CN" sz="4000"/>
              <a:t>分布式存储器</a:t>
            </a:r>
            <a:r>
              <a:rPr lang="en-US" altLang="zh-CN" sz="4000"/>
              <a:t>IP</a:t>
            </a:r>
            <a:br>
              <a:rPr lang="en-US" altLang="zh-CN" sz="4000"/>
            </a:br>
            <a:r>
              <a:rPr lang="en-US" altLang="zh-CN" sz="4000"/>
              <a:t>(2)</a:t>
            </a:r>
            <a:endParaRPr lang="zh-CN" altLang="en-US" sz="4000"/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065FF4EB-F364-4A0A-BF5A-4D9489CD708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71618950-A321-41C4-8656-01237AB66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11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5B5D74D7-568D-4695-86D3-F0ED15E7A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67B0D9AD-3BB4-4485-89C0-B25F80F37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0000" y="274638"/>
            <a:ext cx="864000" cy="5592762"/>
          </a:xfrm>
        </p:spPr>
        <p:txBody>
          <a:bodyPr/>
          <a:lstStyle/>
          <a:p>
            <a:pPr eaLnBrk="1" hangingPunct="1"/>
            <a:r>
              <a:rPr lang="zh-CN" altLang="zh-CN" sz="4000"/>
              <a:t>分布式存储器</a:t>
            </a:r>
            <a:r>
              <a:rPr lang="en-US" altLang="zh-CN" sz="4000"/>
              <a:t>IP</a:t>
            </a:r>
            <a:br>
              <a:rPr lang="en-US" altLang="zh-CN" sz="4000"/>
            </a:br>
            <a:r>
              <a:rPr lang="en-US" altLang="zh-CN" sz="4000"/>
              <a:t>(3)</a:t>
            </a:r>
            <a:endParaRPr lang="zh-CN" altLang="en-US" sz="4000"/>
          </a:p>
        </p:txBody>
      </p:sp>
      <p:pic>
        <p:nvPicPr>
          <p:cNvPr id="27651" name="图片 6">
            <a:extLst>
              <a:ext uri="{FF2B5EF4-FFF2-40B4-BE49-F238E27FC236}">
                <a16:creationId xmlns:a16="http://schemas.microsoft.com/office/drawing/2014/main" id="{C9D2FA7D-D0DD-47D2-9ABA-AABD1F12E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1066800"/>
            <a:ext cx="6843712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5DA9F53-873A-4FCF-9B5D-FD4040BE225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C49544BE-3828-4A79-BCD4-270BBA3C2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12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9" name="页脚占位符 5">
            <a:extLst>
              <a:ext uri="{FF2B5EF4-FFF2-40B4-BE49-F238E27FC236}">
                <a16:creationId xmlns:a16="http://schemas.microsoft.com/office/drawing/2014/main" id="{90767E27-9C90-448A-856B-43ACD0FB8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72AECF72-BCDF-41A7-8FAC-C4888BCE5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" cy="5964237"/>
          </a:xfrm>
        </p:spPr>
        <p:txBody>
          <a:bodyPr/>
          <a:lstStyle/>
          <a:p>
            <a:pPr eaLnBrk="1" hangingPunct="1"/>
            <a:r>
              <a:rPr lang="zh-CN" altLang="en-US" sz="4000"/>
              <a:t>块</a:t>
            </a:r>
            <a:r>
              <a:rPr lang="zh-CN" altLang="zh-CN" sz="4000"/>
              <a:t>式存储器</a:t>
            </a:r>
            <a:r>
              <a:rPr lang="en-US" altLang="zh-CN" sz="4000"/>
              <a:t>IP</a:t>
            </a:r>
            <a:br>
              <a:rPr lang="en-US" altLang="zh-CN" sz="4000"/>
            </a:br>
            <a:r>
              <a:rPr lang="en-US" altLang="zh-CN" sz="4000"/>
              <a:t>(1)</a:t>
            </a:r>
            <a:endParaRPr lang="zh-CN" altLang="en-US" sz="4000"/>
          </a:p>
        </p:txBody>
      </p:sp>
      <p:pic>
        <p:nvPicPr>
          <p:cNvPr id="29699" name="图片 8">
            <a:extLst>
              <a:ext uri="{FF2B5EF4-FFF2-40B4-BE49-F238E27FC236}">
                <a16:creationId xmlns:a16="http://schemas.microsoft.com/office/drawing/2014/main" id="{412CA457-6F9E-4351-8587-187481D0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85800"/>
            <a:ext cx="7162800" cy="529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日期占位符 3">
            <a:extLst>
              <a:ext uri="{FF2B5EF4-FFF2-40B4-BE49-F238E27FC236}">
                <a16:creationId xmlns:a16="http://schemas.microsoft.com/office/drawing/2014/main" id="{BD0A9421-5D10-47B8-867F-F56EEE6146E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E85BC134-19CB-4659-B8D0-CE55F7939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13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9" name="页脚占位符 5">
            <a:extLst>
              <a:ext uri="{FF2B5EF4-FFF2-40B4-BE49-F238E27FC236}">
                <a16:creationId xmlns:a16="http://schemas.microsoft.com/office/drawing/2014/main" id="{1317AE13-C820-4432-9E48-37D14D603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A640A18C-2774-4A21-905F-630A0C693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" cy="5964237"/>
          </a:xfrm>
        </p:spPr>
        <p:txBody>
          <a:bodyPr/>
          <a:lstStyle/>
          <a:p>
            <a:pPr eaLnBrk="1" hangingPunct="1"/>
            <a:r>
              <a:rPr lang="zh-CN" altLang="en-US" sz="4000"/>
              <a:t>块</a:t>
            </a:r>
            <a:r>
              <a:rPr lang="zh-CN" altLang="zh-CN" sz="4000"/>
              <a:t>式存储器</a:t>
            </a:r>
            <a:r>
              <a:rPr lang="en-US" altLang="zh-CN" sz="4000"/>
              <a:t>IP</a:t>
            </a:r>
            <a:br>
              <a:rPr lang="en-US" altLang="zh-CN" sz="4000"/>
            </a:br>
            <a:r>
              <a:rPr lang="en-US" altLang="zh-CN" sz="4000"/>
              <a:t>(2)</a:t>
            </a:r>
            <a:endParaRPr lang="zh-CN" altLang="en-US" sz="4000"/>
          </a:p>
        </p:txBody>
      </p:sp>
      <p:pic>
        <p:nvPicPr>
          <p:cNvPr id="31747" name="图片 6">
            <a:extLst>
              <a:ext uri="{FF2B5EF4-FFF2-40B4-BE49-F238E27FC236}">
                <a16:creationId xmlns:a16="http://schemas.microsoft.com/office/drawing/2014/main" id="{534B695E-8D0D-4B55-B53F-E2FF9F1BB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27063"/>
            <a:ext cx="7072313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CA32FB0-8C88-470B-9197-FB8FABACA5B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3FE0CEF1-97B6-45B9-9932-2344D30A3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14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9" name="页脚占位符 5">
            <a:extLst>
              <a:ext uri="{FF2B5EF4-FFF2-40B4-BE49-F238E27FC236}">
                <a16:creationId xmlns:a16="http://schemas.microsoft.com/office/drawing/2014/main" id="{DF58558E-C871-48B6-81CA-DCAE8F7B5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8BADC031-A77D-436C-A0F7-0C120A7B1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8200" cy="5964237"/>
          </a:xfrm>
        </p:spPr>
        <p:txBody>
          <a:bodyPr/>
          <a:lstStyle/>
          <a:p>
            <a:pPr eaLnBrk="1" hangingPunct="1"/>
            <a:r>
              <a:rPr lang="zh-CN" altLang="en-US" sz="4000"/>
              <a:t>块</a:t>
            </a:r>
            <a:r>
              <a:rPr lang="zh-CN" altLang="zh-CN" sz="4000"/>
              <a:t>式存储器</a:t>
            </a:r>
            <a:r>
              <a:rPr lang="en-US" altLang="zh-CN" sz="4000"/>
              <a:t>IP</a:t>
            </a:r>
            <a:br>
              <a:rPr lang="en-US" altLang="zh-CN" sz="4000"/>
            </a:br>
            <a:r>
              <a:rPr lang="en-US" altLang="zh-CN" sz="4000"/>
              <a:t>(3)</a:t>
            </a:r>
            <a:endParaRPr lang="zh-CN" altLang="en-US" sz="4000"/>
          </a:p>
        </p:txBody>
      </p:sp>
      <p:pic>
        <p:nvPicPr>
          <p:cNvPr id="33795" name="图片 7">
            <a:extLst>
              <a:ext uri="{FF2B5EF4-FFF2-40B4-BE49-F238E27FC236}">
                <a16:creationId xmlns:a16="http://schemas.microsoft.com/office/drawing/2014/main" id="{0EB69395-B142-4CA3-8EA6-EB91A5766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57200"/>
            <a:ext cx="6096000" cy="563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日期占位符 3">
            <a:extLst>
              <a:ext uri="{FF2B5EF4-FFF2-40B4-BE49-F238E27FC236}">
                <a16:creationId xmlns:a16="http://schemas.microsoft.com/office/drawing/2014/main" id="{B8A883D2-4BD3-4C08-B777-B5F78CB87DB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06CC8C65-1577-419E-BD74-445D68F7E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15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9" name="页脚占位符 5">
            <a:extLst>
              <a:ext uri="{FF2B5EF4-FFF2-40B4-BE49-F238E27FC236}">
                <a16:creationId xmlns:a16="http://schemas.microsoft.com/office/drawing/2014/main" id="{F9ED88B9-9C99-4DE8-ADCE-922EE1DF8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83AACFA5-7295-4C64-A515-485156629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存储器时序</a:t>
            </a:r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6A2F053A-0075-460C-B9BA-155067CF7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644525"/>
          </a:xfrm>
        </p:spPr>
        <p:txBody>
          <a:bodyPr/>
          <a:lstStyle/>
          <a:p>
            <a:r>
              <a:rPr lang="en-US" altLang="zh-CN" sz="2400"/>
              <a:t>Read First Mode</a:t>
            </a:r>
            <a:endParaRPr lang="zh-CN" altLang="en-US" sz="2400"/>
          </a:p>
        </p:txBody>
      </p:sp>
      <p:pic>
        <p:nvPicPr>
          <p:cNvPr id="35847" name="图片 7">
            <a:extLst>
              <a:ext uri="{FF2B5EF4-FFF2-40B4-BE49-F238E27FC236}">
                <a16:creationId xmlns:a16="http://schemas.microsoft.com/office/drawing/2014/main" id="{BAB90CFB-305B-4690-9561-369C252C7E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5"/>
          <a:stretch/>
        </p:blipFill>
        <p:spPr bwMode="auto">
          <a:xfrm>
            <a:off x="714375" y="2241550"/>
            <a:ext cx="7715250" cy="3671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A6D640F-9EAD-4F4B-9C4A-62C8AE29BC32}"/>
              </a:ext>
            </a:extLst>
          </p:cNvPr>
          <p:cNvCxnSpPr>
            <a:cxnSpLocks/>
          </p:cNvCxnSpPr>
          <p:nvPr/>
        </p:nvCxnSpPr>
        <p:spPr bwMode="auto">
          <a:xfrm>
            <a:off x="4247964" y="2241550"/>
            <a:ext cx="0" cy="356711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1221750-3352-4BD7-980A-0414F10A8E26}"/>
              </a:ext>
            </a:extLst>
          </p:cNvPr>
          <p:cNvCxnSpPr>
            <a:cxnSpLocks/>
          </p:cNvCxnSpPr>
          <p:nvPr/>
        </p:nvCxnSpPr>
        <p:spPr bwMode="auto">
          <a:xfrm>
            <a:off x="5508104" y="2276872"/>
            <a:ext cx="0" cy="356711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81510891-506F-4AF4-9E0D-06AFB22ED6C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64586418-E4B2-4AB5-AB18-5BBD9EC94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16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498F3E37-F1FC-4061-995B-44006B10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4D18B489-31F8-4969-8004-620EE7B57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存储器时序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3BDE819D-E786-4AD6-BFAA-457E518AC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644525"/>
          </a:xfrm>
        </p:spPr>
        <p:txBody>
          <a:bodyPr/>
          <a:lstStyle/>
          <a:p>
            <a:r>
              <a:rPr lang="en-US" altLang="zh-CN" sz="2400"/>
              <a:t>Write First Mode</a:t>
            </a:r>
            <a:endParaRPr lang="zh-CN" altLang="en-US" sz="2400"/>
          </a:p>
        </p:txBody>
      </p:sp>
      <p:pic>
        <p:nvPicPr>
          <p:cNvPr id="36871" name="图片 9">
            <a:extLst>
              <a:ext uri="{FF2B5EF4-FFF2-40B4-BE49-F238E27FC236}">
                <a16:creationId xmlns:a16="http://schemas.microsoft.com/office/drawing/2014/main" id="{E4B4C83E-9FEA-41C0-B519-4F2A1BF7A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2241550"/>
            <a:ext cx="7823200" cy="356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A491E22-6FDF-4861-BFA2-F253E6D60091}"/>
              </a:ext>
            </a:extLst>
          </p:cNvPr>
          <p:cNvCxnSpPr>
            <a:cxnSpLocks/>
          </p:cNvCxnSpPr>
          <p:nvPr/>
        </p:nvCxnSpPr>
        <p:spPr bwMode="auto">
          <a:xfrm>
            <a:off x="4264950" y="2241550"/>
            <a:ext cx="0" cy="356711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043F85F-4C8F-4798-82AC-500614E8EF7C}"/>
              </a:ext>
            </a:extLst>
          </p:cNvPr>
          <p:cNvCxnSpPr>
            <a:cxnSpLocks/>
          </p:cNvCxnSpPr>
          <p:nvPr/>
        </p:nvCxnSpPr>
        <p:spPr bwMode="auto">
          <a:xfrm>
            <a:off x="5544108" y="2276872"/>
            <a:ext cx="0" cy="356711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2244EAD0-6463-4AF9-BB4F-FC173AC55B8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D5336B58-9384-4E37-87CC-1C890B20A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17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C76730CF-9D87-433F-A87D-A6743A876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34" name="标题 1">
            <a:extLst>
              <a:ext uri="{FF2B5EF4-FFF2-40B4-BE49-F238E27FC236}">
                <a16:creationId xmlns:a16="http://schemas.microsoft.com/office/drawing/2014/main" id="{B0CC3F40-C161-46AF-8A56-4FD38E486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zh-CN"/>
              <a:t>FIFO</a:t>
            </a:r>
            <a:r>
              <a:rPr lang="zh-CN" altLang="en-US"/>
              <a:t>队列：</a:t>
            </a:r>
            <a:r>
              <a:rPr lang="en-US" altLang="zh-CN"/>
              <a:t>IP</a:t>
            </a:r>
            <a:r>
              <a:rPr lang="zh-CN" altLang="en-US"/>
              <a:t>例化</a:t>
            </a:r>
            <a:endParaRPr lang="en-US" altLang="zh-CN"/>
          </a:p>
        </p:txBody>
      </p:sp>
      <p:sp>
        <p:nvSpPr>
          <p:cNvPr id="39035" name="内容占位符 2">
            <a:extLst>
              <a:ext uri="{FF2B5EF4-FFF2-40B4-BE49-F238E27FC236}">
                <a16:creationId xmlns:a16="http://schemas.microsoft.com/office/drawing/2014/main" id="{A8E36A9E-3662-43EF-BECC-BAF9058B30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312"/>
            <a:ext cx="4114800" cy="47530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z="2400"/>
              <a:t>设计</a:t>
            </a:r>
            <a:r>
              <a:rPr lang="en-US" altLang="zh-CN" sz="2400"/>
              <a:t>16x16</a:t>
            </a:r>
            <a:r>
              <a:rPr lang="zh-CN" altLang="en-US" sz="2400"/>
              <a:t>的</a:t>
            </a:r>
            <a:r>
              <a:rPr lang="en-US" altLang="zh-CN" sz="2400"/>
              <a:t>FIFO</a:t>
            </a:r>
            <a:r>
              <a:rPr lang="zh-CN" altLang="en-US" sz="2400"/>
              <a:t>队列</a:t>
            </a:r>
            <a:endParaRPr lang="en-US" altLang="zh-CN" sz="2400"/>
          </a:p>
          <a:p>
            <a:pPr marL="717550" lvl="1" indent="-317500" eaLnBrk="1" hangingPunct="1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-"/>
              <a:defRPr/>
            </a:pPr>
            <a:r>
              <a:rPr lang="en-US" altLang="zh-CN" sz="2000"/>
              <a:t>IP Catalog &gt;&gt; Memories &amp; Storage Elements &gt;&gt; FIFOs &gt;&gt; FIFO Generator</a:t>
            </a:r>
          </a:p>
          <a:p>
            <a:pPr marL="717550" lvl="1" indent="-317500" eaLnBrk="1" hangingPunct="1">
              <a:spcBef>
                <a:spcPts val="1200"/>
              </a:spcBef>
              <a:buFont typeface="Arial" panose="020B0604020202020204" pitchFamily="34" charset="0"/>
              <a:buChar char="-"/>
              <a:defRPr/>
            </a:pPr>
            <a:r>
              <a:rPr lang="en-US" altLang="zh-CN" sz="2000"/>
              <a:t>din</a:t>
            </a:r>
            <a:r>
              <a:rPr lang="zh-CN" altLang="en-US" sz="2000"/>
              <a:t>：输入数据</a:t>
            </a:r>
            <a:endParaRPr lang="en-US" altLang="zh-CN" sz="2000"/>
          </a:p>
          <a:p>
            <a:pPr marL="717550" lvl="1" indent="-317500" eaLnBrk="1" hangingPunct="1">
              <a:spcBef>
                <a:spcPts val="600"/>
              </a:spcBef>
              <a:buFont typeface="Arial" panose="020B0604020202020204" pitchFamily="34" charset="0"/>
              <a:buChar char="-"/>
              <a:defRPr/>
            </a:pPr>
            <a:r>
              <a:rPr lang="en-US" altLang="zh-CN" sz="2000"/>
              <a:t>dout</a:t>
            </a:r>
            <a:r>
              <a:rPr lang="zh-CN" altLang="en-US" sz="2000"/>
              <a:t>：输出数据</a:t>
            </a:r>
            <a:endParaRPr lang="en-US" altLang="zh-CN" sz="2000"/>
          </a:p>
          <a:p>
            <a:pPr marL="717550" lvl="1" indent="-317500" eaLnBrk="1" hangingPunct="1">
              <a:spcBef>
                <a:spcPts val="1200"/>
              </a:spcBef>
              <a:buFont typeface="Arial" panose="020B0604020202020204" pitchFamily="34" charset="0"/>
              <a:buChar char="-"/>
              <a:defRPr/>
            </a:pPr>
            <a:r>
              <a:rPr lang="en-US" altLang="zh-CN" sz="2000"/>
              <a:t>wr_en</a:t>
            </a:r>
            <a:r>
              <a:rPr lang="zh-CN" altLang="en-US" sz="2000"/>
              <a:t>：写使能</a:t>
            </a:r>
            <a:endParaRPr lang="en-US" altLang="zh-CN" sz="2000"/>
          </a:p>
          <a:p>
            <a:pPr marL="717550" lvl="1" indent="-317500" eaLnBrk="1" hangingPunct="1">
              <a:spcBef>
                <a:spcPts val="1200"/>
              </a:spcBef>
              <a:buFont typeface="Arial" panose="020B0604020202020204" pitchFamily="34" charset="0"/>
              <a:buChar char="-"/>
              <a:defRPr/>
            </a:pPr>
            <a:r>
              <a:rPr lang="en-US" altLang="zh-CN" sz="2000"/>
              <a:t>rd_en</a:t>
            </a:r>
            <a:r>
              <a:rPr lang="zh-CN" altLang="en-US" sz="2000"/>
              <a:t>：读使能</a:t>
            </a:r>
            <a:endParaRPr lang="en-US" altLang="zh-CN" sz="2000"/>
          </a:p>
          <a:p>
            <a:pPr marL="717550" lvl="1" indent="-317500" eaLnBrk="1" hangingPunct="1">
              <a:spcBef>
                <a:spcPts val="600"/>
              </a:spcBef>
              <a:buFont typeface="Arial" panose="020B0604020202020204" pitchFamily="34" charset="0"/>
              <a:buChar char="-"/>
              <a:defRPr/>
            </a:pPr>
            <a:r>
              <a:rPr lang="en-US" altLang="zh-CN" sz="2000"/>
              <a:t>empty</a:t>
            </a:r>
            <a:r>
              <a:rPr lang="zh-CN" altLang="en-US" sz="2000"/>
              <a:t>：空标志</a:t>
            </a:r>
            <a:endParaRPr lang="en-US" altLang="zh-CN" sz="2000"/>
          </a:p>
          <a:p>
            <a:pPr marL="717550" lvl="1" indent="-317500" eaLnBrk="1" hangingPunct="1">
              <a:spcBef>
                <a:spcPts val="600"/>
              </a:spcBef>
              <a:buFont typeface="Arial" panose="020B0604020202020204" pitchFamily="34" charset="0"/>
              <a:buChar char="-"/>
              <a:defRPr/>
            </a:pPr>
            <a:r>
              <a:rPr lang="en-US" altLang="zh-CN" sz="2000"/>
              <a:t>full</a:t>
            </a:r>
            <a:r>
              <a:rPr lang="zh-CN" altLang="en-US" sz="2000"/>
              <a:t>：满标志</a:t>
            </a:r>
            <a:endParaRPr lang="en-US" altLang="zh-CN" sz="2000"/>
          </a:p>
          <a:p>
            <a:pPr marL="717550" lvl="1" indent="-317500" eaLnBrk="1" hangingPunct="1">
              <a:spcBef>
                <a:spcPts val="600"/>
              </a:spcBef>
              <a:buFont typeface="Arial" panose="020B0604020202020204" pitchFamily="34" charset="0"/>
              <a:buChar char="-"/>
              <a:defRPr/>
            </a:pPr>
            <a:endParaRPr lang="en-US" altLang="zh-CN" sz="2000"/>
          </a:p>
          <a:p>
            <a:pPr lvl="1" eaLnBrk="1" hangingPunct="1">
              <a:spcBef>
                <a:spcPts val="600"/>
              </a:spcBef>
            </a:pPr>
            <a:endParaRPr lang="en-US" altLang="zh-CN" sz="2000"/>
          </a:p>
          <a:p>
            <a:pPr marL="400050" lvl="1" indent="0" eaLnBrk="1" hangingPunct="1">
              <a:spcBef>
                <a:spcPts val="600"/>
              </a:spcBef>
              <a:buFontTx/>
              <a:buNone/>
            </a:pPr>
            <a:endParaRPr lang="en-US" altLang="zh-CN" sz="2000" b="1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C96B284-88F7-4180-A830-3EF356AABFA4}"/>
              </a:ext>
            </a:extLst>
          </p:cNvPr>
          <p:cNvGrpSpPr/>
          <p:nvPr/>
        </p:nvGrpSpPr>
        <p:grpSpPr>
          <a:xfrm>
            <a:off x="5436096" y="1628800"/>
            <a:ext cx="3030936" cy="1656184"/>
            <a:chOff x="5678736" y="1916832"/>
            <a:chExt cx="3030936" cy="1676400"/>
          </a:xfrm>
        </p:grpSpPr>
        <p:sp>
          <p:nvSpPr>
            <p:cNvPr id="39065" name="矩形 1">
              <a:extLst>
                <a:ext uri="{FF2B5EF4-FFF2-40B4-BE49-F238E27FC236}">
                  <a16:creationId xmlns:a16="http://schemas.microsoft.com/office/drawing/2014/main" id="{E7C5E76F-53A4-404F-99FA-0130E8C9E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6336" y="1916832"/>
              <a:ext cx="657992" cy="16764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9066" name="TextBox 32">
              <a:extLst>
                <a:ext uri="{FF2B5EF4-FFF2-40B4-BE49-F238E27FC236}">
                  <a16:creationId xmlns:a16="http://schemas.microsoft.com/office/drawing/2014/main" id="{076BAFF2-23F3-479C-A01C-0B2809F7B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4927" y="2612315"/>
              <a:ext cx="58990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rd_en</a:t>
              </a:r>
              <a:endParaRPr lang="zh-CN" altLang="en-US" sz="18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67" name="TextBox 32">
              <a:extLst>
                <a:ext uri="{FF2B5EF4-FFF2-40B4-BE49-F238E27FC236}">
                  <a16:creationId xmlns:a16="http://schemas.microsoft.com/office/drawing/2014/main" id="{17A7B700-6C5B-48C0-9329-DB15021CD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6156" y="1988840"/>
              <a:ext cx="30777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din</a:t>
              </a:r>
              <a:endParaRPr lang="zh-CN" altLang="en-US" sz="18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97C1183-0A72-435A-ADB9-558E9ADE091C}"/>
                </a:ext>
              </a:extLst>
            </p:cNvPr>
            <p:cNvSpPr txBox="1"/>
            <p:nvPr/>
          </p:nvSpPr>
          <p:spPr bwMode="auto">
            <a:xfrm rot="5400000">
              <a:off x="6977021" y="2500143"/>
              <a:ext cx="430887" cy="560410"/>
            </a:xfrm>
            <a:prstGeom prst="rect">
              <a:avLst/>
            </a:prstGeom>
            <a:noFill/>
          </p:spPr>
          <p:txBody>
            <a:bodyPr vert="vert270"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1600" dirty="0"/>
                <a:t>FIFO</a:t>
              </a:r>
              <a:endParaRPr lang="zh-CN" altLang="en-US" sz="1600" dirty="0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7CD53A1-A0A2-4AF0-A8C5-7C48EBBBDFF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66619" y="2132856"/>
              <a:ext cx="498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571C46E-1086-4F95-A720-7C916223D78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66619" y="3091582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71" name="TextBox 34">
              <a:extLst>
                <a:ext uri="{FF2B5EF4-FFF2-40B4-BE49-F238E27FC236}">
                  <a16:creationId xmlns:a16="http://schemas.microsoft.com/office/drawing/2014/main" id="{FB348257-0215-457A-AF6E-3EA87F8623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8633" y="2902670"/>
              <a:ext cx="370008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rst</a:t>
              </a:r>
              <a:endParaRPr lang="zh-CN" altLang="en-US" sz="18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5260EDE-74DF-4A09-850A-FD5687244A1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26843" y="2433898"/>
              <a:ext cx="49847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73" name="TextBox 32">
              <a:extLst>
                <a:ext uri="{FF2B5EF4-FFF2-40B4-BE49-F238E27FC236}">
                  <a16:creationId xmlns:a16="http://schemas.microsoft.com/office/drawing/2014/main" id="{82EA1EA5-ABF8-4976-898F-EA8DDE806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6396" y="2276872"/>
              <a:ext cx="44884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dout</a:t>
              </a:r>
              <a:endParaRPr lang="zh-CN" altLang="en-US" sz="18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45A6DF8-DE40-4699-B80D-26E65F33932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66619" y="3351932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75" name="TextBox 34">
              <a:extLst>
                <a:ext uri="{FF2B5EF4-FFF2-40B4-BE49-F238E27FC236}">
                  <a16:creationId xmlns:a16="http://schemas.microsoft.com/office/drawing/2014/main" id="{C46D8CFB-B613-49E8-A717-159F96A73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8633" y="3209057"/>
              <a:ext cx="37000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clk</a:t>
              </a:r>
              <a:endParaRPr lang="zh-CN" altLang="en-US" sz="18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1B1C7BCD-7C71-4C43-8150-23D574F34DD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26843" y="2746065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1E2BCC4-66A0-48A1-8B59-C23F002C193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26843" y="3052452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78" name="TextBox 34">
              <a:extLst>
                <a:ext uri="{FF2B5EF4-FFF2-40B4-BE49-F238E27FC236}">
                  <a16:creationId xmlns:a16="http://schemas.microsoft.com/office/drawing/2014/main" id="{ABF0B47E-9F83-405D-80FA-F9C301F91D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0392" y="2572815"/>
              <a:ext cx="37000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full</a:t>
              </a:r>
              <a:endParaRPr lang="zh-CN" altLang="en-US" sz="18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79" name="TextBox 34">
              <a:extLst>
                <a:ext uri="{FF2B5EF4-FFF2-40B4-BE49-F238E27FC236}">
                  <a16:creationId xmlns:a16="http://schemas.microsoft.com/office/drawing/2014/main" id="{6CE438B4-0550-41DB-8B2F-2614D4BF5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6396" y="2864362"/>
              <a:ext cx="573276" cy="309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empty</a:t>
              </a:r>
              <a:endParaRPr lang="zh-CN" altLang="en-US" sz="18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709F490-5EDA-4D78-909F-C34B27D9FB0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66619" y="2764557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81" name="TextBox 32">
              <a:extLst>
                <a:ext uri="{FF2B5EF4-FFF2-40B4-BE49-F238E27FC236}">
                  <a16:creationId xmlns:a16="http://schemas.microsoft.com/office/drawing/2014/main" id="{0138D3E7-3947-451F-A16F-854BAD16B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8736" y="2276872"/>
              <a:ext cx="62837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wr_en</a:t>
              </a:r>
              <a:endParaRPr lang="zh-CN" altLang="en-US" sz="18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BB8CF6C0-A252-4FE5-A815-F23F50D867E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66619" y="2443946"/>
              <a:ext cx="49847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BCDEBDCD-1624-49D4-9910-C7B55AD6C44C}"/>
              </a:ext>
            </a:extLst>
          </p:cNvPr>
          <p:cNvSpPr/>
          <p:nvPr/>
        </p:nvSpPr>
        <p:spPr>
          <a:xfrm>
            <a:off x="5040052" y="3543977"/>
            <a:ext cx="363640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modual f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ifo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_16x16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rst,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      //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时钟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复位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input [15:0]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	      //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输入数据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wr_en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	      //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写使能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rd_en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	      //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读使能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output [15:0]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dout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    //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输出数据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output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,	      //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满标志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      //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空标志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28" name="日期占位符 3">
            <a:extLst>
              <a:ext uri="{FF2B5EF4-FFF2-40B4-BE49-F238E27FC236}">
                <a16:creationId xmlns:a16="http://schemas.microsoft.com/office/drawing/2014/main" id="{4897E295-2DEF-47CC-8B12-8FC3C1F4BA7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9" name="灯片编号占位符 4">
            <a:extLst>
              <a:ext uri="{FF2B5EF4-FFF2-40B4-BE49-F238E27FC236}">
                <a16:creationId xmlns:a16="http://schemas.microsoft.com/office/drawing/2014/main" id="{C836368F-7B62-4790-8D93-E45FB50B8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18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30" name="页脚占位符 5">
            <a:extLst>
              <a:ext uri="{FF2B5EF4-FFF2-40B4-BE49-F238E27FC236}">
                <a16:creationId xmlns:a16="http://schemas.microsoft.com/office/drawing/2014/main" id="{00344396-4359-493F-8946-A04CE32A7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8758A65E-9024-4D11-A900-AF1587CFDF3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9C7A6428-9449-49F0-97D7-F6FEA7CDE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19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2" name="页脚占位符 5">
            <a:extLst>
              <a:ext uri="{FF2B5EF4-FFF2-40B4-BE49-F238E27FC236}">
                <a16:creationId xmlns:a16="http://schemas.microsoft.com/office/drawing/2014/main" id="{9FD67409-B962-4AAB-A748-14430F98B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B3630C-2A72-4C87-960B-10B0B098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34E4CE-31C5-41DB-AE71-7C365502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7EC9185-F3BB-47E0-BC43-087E50A5C9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406"/>
          <a:stretch/>
        </p:blipFill>
        <p:spPr>
          <a:xfrm>
            <a:off x="217587" y="332656"/>
            <a:ext cx="8746901" cy="636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493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>
            <a:extLst>
              <a:ext uri="{FF2B5EF4-FFF2-40B4-BE49-F238E27FC236}">
                <a16:creationId xmlns:a16="http://schemas.microsoft.com/office/drawing/2014/main" id="{96FC96CA-80AB-4174-832A-1539A8B7AB3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C8C033AD-7F3A-418A-B3FE-621E34391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20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1" name="页脚占位符 5">
            <a:extLst>
              <a:ext uri="{FF2B5EF4-FFF2-40B4-BE49-F238E27FC236}">
                <a16:creationId xmlns:a16="http://schemas.microsoft.com/office/drawing/2014/main" id="{5276E26F-403A-48DD-B8F4-DED4980C1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957A01B-1161-462C-9CF4-2C2F2DD74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DC01A-E4DE-4D49-9E07-FACAADFB5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37B946-6AF5-458B-AFF0-B709DFFB6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2636"/>
            <a:ext cx="8588679" cy="651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91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>
            <a:extLst>
              <a:ext uri="{FF2B5EF4-FFF2-40B4-BE49-F238E27FC236}">
                <a16:creationId xmlns:a16="http://schemas.microsoft.com/office/drawing/2014/main" id="{B1E0DC0D-3BAF-4B4B-9A0E-5DF098439AF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B5201C9A-7BFD-4CE4-AADB-45FFA13B9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21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1" name="页脚占位符 5">
            <a:extLst>
              <a:ext uri="{FF2B5EF4-FFF2-40B4-BE49-F238E27FC236}">
                <a16:creationId xmlns:a16="http://schemas.microsoft.com/office/drawing/2014/main" id="{3977A6E8-F907-4F6D-8438-AEB4DA2A2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1325874-D142-4B24-A518-BE984EFA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5D1354-4CA7-4DBD-AB4F-5AB9366E0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4CE467-CB87-4DE7-A0E9-43B740E16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2636"/>
            <a:ext cx="8624683" cy="654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56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>
            <a:extLst>
              <a:ext uri="{FF2B5EF4-FFF2-40B4-BE49-F238E27FC236}">
                <a16:creationId xmlns:a16="http://schemas.microsoft.com/office/drawing/2014/main" id="{E483D175-364A-4304-AE8C-75627E94CA2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4DF314B9-AD3F-466E-8ED9-DEF303309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22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1" name="页脚占位符 5">
            <a:extLst>
              <a:ext uri="{FF2B5EF4-FFF2-40B4-BE49-F238E27FC236}">
                <a16:creationId xmlns:a16="http://schemas.microsoft.com/office/drawing/2014/main" id="{C21F56B2-175D-4B85-B51D-90A33849C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F5717C7-8BA8-40B7-B9BE-CF6043B5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66C69D-3807-4C0A-BA53-13488B57B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8649BE-A1DD-474E-9995-A0B32265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90" y="152636"/>
            <a:ext cx="8685494" cy="658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90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72B44264-2F3A-43D3-ABC4-00462D97998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975D57E3-793C-43E1-A90B-97632FF50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23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2" name="页脚占位符 5">
            <a:extLst>
              <a:ext uri="{FF2B5EF4-FFF2-40B4-BE49-F238E27FC236}">
                <a16:creationId xmlns:a16="http://schemas.microsoft.com/office/drawing/2014/main" id="{814C86EF-4278-41BF-8E3B-1E4944D2F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6FF8FE-CAA7-49A0-A444-D9EED6D0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84EDF-E1CC-4E62-AFC7-AE1D430E4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1B6DEF3-27A5-4AE4-97B5-E186A8C64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2" y="188640"/>
            <a:ext cx="8388932" cy="65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2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>
            <a:extLst>
              <a:ext uri="{FF2B5EF4-FFF2-40B4-BE49-F238E27FC236}">
                <a16:creationId xmlns:a16="http://schemas.microsoft.com/office/drawing/2014/main" id="{D51F4851-697A-4693-94A6-355C0ED0101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0" name="灯片编号占位符 4">
            <a:extLst>
              <a:ext uri="{FF2B5EF4-FFF2-40B4-BE49-F238E27FC236}">
                <a16:creationId xmlns:a16="http://schemas.microsoft.com/office/drawing/2014/main" id="{6F25C2B4-6304-4C50-94D0-1F4392E0C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24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1" name="页脚占位符 5">
            <a:extLst>
              <a:ext uri="{FF2B5EF4-FFF2-40B4-BE49-F238E27FC236}">
                <a16:creationId xmlns:a16="http://schemas.microsoft.com/office/drawing/2014/main" id="{5AF14EF1-8553-4FBF-8D42-A6B6B8F9D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C79A4AC-B700-4E89-AD62-CF640E8C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34B086-791E-42AB-80B2-68E8D9E1C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37E1504-9FBC-488B-A42C-48E09A9C6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26" y="116632"/>
            <a:ext cx="8696858" cy="65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10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>
            <a:extLst>
              <a:ext uri="{FF2B5EF4-FFF2-40B4-BE49-F238E27FC236}">
                <a16:creationId xmlns:a16="http://schemas.microsoft.com/office/drawing/2014/main" id="{B1E07CA5-2289-4056-9B6E-38E5B62C5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FIFO</a:t>
            </a:r>
            <a:r>
              <a:rPr lang="zh-CN" altLang="en-US"/>
              <a:t>队列：</a:t>
            </a:r>
            <a:r>
              <a:rPr lang="en-US" altLang="zh-CN"/>
              <a:t>RF</a:t>
            </a:r>
            <a:r>
              <a:rPr lang="zh-CN" altLang="en-US"/>
              <a:t>实现</a:t>
            </a:r>
          </a:p>
        </p:txBody>
      </p:sp>
      <p:sp>
        <p:nvSpPr>
          <p:cNvPr id="40963" name="内容占位符 2">
            <a:extLst>
              <a:ext uri="{FF2B5EF4-FFF2-40B4-BE49-F238E27FC236}">
                <a16:creationId xmlns:a16="http://schemas.microsoft.com/office/drawing/2014/main" id="{E33F6498-3D37-44D3-9178-7CAAF44D9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2238"/>
            <a:ext cx="8229600" cy="250481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/>
              <a:t>三端口寄存器堆 </a:t>
            </a:r>
            <a:r>
              <a:rPr lang="en-US" altLang="zh-CN" sz="2400"/>
              <a:t>(RF)</a:t>
            </a:r>
          </a:p>
          <a:p>
            <a:pPr lvl="1">
              <a:spcBef>
                <a:spcPts val="600"/>
              </a:spcBef>
            </a:pPr>
            <a:r>
              <a:rPr lang="zh-CN" altLang="en-US" sz="2000"/>
              <a:t>存储队列数据，</a:t>
            </a:r>
            <a:r>
              <a:rPr lang="en-US" altLang="zh-CN" sz="2000"/>
              <a:t>2</a:t>
            </a:r>
            <a:r>
              <a:rPr lang="zh-CN" altLang="en-US" sz="2000"/>
              <a:t>个端口用于操作队列，</a:t>
            </a:r>
            <a:r>
              <a:rPr lang="en-US" altLang="zh-CN" sz="2000"/>
              <a:t>1</a:t>
            </a:r>
            <a:r>
              <a:rPr lang="zh-CN" altLang="en-US" sz="2000"/>
              <a:t>个端口用于调试</a:t>
            </a:r>
            <a:endParaRPr lang="en-US" altLang="zh-CN" sz="2000"/>
          </a:p>
          <a:p>
            <a:pPr>
              <a:spcBef>
                <a:spcPts val="600"/>
              </a:spcBef>
            </a:pPr>
            <a:r>
              <a:rPr lang="zh-CN" altLang="en-US" sz="2400"/>
              <a:t>队列输入</a:t>
            </a:r>
            <a:r>
              <a:rPr lang="en-US" altLang="zh-CN" sz="2400"/>
              <a:t>/</a:t>
            </a:r>
            <a:r>
              <a:rPr lang="zh-CN" altLang="en-US" sz="2400"/>
              <a:t>输出单元 </a:t>
            </a:r>
            <a:r>
              <a:rPr lang="en-US" altLang="zh-CN" sz="2400"/>
              <a:t>(Input/Output Unit,</a:t>
            </a:r>
            <a:r>
              <a:rPr lang="zh-CN" altLang="en-US" sz="2400"/>
              <a:t> </a:t>
            </a:r>
            <a:r>
              <a:rPr lang="en-US" altLang="zh-CN" sz="2400"/>
              <a:t>IOU)</a:t>
            </a:r>
          </a:p>
          <a:p>
            <a:pPr lvl="1">
              <a:spcBef>
                <a:spcPts val="600"/>
              </a:spcBef>
            </a:pPr>
            <a:r>
              <a:rPr lang="zh-CN" altLang="en-US" sz="2000"/>
              <a:t>处理出</a:t>
            </a:r>
            <a:r>
              <a:rPr lang="en-US" altLang="zh-CN" sz="2000"/>
              <a:t>/</a:t>
            </a:r>
            <a:r>
              <a:rPr lang="zh-CN" altLang="en-US" sz="2000"/>
              <a:t>入队操作，并输出队列空</a:t>
            </a:r>
            <a:r>
              <a:rPr lang="en-US" altLang="zh-CN" sz="2000"/>
              <a:t>/</a:t>
            </a:r>
            <a:r>
              <a:rPr lang="zh-CN" altLang="en-US" sz="2000"/>
              <a:t>满状态</a:t>
            </a:r>
            <a:endParaRPr lang="en-US" altLang="zh-CN" sz="2000"/>
          </a:p>
          <a:p>
            <a:pPr>
              <a:spcBef>
                <a:spcPts val="600"/>
              </a:spcBef>
            </a:pPr>
            <a:r>
              <a:rPr lang="zh-CN" altLang="en-US" sz="2400"/>
              <a:t>串行调试单元 </a:t>
            </a:r>
            <a:r>
              <a:rPr lang="en-US" altLang="zh-CN" sz="2400"/>
              <a:t>(Serial Debug Unit, SDU)</a:t>
            </a:r>
          </a:p>
          <a:p>
            <a:pPr lvl="1">
              <a:spcBef>
                <a:spcPts val="600"/>
              </a:spcBef>
            </a:pPr>
            <a:r>
              <a:rPr lang="zh-CN" altLang="en-US" sz="2000"/>
              <a:t>用于在</a:t>
            </a:r>
            <a:r>
              <a:rPr lang="en-US" altLang="zh-CN" sz="2000"/>
              <a:t>PC</a:t>
            </a:r>
            <a:r>
              <a:rPr lang="zh-CN" altLang="en-US" sz="2000"/>
              <a:t>端查看队列数据内容</a:t>
            </a:r>
          </a:p>
          <a:p>
            <a:pPr>
              <a:spcBef>
                <a:spcPts val="600"/>
              </a:spcBef>
            </a:pPr>
            <a:endParaRPr lang="zh-CN" altLang="en-US" sz="240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6B9FD8C-2926-4B29-93EE-9D5D151A0C82}"/>
              </a:ext>
            </a:extLst>
          </p:cNvPr>
          <p:cNvGrpSpPr/>
          <p:nvPr/>
        </p:nvGrpSpPr>
        <p:grpSpPr>
          <a:xfrm>
            <a:off x="3887924" y="4221089"/>
            <a:ext cx="2304256" cy="1692188"/>
            <a:chOff x="3725330" y="4149082"/>
            <a:chExt cx="2304256" cy="1692188"/>
          </a:xfrm>
        </p:grpSpPr>
        <p:sp>
          <p:nvSpPr>
            <p:cNvPr id="40975" name="矩形 1">
              <a:extLst>
                <a:ext uri="{FF2B5EF4-FFF2-40B4-BE49-F238E27FC236}">
                  <a16:creationId xmlns:a16="http://schemas.microsoft.com/office/drawing/2014/main" id="{A963E09B-8644-42A6-BCDA-384777A0B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8244" y="4149082"/>
              <a:ext cx="1111900" cy="169218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 b="0">
                <a:latin typeface="Arial" panose="020B0604020202020204" pitchFamily="34" charset="0"/>
              </a:endParaRPr>
            </a:p>
          </p:txBody>
        </p:sp>
        <p:sp>
          <p:nvSpPr>
            <p:cNvPr id="40976" name="TextBox 32">
              <a:extLst>
                <a:ext uri="{FF2B5EF4-FFF2-40B4-BE49-F238E27FC236}">
                  <a16:creationId xmlns:a16="http://schemas.microsoft.com/office/drawing/2014/main" id="{BCB8311A-3EAC-40C3-B252-BF04F7784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8785" y="4506629"/>
              <a:ext cx="385100" cy="33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rd0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DAF30A14-E3E9-447D-A538-98621163B16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25330" y="4676198"/>
              <a:ext cx="54451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78" name="TextBox 32">
              <a:extLst>
                <a:ext uri="{FF2B5EF4-FFF2-40B4-BE49-F238E27FC236}">
                  <a16:creationId xmlns:a16="http://schemas.microsoft.com/office/drawing/2014/main" id="{83760235-0526-4456-8003-1932D9F39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2219" y="4179083"/>
              <a:ext cx="384677" cy="340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ra0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8CADD98-19B5-4258-B6C4-F0F993D62F3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47555" y="4382708"/>
              <a:ext cx="51911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0" name="TextBox 32">
              <a:extLst>
                <a:ext uri="{FF2B5EF4-FFF2-40B4-BE49-F238E27FC236}">
                  <a16:creationId xmlns:a16="http://schemas.microsoft.com/office/drawing/2014/main" id="{E3B273FB-02D4-496D-AE53-118119138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491" y="5164881"/>
              <a:ext cx="341752" cy="340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wd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77EB46A-E640-411E-A76A-DF0FAEB1CCA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26607" y="5335362"/>
              <a:ext cx="547999" cy="0"/>
            </a:xfrm>
            <a:prstGeom prst="line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2" name="TextBox 32">
              <a:extLst>
                <a:ext uri="{FF2B5EF4-FFF2-40B4-BE49-F238E27FC236}">
                  <a16:creationId xmlns:a16="http://schemas.microsoft.com/office/drawing/2014/main" id="{CC8E88D7-A5CC-46BD-AC81-7C52214CF4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8615" y="4839051"/>
              <a:ext cx="341752" cy="340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wa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0F32D5B9-390E-422A-961B-70BCF3AC337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47555" y="5055366"/>
              <a:ext cx="51911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6CC6CC1-473D-4670-B503-CB137169A9D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81514" y="5460181"/>
              <a:ext cx="648072" cy="0"/>
            </a:xfrm>
            <a:prstGeom prst="line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A16066DF-D2DB-4B39-BB14-06F9921389A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364088" y="4653136"/>
              <a:ext cx="665498" cy="0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6" name="TextBox 32">
              <a:extLst>
                <a:ext uri="{FF2B5EF4-FFF2-40B4-BE49-F238E27FC236}">
                  <a16:creationId xmlns:a16="http://schemas.microsoft.com/office/drawing/2014/main" id="{A4972B48-CDC9-49DD-9305-D5635CBEB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6758" y="5256201"/>
              <a:ext cx="384677" cy="340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rd1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87" name="TextBox 32">
              <a:extLst>
                <a:ext uri="{FF2B5EF4-FFF2-40B4-BE49-F238E27FC236}">
                  <a16:creationId xmlns:a16="http://schemas.microsoft.com/office/drawing/2014/main" id="{AD060F51-B381-4530-AC86-9468D8B12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6758" y="4459706"/>
              <a:ext cx="385100" cy="339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ra1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EBABB2C-8021-4DA7-8414-916017BE434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53906" y="5627166"/>
              <a:ext cx="517525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9" name="TextBox 34">
              <a:extLst>
                <a:ext uri="{FF2B5EF4-FFF2-40B4-BE49-F238E27FC236}">
                  <a16:creationId xmlns:a16="http://schemas.microsoft.com/office/drawing/2014/main" id="{09C73F10-E999-4D94-AD53-F5FF6E667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5440" y="5478748"/>
              <a:ext cx="384677" cy="338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we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90" name="TextBox 32">
              <a:extLst>
                <a:ext uri="{FF2B5EF4-FFF2-40B4-BE49-F238E27FC236}">
                  <a16:creationId xmlns:a16="http://schemas.microsoft.com/office/drawing/2014/main" id="{AC927D12-049E-4E0E-B1DA-B76875D0A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0284" y="4926388"/>
              <a:ext cx="30777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RF</a:t>
              </a:r>
              <a:endParaRPr lang="zh-CN" altLang="en-US" sz="18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E2E1B4C-F1F7-4BEE-8605-BFDC44F3F365}"/>
              </a:ext>
            </a:extLst>
          </p:cNvPr>
          <p:cNvGrpSpPr/>
          <p:nvPr/>
        </p:nvGrpSpPr>
        <p:grpSpPr>
          <a:xfrm>
            <a:off x="6192180" y="4473115"/>
            <a:ext cx="1917227" cy="1332148"/>
            <a:chOff x="5877767" y="4401108"/>
            <a:chExt cx="1917227" cy="1332148"/>
          </a:xfrm>
        </p:grpSpPr>
        <p:sp>
          <p:nvSpPr>
            <p:cNvPr id="40996" name="矩形 1">
              <a:extLst>
                <a:ext uri="{FF2B5EF4-FFF2-40B4-BE49-F238E27FC236}">
                  <a16:creationId xmlns:a16="http://schemas.microsoft.com/office/drawing/2014/main" id="{4516D3CA-895C-40F2-BD2A-D01040F46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7767" y="4401108"/>
              <a:ext cx="723855" cy="133214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 b="0">
                <a:latin typeface="Arial" panose="020B0604020202020204" pitchFamily="34" charset="0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E26E2B9-6231-4AAD-B7C9-A19884D73D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88224" y="4810656"/>
              <a:ext cx="648072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98" name="TextBox 32">
              <a:extLst>
                <a:ext uri="{FF2B5EF4-FFF2-40B4-BE49-F238E27FC236}">
                  <a16:creationId xmlns:a16="http://schemas.microsoft.com/office/drawing/2014/main" id="{0D635B21-1479-4843-AD59-3B47F56A8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239" y="4437112"/>
              <a:ext cx="341440" cy="3270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txd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3174EE1-73FB-40A8-B5A1-4E89FB25FEC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14010" y="5341710"/>
              <a:ext cx="622286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00" name="TextBox 34">
              <a:extLst>
                <a:ext uri="{FF2B5EF4-FFF2-40B4-BE49-F238E27FC236}">
                  <a16:creationId xmlns:a16="http://schemas.microsoft.com/office/drawing/2014/main" id="{E15F2791-FC69-4811-9712-556EA9A31A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240" y="4977172"/>
              <a:ext cx="384677" cy="338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rxd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01" name="文本框 106">
              <a:extLst>
                <a:ext uri="{FF2B5EF4-FFF2-40B4-BE49-F238E27FC236}">
                  <a16:creationId xmlns:a16="http://schemas.microsoft.com/office/drawing/2014/main" id="{896A800D-F386-4F28-833D-02988CDB4A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0281" y="4873657"/>
              <a:ext cx="67197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SDU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8" name="矩形 1">
              <a:extLst>
                <a:ext uri="{FF2B5EF4-FFF2-40B4-BE49-F238E27FC236}">
                  <a16:creationId xmlns:a16="http://schemas.microsoft.com/office/drawing/2014/main" id="{4F8562CA-2278-4D24-AB4D-8255FC73D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301" y="4401108"/>
              <a:ext cx="521482" cy="1332148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 b="0">
                <a:latin typeface="Arial" panose="020B0604020202020204" pitchFamily="34" charset="0"/>
              </a:endParaRPr>
            </a:p>
          </p:txBody>
        </p:sp>
        <p:sp>
          <p:nvSpPr>
            <p:cNvPr id="59" name="文本框 106">
              <a:extLst>
                <a:ext uri="{FF2B5EF4-FFF2-40B4-BE49-F238E27FC236}">
                  <a16:creationId xmlns:a16="http://schemas.microsoft.com/office/drawing/2014/main" id="{37D8B7AF-E93D-4F42-A4FD-68EB05A23E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9726" y="4869161"/>
              <a:ext cx="50526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PC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7B9DA9E-B435-430E-AB98-FAE42C8ED296}"/>
              </a:ext>
            </a:extLst>
          </p:cNvPr>
          <p:cNvGrpSpPr/>
          <p:nvPr/>
        </p:nvGrpSpPr>
        <p:grpSpPr>
          <a:xfrm>
            <a:off x="1854274" y="4205262"/>
            <a:ext cx="2034219" cy="1708014"/>
            <a:chOff x="1997013" y="3495099"/>
            <a:chExt cx="2034219" cy="2009428"/>
          </a:xfrm>
        </p:grpSpPr>
        <p:sp>
          <p:nvSpPr>
            <p:cNvPr id="40991" name="矩形 1">
              <a:extLst>
                <a:ext uri="{FF2B5EF4-FFF2-40B4-BE49-F238E27FC236}">
                  <a16:creationId xmlns:a16="http://schemas.microsoft.com/office/drawing/2014/main" id="{329295B8-CB5E-493D-ACFD-9F6275D7F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053" y="3513718"/>
              <a:ext cx="703179" cy="1990809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000" b="0">
                <a:latin typeface="Arial" panose="020B0604020202020204" pitchFamily="34" charset="0"/>
              </a:endParaRPr>
            </a:p>
          </p:txBody>
        </p:sp>
        <p:sp>
          <p:nvSpPr>
            <p:cNvPr id="40992" name="文本框 44">
              <a:extLst>
                <a:ext uri="{FF2B5EF4-FFF2-40B4-BE49-F238E27FC236}">
                  <a16:creationId xmlns:a16="http://schemas.microsoft.com/office/drawing/2014/main" id="{2AC248F5-FA63-4915-9B56-442E8EA72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9160" y="4309098"/>
              <a:ext cx="595035" cy="434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IOU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57C88708-90F3-4905-BBBD-B6925FF7E3A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95588" y="4325364"/>
              <a:ext cx="519112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73314A5-E8AB-4C53-AFE0-5BA539CC977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3525" y="3676650"/>
              <a:ext cx="519113" cy="0"/>
            </a:xfrm>
            <a:prstGeom prst="line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2605FBB-BB64-42B8-994D-C0BBCB9DD36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0350" y="3983038"/>
              <a:ext cx="519113" cy="0"/>
            </a:xfrm>
            <a:prstGeom prst="line">
              <a:avLst/>
            </a:prstGeom>
            <a:ln w="158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03" name="TextBox 32">
              <a:extLst>
                <a:ext uri="{FF2B5EF4-FFF2-40B4-BE49-F238E27FC236}">
                  <a16:creationId xmlns:a16="http://schemas.microsoft.com/office/drawing/2014/main" id="{AA7CA921-3E22-46F2-8AEA-8F207530A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7013" y="3784246"/>
              <a:ext cx="698910" cy="341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wr_en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04" name="TextBox 32">
              <a:extLst>
                <a:ext uri="{FF2B5EF4-FFF2-40B4-BE49-F238E27FC236}">
                  <a16:creationId xmlns:a16="http://schemas.microsoft.com/office/drawing/2014/main" id="{5C640364-79C8-4DE7-B83C-B14091034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8508" y="3495099"/>
              <a:ext cx="34304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din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05" name="TextBox 32">
              <a:extLst>
                <a:ext uri="{FF2B5EF4-FFF2-40B4-BE49-F238E27FC236}">
                  <a16:creationId xmlns:a16="http://schemas.microsoft.com/office/drawing/2014/main" id="{DC6C58CC-E626-4414-8F56-9C8CD7489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293" y="4131981"/>
              <a:ext cx="655629" cy="341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rd_en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3E51969-F731-43DA-9B99-3FC4C42D6A2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3525" y="4653136"/>
              <a:ext cx="51911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09" name="TextBox 32">
              <a:extLst>
                <a:ext uri="{FF2B5EF4-FFF2-40B4-BE49-F238E27FC236}">
                  <a16:creationId xmlns:a16="http://schemas.microsoft.com/office/drawing/2014/main" id="{2F790C67-29FC-4E3F-907D-4F942A0D3E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7387" y="4471513"/>
              <a:ext cx="49853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dout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C3E51969-F731-43DA-9B99-3FC4C42D6A2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3525" y="5013176"/>
              <a:ext cx="519113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11" name="TextBox 32">
              <a:extLst>
                <a:ext uri="{FF2B5EF4-FFF2-40B4-BE49-F238E27FC236}">
                  <a16:creationId xmlns:a16="http://schemas.microsoft.com/office/drawing/2014/main" id="{18AC39F7-FC47-498B-A6F5-000B4F217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4165" y="4823971"/>
              <a:ext cx="341756" cy="319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full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C3E51969-F731-43DA-9B99-3FC4C42D6A2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794000" y="5337212"/>
              <a:ext cx="519113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13" name="TextBox 32">
              <a:extLst>
                <a:ext uri="{FF2B5EF4-FFF2-40B4-BE49-F238E27FC236}">
                  <a16:creationId xmlns:a16="http://schemas.microsoft.com/office/drawing/2014/main" id="{501E1D4D-873A-4532-8E1A-542363DF2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897" y="5148946"/>
              <a:ext cx="697307" cy="341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  <a:cs typeface="Arial" panose="020B0604020202020204" pitchFamily="34" charset="0"/>
                </a:rPr>
                <a:t>empty</a:t>
              </a:r>
              <a:endParaRPr lang="zh-CN" altLang="en-US" sz="2000" b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F06ED22-73E6-4946-BD91-40692FFFCDCB}"/>
              </a:ext>
            </a:extLst>
          </p:cNvPr>
          <p:cNvGrpSpPr/>
          <p:nvPr/>
        </p:nvGrpSpPr>
        <p:grpSpPr>
          <a:xfrm>
            <a:off x="719572" y="4113076"/>
            <a:ext cx="1173060" cy="1881501"/>
            <a:chOff x="431540" y="3969060"/>
            <a:chExt cx="1173060" cy="2228412"/>
          </a:xfrm>
        </p:grpSpPr>
        <p:sp>
          <p:nvSpPr>
            <p:cNvPr id="40969" name="矩形 47">
              <a:extLst>
                <a:ext uri="{FF2B5EF4-FFF2-40B4-BE49-F238E27FC236}">
                  <a16:creationId xmlns:a16="http://schemas.microsoft.com/office/drawing/2014/main" id="{A8E2F193-CCE5-461A-9B2D-102F44141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28" y="4660538"/>
              <a:ext cx="85001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(btnr)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0970" name="矩形 47">
              <a:extLst>
                <a:ext uri="{FF2B5EF4-FFF2-40B4-BE49-F238E27FC236}">
                  <a16:creationId xmlns:a16="http://schemas.microsoft.com/office/drawing/2014/main" id="{4E181551-223E-4DCC-B502-F1A299DD9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548" y="4310199"/>
              <a:ext cx="914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(btnl)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0971" name="矩形 47">
              <a:extLst>
                <a:ext uri="{FF2B5EF4-FFF2-40B4-BE49-F238E27FC236}">
                  <a16:creationId xmlns:a16="http://schemas.microsoft.com/office/drawing/2014/main" id="{BFCC47E1-1873-4CCF-81C0-E1CFCB469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544" y="3969060"/>
              <a:ext cx="10282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(sw15-0)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0972" name="矩形 47">
              <a:extLst>
                <a:ext uri="{FF2B5EF4-FFF2-40B4-BE49-F238E27FC236}">
                  <a16:creationId xmlns:a16="http://schemas.microsoft.com/office/drawing/2014/main" id="{D9D4156D-070C-42CA-90EE-3AFCD94C4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540" y="5035120"/>
              <a:ext cx="11730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(led15-0)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0973" name="矩形 47">
              <a:extLst>
                <a:ext uri="{FF2B5EF4-FFF2-40B4-BE49-F238E27FC236}">
                  <a16:creationId xmlns:a16="http://schemas.microsoft.com/office/drawing/2014/main" id="{C12CD013-784D-4188-9DC0-FADFAA90D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328" y="5409777"/>
              <a:ext cx="869824" cy="437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(led16)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0974" name="矩形 47">
              <a:extLst>
                <a:ext uri="{FF2B5EF4-FFF2-40B4-BE49-F238E27FC236}">
                  <a16:creationId xmlns:a16="http://schemas.microsoft.com/office/drawing/2014/main" id="{092DEBEB-AB00-4E68-BAC1-248CE881A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5760043"/>
              <a:ext cx="904484" cy="437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0"/>
                <a:t>(led17)</a:t>
              </a: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FFE5A882-172B-4045-A2C3-E865B253D1DA}"/>
              </a:ext>
            </a:extLst>
          </p:cNvPr>
          <p:cNvSpPr/>
          <p:nvPr/>
        </p:nvSpPr>
        <p:spPr bwMode="auto">
          <a:xfrm>
            <a:off x="2915816" y="4041068"/>
            <a:ext cx="2952328" cy="201622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日期占位符 3">
            <a:extLst>
              <a:ext uri="{FF2B5EF4-FFF2-40B4-BE49-F238E27FC236}">
                <a16:creationId xmlns:a16="http://schemas.microsoft.com/office/drawing/2014/main" id="{3655E090-869B-4912-BB5C-899B6BB604A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7" name="灯片编号占位符 4">
            <a:extLst>
              <a:ext uri="{FF2B5EF4-FFF2-40B4-BE49-F238E27FC236}">
                <a16:creationId xmlns:a16="http://schemas.microsoft.com/office/drawing/2014/main" id="{912F4A40-61A8-44CC-BB49-BDBE5CDF6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381750"/>
            <a:ext cx="16002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25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60" name="页脚占位符 5">
            <a:extLst>
              <a:ext uri="{FF2B5EF4-FFF2-40B4-BE49-F238E27FC236}">
                <a16:creationId xmlns:a16="http://schemas.microsoft.com/office/drawing/2014/main" id="{1E8C0BDF-C585-4285-9B64-3F88B219E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47DFEB18-09B8-4928-8E8B-602D897CC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串行调试单元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B82024B9-9288-4AEF-A899-26441A96F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23242"/>
            <a:ext cx="7967228" cy="2077766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US" altLang="zh-CN" sz="2400" dirty="0"/>
              <a:t>SDU</a:t>
            </a:r>
            <a:r>
              <a:rPr lang="zh-CN" altLang="en-US" sz="2400" dirty="0"/>
              <a:t>：</a:t>
            </a:r>
            <a:r>
              <a:rPr lang="en-US" altLang="zh-CN" sz="2400" dirty="0"/>
              <a:t>Serial Debug Unit</a:t>
            </a:r>
            <a:r>
              <a:rPr lang="zh-CN" altLang="en-US" sz="2400" dirty="0"/>
              <a:t>，通过串口对</a:t>
            </a:r>
            <a:r>
              <a:rPr lang="en-US" altLang="zh-CN" sz="2400" dirty="0"/>
              <a:t>CPU</a:t>
            </a:r>
            <a:r>
              <a:rPr lang="zh-CN" altLang="en-US" sz="2400" dirty="0"/>
              <a:t>和</a:t>
            </a:r>
            <a:r>
              <a:rPr lang="en-US" altLang="zh-CN" sz="2400" dirty="0"/>
              <a:t>MEM</a:t>
            </a:r>
            <a:r>
              <a:rPr lang="zh-CN" altLang="en-US" sz="2400" dirty="0"/>
              <a:t>调试</a:t>
            </a:r>
            <a:endParaRPr lang="en-US" altLang="zh-CN" sz="2400" dirty="0"/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000" dirty="0"/>
              <a:t>控制运行方式：单周期或者支持断点的连续运行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000" dirty="0"/>
              <a:t>查看运行状态：数据通路状态、寄存器堆和存储器内容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zh-CN" altLang="en-US" sz="2000" dirty="0"/>
              <a:t>加载存储器：初始化指令存储器和数据存储器</a:t>
            </a:r>
            <a:endParaRPr lang="en-US" altLang="zh-CN" sz="2000" dirty="0"/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defRPr/>
            </a:pPr>
            <a:endParaRPr lang="en-US" altLang="zh-CN" sz="1800" dirty="0"/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defRPr/>
            </a:pPr>
            <a:endParaRPr lang="en-US" altLang="zh-CN" sz="1800" dirty="0"/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defRPr/>
            </a:pPr>
            <a:endParaRPr lang="en-US" altLang="zh-CN" sz="1800" dirty="0"/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defRPr/>
            </a:pPr>
            <a:endParaRPr lang="en-US" altLang="zh-CN" sz="1800" dirty="0"/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defRPr/>
            </a:pPr>
            <a:endParaRPr lang="en-US" altLang="zh-CN" sz="1800" dirty="0"/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defRPr/>
            </a:pPr>
            <a:endParaRPr lang="en-US" altLang="zh-CN" sz="1800" dirty="0"/>
          </a:p>
          <a:p>
            <a:pPr eaLnBrk="1" hangingPunct="1">
              <a:spcBef>
                <a:spcPts val="0"/>
              </a:spcBef>
              <a:spcAft>
                <a:spcPts val="1200"/>
              </a:spcAft>
              <a:defRPr/>
            </a:pPr>
            <a:endParaRPr lang="zh-CN" altLang="en-US" sz="2400" dirty="0"/>
          </a:p>
        </p:txBody>
      </p:sp>
      <p:sp>
        <p:nvSpPr>
          <p:cNvPr id="23556" name="页脚占位符 1">
            <a:extLst>
              <a:ext uri="{FF2B5EF4-FFF2-40B4-BE49-F238E27FC236}">
                <a16:creationId xmlns:a16="http://schemas.microsoft.com/office/drawing/2014/main" id="{E93F76E1-DB8D-49BD-9575-185DD06F17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数字逻辑设计进阶实验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7" name="灯片编号占位符 2">
            <a:extLst>
              <a:ext uri="{FF2B5EF4-FFF2-40B4-BE49-F238E27FC236}">
                <a16:creationId xmlns:a16="http://schemas.microsoft.com/office/drawing/2014/main" id="{00120579-0284-4D55-8506-4275CBB2B6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0930E-2265-4A0B-94A4-F48B63590D63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8" name="日期占位符 3">
            <a:extLst>
              <a:ext uri="{FF2B5EF4-FFF2-40B4-BE49-F238E27FC236}">
                <a16:creationId xmlns:a16="http://schemas.microsoft.com/office/drawing/2014/main" id="{2C8EA80F-DED2-4163-8961-B0B0C0513E0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86469C-1026-4C28-B212-43DB45730CAC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2024/11/14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84">
            <a:extLst>
              <a:ext uri="{FF2B5EF4-FFF2-40B4-BE49-F238E27FC236}">
                <a16:creationId xmlns:a16="http://schemas.microsoft.com/office/drawing/2014/main" id="{BB756F8C-901D-4D73-807D-6633CAC46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376" y="3652293"/>
            <a:ext cx="1393210" cy="107996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108000" rIns="0" bIns="0" anchor="ctr" anchorCtr="1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SDU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5" name="TextBox 34">
            <a:extLst>
              <a:ext uri="{FF2B5EF4-FFF2-40B4-BE49-F238E27FC236}">
                <a16:creationId xmlns:a16="http://schemas.microsoft.com/office/drawing/2014/main" id="{656B7DF5-4E7D-4537-9D7F-DD906A538BB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449527" y="3966505"/>
            <a:ext cx="62" cy="15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TextBox 34">
            <a:extLst>
              <a:ext uri="{FF2B5EF4-FFF2-40B4-BE49-F238E27FC236}">
                <a16:creationId xmlns:a16="http://schemas.microsoft.com/office/drawing/2014/main" id="{0F8C4AF9-0B5E-4560-AED0-519D125ED48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449527" y="4332447"/>
            <a:ext cx="62" cy="15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" name="文本框 84">
            <a:extLst>
              <a:ext uri="{FF2B5EF4-FFF2-40B4-BE49-F238E27FC236}">
                <a16:creationId xmlns:a16="http://schemas.microsoft.com/office/drawing/2014/main" id="{735F4BBC-5565-4426-B21F-0DEF29E13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3645024"/>
            <a:ext cx="1559325" cy="107996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CPU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MEM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9" name="文本框 84">
            <a:extLst>
              <a:ext uri="{FF2B5EF4-FFF2-40B4-BE49-F238E27FC236}">
                <a16:creationId xmlns:a16="http://schemas.microsoft.com/office/drawing/2014/main" id="{C68753D4-F8F4-4D9D-AAB5-E51078D4B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135" y="3652293"/>
            <a:ext cx="1246577" cy="1079961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 anchorCtr="1"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个人电脑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箭头: 左右 3">
            <a:extLst>
              <a:ext uri="{FF2B5EF4-FFF2-40B4-BE49-F238E27FC236}">
                <a16:creationId xmlns:a16="http://schemas.microsoft.com/office/drawing/2014/main" id="{4F4FE039-0AC9-40E5-9DE2-318F46F1ACD5}"/>
              </a:ext>
            </a:extLst>
          </p:cNvPr>
          <p:cNvSpPr/>
          <p:nvPr/>
        </p:nvSpPr>
        <p:spPr bwMode="auto">
          <a:xfrm>
            <a:off x="5341642" y="4048335"/>
            <a:ext cx="933493" cy="273339"/>
          </a:xfrm>
          <a:prstGeom prst="leftRightArrow">
            <a:avLst>
              <a:gd name="adj1" fmla="val 50000"/>
              <a:gd name="adj2" fmla="val 72468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箭头: 左右 26">
            <a:extLst>
              <a:ext uri="{FF2B5EF4-FFF2-40B4-BE49-F238E27FC236}">
                <a16:creationId xmlns:a16="http://schemas.microsoft.com/office/drawing/2014/main" id="{116D1998-EFD5-404F-A371-55E57985FAB2}"/>
              </a:ext>
            </a:extLst>
          </p:cNvPr>
          <p:cNvSpPr/>
          <p:nvPr/>
        </p:nvSpPr>
        <p:spPr bwMode="auto">
          <a:xfrm>
            <a:off x="2984029" y="4075805"/>
            <a:ext cx="933493" cy="273339"/>
          </a:xfrm>
          <a:prstGeom prst="leftRightArrow">
            <a:avLst>
              <a:gd name="adj1" fmla="val 50000"/>
              <a:gd name="adj2" fmla="val 72468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597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47DFEB18-09B8-4928-8E8B-602D897CC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SDU</a:t>
            </a:r>
            <a:r>
              <a:rPr lang="zh-CN" altLang="en-US"/>
              <a:t>接口</a:t>
            </a:r>
            <a:endParaRPr lang="zh-CN" altLang="en-US" dirty="0"/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B82024B9-9288-4AEF-A899-26441A96F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76870"/>
            <a:ext cx="4535611" cy="4768355"/>
          </a:xfrm>
        </p:spPr>
        <p:txBody>
          <a:bodyPr/>
          <a:lstStyle/>
          <a:p>
            <a:pPr eaLnBrk="1" hangingPunct="1">
              <a:spcBef>
                <a:spcPts val="300"/>
              </a:spcBef>
              <a:defRPr/>
            </a:pPr>
            <a:r>
              <a:rPr lang="zh-CN" altLang="en-US" sz="2400" dirty="0"/>
              <a:t>控制</a:t>
            </a:r>
            <a:r>
              <a:rPr lang="en-US" altLang="zh-CN" sz="2400" dirty="0"/>
              <a:t>CPU</a:t>
            </a:r>
            <a:r>
              <a:rPr lang="zh-CN" altLang="en-US" sz="2400" dirty="0"/>
              <a:t>运行方式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工作时钟：</a:t>
            </a:r>
            <a:r>
              <a:rPr lang="en-US" altLang="zh-CN" sz="2000" dirty="0" err="1"/>
              <a:t>clk_cpu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当前执行指令指针：</a:t>
            </a:r>
            <a:r>
              <a:rPr lang="en-US" altLang="zh-CN" sz="2000" dirty="0" err="1"/>
              <a:t>pc_chk</a:t>
            </a:r>
            <a:endParaRPr lang="en-US" altLang="zh-CN" sz="2000" dirty="0"/>
          </a:p>
          <a:p>
            <a:pPr eaLnBrk="1" hangingPunct="1">
              <a:spcBef>
                <a:spcPts val="1200"/>
              </a:spcBef>
              <a:defRPr/>
            </a:pPr>
            <a:r>
              <a:rPr lang="zh-CN" altLang="en-US" sz="2400" dirty="0"/>
              <a:t>查看</a:t>
            </a:r>
            <a:r>
              <a:rPr lang="en-US" altLang="zh-CN" sz="2400" dirty="0"/>
              <a:t>CPU</a:t>
            </a:r>
            <a:r>
              <a:rPr lang="zh-CN" altLang="en-US" sz="2400" dirty="0"/>
              <a:t>运行状态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数据通路：</a:t>
            </a:r>
            <a:r>
              <a:rPr lang="en-US" altLang="zh-CN" sz="2000" dirty="0" err="1"/>
              <a:t>npc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pc,</a:t>
            </a:r>
            <a:r>
              <a:rPr lang="zh-CN" altLang="en-US" sz="2000" dirty="0"/>
              <a:t> </a:t>
            </a:r>
            <a:r>
              <a:rPr lang="en-US" altLang="zh-CN" sz="2000" dirty="0" err="1"/>
              <a:t>ir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…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寄存器堆：</a:t>
            </a:r>
            <a:r>
              <a:rPr lang="en-US" altLang="zh-CN" sz="2000" dirty="0" err="1"/>
              <a:t>addr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dout_rf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存储器：</a:t>
            </a:r>
            <a:r>
              <a:rPr lang="en-US" altLang="zh-CN" sz="2000" dirty="0" err="1">
                <a:solidFill>
                  <a:srgbClr val="0070C0"/>
                </a:solidFill>
              </a:rPr>
              <a:t>addr</a:t>
            </a:r>
            <a:r>
              <a:rPr lang="en-US" altLang="zh-CN" sz="2000" dirty="0">
                <a:solidFill>
                  <a:srgbClr val="0070C0"/>
                </a:solidFill>
              </a:rPr>
              <a:t>, </a:t>
            </a:r>
            <a:r>
              <a:rPr lang="en-US" altLang="zh-CN" sz="2000" dirty="0" err="1">
                <a:solidFill>
                  <a:srgbClr val="0070C0"/>
                </a:solidFill>
              </a:rPr>
              <a:t>dout_dm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dout_im</a:t>
            </a:r>
            <a:endParaRPr lang="en-US" altLang="zh-CN" sz="2000" dirty="0"/>
          </a:p>
          <a:p>
            <a:pPr eaLnBrk="1" hangingPunct="1">
              <a:spcBef>
                <a:spcPts val="1200"/>
              </a:spcBef>
              <a:defRPr/>
            </a:pPr>
            <a:r>
              <a:rPr lang="zh-CN" altLang="en-US" sz="2400" dirty="0"/>
              <a:t>加载指令和数据存储器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写地址：</a:t>
            </a:r>
            <a:r>
              <a:rPr lang="en-US" altLang="zh-CN" sz="2000" dirty="0" err="1">
                <a:solidFill>
                  <a:srgbClr val="0070C0"/>
                </a:solidFill>
              </a:rPr>
              <a:t>addr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写数据：</a:t>
            </a:r>
            <a:r>
              <a:rPr lang="en-US" altLang="zh-CN" sz="2000" dirty="0">
                <a:solidFill>
                  <a:srgbClr val="0070C0"/>
                </a:solidFill>
              </a:rPr>
              <a:t>din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写使能：</a:t>
            </a:r>
            <a:r>
              <a:rPr lang="en-US" altLang="zh-CN" sz="2000" dirty="0" err="1">
                <a:solidFill>
                  <a:srgbClr val="0070C0"/>
                </a:solidFill>
              </a:rPr>
              <a:t>we_dm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we_im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写时钟：</a:t>
            </a:r>
            <a:r>
              <a:rPr lang="en-US" altLang="zh-CN" sz="2000" dirty="0" err="1">
                <a:solidFill>
                  <a:srgbClr val="0070C0"/>
                </a:solidFill>
              </a:rPr>
              <a:t>clk_ld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eaLnBrk="1" hangingPunct="1">
              <a:spcBef>
                <a:spcPts val="300"/>
              </a:spcBef>
              <a:defRPr/>
            </a:pPr>
            <a:endParaRPr lang="en-US" altLang="zh-CN" sz="2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ABEAB9D-2E5F-4D46-8622-F90C77AA0106}"/>
              </a:ext>
            </a:extLst>
          </p:cNvPr>
          <p:cNvGrpSpPr/>
          <p:nvPr/>
        </p:nvGrpSpPr>
        <p:grpSpPr>
          <a:xfrm>
            <a:off x="5120685" y="1711505"/>
            <a:ext cx="3383124" cy="4239853"/>
            <a:chOff x="4940665" y="1711505"/>
            <a:chExt cx="3383124" cy="4239853"/>
          </a:xfrm>
        </p:grpSpPr>
        <p:sp>
          <p:nvSpPr>
            <p:cNvPr id="27" name="文本框 84">
              <a:extLst>
                <a:ext uri="{FF2B5EF4-FFF2-40B4-BE49-F238E27FC236}">
                  <a16:creationId xmlns:a16="http://schemas.microsoft.com/office/drawing/2014/main" id="{BFAFAB39-3C7A-49AC-B703-E1EE232DF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500083" y="1711505"/>
              <a:ext cx="916001" cy="423985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SDU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1DF1B11-B76E-4D44-A798-5A35C98A163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09612" y="3538439"/>
              <a:ext cx="438752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34">
              <a:extLst>
                <a:ext uri="{FF2B5EF4-FFF2-40B4-BE49-F238E27FC236}">
                  <a16:creationId xmlns:a16="http://schemas.microsoft.com/office/drawing/2014/main" id="{98A23C2D-9887-4E29-91DC-3F446F649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4545" y="3317983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rxd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254FC71-2C8E-4A21-A0B8-87DA82DCBDE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31324" y="4059780"/>
              <a:ext cx="41704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34">
              <a:extLst>
                <a:ext uri="{FF2B5EF4-FFF2-40B4-BE49-F238E27FC236}">
                  <a16:creationId xmlns:a16="http://schemas.microsoft.com/office/drawing/2014/main" id="{32BCE737-B719-4906-BCD7-31BD80EFE3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3711" y="3833465"/>
              <a:ext cx="370078" cy="384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xd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58160E7F-829B-44FE-ABAC-9DB137CD07C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78414" y="1938572"/>
              <a:ext cx="43795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34">
              <a:extLst>
                <a:ext uri="{FF2B5EF4-FFF2-40B4-BE49-F238E27FC236}">
                  <a16:creationId xmlns:a16="http://schemas.microsoft.com/office/drawing/2014/main" id="{935FBA7D-1F40-4109-AEC4-7EBC0D3B5F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069103" y="1728779"/>
              <a:ext cx="87043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lk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_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cpu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91D457A7-6093-4338-B16B-9C273937B73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78414" y="2227043"/>
              <a:ext cx="44126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34">
              <a:extLst>
                <a:ext uri="{FF2B5EF4-FFF2-40B4-BE49-F238E27FC236}">
                  <a16:creationId xmlns:a16="http://schemas.microsoft.com/office/drawing/2014/main" id="{9F270391-745A-4455-873F-FD836D262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49733" y="2030667"/>
              <a:ext cx="8127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p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c_chk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2971F004-72E4-456F-9772-E4C57486EC3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78414" y="4427541"/>
              <a:ext cx="44126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34">
              <a:extLst>
                <a:ext uri="{FF2B5EF4-FFF2-40B4-BE49-F238E27FC236}">
                  <a16:creationId xmlns:a16="http://schemas.microsoft.com/office/drawing/2014/main" id="{2E20E4BB-2535-4C19-B7D5-3884F4726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050347" y="4258147"/>
              <a:ext cx="91210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out_im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C6D5F7C5-342D-41CB-AF7D-16DAECF07D7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78414" y="4838493"/>
              <a:ext cx="43795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34">
              <a:extLst>
                <a:ext uri="{FF2B5EF4-FFF2-40B4-BE49-F238E27FC236}">
                  <a16:creationId xmlns:a16="http://schemas.microsoft.com/office/drawing/2014/main" id="{EFC88FE3-4AAD-4177-AC9D-95990C697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596490" y="4671750"/>
              <a:ext cx="34304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din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3A165AAA-BF30-4B70-B323-FDC2FE74896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69906" y="5135545"/>
              <a:ext cx="43795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34">
              <a:extLst>
                <a:ext uri="{FF2B5EF4-FFF2-40B4-BE49-F238E27FC236}">
                  <a16:creationId xmlns:a16="http://schemas.microsoft.com/office/drawing/2014/main" id="{B4E278A7-9C6B-45F2-A08A-43F2104F5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03876" y="4946383"/>
              <a:ext cx="8271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w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e_dm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7BF72B7E-E368-4387-8F11-C654C92B6FA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77920" y="2643045"/>
              <a:ext cx="44126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34">
              <a:extLst>
                <a:ext uri="{FF2B5EF4-FFF2-40B4-BE49-F238E27FC236}">
                  <a16:creationId xmlns:a16="http://schemas.microsoft.com/office/drawing/2014/main" id="{7810E651-AA6D-4F5B-A5B3-54EEF36EF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548387" y="2446669"/>
              <a:ext cx="4135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npc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210CB5A9-27C3-443C-A217-09941DA4C66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77920" y="2924754"/>
              <a:ext cx="44126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34">
              <a:extLst>
                <a:ext uri="{FF2B5EF4-FFF2-40B4-BE49-F238E27FC236}">
                  <a16:creationId xmlns:a16="http://schemas.microsoft.com/office/drawing/2014/main" id="{FF539C13-3734-4EA8-B058-0D63A7F795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691054" y="2728378"/>
              <a:ext cx="27090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pc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82" name="TextBox 34">
              <a:extLst>
                <a:ext uri="{FF2B5EF4-FFF2-40B4-BE49-F238E27FC236}">
                  <a16:creationId xmlns:a16="http://schemas.microsoft.com/office/drawing/2014/main" id="{649BE003-C5D6-4FBF-A7F8-8BCBCFBD8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666823" y="2961657"/>
              <a:ext cx="51296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……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DA542499-4B56-4D2B-AD6A-B1F29CDBE5A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53692" y="3528427"/>
              <a:ext cx="437950" cy="0"/>
            </a:xfrm>
            <a:prstGeom prst="line">
              <a:avLst/>
            </a:prstGeom>
            <a:ln w="317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34">
              <a:extLst>
                <a:ext uri="{FF2B5EF4-FFF2-40B4-BE49-F238E27FC236}">
                  <a16:creationId xmlns:a16="http://schemas.microsoft.com/office/drawing/2014/main" id="{3050F21B-0E52-4628-88E1-26E0443DD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435991" y="3363563"/>
              <a:ext cx="51296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ddr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872B87AD-26A4-400A-9960-00061B47324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65843" y="3834414"/>
              <a:ext cx="44126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34">
              <a:extLst>
                <a:ext uri="{FF2B5EF4-FFF2-40B4-BE49-F238E27FC236}">
                  <a16:creationId xmlns:a16="http://schemas.microsoft.com/office/drawing/2014/main" id="{84E3721C-01EC-4E04-BB54-93F1022C9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53192" y="3665020"/>
              <a:ext cx="79669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out_rf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8BE40A4A-936A-4EEA-A49B-742C692121D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78414" y="5734591"/>
              <a:ext cx="43795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34">
              <a:extLst>
                <a:ext uri="{FF2B5EF4-FFF2-40B4-BE49-F238E27FC236}">
                  <a16:creationId xmlns:a16="http://schemas.microsoft.com/office/drawing/2014/main" id="{574F375C-2084-4C49-840E-898C81103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282302" y="5524798"/>
              <a:ext cx="6572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lk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_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ld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BA7E55D4-7CC9-4006-AFC8-A73A7F53D70E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53692" y="4137995"/>
              <a:ext cx="441260" cy="0"/>
            </a:xfrm>
            <a:prstGeom prst="line">
              <a:avLst/>
            </a:prstGeom>
            <a:ln w="317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34">
              <a:extLst>
                <a:ext uri="{FF2B5EF4-FFF2-40B4-BE49-F238E27FC236}">
                  <a16:creationId xmlns:a16="http://schemas.microsoft.com/office/drawing/2014/main" id="{DEE016D4-8311-4B60-B46A-F7AB3FB5E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940665" y="3968601"/>
              <a:ext cx="99706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dout_dm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3DEE5194-E4BA-490D-88A5-B7FF040B640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062134" y="5433860"/>
              <a:ext cx="43795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34">
              <a:extLst>
                <a:ext uri="{FF2B5EF4-FFF2-40B4-BE49-F238E27FC236}">
                  <a16:creationId xmlns:a16="http://schemas.microsoft.com/office/drawing/2014/main" id="{CB57C328-FB96-43F8-A531-4D27D4408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181063" y="5244698"/>
              <a:ext cx="74219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w</a:t>
              </a: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e_im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46" name="页脚占位符 1">
            <a:extLst>
              <a:ext uri="{FF2B5EF4-FFF2-40B4-BE49-F238E27FC236}">
                <a16:creationId xmlns:a16="http://schemas.microsoft.com/office/drawing/2014/main" id="{56071753-DECA-4A92-8014-95FAD3AA3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数字逻辑设计进阶实验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灯片编号占位符 2">
            <a:extLst>
              <a:ext uri="{FF2B5EF4-FFF2-40B4-BE49-F238E27FC236}">
                <a16:creationId xmlns:a16="http://schemas.microsoft.com/office/drawing/2014/main" id="{A9E4DF28-42C7-41AA-A5AE-D498095707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0930E-2265-4A0B-94A4-F48B63590D63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日期占位符 3">
            <a:extLst>
              <a:ext uri="{FF2B5EF4-FFF2-40B4-BE49-F238E27FC236}">
                <a16:creationId xmlns:a16="http://schemas.microsoft.com/office/drawing/2014/main" id="{575CFE4A-E6EF-407A-BF37-547D60AA6D9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9D440D-45D3-4A06-90A0-DE1FE81BD75D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2024/11/14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TextBox 32">
            <a:extLst>
              <a:ext uri="{FF2B5EF4-FFF2-40B4-BE49-F238E27FC236}">
                <a16:creationId xmlns:a16="http://schemas.microsoft.com/office/drawing/2014/main" id="{0D4EA04F-849B-4B5C-A870-5106D0C85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1616" y="5526919"/>
            <a:ext cx="31418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 err="1">
                <a:latin typeface="Arial" panose="020B0604020202020204" pitchFamily="34" charset="0"/>
                <a:cs typeface="Arial" panose="020B0604020202020204" pitchFamily="34" charset="0"/>
              </a:rPr>
              <a:t>clk</a:t>
            </a:r>
            <a:endParaRPr lang="zh-CN" alt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2">
            <a:extLst>
              <a:ext uri="{FF2B5EF4-FFF2-40B4-BE49-F238E27FC236}">
                <a16:creationId xmlns:a16="http://schemas.microsoft.com/office/drawing/2014/main" id="{8FB9B510-48F3-4F43-93A4-3170EBCC5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0461" y="5233292"/>
            <a:ext cx="4263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 dirty="0" err="1">
                <a:latin typeface="Arial" panose="020B0604020202020204" pitchFamily="34" charset="0"/>
                <a:cs typeface="Arial" panose="020B0604020202020204" pitchFamily="34" charset="0"/>
              </a:rPr>
              <a:t>rstn</a:t>
            </a:r>
            <a:endParaRPr lang="zh-CN" alt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F227EE2-8058-4E55-8DD2-2F457BD3F808}"/>
              </a:ext>
            </a:extLst>
          </p:cNvPr>
          <p:cNvCxnSpPr>
            <a:cxnSpLocks/>
          </p:cNvCxnSpPr>
          <p:nvPr/>
        </p:nvCxnSpPr>
        <p:spPr bwMode="auto">
          <a:xfrm flipH="1">
            <a:off x="7605855" y="5723884"/>
            <a:ext cx="422529" cy="0"/>
          </a:xfrm>
          <a:prstGeom prst="line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E418350-C159-455A-85D0-DF5126AB6914}"/>
              </a:ext>
            </a:extLst>
          </p:cNvPr>
          <p:cNvCxnSpPr>
            <a:cxnSpLocks/>
          </p:cNvCxnSpPr>
          <p:nvPr/>
        </p:nvCxnSpPr>
        <p:spPr bwMode="auto">
          <a:xfrm flipH="1">
            <a:off x="7605854" y="5401325"/>
            <a:ext cx="422530" cy="0"/>
          </a:xfrm>
          <a:prstGeom prst="line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051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47DFEB18-09B8-4928-8E8B-602D897CC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SDU</a:t>
            </a:r>
            <a:r>
              <a:rPr lang="zh-CN" altLang="en-US"/>
              <a:t>调试</a:t>
            </a:r>
            <a:r>
              <a:rPr lang="zh-CN" altLang="en-US" dirty="0"/>
              <a:t>命令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B82024B9-9288-4AEF-A899-26441A96F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6772"/>
            <a:ext cx="8229600" cy="4768355"/>
          </a:xfrm>
        </p:spPr>
        <p:txBody>
          <a:bodyPr/>
          <a:lstStyle/>
          <a:p>
            <a:pPr eaLnBrk="1" hangingPunct="1">
              <a:spcBef>
                <a:spcPts val="1200"/>
              </a:spcBef>
              <a:defRPr/>
            </a:pPr>
            <a:r>
              <a:rPr lang="zh-CN" altLang="en-US" sz="2400" dirty="0"/>
              <a:t>控制运行方式</a:t>
            </a:r>
            <a:endParaRPr lang="en-US" altLang="zh-CN" sz="2400" b="1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T</a:t>
            </a:r>
            <a:r>
              <a:rPr lang="zh-CN" altLang="en-US" sz="2000" dirty="0"/>
              <a:t>：</a:t>
            </a:r>
            <a:r>
              <a:rPr lang="en-US" altLang="zh-CN" sz="2000" dirty="0"/>
              <a:t>S</a:t>
            </a:r>
            <a:r>
              <a:rPr lang="en-US" altLang="zh-CN" sz="2000" b="1" u="sng" dirty="0"/>
              <a:t>t</a:t>
            </a:r>
            <a:r>
              <a:rPr lang="en-US" altLang="zh-CN" sz="2000" dirty="0"/>
              <a:t>ep, CPU</a:t>
            </a:r>
            <a:r>
              <a:rPr lang="zh-CN" altLang="en-US" sz="2000" dirty="0"/>
              <a:t>单步运行，运行</a:t>
            </a:r>
            <a:r>
              <a:rPr lang="en-US" altLang="zh-CN" sz="2000" dirty="0"/>
              <a:t>1</a:t>
            </a:r>
            <a:r>
              <a:rPr lang="zh-CN" altLang="en-US" sz="2000" dirty="0"/>
              <a:t>个时钟周期即停止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B</a:t>
            </a:r>
            <a:r>
              <a:rPr lang="zh-CN" altLang="en-US" sz="2000" dirty="0"/>
              <a:t>：</a:t>
            </a:r>
            <a:r>
              <a:rPr lang="en-US" altLang="zh-CN" sz="2000" b="1" u="sng" dirty="0"/>
              <a:t>B</a:t>
            </a:r>
            <a:r>
              <a:rPr lang="en-US" altLang="zh-CN" sz="2000" dirty="0"/>
              <a:t>reakpoint,</a:t>
            </a:r>
            <a:r>
              <a:rPr lang="zh-CN" altLang="en-US" sz="2000" dirty="0"/>
              <a:t> 设置</a:t>
            </a:r>
            <a:r>
              <a:rPr lang="en-US" altLang="zh-CN" sz="2000" dirty="0"/>
              <a:t>/</a:t>
            </a:r>
            <a:r>
              <a:rPr lang="zh-CN" altLang="en-US" sz="2000" dirty="0"/>
              <a:t>删除</a:t>
            </a:r>
            <a:r>
              <a:rPr lang="en-US" altLang="zh-CN" sz="2000" dirty="0"/>
              <a:t>/</a:t>
            </a:r>
            <a:r>
              <a:rPr lang="zh-CN" altLang="en-US" sz="2000" dirty="0"/>
              <a:t>查看断点，最多可有</a:t>
            </a:r>
            <a:r>
              <a:rPr lang="en-US" altLang="zh-CN" sz="2000" dirty="0"/>
              <a:t>2</a:t>
            </a:r>
            <a:r>
              <a:rPr lang="zh-CN" altLang="en-US" sz="2000" dirty="0"/>
              <a:t>个断点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G</a:t>
            </a:r>
            <a:r>
              <a:rPr lang="zh-CN" altLang="en-US" sz="2000" dirty="0"/>
              <a:t>：</a:t>
            </a:r>
            <a:r>
              <a:rPr lang="en-US" altLang="zh-CN" sz="2000" b="1" u="sng" dirty="0"/>
              <a:t>G</a:t>
            </a:r>
            <a:r>
              <a:rPr lang="en-US" altLang="zh-CN" sz="2000" dirty="0"/>
              <a:t>o, CPU</a:t>
            </a:r>
            <a:r>
              <a:rPr lang="zh-CN" altLang="en-US" sz="2000" dirty="0"/>
              <a:t>连续运行，遇到断点或收到停止命令</a:t>
            </a:r>
            <a:r>
              <a:rPr lang="en-US" altLang="zh-CN" sz="2000" dirty="0"/>
              <a:t>H</a:t>
            </a:r>
            <a:r>
              <a:rPr lang="zh-CN" altLang="en-US" sz="2000" dirty="0"/>
              <a:t>则停止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H</a:t>
            </a:r>
            <a:r>
              <a:rPr lang="zh-CN" altLang="en-US" sz="2000" dirty="0"/>
              <a:t>：</a:t>
            </a:r>
            <a:r>
              <a:rPr lang="en-US" altLang="zh-CN" sz="2000" b="1" u="sng" dirty="0"/>
              <a:t>H</a:t>
            </a:r>
            <a:r>
              <a:rPr lang="en-US" altLang="zh-CN" sz="2000" dirty="0"/>
              <a:t>alt, </a:t>
            </a:r>
            <a:r>
              <a:rPr lang="zh-CN" altLang="en-US" sz="2000" dirty="0"/>
              <a:t>停止</a:t>
            </a:r>
            <a:r>
              <a:rPr lang="en-US" altLang="zh-CN" sz="2000" dirty="0"/>
              <a:t>CPU</a:t>
            </a:r>
            <a:r>
              <a:rPr lang="zh-CN" altLang="en-US" sz="2000" dirty="0"/>
              <a:t>运行</a:t>
            </a:r>
            <a:endParaRPr lang="en-US" altLang="zh-CN" sz="2000" dirty="0"/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sz="2400" dirty="0"/>
              <a:t>查看运行状态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P</a:t>
            </a:r>
            <a:r>
              <a:rPr lang="zh-CN" altLang="en-US" sz="2000" dirty="0"/>
              <a:t>：</a:t>
            </a:r>
            <a:r>
              <a:rPr lang="en-US" altLang="zh-CN" sz="2000" dirty="0"/>
              <a:t> Data</a:t>
            </a:r>
            <a:r>
              <a:rPr lang="en-US" altLang="zh-CN" sz="2000" b="1" u="sng" dirty="0"/>
              <a:t>p</a:t>
            </a:r>
            <a:r>
              <a:rPr lang="en-US" altLang="zh-CN" sz="2000" dirty="0"/>
              <a:t>ath, </a:t>
            </a:r>
            <a:r>
              <a:rPr lang="zh-CN" altLang="en-US" sz="2000" dirty="0"/>
              <a:t>查看数据通路状态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R</a:t>
            </a:r>
            <a:r>
              <a:rPr lang="zh-CN" altLang="en-US" sz="2000" dirty="0"/>
              <a:t>：</a:t>
            </a:r>
            <a:r>
              <a:rPr lang="en-US" altLang="zh-CN" sz="2000" b="1" u="sng" dirty="0"/>
              <a:t>R</a:t>
            </a:r>
            <a:r>
              <a:rPr lang="en-US" altLang="zh-CN" sz="2000" dirty="0"/>
              <a:t>egister File, </a:t>
            </a:r>
            <a:r>
              <a:rPr lang="zh-CN" altLang="en-US" sz="2000" dirty="0"/>
              <a:t>查看寄存器堆内容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>
                <a:solidFill>
                  <a:srgbClr val="0070C0"/>
                </a:solidFill>
              </a:rPr>
              <a:t>D</a:t>
            </a:r>
            <a:r>
              <a:rPr lang="zh-CN" altLang="en-US" sz="2000" dirty="0">
                <a:solidFill>
                  <a:srgbClr val="0070C0"/>
                </a:solidFill>
              </a:rPr>
              <a:t>：</a:t>
            </a:r>
            <a:r>
              <a:rPr lang="en-US" altLang="zh-CN" sz="2000" b="1" u="sng" dirty="0">
                <a:solidFill>
                  <a:srgbClr val="0070C0"/>
                </a:solidFill>
              </a:rPr>
              <a:t>D</a:t>
            </a:r>
            <a:r>
              <a:rPr lang="en-US" altLang="zh-CN" sz="2000" dirty="0">
                <a:solidFill>
                  <a:srgbClr val="0070C0"/>
                </a:solidFill>
              </a:rPr>
              <a:t>ata Memory, </a:t>
            </a:r>
            <a:r>
              <a:rPr lang="zh-CN" altLang="en-US" sz="2000" dirty="0">
                <a:solidFill>
                  <a:srgbClr val="0070C0"/>
                </a:solidFill>
              </a:rPr>
              <a:t>查看数据存储器内容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I</a:t>
            </a:r>
            <a:r>
              <a:rPr lang="zh-CN" altLang="en-US" sz="2000" dirty="0"/>
              <a:t>：</a:t>
            </a:r>
            <a:r>
              <a:rPr lang="en-US" altLang="zh-CN" sz="2000" b="1" u="sng" dirty="0"/>
              <a:t>I</a:t>
            </a:r>
            <a:r>
              <a:rPr lang="en-US" altLang="zh-CN" sz="2000" dirty="0"/>
              <a:t>nstruction Memory, </a:t>
            </a:r>
            <a:r>
              <a:rPr lang="zh-CN" altLang="en-US" sz="2000" dirty="0"/>
              <a:t>查看指令存储器内容</a:t>
            </a:r>
            <a:endParaRPr lang="en-US" altLang="zh-CN" sz="2000" dirty="0"/>
          </a:p>
          <a:p>
            <a:pPr eaLnBrk="1" hangingPunct="1">
              <a:spcBef>
                <a:spcPts val="600"/>
              </a:spcBef>
              <a:defRPr/>
            </a:pPr>
            <a:r>
              <a:rPr lang="zh-CN" altLang="en-US" sz="2400" dirty="0"/>
              <a:t>加载存储器</a:t>
            </a:r>
            <a:endParaRPr lang="en-US" altLang="zh-CN" sz="2400" b="1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>
                <a:solidFill>
                  <a:srgbClr val="0070C0"/>
                </a:solidFill>
              </a:rPr>
              <a:t>LD</a:t>
            </a:r>
            <a:r>
              <a:rPr lang="zh-CN" altLang="en-US" sz="2000" dirty="0">
                <a:solidFill>
                  <a:srgbClr val="0070C0"/>
                </a:solidFill>
              </a:rPr>
              <a:t>：</a:t>
            </a:r>
            <a:r>
              <a:rPr lang="en-US" altLang="zh-CN" sz="2000" b="1" u="sng" dirty="0">
                <a:solidFill>
                  <a:srgbClr val="0070C0"/>
                </a:solidFill>
              </a:rPr>
              <a:t>L</a:t>
            </a:r>
            <a:r>
              <a:rPr lang="en-US" altLang="zh-CN" sz="2000" dirty="0">
                <a:solidFill>
                  <a:srgbClr val="0070C0"/>
                </a:solidFill>
              </a:rPr>
              <a:t>oad </a:t>
            </a:r>
            <a:r>
              <a:rPr lang="en-US" altLang="zh-CN" sz="2000" b="1" u="sng" dirty="0">
                <a:solidFill>
                  <a:srgbClr val="0070C0"/>
                </a:solidFill>
              </a:rPr>
              <a:t>D</a:t>
            </a:r>
            <a:r>
              <a:rPr lang="en-US" altLang="zh-CN" sz="2000" dirty="0">
                <a:solidFill>
                  <a:srgbClr val="0070C0"/>
                </a:solidFill>
              </a:rPr>
              <a:t>ata, </a:t>
            </a:r>
            <a:r>
              <a:rPr lang="zh-CN" altLang="en-US" sz="2000" dirty="0">
                <a:solidFill>
                  <a:srgbClr val="0070C0"/>
                </a:solidFill>
              </a:rPr>
              <a:t>将数据加载至数据存储器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LI</a:t>
            </a:r>
            <a:r>
              <a:rPr lang="zh-CN" altLang="en-US" sz="2000" dirty="0"/>
              <a:t>：</a:t>
            </a:r>
            <a:r>
              <a:rPr lang="en-US" altLang="zh-CN" sz="2000" b="1" u="sng" dirty="0"/>
              <a:t>L</a:t>
            </a:r>
            <a:r>
              <a:rPr lang="en-US" altLang="zh-CN" sz="2000" dirty="0"/>
              <a:t>oad </a:t>
            </a:r>
            <a:r>
              <a:rPr lang="en-US" altLang="zh-CN" sz="2000" b="1" u="sng" dirty="0"/>
              <a:t>I</a:t>
            </a:r>
            <a:r>
              <a:rPr lang="en-US" altLang="zh-CN" sz="2000" dirty="0"/>
              <a:t>nstruction, </a:t>
            </a:r>
            <a:r>
              <a:rPr lang="zh-CN" altLang="en-US" sz="2000" dirty="0"/>
              <a:t>将程序加载至指令存储器</a:t>
            </a:r>
            <a:endParaRPr lang="en-US" altLang="zh-CN" sz="2000" dirty="0"/>
          </a:p>
          <a:p>
            <a:pPr eaLnBrk="1" hangingPunct="1">
              <a:spcBef>
                <a:spcPts val="300"/>
              </a:spcBef>
              <a:defRPr/>
            </a:pPr>
            <a:endParaRPr lang="en-US" altLang="zh-CN" sz="2400" b="1" dirty="0"/>
          </a:p>
          <a:p>
            <a:pPr eaLnBrk="1" hangingPunct="1">
              <a:spcBef>
                <a:spcPts val="300"/>
              </a:spcBef>
              <a:defRPr/>
            </a:pPr>
            <a:endParaRPr lang="en-US" altLang="zh-CN" sz="2400" b="1" dirty="0"/>
          </a:p>
        </p:txBody>
      </p:sp>
      <p:sp>
        <p:nvSpPr>
          <p:cNvPr id="23556" name="页脚占位符 1">
            <a:extLst>
              <a:ext uri="{FF2B5EF4-FFF2-40B4-BE49-F238E27FC236}">
                <a16:creationId xmlns:a16="http://schemas.microsoft.com/office/drawing/2014/main" id="{E93F76E1-DB8D-49BD-9575-185DD06F17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数字逻辑设计进阶实验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7" name="灯片编号占位符 2">
            <a:extLst>
              <a:ext uri="{FF2B5EF4-FFF2-40B4-BE49-F238E27FC236}">
                <a16:creationId xmlns:a16="http://schemas.microsoft.com/office/drawing/2014/main" id="{00120579-0284-4D55-8506-4275CBB2B6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0930E-2265-4A0B-94A4-F48B63590D63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8" name="日期占位符 3">
            <a:extLst>
              <a:ext uri="{FF2B5EF4-FFF2-40B4-BE49-F238E27FC236}">
                <a16:creationId xmlns:a16="http://schemas.microsoft.com/office/drawing/2014/main" id="{2C8EA80F-DED2-4163-8961-B0B0C0513E0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16587F-BFA8-497F-BC5F-4E9562A8C110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2024/11/14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827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47DFEB18-09B8-4928-8E8B-602D897CC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SDU</a:t>
            </a:r>
            <a:r>
              <a:rPr lang="zh-CN" altLang="en-US"/>
              <a:t>调试</a:t>
            </a:r>
            <a:r>
              <a:rPr lang="zh-CN" altLang="en-US" dirty="0"/>
              <a:t>命令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1)</a:t>
            </a:r>
            <a:endParaRPr lang="zh-CN" altLang="en-US" dirty="0"/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B82024B9-9288-4AEF-A899-26441A96F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6772"/>
            <a:ext cx="8229600" cy="4868453"/>
          </a:xfrm>
        </p:spPr>
        <p:txBody>
          <a:bodyPr/>
          <a:lstStyle/>
          <a:p>
            <a:pPr eaLnBrk="1" hangingPunct="1">
              <a:spcBef>
                <a:spcPts val="300"/>
              </a:spcBef>
              <a:defRPr/>
            </a:pPr>
            <a:r>
              <a:rPr lang="en-US" altLang="zh-CN" sz="2400" dirty="0"/>
              <a:t>P</a:t>
            </a:r>
            <a:r>
              <a:rPr lang="zh-CN" altLang="en-US" sz="2400" dirty="0"/>
              <a:t>：</a:t>
            </a:r>
            <a:r>
              <a:rPr lang="en-US" altLang="zh-CN" sz="2400" dirty="0"/>
              <a:t>Data</a:t>
            </a:r>
            <a:r>
              <a:rPr lang="en-US" altLang="zh-CN" sz="2400" b="1" u="sng" dirty="0"/>
              <a:t>p</a:t>
            </a:r>
            <a:r>
              <a:rPr lang="en-US" altLang="zh-CN" sz="2400" dirty="0"/>
              <a:t>ath, </a:t>
            </a:r>
            <a:r>
              <a:rPr lang="zh-CN" altLang="en-US" sz="2400" dirty="0"/>
              <a:t>查看数据通路状态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依次输出数据通路中</a:t>
            </a:r>
            <a:r>
              <a:rPr lang="en-US" altLang="zh-CN" sz="2000" dirty="0" err="1"/>
              <a:t>npc</a:t>
            </a:r>
            <a:r>
              <a:rPr lang="en-US" altLang="zh-CN" sz="2000" dirty="0"/>
              <a:t>, pc, </a:t>
            </a:r>
            <a:r>
              <a:rPr lang="en-US" altLang="zh-CN" sz="2000" dirty="0" err="1"/>
              <a:t>ir</a:t>
            </a:r>
            <a:r>
              <a:rPr lang="en-US" altLang="zh-CN" sz="2000" dirty="0"/>
              <a:t>, ctrl, a, b, </a:t>
            </a:r>
            <a:r>
              <a:rPr lang="en-US" altLang="zh-CN" sz="2000" dirty="0" err="1"/>
              <a:t>imm</a:t>
            </a:r>
            <a:r>
              <a:rPr lang="en-US" altLang="zh-CN" sz="2000" dirty="0"/>
              <a:t>, y, md</a:t>
            </a:r>
            <a:r>
              <a:rPr lang="zh-CN" altLang="en-US" sz="2000" dirty="0"/>
              <a:t>等内容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电脑端显示格式：</a:t>
            </a:r>
            <a:r>
              <a:rPr lang="en-US" altLang="zh-CN" sz="2000" dirty="0"/>
              <a:t>NPC = </a:t>
            </a:r>
            <a:r>
              <a:rPr lang="en-US" altLang="zh-CN" sz="2000" dirty="0" err="1"/>
              <a:t>xxxx-xxxx</a:t>
            </a:r>
            <a:r>
              <a:rPr lang="en-US" altLang="zh-CN" sz="2000" dirty="0"/>
              <a:t>   PC = </a:t>
            </a:r>
            <a:r>
              <a:rPr lang="en-US" altLang="zh-CN" sz="2000" dirty="0" err="1"/>
              <a:t>yyyy-yyyy</a:t>
            </a:r>
            <a:r>
              <a:rPr lang="en-US" altLang="zh-CN" sz="2000" dirty="0"/>
              <a:t>  ……</a:t>
            </a:r>
          </a:p>
          <a:p>
            <a:pPr eaLnBrk="1" hangingPunct="1">
              <a:spcBef>
                <a:spcPts val="300"/>
              </a:spcBef>
              <a:defRPr/>
            </a:pPr>
            <a:r>
              <a:rPr lang="en-US" altLang="zh-CN" sz="2400" dirty="0"/>
              <a:t>R</a:t>
            </a:r>
            <a:r>
              <a:rPr lang="zh-CN" altLang="en-US" sz="2400" dirty="0"/>
              <a:t>：</a:t>
            </a:r>
            <a:r>
              <a:rPr lang="en-US" altLang="zh-CN" sz="2400" b="1" u="sng" dirty="0"/>
              <a:t>R</a:t>
            </a:r>
            <a:r>
              <a:rPr lang="en-US" altLang="zh-CN" sz="2400" dirty="0"/>
              <a:t>egister File, </a:t>
            </a:r>
            <a:r>
              <a:rPr lang="zh-CN" altLang="en-US" sz="2400" dirty="0"/>
              <a:t>查看寄存器堆内容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 err="1"/>
              <a:t>addr</a:t>
            </a:r>
            <a:r>
              <a:rPr lang="zh-CN" altLang="en-US" sz="2000" dirty="0"/>
              <a:t>从</a:t>
            </a:r>
            <a:r>
              <a:rPr lang="en-US" altLang="zh-CN" sz="2000" dirty="0"/>
              <a:t>0</a:t>
            </a:r>
            <a:r>
              <a:rPr lang="zh-CN" altLang="en-US" sz="2000" dirty="0"/>
              <a:t>递增，依次输出</a:t>
            </a:r>
            <a:r>
              <a:rPr lang="en-US" altLang="zh-CN" sz="2000" dirty="0" err="1"/>
              <a:t>dout_rf</a:t>
            </a:r>
            <a:r>
              <a:rPr lang="zh-CN" altLang="en-US" sz="2000" dirty="0"/>
              <a:t>，即寄存器堆</a:t>
            </a:r>
            <a:r>
              <a:rPr lang="en-US" altLang="zh-CN" sz="2000" dirty="0"/>
              <a:t>32</a:t>
            </a:r>
            <a:r>
              <a:rPr lang="zh-CN" altLang="en-US" sz="2000" dirty="0"/>
              <a:t>个寄存器内容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电脑端显示格式：</a:t>
            </a:r>
            <a:r>
              <a:rPr lang="en-US" altLang="zh-CN" sz="2000" dirty="0"/>
              <a:t>R0 = 0000-0000  R1= </a:t>
            </a:r>
            <a:r>
              <a:rPr lang="en-US" altLang="zh-CN" sz="2000" dirty="0" err="1"/>
              <a:t>xxxx-xxxx</a:t>
            </a:r>
            <a:r>
              <a:rPr lang="en-US" altLang="zh-CN" sz="2000" dirty="0"/>
              <a:t>  ……</a:t>
            </a:r>
          </a:p>
          <a:p>
            <a:pPr eaLnBrk="1" hangingPunct="1">
              <a:spcBef>
                <a:spcPts val="300"/>
              </a:spcBef>
              <a:defRPr/>
            </a:pPr>
            <a:r>
              <a:rPr lang="en-US" altLang="zh-CN" sz="2400" dirty="0">
                <a:solidFill>
                  <a:srgbClr val="0070C0"/>
                </a:solidFill>
              </a:rPr>
              <a:t>D [a]</a:t>
            </a:r>
            <a:r>
              <a:rPr lang="zh-CN" altLang="en-US" sz="2400" dirty="0">
                <a:solidFill>
                  <a:srgbClr val="0070C0"/>
                </a:solidFill>
              </a:rPr>
              <a:t>：</a:t>
            </a:r>
            <a:r>
              <a:rPr lang="en-US" altLang="zh-CN" sz="2400" u="sng" dirty="0">
                <a:solidFill>
                  <a:srgbClr val="0070C0"/>
                </a:solidFill>
              </a:rPr>
              <a:t>D</a:t>
            </a:r>
            <a:r>
              <a:rPr lang="en-US" altLang="zh-CN" sz="2400" dirty="0">
                <a:solidFill>
                  <a:srgbClr val="0070C0"/>
                </a:solidFill>
              </a:rPr>
              <a:t>ata Memory, </a:t>
            </a:r>
            <a:r>
              <a:rPr lang="zh-CN" altLang="en-US" sz="2400" dirty="0">
                <a:solidFill>
                  <a:srgbClr val="0070C0"/>
                </a:solidFill>
              </a:rPr>
              <a:t>查看数据存储器内容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a</a:t>
            </a:r>
            <a:r>
              <a:rPr lang="zh-CN" altLang="en-US" sz="2000" dirty="0"/>
              <a:t>为</a:t>
            </a:r>
            <a:r>
              <a:rPr lang="en-US" altLang="zh-CN" sz="2000" dirty="0"/>
              <a:t>16</a:t>
            </a:r>
            <a:r>
              <a:rPr lang="zh-CN" altLang="en-US" sz="2000" dirty="0"/>
              <a:t>进制起始字地址，缺省时为上次查看结束地址 </a:t>
            </a:r>
            <a:r>
              <a:rPr lang="en-US" altLang="zh-CN" sz="2000" dirty="0"/>
              <a:t>(</a:t>
            </a:r>
            <a:r>
              <a:rPr lang="zh-CN" altLang="en-US" sz="2000" dirty="0"/>
              <a:t>复位时为</a:t>
            </a:r>
            <a:r>
              <a:rPr lang="en-US" altLang="zh-CN" sz="2000" dirty="0"/>
              <a:t>0)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 err="1"/>
              <a:t>addr</a:t>
            </a:r>
            <a:r>
              <a:rPr lang="zh-CN" altLang="en-US" sz="2000" dirty="0"/>
              <a:t>从</a:t>
            </a:r>
            <a:r>
              <a:rPr lang="en-US" altLang="zh-CN" sz="2000" dirty="0"/>
              <a:t>a</a:t>
            </a:r>
            <a:r>
              <a:rPr lang="zh-CN" altLang="en-US" sz="2000" dirty="0"/>
              <a:t>递增，依次输出</a:t>
            </a:r>
            <a:r>
              <a:rPr lang="en-US" altLang="zh-CN" sz="2000" dirty="0" err="1"/>
              <a:t>dout_dm</a:t>
            </a:r>
            <a:r>
              <a:rPr lang="zh-CN" altLang="en-US" sz="2000" dirty="0"/>
              <a:t>，即数据存储器地址</a:t>
            </a:r>
            <a:r>
              <a:rPr lang="en-US" altLang="zh-CN" sz="2000" dirty="0"/>
              <a:t>a</a:t>
            </a:r>
            <a:r>
              <a:rPr lang="zh-CN" altLang="en-US" sz="2000" dirty="0"/>
              <a:t>开始</a:t>
            </a:r>
            <a:r>
              <a:rPr lang="en-US" altLang="zh-CN" sz="2000" dirty="0"/>
              <a:t>8</a:t>
            </a:r>
            <a:r>
              <a:rPr lang="zh-CN" altLang="en-US" sz="2000" dirty="0"/>
              <a:t>个字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电脑端显示格式：</a:t>
            </a:r>
            <a:r>
              <a:rPr lang="en-US" altLang="zh-CN" sz="2000" dirty="0"/>
              <a:t> D-</a:t>
            </a:r>
            <a:r>
              <a:rPr lang="en-US" altLang="zh-CN" sz="2000" dirty="0" err="1"/>
              <a:t>xxxx</a:t>
            </a:r>
            <a:r>
              <a:rPr lang="en-US" altLang="zh-CN" sz="2000" dirty="0"/>
              <a:t>-</a:t>
            </a:r>
            <a:r>
              <a:rPr lang="en-US" altLang="zh-CN" sz="2000" dirty="0" err="1"/>
              <a:t>xxxx</a:t>
            </a:r>
            <a:r>
              <a:rPr lang="en-US" altLang="zh-CN" sz="2000" dirty="0"/>
              <a:t>:  </a:t>
            </a:r>
            <a:r>
              <a:rPr lang="en-US" altLang="zh-CN" sz="2000" dirty="0" err="1"/>
              <a:t>yyyy-yyyy</a:t>
            </a:r>
            <a:r>
              <a:rPr lang="en-US" altLang="zh-CN" sz="2000" dirty="0"/>
              <a:t>  zzzz-zzzz ……</a:t>
            </a:r>
            <a:endParaRPr lang="en-US" altLang="zh-CN" b="1" dirty="0"/>
          </a:p>
          <a:p>
            <a:pPr eaLnBrk="1" hangingPunct="1">
              <a:spcBef>
                <a:spcPts val="300"/>
              </a:spcBef>
              <a:defRPr/>
            </a:pPr>
            <a:r>
              <a:rPr lang="en-US" altLang="zh-CN" sz="2400" dirty="0"/>
              <a:t>I [a]</a:t>
            </a:r>
            <a:r>
              <a:rPr lang="zh-CN" altLang="en-US" sz="2400" dirty="0"/>
              <a:t>：</a:t>
            </a:r>
            <a:r>
              <a:rPr lang="en-US" altLang="zh-CN" sz="2400" u="sng" dirty="0" err="1"/>
              <a:t>I</a:t>
            </a:r>
            <a:r>
              <a:rPr lang="en-US" altLang="zh-CN" sz="2400" dirty="0" err="1"/>
              <a:t>nstrction</a:t>
            </a:r>
            <a:r>
              <a:rPr lang="en-US" altLang="zh-CN" sz="2400" dirty="0"/>
              <a:t> Memory, </a:t>
            </a:r>
            <a:r>
              <a:rPr lang="zh-CN" altLang="en-US" sz="2400" dirty="0"/>
              <a:t>查看指令存储器内容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其他同上，依次输出</a:t>
            </a:r>
            <a:r>
              <a:rPr lang="en-US" altLang="zh-CN" sz="2000" dirty="0" err="1"/>
              <a:t>dout_im</a:t>
            </a:r>
            <a:r>
              <a:rPr lang="zh-CN" altLang="en-US" sz="2000" dirty="0"/>
              <a:t>，即指令存储器地址</a:t>
            </a:r>
            <a:r>
              <a:rPr lang="en-US" altLang="zh-CN" sz="2000" dirty="0"/>
              <a:t>a</a:t>
            </a:r>
            <a:r>
              <a:rPr lang="zh-CN" altLang="en-US" sz="2000" dirty="0"/>
              <a:t>开始</a:t>
            </a:r>
            <a:r>
              <a:rPr lang="en-US" altLang="zh-CN" sz="2000" dirty="0"/>
              <a:t>8</a:t>
            </a:r>
            <a:r>
              <a:rPr lang="zh-CN" altLang="en-US" sz="2000" dirty="0"/>
              <a:t>个字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电脑端显示格式：</a:t>
            </a:r>
            <a:r>
              <a:rPr lang="en-US" altLang="zh-CN" sz="2000" dirty="0"/>
              <a:t> I-</a:t>
            </a:r>
            <a:r>
              <a:rPr lang="en-US" altLang="zh-CN" sz="2000" dirty="0" err="1"/>
              <a:t>xxxx</a:t>
            </a:r>
            <a:r>
              <a:rPr lang="en-US" altLang="zh-CN" sz="2000" dirty="0"/>
              <a:t>-</a:t>
            </a:r>
            <a:r>
              <a:rPr lang="en-US" altLang="zh-CN" sz="2000" dirty="0" err="1"/>
              <a:t>xxxx</a:t>
            </a:r>
            <a:r>
              <a:rPr lang="en-US" altLang="zh-CN" sz="2000" dirty="0"/>
              <a:t>:  </a:t>
            </a:r>
            <a:r>
              <a:rPr lang="en-US" altLang="zh-CN" sz="2000" dirty="0" err="1"/>
              <a:t>yyyy-yyyy</a:t>
            </a:r>
            <a:r>
              <a:rPr lang="en-US" altLang="zh-CN" sz="2000" dirty="0"/>
              <a:t>  zzzz-zzzz ……</a:t>
            </a:r>
            <a:endParaRPr lang="en-US" altLang="zh-CN" sz="2400" b="1" dirty="0"/>
          </a:p>
          <a:p>
            <a:pPr eaLnBrk="1" hangingPunct="1">
              <a:spcBef>
                <a:spcPts val="300"/>
              </a:spcBef>
              <a:defRPr/>
            </a:pPr>
            <a:endParaRPr lang="en-US" altLang="zh-CN" sz="2400" b="1" dirty="0"/>
          </a:p>
        </p:txBody>
      </p:sp>
      <p:sp>
        <p:nvSpPr>
          <p:cNvPr id="23556" name="页脚占位符 1">
            <a:extLst>
              <a:ext uri="{FF2B5EF4-FFF2-40B4-BE49-F238E27FC236}">
                <a16:creationId xmlns:a16="http://schemas.microsoft.com/office/drawing/2014/main" id="{E93F76E1-DB8D-49BD-9575-185DD06F17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数字逻辑设计进阶实验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7" name="灯片编号占位符 2">
            <a:extLst>
              <a:ext uri="{FF2B5EF4-FFF2-40B4-BE49-F238E27FC236}">
                <a16:creationId xmlns:a16="http://schemas.microsoft.com/office/drawing/2014/main" id="{00120579-0284-4D55-8506-4275CBB2B6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0930E-2265-4A0B-94A4-F48B63590D63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8" name="日期占位符 3">
            <a:extLst>
              <a:ext uri="{FF2B5EF4-FFF2-40B4-BE49-F238E27FC236}">
                <a16:creationId xmlns:a16="http://schemas.microsoft.com/office/drawing/2014/main" id="{2C8EA80F-DED2-4163-8961-B0B0C0513E0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01762B-2E57-44D3-A5DB-40551392BC3C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2024/11/14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634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47DFEB18-09B8-4928-8E8B-602D897CC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SDU</a:t>
            </a:r>
            <a:r>
              <a:rPr lang="zh-CN" altLang="en-US"/>
              <a:t>调试</a:t>
            </a:r>
            <a:r>
              <a:rPr lang="zh-CN" altLang="en-US" dirty="0"/>
              <a:t>命令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2)</a:t>
            </a:r>
            <a:endParaRPr lang="zh-CN" altLang="en-US" dirty="0"/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B82024B9-9288-4AEF-A899-26441A96F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6772"/>
            <a:ext cx="8147248" cy="4868453"/>
          </a:xfrm>
        </p:spPr>
        <p:txBody>
          <a:bodyPr/>
          <a:lstStyle/>
          <a:p>
            <a:pPr eaLnBrk="1" hangingPunct="1">
              <a:spcBef>
                <a:spcPts val="300"/>
              </a:spcBef>
              <a:defRPr/>
            </a:pPr>
            <a:r>
              <a:rPr lang="en-US" altLang="zh-CN" sz="2400" dirty="0"/>
              <a:t>T</a:t>
            </a:r>
            <a:r>
              <a:rPr lang="zh-CN" altLang="en-US" sz="2400" dirty="0"/>
              <a:t>：</a:t>
            </a:r>
            <a:r>
              <a:rPr lang="en-US" altLang="zh-CN" sz="2400" dirty="0"/>
              <a:t>S</a:t>
            </a:r>
            <a:r>
              <a:rPr lang="en-US" altLang="zh-CN" sz="2400" b="1" u="sng" dirty="0"/>
              <a:t>t</a:t>
            </a:r>
            <a:r>
              <a:rPr lang="en-US" altLang="zh-CN" sz="2400" dirty="0"/>
              <a:t>ep</a:t>
            </a:r>
            <a:r>
              <a:rPr lang="zh-CN" altLang="en-US" sz="2400" dirty="0"/>
              <a:t>，</a:t>
            </a:r>
            <a:r>
              <a:rPr lang="en-US" altLang="zh-CN" sz="2400" dirty="0"/>
              <a:t>CPU</a:t>
            </a:r>
            <a:r>
              <a:rPr lang="zh-CN" altLang="en-US" sz="2400" dirty="0"/>
              <a:t>单步运行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输出</a:t>
            </a:r>
            <a:r>
              <a:rPr lang="en-US" altLang="zh-CN" sz="2000" dirty="0"/>
              <a:t>1</a:t>
            </a:r>
            <a:r>
              <a:rPr lang="zh-CN" altLang="en-US" sz="2000" dirty="0"/>
              <a:t>个</a:t>
            </a:r>
            <a:r>
              <a:rPr lang="en-US" altLang="zh-CN" sz="2000" dirty="0" err="1"/>
              <a:t>clk_cpu</a:t>
            </a:r>
            <a:r>
              <a:rPr lang="zh-CN" altLang="en-US" sz="2000" dirty="0"/>
              <a:t>周期后，执行</a:t>
            </a:r>
            <a:r>
              <a:rPr lang="en-US" altLang="zh-CN" sz="2000" dirty="0"/>
              <a:t>P</a:t>
            </a:r>
            <a:r>
              <a:rPr lang="zh-CN" altLang="en-US" sz="2000" dirty="0"/>
              <a:t>命令，显示数据通路状态</a:t>
            </a:r>
            <a:endParaRPr lang="en-US" altLang="zh-CN" sz="2000" dirty="0"/>
          </a:p>
          <a:p>
            <a:pPr eaLnBrk="1" hangingPunct="1">
              <a:spcBef>
                <a:spcPts val="300"/>
              </a:spcBef>
              <a:defRPr/>
            </a:pPr>
            <a:r>
              <a:rPr lang="en-US" altLang="zh-CN" sz="2400" dirty="0"/>
              <a:t>B [a]</a:t>
            </a:r>
            <a:r>
              <a:rPr lang="zh-CN" altLang="en-US" sz="2400" dirty="0"/>
              <a:t>：</a:t>
            </a:r>
            <a:r>
              <a:rPr lang="en-US" altLang="zh-CN" sz="2400" b="1" u="sng" dirty="0"/>
              <a:t>B</a:t>
            </a:r>
            <a:r>
              <a:rPr lang="en-US" altLang="zh-CN" sz="2400" dirty="0"/>
              <a:t>reakpoint</a:t>
            </a:r>
            <a:r>
              <a:rPr lang="zh-CN" altLang="en-US" sz="2400" dirty="0"/>
              <a:t>，设置</a:t>
            </a:r>
            <a:r>
              <a:rPr lang="en-US" altLang="zh-CN" sz="2400" dirty="0"/>
              <a:t>/</a:t>
            </a:r>
            <a:r>
              <a:rPr lang="zh-CN" altLang="en-US" sz="2400" dirty="0"/>
              <a:t>删除</a:t>
            </a:r>
            <a:r>
              <a:rPr lang="en-US" altLang="zh-CN" sz="2400" dirty="0"/>
              <a:t>/</a:t>
            </a:r>
            <a:r>
              <a:rPr lang="zh-CN" altLang="en-US" sz="2400" dirty="0"/>
              <a:t>查看断点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a</a:t>
            </a:r>
            <a:r>
              <a:rPr lang="zh-CN" altLang="en-US" sz="2000" dirty="0"/>
              <a:t>为可选的</a:t>
            </a:r>
            <a:r>
              <a:rPr lang="en-US" altLang="zh-CN" sz="2000" dirty="0"/>
              <a:t>16</a:t>
            </a:r>
            <a:r>
              <a:rPr lang="zh-CN" altLang="en-US" sz="2000" dirty="0"/>
              <a:t>进制断点，</a:t>
            </a:r>
            <a:r>
              <a:rPr lang="en-US" altLang="zh-CN" sz="2000" dirty="0"/>
              <a:t>B</a:t>
            </a:r>
            <a:r>
              <a:rPr lang="zh-CN" altLang="en-US" sz="2000" dirty="0"/>
              <a:t>：显示所有断点，最多可有</a:t>
            </a:r>
            <a:r>
              <a:rPr lang="en-US" altLang="zh-CN" sz="2000" dirty="0"/>
              <a:t>2</a:t>
            </a:r>
            <a:r>
              <a:rPr lang="zh-CN" altLang="en-US" sz="2000" dirty="0"/>
              <a:t>个断点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/>
              <a:t>B a</a:t>
            </a:r>
            <a:r>
              <a:rPr lang="zh-CN" altLang="en-US" sz="2000" dirty="0"/>
              <a:t>：如果当前断点中不存在</a:t>
            </a:r>
            <a:r>
              <a:rPr lang="en-US" altLang="zh-CN" sz="2000" dirty="0"/>
              <a:t>a</a:t>
            </a:r>
            <a:r>
              <a:rPr lang="zh-CN" altLang="en-US" sz="2000" dirty="0"/>
              <a:t>，且未满</a:t>
            </a:r>
            <a:r>
              <a:rPr lang="en-US" altLang="zh-CN" sz="2000" dirty="0"/>
              <a:t>2</a:t>
            </a:r>
            <a:r>
              <a:rPr lang="zh-CN" altLang="en-US" sz="2000" dirty="0"/>
              <a:t>个断点，则设置</a:t>
            </a:r>
            <a:r>
              <a:rPr lang="en-US" altLang="zh-CN" sz="2000" dirty="0"/>
              <a:t>a</a:t>
            </a:r>
            <a:r>
              <a:rPr lang="zh-CN" altLang="en-US" sz="2000" dirty="0"/>
              <a:t>断点；如果当前断点中已有</a:t>
            </a:r>
            <a:r>
              <a:rPr lang="en-US" altLang="zh-CN" sz="2000" dirty="0"/>
              <a:t>a</a:t>
            </a:r>
            <a:r>
              <a:rPr lang="zh-CN" altLang="en-US" sz="2000" dirty="0"/>
              <a:t>，则删除之；无论如何均显示所有断点</a:t>
            </a:r>
            <a:endParaRPr lang="en-US" altLang="zh-CN" sz="2000" dirty="0"/>
          </a:p>
          <a:p>
            <a:pPr eaLnBrk="1" hangingPunct="1">
              <a:spcBef>
                <a:spcPts val="300"/>
              </a:spcBef>
              <a:defRPr/>
            </a:pPr>
            <a:r>
              <a:rPr lang="en-US" altLang="zh-CN" sz="2400" dirty="0"/>
              <a:t>G</a:t>
            </a:r>
            <a:r>
              <a:rPr lang="zh-CN" altLang="en-US" sz="2400" dirty="0"/>
              <a:t>：</a:t>
            </a:r>
            <a:r>
              <a:rPr lang="en-US" altLang="zh-CN" sz="2400" b="1" u="sng" dirty="0"/>
              <a:t>G</a:t>
            </a:r>
            <a:r>
              <a:rPr lang="en-US" altLang="zh-CN" sz="2400" dirty="0"/>
              <a:t>o</a:t>
            </a:r>
            <a:r>
              <a:rPr lang="zh-CN" altLang="en-US" sz="2400" dirty="0"/>
              <a:t>，</a:t>
            </a:r>
            <a:r>
              <a:rPr lang="en-US" altLang="zh-CN" sz="2400" dirty="0"/>
              <a:t>CPU</a:t>
            </a:r>
            <a:r>
              <a:rPr lang="zh-CN" altLang="en-US" sz="2400" dirty="0"/>
              <a:t>连续运行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输出</a:t>
            </a:r>
            <a:r>
              <a:rPr lang="en-US" altLang="zh-CN" sz="2000" dirty="0"/>
              <a:t>1</a:t>
            </a:r>
            <a:r>
              <a:rPr lang="zh-CN" altLang="en-US" sz="2000" dirty="0"/>
              <a:t>个</a:t>
            </a:r>
            <a:r>
              <a:rPr lang="en-US" altLang="zh-CN" sz="2000" dirty="0" err="1"/>
              <a:t>clk_cpu</a:t>
            </a:r>
            <a:r>
              <a:rPr lang="zh-CN" altLang="en-US" sz="2000" dirty="0"/>
              <a:t>周期后，检查</a:t>
            </a:r>
            <a:r>
              <a:rPr lang="en-US" altLang="zh-CN" sz="2000" dirty="0" err="1"/>
              <a:t>pc_chk</a:t>
            </a:r>
            <a:r>
              <a:rPr lang="zh-CN" altLang="en-US" sz="2000" dirty="0"/>
              <a:t>是否等于断点，以及是否接收到停止命令</a:t>
            </a:r>
            <a:r>
              <a:rPr lang="en-US" altLang="zh-CN" sz="2000" dirty="0"/>
              <a:t>H</a:t>
            </a:r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如果结果均为否，则重复上述过程，否则执行</a:t>
            </a:r>
            <a:r>
              <a:rPr lang="en-US" altLang="zh-CN" sz="2000" dirty="0"/>
              <a:t>P</a:t>
            </a:r>
            <a:r>
              <a:rPr lang="zh-CN" altLang="en-US" sz="2000" dirty="0"/>
              <a:t>命令，显示数据通路状态</a:t>
            </a:r>
            <a:endParaRPr lang="en-US" altLang="zh-CN" sz="2000" dirty="0"/>
          </a:p>
          <a:p>
            <a:pPr eaLnBrk="1" hangingPunct="1">
              <a:spcBef>
                <a:spcPts val="300"/>
              </a:spcBef>
              <a:defRPr/>
            </a:pPr>
            <a:r>
              <a:rPr lang="en-US" altLang="zh-CN" sz="2400" dirty="0"/>
              <a:t>H</a:t>
            </a:r>
            <a:r>
              <a:rPr lang="zh-CN" altLang="en-US" sz="2400" dirty="0"/>
              <a:t>：</a:t>
            </a:r>
            <a:r>
              <a:rPr lang="en-US" altLang="zh-CN" sz="2400" u="sng" dirty="0"/>
              <a:t>H</a:t>
            </a:r>
            <a:r>
              <a:rPr lang="en-US" altLang="zh-CN" sz="2400" dirty="0"/>
              <a:t>alt</a:t>
            </a:r>
            <a:r>
              <a:rPr lang="zh-CN" altLang="en-US" sz="2400" dirty="0"/>
              <a:t>，</a:t>
            </a:r>
            <a:r>
              <a:rPr lang="en-US" altLang="zh-CN" sz="2400" dirty="0"/>
              <a:t>CPU</a:t>
            </a:r>
            <a:r>
              <a:rPr lang="zh-CN" altLang="en-US" sz="2400" dirty="0"/>
              <a:t>停止运行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b="1" dirty="0"/>
              <a:t>如果执行</a:t>
            </a:r>
            <a:r>
              <a:rPr lang="en-US" altLang="zh-CN" sz="2000" b="1" dirty="0"/>
              <a:t>G</a:t>
            </a:r>
            <a:r>
              <a:rPr lang="zh-CN" altLang="en-US" sz="2000" b="1" dirty="0"/>
              <a:t>命令时，</a:t>
            </a:r>
            <a:r>
              <a:rPr lang="en-US" altLang="zh-CN" sz="2000" b="1" dirty="0"/>
              <a:t>CPU</a:t>
            </a:r>
            <a:r>
              <a:rPr lang="zh-CN" altLang="en-US" sz="2000" b="1" dirty="0"/>
              <a:t>运行不止，</a:t>
            </a:r>
            <a:r>
              <a:rPr lang="en-US" altLang="zh-CN" sz="2000" b="1" dirty="0"/>
              <a:t>H</a:t>
            </a:r>
            <a:r>
              <a:rPr lang="zh-CN" altLang="en-US" sz="2000" b="1" dirty="0"/>
              <a:t>命令可强制停止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endParaRPr lang="en-US" altLang="zh-CN" sz="2000" b="1" dirty="0"/>
          </a:p>
        </p:txBody>
      </p:sp>
      <p:sp>
        <p:nvSpPr>
          <p:cNvPr id="23556" name="页脚占位符 1">
            <a:extLst>
              <a:ext uri="{FF2B5EF4-FFF2-40B4-BE49-F238E27FC236}">
                <a16:creationId xmlns:a16="http://schemas.microsoft.com/office/drawing/2014/main" id="{E93F76E1-DB8D-49BD-9575-185DD06F17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数字逻辑设计进阶实验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7" name="灯片编号占位符 2">
            <a:extLst>
              <a:ext uri="{FF2B5EF4-FFF2-40B4-BE49-F238E27FC236}">
                <a16:creationId xmlns:a16="http://schemas.microsoft.com/office/drawing/2014/main" id="{00120579-0284-4D55-8506-4275CBB2B6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0930E-2265-4A0B-94A4-F48B63590D63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8" name="日期占位符 3">
            <a:extLst>
              <a:ext uri="{FF2B5EF4-FFF2-40B4-BE49-F238E27FC236}">
                <a16:creationId xmlns:a16="http://schemas.microsoft.com/office/drawing/2014/main" id="{2C8EA80F-DED2-4163-8961-B0B0C0513E0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914973-C540-4279-B572-C6118B3F16AB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2024/11/14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802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47DFEB18-09B8-4928-8E8B-602D897CC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SDU</a:t>
            </a:r>
            <a:r>
              <a:rPr lang="zh-CN" altLang="en-US"/>
              <a:t>调试</a:t>
            </a:r>
            <a:r>
              <a:rPr lang="zh-CN" altLang="en-US" dirty="0"/>
              <a:t>命令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3)</a:t>
            </a:r>
            <a:endParaRPr lang="zh-CN" altLang="en-US" dirty="0"/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B82024B9-9288-4AEF-A899-26441A96F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6772"/>
            <a:ext cx="7967228" cy="4868453"/>
          </a:xfrm>
        </p:spPr>
        <p:txBody>
          <a:bodyPr/>
          <a:lstStyle/>
          <a:p>
            <a:pPr eaLnBrk="1" hangingPunct="1">
              <a:spcBef>
                <a:spcPts val="300"/>
              </a:spcBef>
              <a:defRPr/>
            </a:pPr>
            <a:r>
              <a:rPr lang="en-US" altLang="zh-CN" sz="2400" dirty="0">
                <a:solidFill>
                  <a:srgbClr val="0070C0"/>
                </a:solidFill>
              </a:rPr>
              <a:t>LD </a:t>
            </a:r>
            <a:r>
              <a:rPr lang="zh-CN" altLang="en-US" sz="2400" dirty="0">
                <a:solidFill>
                  <a:srgbClr val="0070C0"/>
                </a:solidFill>
              </a:rPr>
              <a:t>文本文件：</a:t>
            </a:r>
            <a:r>
              <a:rPr lang="en-US" altLang="zh-CN" sz="2400" u="sng" dirty="0">
                <a:solidFill>
                  <a:srgbClr val="0070C0"/>
                </a:solidFill>
              </a:rPr>
              <a:t>L</a:t>
            </a:r>
            <a:r>
              <a:rPr lang="en-US" altLang="zh-CN" sz="2400" dirty="0">
                <a:solidFill>
                  <a:srgbClr val="0070C0"/>
                </a:solidFill>
              </a:rPr>
              <a:t>oad </a:t>
            </a:r>
            <a:r>
              <a:rPr lang="en-US" altLang="zh-CN" sz="2400" u="sng" dirty="0">
                <a:solidFill>
                  <a:srgbClr val="0070C0"/>
                </a:solidFill>
              </a:rPr>
              <a:t>D</a:t>
            </a:r>
            <a:r>
              <a:rPr lang="en-US" altLang="zh-CN" sz="2400" dirty="0">
                <a:solidFill>
                  <a:srgbClr val="0070C0"/>
                </a:solidFill>
              </a:rPr>
              <a:t>ata, </a:t>
            </a:r>
            <a:r>
              <a:rPr lang="zh-CN" altLang="en-US" sz="2400" dirty="0">
                <a:solidFill>
                  <a:srgbClr val="0070C0"/>
                </a:solidFill>
              </a:rPr>
              <a:t>加载数据存储器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数据存储在文本文件中，每行对应一条</a:t>
            </a:r>
            <a:r>
              <a:rPr lang="en-US" altLang="zh-CN" sz="2000" dirty="0"/>
              <a:t>16</a:t>
            </a:r>
            <a:r>
              <a:rPr lang="zh-CN" altLang="en-US" sz="2000" dirty="0"/>
              <a:t>进制数据字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 err="1"/>
              <a:t>addr</a:t>
            </a:r>
            <a:r>
              <a:rPr lang="zh-CN" altLang="en-US" sz="2000" dirty="0"/>
              <a:t>从</a:t>
            </a:r>
            <a:r>
              <a:rPr lang="en-US" altLang="zh-CN" sz="2000" dirty="0"/>
              <a:t>0</a:t>
            </a:r>
            <a:r>
              <a:rPr lang="zh-CN" altLang="en-US" sz="2000" dirty="0"/>
              <a:t>开始递增，</a:t>
            </a:r>
            <a:r>
              <a:rPr lang="en-US" altLang="zh-CN" sz="2000" dirty="0"/>
              <a:t>din</a:t>
            </a:r>
            <a:r>
              <a:rPr lang="zh-CN" altLang="en-US" sz="2000" dirty="0"/>
              <a:t>依次为文件一行数据，</a:t>
            </a:r>
            <a:r>
              <a:rPr lang="en-US" altLang="zh-CN" sz="2000" dirty="0" err="1"/>
              <a:t>we_dm</a:t>
            </a:r>
            <a:r>
              <a:rPr lang="en-US" altLang="zh-CN" sz="2000" dirty="0"/>
              <a:t> = 1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clk_ld</a:t>
            </a:r>
            <a:r>
              <a:rPr lang="zh-CN" altLang="en-US" sz="2000" dirty="0"/>
              <a:t>产生一个脉冲，写入数据存储器一个数据，直至文件结束（空白行）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全部写入结束后，电脑端输出：</a:t>
            </a:r>
            <a:r>
              <a:rPr lang="en-US" altLang="zh-CN" sz="2000" dirty="0"/>
              <a:t>Finish</a:t>
            </a:r>
          </a:p>
          <a:p>
            <a:pPr eaLnBrk="1" hangingPunct="1">
              <a:spcBef>
                <a:spcPts val="300"/>
              </a:spcBef>
              <a:defRPr/>
            </a:pPr>
            <a:r>
              <a:rPr lang="en-US" altLang="zh-CN" sz="2400" dirty="0"/>
              <a:t>LI </a:t>
            </a:r>
            <a:r>
              <a:rPr lang="zh-CN" altLang="en-US" sz="2400" dirty="0"/>
              <a:t>文本文件：</a:t>
            </a:r>
            <a:r>
              <a:rPr lang="en-US" altLang="zh-CN" sz="2400" u="sng" dirty="0"/>
              <a:t>L</a:t>
            </a:r>
            <a:r>
              <a:rPr lang="en-US" altLang="zh-CN" sz="2400" dirty="0"/>
              <a:t>oad </a:t>
            </a:r>
            <a:r>
              <a:rPr lang="en-US" altLang="zh-CN" sz="2400" u="sng" dirty="0"/>
              <a:t>I</a:t>
            </a:r>
            <a:r>
              <a:rPr lang="en-US" altLang="zh-CN" sz="2400" dirty="0"/>
              <a:t>nstruction, </a:t>
            </a:r>
            <a:r>
              <a:rPr lang="zh-CN" altLang="en-US" sz="2400" dirty="0"/>
              <a:t>加载指令存储器</a:t>
            </a:r>
            <a:endParaRPr lang="en-US" altLang="zh-CN" sz="24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机器码程序存储在文本文件中，每行对应一条</a:t>
            </a:r>
            <a:r>
              <a:rPr lang="en-US" altLang="zh-CN" sz="2000" dirty="0"/>
              <a:t>16</a:t>
            </a:r>
            <a:r>
              <a:rPr lang="zh-CN" altLang="en-US" sz="2000" dirty="0"/>
              <a:t>进制指令码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en-US" altLang="zh-CN" sz="2000" dirty="0" err="1"/>
              <a:t>addr</a:t>
            </a:r>
            <a:r>
              <a:rPr lang="zh-CN" altLang="en-US" sz="2000" dirty="0"/>
              <a:t>从</a:t>
            </a:r>
            <a:r>
              <a:rPr lang="en-US" altLang="zh-CN" sz="2000" dirty="0"/>
              <a:t>0</a:t>
            </a:r>
            <a:r>
              <a:rPr lang="zh-CN" altLang="en-US" sz="2000" dirty="0"/>
              <a:t>开始递增，</a:t>
            </a:r>
            <a:r>
              <a:rPr lang="en-US" altLang="zh-CN" sz="2000" dirty="0"/>
              <a:t>din</a:t>
            </a:r>
            <a:r>
              <a:rPr lang="zh-CN" altLang="en-US" sz="2000" dirty="0"/>
              <a:t>依次为文件一行数据，</a:t>
            </a:r>
            <a:r>
              <a:rPr lang="en-US" altLang="zh-CN" sz="2000" dirty="0" err="1"/>
              <a:t>we_im</a:t>
            </a:r>
            <a:r>
              <a:rPr lang="en-US" altLang="zh-CN" sz="2000" dirty="0"/>
              <a:t> = 1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clk_ld</a:t>
            </a:r>
            <a:r>
              <a:rPr lang="zh-CN" altLang="en-US" sz="2000" dirty="0"/>
              <a:t>产生一个脉冲，写入指令存储器一条指令，直至文件结束（空白行）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  <a:defRPr/>
            </a:pPr>
            <a:r>
              <a:rPr lang="zh-CN" altLang="en-US" sz="2000" dirty="0"/>
              <a:t>全部写入结束后，电脑端输出：</a:t>
            </a:r>
            <a:r>
              <a:rPr lang="en-US" altLang="zh-CN" sz="2000" dirty="0"/>
              <a:t>Finish</a:t>
            </a:r>
          </a:p>
          <a:p>
            <a:pPr eaLnBrk="1" hangingPunct="1">
              <a:spcBef>
                <a:spcPts val="300"/>
              </a:spcBef>
              <a:defRPr/>
            </a:pPr>
            <a:endParaRPr lang="en-US" altLang="zh-CN" sz="2400" b="1" dirty="0"/>
          </a:p>
          <a:p>
            <a:pPr eaLnBrk="1" hangingPunct="1">
              <a:spcBef>
                <a:spcPts val="300"/>
              </a:spcBef>
              <a:defRPr/>
            </a:pPr>
            <a:endParaRPr lang="en-US" altLang="zh-CN" sz="2400" b="1" dirty="0"/>
          </a:p>
        </p:txBody>
      </p:sp>
      <p:sp>
        <p:nvSpPr>
          <p:cNvPr id="23556" name="页脚占位符 1">
            <a:extLst>
              <a:ext uri="{FF2B5EF4-FFF2-40B4-BE49-F238E27FC236}">
                <a16:creationId xmlns:a16="http://schemas.microsoft.com/office/drawing/2014/main" id="{E93F76E1-DB8D-49BD-9575-185DD06F17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数字逻辑设计进阶实验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7" name="灯片编号占位符 2">
            <a:extLst>
              <a:ext uri="{FF2B5EF4-FFF2-40B4-BE49-F238E27FC236}">
                <a16:creationId xmlns:a16="http://schemas.microsoft.com/office/drawing/2014/main" id="{00120579-0284-4D55-8506-4275CBB2B6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B0930E-2265-4A0B-94A4-F48B63590D63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558" name="日期占位符 3">
            <a:extLst>
              <a:ext uri="{FF2B5EF4-FFF2-40B4-BE49-F238E27FC236}">
                <a16:creationId xmlns:a16="http://schemas.microsoft.com/office/drawing/2014/main" id="{2C8EA80F-DED2-4163-8961-B0B0C0513E0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1CD3CA-743E-46BC-B961-99AF3BDE2330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2024/11/14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51">
            <a:extLst>
              <a:ext uri="{FF2B5EF4-FFF2-40B4-BE49-F238E27FC236}">
                <a16:creationId xmlns:a16="http://schemas.microsoft.com/office/drawing/2014/main" id="{EA409087-3049-45DA-B542-C2755C090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19" y="5589240"/>
            <a:ext cx="7668852" cy="430887"/>
          </a:xfrm>
          <a:prstGeom prst="rect">
            <a:avLst/>
          </a:prstGeom>
          <a:noFill/>
          <a:ln w="254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dirty="0">
                <a:latin typeface="宋体" panose="02010600030101010101" pitchFamily="2" charset="-122"/>
              </a:rPr>
              <a:t>注意：运行新加载程序或使用新加载数据前务必复位系统！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8838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248EF-3F66-4FDC-9C31-53CEEAC29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SDU_DM</a:t>
            </a:r>
            <a:r>
              <a:rPr lang="zh-CN" altLang="en-US" dirty="0"/>
              <a:t>模块接口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6D5E55-F737-4315-AD39-8AE97AA58FB2}"/>
              </a:ext>
            </a:extLst>
          </p:cNvPr>
          <p:cNvSpPr/>
          <p:nvPr/>
        </p:nvSpPr>
        <p:spPr>
          <a:xfrm>
            <a:off x="539552" y="1556792"/>
            <a:ext cx="770485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SDU_DM (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input clk,		//时钟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input rstn,		//复位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input rxd,		//串行输入数据，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C4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output txd,		//串行输出数据，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D4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引脚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output [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1:0] addr,	//读/写地址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input [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1:0] dout,	//读取数据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output [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1:0] din,	//写入数据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output we,		//写使能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output clk_ld		//写时钟</a:t>
            </a:r>
          </a:p>
          <a:p>
            <a:pPr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24067DD7-5BF9-4546-BC89-755DB218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245225"/>
            <a:ext cx="1600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8BBEB2-0D66-4E45-BCFE-D05A4C996C68}" type="slidenum">
              <a:rPr lang="en-US" altLang="zh-CN" sz="16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sp>
        <p:nvSpPr>
          <p:cNvPr id="9" name="页脚占位符 1">
            <a:extLst>
              <a:ext uri="{FF2B5EF4-FFF2-40B4-BE49-F238E27FC236}">
                <a16:creationId xmlns:a16="http://schemas.microsoft.com/office/drawing/2014/main" id="{01EEACF6-F42E-4701-BBCE-0A8CB3E9EE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0">
                <a:latin typeface="Arial" panose="020B0604020202020204" pitchFamily="34" charset="0"/>
              </a:rPr>
              <a:t>数字逻辑设计进阶实验</a:t>
            </a:r>
            <a:endParaRPr lang="zh-CN" altLang="en-US" sz="1600" b="0" dirty="0">
              <a:latin typeface="Arial" panose="020B0604020202020204" pitchFamily="34" charset="0"/>
            </a:endParaRP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35DDE75B-1040-4ED1-8C58-5738263A30C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B2B265-7D46-4E64-8E12-D5B6FB1E43FC}" type="datetime1">
              <a:rPr lang="zh-CN" altLang="en-US" sz="1600" b="0" smtClean="0">
                <a:latin typeface="Arial" panose="020B0604020202020204" pitchFamily="34" charset="0"/>
              </a:rPr>
              <a:t>2024/11/14</a:t>
            </a:fld>
            <a:endParaRPr lang="zh-CN" altLang="en-US" sz="1600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912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标题 1">
            <a:extLst>
              <a:ext uri="{FF2B5EF4-FFF2-40B4-BE49-F238E27FC236}">
                <a16:creationId xmlns:a16="http://schemas.microsoft.com/office/drawing/2014/main" id="{171451A5-2EAD-4A45-AE3C-11C4CF9F6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36838"/>
            <a:ext cx="8229600" cy="1477962"/>
          </a:xfrm>
        </p:spPr>
        <p:txBody>
          <a:bodyPr/>
          <a:lstStyle/>
          <a:p>
            <a:r>
              <a:rPr lang="en-US" altLang="zh-CN" sz="5400"/>
              <a:t>The</a:t>
            </a:r>
            <a:r>
              <a:rPr lang="zh-CN" altLang="en-US" sz="5400"/>
              <a:t> </a:t>
            </a:r>
            <a:r>
              <a:rPr lang="en-US" altLang="zh-CN" sz="5400"/>
              <a:t>End</a:t>
            </a:r>
            <a:endParaRPr lang="zh-CN" altLang="en-US" sz="5400"/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790F6311-C56B-4CE7-8A71-582BD728AF9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2024/11/14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795046CB-0900-4B0E-A8FF-0B286CCC54B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33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70DB6D0A-52FD-4C7D-8D05-4AD2841C2B7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xfrm>
            <a:off x="2590800" y="6381750"/>
            <a:ext cx="4419600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25017</TotalTime>
  <Words>2808</Words>
  <Application>Microsoft Office PowerPoint</Application>
  <PresentationFormat>全屏显示(4:3)</PresentationFormat>
  <Paragraphs>434</Paragraphs>
  <Slides>33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等线</vt:lpstr>
      <vt:lpstr>黑体</vt:lpstr>
      <vt:lpstr>宋体</vt:lpstr>
      <vt:lpstr>微软雅黑</vt:lpstr>
      <vt:lpstr>Arial</vt:lpstr>
      <vt:lpstr>Arial Narrow</vt:lpstr>
      <vt:lpstr>Times New Roman</vt:lpstr>
      <vt:lpstr>Wingdings</vt:lpstr>
      <vt:lpstr>Office 主题</vt:lpstr>
      <vt:lpstr>1_Office 主题</vt:lpstr>
      <vt:lpstr>2_Office 主题</vt:lpstr>
      <vt:lpstr>3_Office 主题</vt:lpstr>
      <vt:lpstr>数字逻辑设计进阶实验</vt:lpstr>
      <vt:lpstr>实验目的</vt:lpstr>
      <vt:lpstr>实验内容</vt:lpstr>
      <vt:lpstr>寄存器堆</vt:lpstr>
      <vt:lpstr>块式存储器</vt:lpstr>
      <vt:lpstr>存储器IP核</vt:lpstr>
      <vt:lpstr>存储器IP核配置</vt:lpstr>
      <vt:lpstr>存储器IP核例化</vt:lpstr>
      <vt:lpstr>初始化文件格式</vt:lpstr>
      <vt:lpstr>分布式存储器IP (1)</vt:lpstr>
      <vt:lpstr>分布式存储器IP (2)</vt:lpstr>
      <vt:lpstr>分布式存储器IP (3)</vt:lpstr>
      <vt:lpstr>块式存储器IP (1)</vt:lpstr>
      <vt:lpstr>块式存储器IP (2)</vt:lpstr>
      <vt:lpstr>块式存储器IP (3)</vt:lpstr>
      <vt:lpstr>存储器时序</vt:lpstr>
      <vt:lpstr>存储器时序 (续)</vt:lpstr>
      <vt:lpstr>FIFO队列：IP例化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FIFO队列：RF实现</vt:lpstr>
      <vt:lpstr>串行调试单元</vt:lpstr>
      <vt:lpstr>SDU接口</vt:lpstr>
      <vt:lpstr>SDU调试命令</vt:lpstr>
      <vt:lpstr>SDU调试命令 (续1)</vt:lpstr>
      <vt:lpstr>SDU调试命令 (续2)</vt:lpstr>
      <vt:lpstr>SDU调试命令 (续3)</vt:lpstr>
      <vt:lpstr>SDU_DM模块接口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ZJX</dc:creator>
  <cp:lastModifiedBy>ZJX</cp:lastModifiedBy>
  <cp:revision>597</cp:revision>
  <cp:lastPrinted>1601-01-01T00:00:00Z</cp:lastPrinted>
  <dcterms:created xsi:type="dcterms:W3CDTF">1601-01-01T00:00:00Z</dcterms:created>
  <dcterms:modified xsi:type="dcterms:W3CDTF">2024-11-14T02:58:09Z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