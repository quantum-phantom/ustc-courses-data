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10" y="2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440E84-0154-46D6-90EA-BA62C191562D}" type="datetimeFigureOut">
              <a:rPr lang="zh-CN" altLang="en-US" smtClean="0"/>
              <a:t>2025/10/29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336827-4F13-4E85-9F46-E6B1EDB80F1A}" type="slidenum">
              <a:rPr lang="zh-CN" altLang="en-US" smtClean="0"/>
              <a:t>‹#›</a:t>
            </a:fld>
            <a:endParaRPr lang="zh-CN" altLang="en-US"/>
          </a:p>
        </p:txBody>
      </p:sp>
    </p:spTree>
    <p:extLst>
      <p:ext uri="{BB962C8B-B14F-4D97-AF65-F5344CB8AC3E}">
        <p14:creationId xmlns:p14="http://schemas.microsoft.com/office/powerpoint/2010/main" val="1707802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很基础很简单</a:t>
            </a:r>
          </a:p>
        </p:txBody>
      </p:sp>
      <p:sp>
        <p:nvSpPr>
          <p:cNvPr id="4" name="灯片编号占位符 3"/>
          <p:cNvSpPr>
            <a:spLocks noGrp="1"/>
          </p:cNvSpPr>
          <p:nvPr>
            <p:ph type="sldNum" sz="quarter" idx="5"/>
          </p:nvPr>
        </p:nvSpPr>
        <p:spPr/>
        <p:txBody>
          <a:bodyPr/>
          <a:lstStyle/>
          <a:p>
            <a:fld id="{C9336827-4F13-4E85-9F46-E6B1EDB80F1A}" type="slidenum">
              <a:rPr lang="zh-CN" altLang="en-US" smtClean="0"/>
              <a:t>2</a:t>
            </a:fld>
            <a:endParaRPr lang="zh-CN" altLang="en-US"/>
          </a:p>
        </p:txBody>
      </p:sp>
    </p:spTree>
    <p:extLst>
      <p:ext uri="{BB962C8B-B14F-4D97-AF65-F5344CB8AC3E}">
        <p14:creationId xmlns:p14="http://schemas.microsoft.com/office/powerpoint/2010/main" val="811478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32005-F78F-67FB-DBA0-A5B9EA7B32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F0256B-13C6-AC06-B12F-DCC0822612F4}"/>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80EEDAE4-4FEF-5648-B681-262FC0444A18}"/>
                  </a:ext>
                </a:extLst>
              </p:cNvPr>
              <p:cNvSpPr>
                <a:spLocks noGrp="1"/>
              </p:cNvSpPr>
              <p:nvPr>
                <p:ph type="body" idx="1"/>
              </p:nvPr>
            </p:nvSpPr>
            <p:spPr/>
            <p:txBody>
              <a:bodyPr/>
              <a:lstStyle/>
              <a:p>
                <a:r>
                  <a:rPr lang="zh-CN" altLang="en-US" dirty="0"/>
                  <a:t>左侧其实是个</a:t>
                </a:r>
                <a:r>
                  <a:rPr lang="en-US" altLang="zh-CN" dirty="0"/>
                  <a:t>3-8</a:t>
                </a:r>
                <a:r>
                  <a:rPr lang="zh-CN" altLang="en-US" dirty="0"/>
                  <a:t>译码器，</a:t>
                </a:r>
                <a:r>
                  <a:rPr lang="zh-CN" altLang="en-US" sz="1200" b="0" i="0" kern="1200" dirty="0">
                    <a:solidFill>
                      <a:schemeClr val="tx1"/>
                    </a:solidFill>
                    <a:effectLst/>
                    <a:latin typeface="+mn-lt"/>
                    <a:ea typeface="+mn-ea"/>
                    <a:cs typeface="+mn-cs"/>
                  </a:rPr>
                  <a:t>每个输出实际上都对应一个</a:t>
                </a:r>
                <a:r>
                  <a:rPr lang="zh-CN" altLang="en-US" sz="1200" b="1" i="0" kern="1200" dirty="0">
                    <a:solidFill>
                      <a:schemeClr val="tx1"/>
                    </a:solidFill>
                    <a:effectLst/>
                    <a:latin typeface="+mn-lt"/>
                    <a:ea typeface="+mn-ea"/>
                    <a:cs typeface="+mn-cs"/>
                  </a:rPr>
                  <a:t>最小项</a:t>
                </a:r>
                <a:r>
                  <a:rPr lang="zh-CN" altLang="en-US" sz="1200" b="0" i="0" kern="1200" dirty="0">
                    <a:solidFill>
                      <a:schemeClr val="tx1"/>
                    </a:solidFill>
                    <a:effectLst/>
                    <a:latin typeface="+mn-lt"/>
                    <a:ea typeface="+mn-ea"/>
                    <a:cs typeface="+mn-cs"/>
                  </a:rPr>
                  <a:t> </a:t>
                </a:r>
                <a14:m>
                  <m:oMath xmlns:m="http://schemas.openxmlformats.org/officeDocument/2006/math">
                    <m:sSub>
                      <m:sSubPr>
                        <m:ctrlPr>
                          <a:rPr lang="zh-CN" altLang="en-US" sz="1200" i="1" kern="1200">
                            <a:solidFill>
                              <a:schemeClr val="tx1"/>
                            </a:solidFill>
                            <a:latin typeface="Cambria Math" panose="02040503050406030204" pitchFamily="18" charset="0"/>
                            <a:ea typeface="+mn-ea"/>
                            <a:cs typeface="+mn-cs"/>
                          </a:rPr>
                        </m:ctrlPr>
                      </m:sSubPr>
                      <m:e>
                        <m:r>
                          <a:rPr lang="zh-CN" altLang="en-US" sz="1200" i="1" kern="1200">
                            <a:solidFill>
                              <a:schemeClr val="tx1"/>
                            </a:solidFill>
                            <a:latin typeface="Cambria Math" panose="02040503050406030204" pitchFamily="18" charset="0"/>
                            <a:ea typeface="+mn-ea"/>
                            <a:cs typeface="+mn-cs"/>
                          </a:rPr>
                          <m:t>𝑚</m:t>
                        </m:r>
                      </m:e>
                      <m:sub>
                        <m:r>
                          <a:rPr lang="zh-CN" altLang="en-US" sz="1200" i="1" kern="1200">
                            <a:solidFill>
                              <a:schemeClr val="tx1"/>
                            </a:solidFill>
                            <a:latin typeface="Cambria Math" panose="02040503050406030204" pitchFamily="18" charset="0"/>
                            <a:ea typeface="+mn-ea"/>
                            <a:cs typeface="+mn-cs"/>
                          </a:rPr>
                          <m:t>𝑖</m:t>
                        </m:r>
                      </m:sub>
                    </m:sSub>
                    <m:r>
                      <a:rPr lang="zh-CN" altLang="en-US" sz="1200" i="1" kern="1200" smtClean="0">
                        <a:solidFill>
                          <a:schemeClr val="tx1"/>
                        </a:solidFill>
                        <a:latin typeface="Cambria Math" panose="02040503050406030204" pitchFamily="18" charset="0"/>
                        <a:ea typeface="+mn-ea"/>
                        <a:cs typeface="+mn-cs"/>
                      </a:rPr>
                      <m:t>，</m:t>
                    </m:r>
                  </m:oMath>
                </a14:m>
                <a:r>
                  <a:rPr lang="zh-CN" altLang="en-US" sz="1200" b="1" i="0" kern="1200" dirty="0">
                    <a:solidFill>
                      <a:schemeClr val="tx1"/>
                    </a:solidFill>
                    <a:effectLst/>
                    <a:latin typeface="+mn-lt"/>
                    <a:ea typeface="+mn-ea"/>
                    <a:cs typeface="+mn-cs"/>
                  </a:rPr>
                  <a:t>任何布尔函数都可以表示为最小项之和</a:t>
                </a:r>
                <a:endParaRPr lang="zh-CN" altLang="en-US" dirty="0"/>
              </a:p>
            </p:txBody>
          </p:sp>
        </mc:Choice>
        <mc:Fallback xmlns="">
          <p:sp>
            <p:nvSpPr>
              <p:cNvPr id="3" name="备注占位符 2">
                <a:extLst>
                  <a:ext uri="{FF2B5EF4-FFF2-40B4-BE49-F238E27FC236}">
                    <a16:creationId xmlns:a16="http://schemas.microsoft.com/office/drawing/2014/main" id="{80EEDAE4-4FEF-5648-B681-262FC0444A18}"/>
                  </a:ext>
                </a:extLst>
              </p:cNvPr>
              <p:cNvSpPr>
                <a:spLocks noGrp="1"/>
              </p:cNvSpPr>
              <p:nvPr>
                <p:ph type="body" idx="1"/>
              </p:nvPr>
            </p:nvSpPr>
            <p:spPr/>
            <p:txBody>
              <a:bodyPr/>
              <a:lstStyle/>
              <a:p>
                <a:r>
                  <a:rPr lang="zh-CN" altLang="en-US" dirty="0"/>
                  <a:t>左侧其实是个</a:t>
                </a:r>
                <a:r>
                  <a:rPr lang="en-US" altLang="zh-CN" dirty="0"/>
                  <a:t>3-8</a:t>
                </a:r>
                <a:r>
                  <a:rPr lang="zh-CN" altLang="en-US" dirty="0"/>
                  <a:t>译码器，</a:t>
                </a:r>
                <a:r>
                  <a:rPr lang="zh-CN" altLang="en-US" sz="1200" b="0" i="0" kern="1200" dirty="0">
                    <a:solidFill>
                      <a:schemeClr val="tx1"/>
                    </a:solidFill>
                    <a:effectLst/>
                    <a:latin typeface="+mn-lt"/>
                    <a:ea typeface="+mn-ea"/>
                    <a:cs typeface="+mn-cs"/>
                  </a:rPr>
                  <a:t>每个输出实际上都对应一个</a:t>
                </a:r>
                <a:r>
                  <a:rPr lang="zh-CN" altLang="en-US" sz="1200" b="1" i="0" kern="1200" dirty="0">
                    <a:solidFill>
                      <a:schemeClr val="tx1"/>
                    </a:solidFill>
                    <a:effectLst/>
                    <a:latin typeface="+mn-lt"/>
                    <a:ea typeface="+mn-ea"/>
                    <a:cs typeface="+mn-cs"/>
                  </a:rPr>
                  <a:t>最小项</a:t>
                </a:r>
                <a:r>
                  <a:rPr lang="zh-CN" altLang="en-US" sz="1200" b="0" i="0" kern="1200" dirty="0">
                    <a:solidFill>
                      <a:schemeClr val="tx1"/>
                    </a:solidFill>
                    <a:effectLst/>
                    <a:latin typeface="+mn-lt"/>
                    <a:ea typeface="+mn-ea"/>
                    <a:cs typeface="+mn-cs"/>
                  </a:rPr>
                  <a:t> </a:t>
                </a:r>
                <a:r>
                  <a:rPr lang="zh-CN" altLang="en-US" sz="1200" i="0" kern="1200">
                    <a:solidFill>
                      <a:schemeClr val="tx1"/>
                    </a:solidFill>
                    <a:latin typeface="+mn-lt"/>
                    <a:ea typeface="+mn-ea"/>
                    <a:cs typeface="+mn-cs"/>
                  </a:rPr>
                  <a:t>𝑚_𝑖</a:t>
                </a:r>
                <a:r>
                  <a:rPr lang="zh-CN" altLang="en-US" sz="1200" i="0" kern="1200">
                    <a:solidFill>
                      <a:schemeClr val="tx1"/>
                    </a:solidFill>
                    <a:latin typeface="Cambria Math" panose="02040503050406030204" pitchFamily="18" charset="0"/>
                    <a:ea typeface="+mn-ea"/>
                    <a:cs typeface="+mn-cs"/>
                  </a:rPr>
                  <a:t>，</a:t>
                </a:r>
                <a:r>
                  <a:rPr lang="zh-CN" altLang="en-US" sz="1200" b="1" i="0" kern="1200" dirty="0">
                    <a:solidFill>
                      <a:schemeClr val="tx1"/>
                    </a:solidFill>
                    <a:effectLst/>
                    <a:latin typeface="+mn-lt"/>
                    <a:ea typeface="+mn-ea"/>
                    <a:cs typeface="+mn-cs"/>
                  </a:rPr>
                  <a:t>任何布尔函数都可以表示为最小项之和</a:t>
                </a:r>
                <a:endParaRPr lang="zh-CN" altLang="en-US" dirty="0"/>
              </a:p>
            </p:txBody>
          </p:sp>
        </mc:Fallback>
      </mc:AlternateContent>
      <p:sp>
        <p:nvSpPr>
          <p:cNvPr id="4" name="灯片编号占位符 3">
            <a:extLst>
              <a:ext uri="{FF2B5EF4-FFF2-40B4-BE49-F238E27FC236}">
                <a16:creationId xmlns:a16="http://schemas.microsoft.com/office/drawing/2014/main" id="{34EF8B4C-B032-C1F2-EBA4-A76649324622}"/>
              </a:ext>
            </a:extLst>
          </p:cNvPr>
          <p:cNvSpPr>
            <a:spLocks noGrp="1"/>
          </p:cNvSpPr>
          <p:nvPr>
            <p:ph type="sldNum" sz="quarter" idx="5"/>
          </p:nvPr>
        </p:nvSpPr>
        <p:spPr/>
        <p:txBody>
          <a:bodyPr/>
          <a:lstStyle/>
          <a:p>
            <a:fld id="{C9336827-4F13-4E85-9F46-E6B1EDB80F1A}" type="slidenum">
              <a:rPr lang="zh-CN" altLang="en-US" smtClean="0"/>
              <a:t>3</a:t>
            </a:fld>
            <a:endParaRPr lang="zh-CN" altLang="en-US"/>
          </a:p>
        </p:txBody>
      </p:sp>
    </p:spTree>
    <p:extLst>
      <p:ext uri="{BB962C8B-B14F-4D97-AF65-F5344CB8AC3E}">
        <p14:creationId xmlns:p14="http://schemas.microsoft.com/office/powerpoint/2010/main" val="3370879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C8C47-A865-8F1D-A71B-7B738A8BFD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F039D5-F903-617A-D319-E5470C90BFC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E7DCF8-923E-307C-3014-FBCBF43E0945}"/>
              </a:ext>
            </a:extLst>
          </p:cNvPr>
          <p:cNvSpPr>
            <a:spLocks noGrp="1"/>
          </p:cNvSpPr>
          <p:nvPr>
            <p:ph type="body" idx="1"/>
          </p:nvPr>
        </p:nvSpPr>
        <p:spPr/>
        <p:txBody>
          <a:bodyPr/>
          <a:lstStyle/>
          <a:p>
            <a:r>
              <a:rPr lang="zh-CN" altLang="en-US" dirty="0"/>
              <a:t>来自数电的小技巧</a:t>
            </a:r>
          </a:p>
        </p:txBody>
      </p:sp>
      <p:sp>
        <p:nvSpPr>
          <p:cNvPr id="4" name="灯片编号占位符 3">
            <a:extLst>
              <a:ext uri="{FF2B5EF4-FFF2-40B4-BE49-F238E27FC236}">
                <a16:creationId xmlns:a16="http://schemas.microsoft.com/office/drawing/2014/main" id="{A48E5B50-6533-8629-AE3D-8F7AE0C854BB}"/>
              </a:ext>
            </a:extLst>
          </p:cNvPr>
          <p:cNvSpPr>
            <a:spLocks noGrp="1"/>
          </p:cNvSpPr>
          <p:nvPr>
            <p:ph type="sldNum" sz="quarter" idx="5"/>
          </p:nvPr>
        </p:nvSpPr>
        <p:spPr/>
        <p:txBody>
          <a:bodyPr/>
          <a:lstStyle/>
          <a:p>
            <a:fld id="{C9336827-4F13-4E85-9F46-E6B1EDB80F1A}" type="slidenum">
              <a:rPr lang="zh-CN" altLang="en-US" smtClean="0"/>
              <a:t>4</a:t>
            </a:fld>
            <a:endParaRPr lang="zh-CN" altLang="en-US"/>
          </a:p>
        </p:txBody>
      </p:sp>
    </p:spTree>
    <p:extLst>
      <p:ext uri="{BB962C8B-B14F-4D97-AF65-F5344CB8AC3E}">
        <p14:creationId xmlns:p14="http://schemas.microsoft.com/office/powerpoint/2010/main" val="551990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704FF-D252-6586-8A02-672DB1A2B7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0B0B44-FC43-00D8-90CF-C25CFE11B5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BA6AA7-DC0E-25A2-1674-C5DE8394C00E}"/>
              </a:ext>
            </a:extLst>
          </p:cNvPr>
          <p:cNvSpPr>
            <a:spLocks noGrp="1"/>
          </p:cNvSpPr>
          <p:nvPr>
            <p:ph type="body" idx="1"/>
          </p:nvPr>
        </p:nvSpPr>
        <p:spPr/>
        <p:txBody>
          <a:bodyPr/>
          <a:lstStyle/>
          <a:p>
            <a:r>
              <a:rPr lang="zh-CN" altLang="en-US" dirty="0"/>
              <a:t>考察逻辑完备</a:t>
            </a:r>
          </a:p>
        </p:txBody>
      </p:sp>
      <p:sp>
        <p:nvSpPr>
          <p:cNvPr id="4" name="灯片编号占位符 3">
            <a:extLst>
              <a:ext uri="{FF2B5EF4-FFF2-40B4-BE49-F238E27FC236}">
                <a16:creationId xmlns:a16="http://schemas.microsoft.com/office/drawing/2014/main" id="{965D0A2D-3EB0-B695-D44E-016F21211A3F}"/>
              </a:ext>
            </a:extLst>
          </p:cNvPr>
          <p:cNvSpPr>
            <a:spLocks noGrp="1"/>
          </p:cNvSpPr>
          <p:nvPr>
            <p:ph type="sldNum" sz="quarter" idx="5"/>
          </p:nvPr>
        </p:nvSpPr>
        <p:spPr/>
        <p:txBody>
          <a:bodyPr/>
          <a:lstStyle/>
          <a:p>
            <a:fld id="{C9336827-4F13-4E85-9F46-E6B1EDB80F1A}" type="slidenum">
              <a:rPr lang="zh-CN" altLang="en-US" smtClean="0"/>
              <a:t>5</a:t>
            </a:fld>
            <a:endParaRPr lang="zh-CN" altLang="en-US"/>
          </a:p>
        </p:txBody>
      </p:sp>
    </p:spTree>
    <p:extLst>
      <p:ext uri="{BB962C8B-B14F-4D97-AF65-F5344CB8AC3E}">
        <p14:creationId xmlns:p14="http://schemas.microsoft.com/office/powerpoint/2010/main" val="2801062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EDF1D-4390-9074-DA9F-2B25A16A30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AB6CD3-DDF0-810C-ABFB-C722B43E1A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FB55AC-410D-450F-70A9-432B4C0FC6F9}"/>
              </a:ext>
            </a:extLst>
          </p:cNvPr>
          <p:cNvSpPr>
            <a:spLocks noGrp="1"/>
          </p:cNvSpPr>
          <p:nvPr>
            <p:ph type="body" idx="1"/>
          </p:nvPr>
        </p:nvSpPr>
        <p:spPr/>
        <p:txBody>
          <a:bodyPr/>
          <a:lstStyle/>
          <a:p>
            <a:r>
              <a:rPr lang="zh-CN" altLang="en-US" dirty="0"/>
              <a:t>考察逻辑完备</a:t>
            </a:r>
          </a:p>
        </p:txBody>
      </p:sp>
      <p:sp>
        <p:nvSpPr>
          <p:cNvPr id="4" name="灯片编号占位符 3">
            <a:extLst>
              <a:ext uri="{FF2B5EF4-FFF2-40B4-BE49-F238E27FC236}">
                <a16:creationId xmlns:a16="http://schemas.microsoft.com/office/drawing/2014/main" id="{843A1CD3-F344-29CD-F463-18662773CD44}"/>
              </a:ext>
            </a:extLst>
          </p:cNvPr>
          <p:cNvSpPr>
            <a:spLocks noGrp="1"/>
          </p:cNvSpPr>
          <p:nvPr>
            <p:ph type="sldNum" sz="quarter" idx="5"/>
          </p:nvPr>
        </p:nvSpPr>
        <p:spPr/>
        <p:txBody>
          <a:bodyPr/>
          <a:lstStyle/>
          <a:p>
            <a:fld id="{C9336827-4F13-4E85-9F46-E6B1EDB80F1A}" type="slidenum">
              <a:rPr lang="zh-CN" altLang="en-US" smtClean="0"/>
              <a:t>6</a:t>
            </a:fld>
            <a:endParaRPr lang="zh-CN" altLang="en-US"/>
          </a:p>
        </p:txBody>
      </p:sp>
    </p:spTree>
    <p:extLst>
      <p:ext uri="{BB962C8B-B14F-4D97-AF65-F5344CB8AC3E}">
        <p14:creationId xmlns:p14="http://schemas.microsoft.com/office/powerpoint/2010/main" val="1437743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144ED-0262-BC1F-10A3-9C36A01FB1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B390AE-9C83-02B0-B98E-6520FC14D9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6BA6E75-88A8-2D42-64AB-95DE5F2FED08}"/>
              </a:ext>
            </a:extLst>
          </p:cNvPr>
          <p:cNvSpPr>
            <a:spLocks noGrp="1"/>
          </p:cNvSpPr>
          <p:nvPr>
            <p:ph type="body" idx="1"/>
          </p:nvPr>
        </p:nvSpPr>
        <p:spPr/>
        <p:txBody>
          <a:bodyPr/>
          <a:lstStyle/>
          <a:p>
            <a:r>
              <a:rPr lang="zh-CN" altLang="en-US" dirty="0"/>
              <a:t>考察</a:t>
            </a:r>
            <a:r>
              <a:rPr lang="en-US" altLang="zh-CN" dirty="0"/>
              <a:t>IEEE</a:t>
            </a:r>
            <a:endParaRPr lang="zh-CN" altLang="en-US" dirty="0"/>
          </a:p>
        </p:txBody>
      </p:sp>
      <p:sp>
        <p:nvSpPr>
          <p:cNvPr id="4" name="灯片编号占位符 3">
            <a:extLst>
              <a:ext uri="{FF2B5EF4-FFF2-40B4-BE49-F238E27FC236}">
                <a16:creationId xmlns:a16="http://schemas.microsoft.com/office/drawing/2014/main" id="{4A91ED9B-64E2-ACB7-4EBB-93DE7BFA317E}"/>
              </a:ext>
            </a:extLst>
          </p:cNvPr>
          <p:cNvSpPr>
            <a:spLocks noGrp="1"/>
          </p:cNvSpPr>
          <p:nvPr>
            <p:ph type="sldNum" sz="quarter" idx="5"/>
          </p:nvPr>
        </p:nvSpPr>
        <p:spPr/>
        <p:txBody>
          <a:bodyPr/>
          <a:lstStyle/>
          <a:p>
            <a:fld id="{C9336827-4F13-4E85-9F46-E6B1EDB80F1A}" type="slidenum">
              <a:rPr lang="zh-CN" altLang="en-US" smtClean="0"/>
              <a:t>7</a:t>
            </a:fld>
            <a:endParaRPr lang="zh-CN" altLang="en-US"/>
          </a:p>
        </p:txBody>
      </p:sp>
    </p:spTree>
    <p:extLst>
      <p:ext uri="{BB962C8B-B14F-4D97-AF65-F5344CB8AC3E}">
        <p14:creationId xmlns:p14="http://schemas.microsoft.com/office/powerpoint/2010/main" val="990524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43647-346C-A5C1-0CF5-92265F9A73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C6867C-BFC1-51B6-32F2-48B8504A0B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F6C3AD-1D1E-EFFD-865B-3ADCABC31568}"/>
              </a:ext>
            </a:extLst>
          </p:cNvPr>
          <p:cNvSpPr>
            <a:spLocks noGrp="1"/>
          </p:cNvSpPr>
          <p:nvPr>
            <p:ph type="body" idx="1"/>
          </p:nvPr>
        </p:nvSpPr>
        <p:spPr/>
        <p:txBody>
          <a:bodyPr/>
          <a:lstStyle/>
          <a:p>
            <a:r>
              <a:rPr lang="zh-CN" altLang="en-US" dirty="0"/>
              <a:t>小巧思</a:t>
            </a:r>
          </a:p>
        </p:txBody>
      </p:sp>
      <p:sp>
        <p:nvSpPr>
          <p:cNvPr id="4" name="灯片编号占位符 3">
            <a:extLst>
              <a:ext uri="{FF2B5EF4-FFF2-40B4-BE49-F238E27FC236}">
                <a16:creationId xmlns:a16="http://schemas.microsoft.com/office/drawing/2014/main" id="{F257B271-2B57-9F5E-E937-E2215028305C}"/>
              </a:ext>
            </a:extLst>
          </p:cNvPr>
          <p:cNvSpPr>
            <a:spLocks noGrp="1"/>
          </p:cNvSpPr>
          <p:nvPr>
            <p:ph type="sldNum" sz="quarter" idx="5"/>
          </p:nvPr>
        </p:nvSpPr>
        <p:spPr/>
        <p:txBody>
          <a:bodyPr/>
          <a:lstStyle/>
          <a:p>
            <a:fld id="{C9336827-4F13-4E85-9F46-E6B1EDB80F1A}" type="slidenum">
              <a:rPr lang="zh-CN" altLang="en-US" smtClean="0"/>
              <a:t>8</a:t>
            </a:fld>
            <a:endParaRPr lang="zh-CN" altLang="en-US"/>
          </a:p>
        </p:txBody>
      </p:sp>
    </p:spTree>
    <p:extLst>
      <p:ext uri="{BB962C8B-B14F-4D97-AF65-F5344CB8AC3E}">
        <p14:creationId xmlns:p14="http://schemas.microsoft.com/office/powerpoint/2010/main" val="2787283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B0674-49D6-897E-4F2C-A0DE3B4BB6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EEF322-69E9-1BB3-7D9E-CD2E1662C4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4AEE4B-5349-9822-672A-C18C32A9C9E7}"/>
              </a:ext>
            </a:extLst>
          </p:cNvPr>
          <p:cNvSpPr>
            <a:spLocks noGrp="1"/>
          </p:cNvSpPr>
          <p:nvPr>
            <p:ph type="body" idx="1"/>
          </p:nvPr>
        </p:nvSpPr>
        <p:spPr/>
        <p:txBody>
          <a:bodyPr/>
          <a:lstStyle/>
          <a:p>
            <a:r>
              <a:rPr lang="zh-CN" altLang="en-US" dirty="0"/>
              <a:t>理论寻址空间</a:t>
            </a:r>
            <a:r>
              <a:rPr lang="en-US" altLang="zh-CN" dirty="0"/>
              <a:t>vs</a:t>
            </a:r>
            <a:r>
              <a:rPr lang="zh-CN" altLang="en-US" dirty="0"/>
              <a:t>实际寻址空间</a:t>
            </a:r>
          </a:p>
        </p:txBody>
      </p:sp>
      <p:sp>
        <p:nvSpPr>
          <p:cNvPr id="4" name="灯片编号占位符 3">
            <a:extLst>
              <a:ext uri="{FF2B5EF4-FFF2-40B4-BE49-F238E27FC236}">
                <a16:creationId xmlns:a16="http://schemas.microsoft.com/office/drawing/2014/main" id="{41426F52-4CAD-0EFB-0D33-7606E517B32D}"/>
              </a:ext>
            </a:extLst>
          </p:cNvPr>
          <p:cNvSpPr>
            <a:spLocks noGrp="1"/>
          </p:cNvSpPr>
          <p:nvPr>
            <p:ph type="sldNum" sz="quarter" idx="5"/>
          </p:nvPr>
        </p:nvSpPr>
        <p:spPr/>
        <p:txBody>
          <a:bodyPr/>
          <a:lstStyle/>
          <a:p>
            <a:fld id="{C9336827-4F13-4E85-9F46-E6B1EDB80F1A}" type="slidenum">
              <a:rPr lang="zh-CN" altLang="en-US" smtClean="0"/>
              <a:t>9</a:t>
            </a:fld>
            <a:endParaRPr lang="zh-CN" altLang="en-US"/>
          </a:p>
        </p:txBody>
      </p:sp>
    </p:spTree>
    <p:extLst>
      <p:ext uri="{BB962C8B-B14F-4D97-AF65-F5344CB8AC3E}">
        <p14:creationId xmlns:p14="http://schemas.microsoft.com/office/powerpoint/2010/main" val="42447135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734F6-2741-D055-2347-9E4FB24174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483461-9F25-8C55-8311-7C5A6EF44A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DBA2C1-A272-32FB-C781-BE95244E32C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819F012-147A-BEFB-6A14-AF114DE81DD7}"/>
              </a:ext>
            </a:extLst>
          </p:cNvPr>
          <p:cNvSpPr>
            <a:spLocks noGrp="1"/>
          </p:cNvSpPr>
          <p:nvPr>
            <p:ph type="sldNum" sz="quarter" idx="5"/>
          </p:nvPr>
        </p:nvSpPr>
        <p:spPr/>
        <p:txBody>
          <a:bodyPr/>
          <a:lstStyle/>
          <a:p>
            <a:fld id="{C9336827-4F13-4E85-9F46-E6B1EDB80F1A}" type="slidenum">
              <a:rPr lang="zh-CN" altLang="en-US" smtClean="0"/>
              <a:t>10</a:t>
            </a:fld>
            <a:endParaRPr lang="zh-CN" altLang="en-US"/>
          </a:p>
        </p:txBody>
      </p:sp>
    </p:spTree>
    <p:extLst>
      <p:ext uri="{BB962C8B-B14F-4D97-AF65-F5344CB8AC3E}">
        <p14:creationId xmlns:p14="http://schemas.microsoft.com/office/powerpoint/2010/main" val="3143845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479E8-0153-FEBB-3322-E89C603C65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66D090-5953-F489-948F-B72E243B18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021F5C-452A-2C41-7C2C-07F8F3C5639C}"/>
              </a:ext>
            </a:extLst>
          </p:cNvPr>
          <p:cNvSpPr>
            <a:spLocks noGrp="1"/>
          </p:cNvSpPr>
          <p:nvPr>
            <p:ph type="body" idx="1"/>
          </p:nvPr>
        </p:nvSpPr>
        <p:spPr/>
        <p:txBody>
          <a:bodyPr/>
          <a:lstStyle/>
          <a:p>
            <a:r>
              <a:rPr lang="zh-CN" altLang="en-US" dirty="0"/>
              <a:t>扩展：量子信息</a:t>
            </a:r>
          </a:p>
        </p:txBody>
      </p:sp>
      <p:sp>
        <p:nvSpPr>
          <p:cNvPr id="4" name="灯片编号占位符 3">
            <a:extLst>
              <a:ext uri="{FF2B5EF4-FFF2-40B4-BE49-F238E27FC236}">
                <a16:creationId xmlns:a16="http://schemas.microsoft.com/office/drawing/2014/main" id="{50D74D70-C00A-21CA-7371-3D1456C765AC}"/>
              </a:ext>
            </a:extLst>
          </p:cNvPr>
          <p:cNvSpPr>
            <a:spLocks noGrp="1"/>
          </p:cNvSpPr>
          <p:nvPr>
            <p:ph type="sldNum" sz="quarter" idx="5"/>
          </p:nvPr>
        </p:nvSpPr>
        <p:spPr/>
        <p:txBody>
          <a:bodyPr/>
          <a:lstStyle/>
          <a:p>
            <a:fld id="{C9336827-4F13-4E85-9F46-E6B1EDB80F1A}" type="slidenum">
              <a:rPr lang="zh-CN" altLang="en-US" smtClean="0"/>
              <a:t>11</a:t>
            </a:fld>
            <a:endParaRPr lang="zh-CN" altLang="en-US"/>
          </a:p>
        </p:txBody>
      </p:sp>
    </p:spTree>
    <p:extLst>
      <p:ext uri="{BB962C8B-B14F-4D97-AF65-F5344CB8AC3E}">
        <p14:creationId xmlns:p14="http://schemas.microsoft.com/office/powerpoint/2010/main" val="1961016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7F076-198F-DBE8-BE85-800CD5A851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FA6D91-60C3-8999-56BF-E6D26B1AD9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4DD0B8-48E1-9263-3AAA-7E88CF5E1BDE}"/>
              </a:ext>
            </a:extLst>
          </p:cNvPr>
          <p:cNvSpPr>
            <a:spLocks noGrp="1"/>
          </p:cNvSpPr>
          <p:nvPr>
            <p:ph type="body" idx="1"/>
          </p:nvPr>
        </p:nvSpPr>
        <p:spPr/>
        <p:txBody>
          <a:bodyPr/>
          <a:lstStyle/>
          <a:p>
            <a:r>
              <a:rPr lang="zh-CN" altLang="en-US" dirty="0"/>
              <a:t>来源：许小冶老师课堂</a:t>
            </a:r>
            <a:r>
              <a:rPr lang="en-US" altLang="zh-CN" dirty="0"/>
              <a:t>PPT</a:t>
            </a:r>
            <a:endParaRPr lang="zh-CN" altLang="en-US" dirty="0"/>
          </a:p>
        </p:txBody>
      </p:sp>
      <p:sp>
        <p:nvSpPr>
          <p:cNvPr id="4" name="灯片编号占位符 3">
            <a:extLst>
              <a:ext uri="{FF2B5EF4-FFF2-40B4-BE49-F238E27FC236}">
                <a16:creationId xmlns:a16="http://schemas.microsoft.com/office/drawing/2014/main" id="{8337DE9A-103A-2A35-3BCD-261280A2654A}"/>
              </a:ext>
            </a:extLst>
          </p:cNvPr>
          <p:cNvSpPr>
            <a:spLocks noGrp="1"/>
          </p:cNvSpPr>
          <p:nvPr>
            <p:ph type="sldNum" sz="quarter" idx="5"/>
          </p:nvPr>
        </p:nvSpPr>
        <p:spPr/>
        <p:txBody>
          <a:bodyPr/>
          <a:lstStyle/>
          <a:p>
            <a:fld id="{C9336827-4F13-4E85-9F46-E6B1EDB80F1A}" type="slidenum">
              <a:rPr lang="zh-CN" altLang="en-US" smtClean="0"/>
              <a:t>12</a:t>
            </a:fld>
            <a:endParaRPr lang="zh-CN" altLang="en-US"/>
          </a:p>
        </p:txBody>
      </p:sp>
    </p:spTree>
    <p:extLst>
      <p:ext uri="{BB962C8B-B14F-4D97-AF65-F5344CB8AC3E}">
        <p14:creationId xmlns:p14="http://schemas.microsoft.com/office/powerpoint/2010/main" val="644265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A92C8-5352-764D-A901-B61A475B0D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FDB3B4-DD77-7BA6-7ABE-CB11908A56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2FF5ACF-C1E2-E770-2D8E-0B52FA7132A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EFCA386-A169-4E21-4030-F0D326FBD571}"/>
              </a:ext>
            </a:extLst>
          </p:cNvPr>
          <p:cNvSpPr>
            <a:spLocks noGrp="1"/>
          </p:cNvSpPr>
          <p:nvPr>
            <p:ph type="sldNum" sz="quarter" idx="5"/>
          </p:nvPr>
        </p:nvSpPr>
        <p:spPr/>
        <p:txBody>
          <a:bodyPr/>
          <a:lstStyle/>
          <a:p>
            <a:fld id="{C9336827-4F13-4E85-9F46-E6B1EDB80F1A}" type="slidenum">
              <a:rPr lang="zh-CN" altLang="en-US" smtClean="0"/>
              <a:t>13</a:t>
            </a:fld>
            <a:endParaRPr lang="zh-CN" altLang="en-US"/>
          </a:p>
        </p:txBody>
      </p:sp>
    </p:spTree>
    <p:extLst>
      <p:ext uri="{BB962C8B-B14F-4D97-AF65-F5344CB8AC3E}">
        <p14:creationId xmlns:p14="http://schemas.microsoft.com/office/powerpoint/2010/main" val="1046368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E6FEB-D548-B693-31A8-C330B2EC87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2361D0-A305-6E55-C27B-7993E48586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65C024-64E2-EE61-12D6-050BE75C84A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2895FC5-1C60-1106-304D-B94822078C4F}"/>
              </a:ext>
            </a:extLst>
          </p:cNvPr>
          <p:cNvSpPr>
            <a:spLocks noGrp="1"/>
          </p:cNvSpPr>
          <p:nvPr>
            <p:ph type="sldNum" sz="quarter" idx="5"/>
          </p:nvPr>
        </p:nvSpPr>
        <p:spPr/>
        <p:txBody>
          <a:bodyPr/>
          <a:lstStyle/>
          <a:p>
            <a:fld id="{C9336827-4F13-4E85-9F46-E6B1EDB80F1A}" type="slidenum">
              <a:rPr lang="zh-CN" altLang="en-US" smtClean="0"/>
              <a:t>14</a:t>
            </a:fld>
            <a:endParaRPr lang="zh-CN" altLang="en-US"/>
          </a:p>
        </p:txBody>
      </p:sp>
    </p:spTree>
    <p:extLst>
      <p:ext uri="{BB962C8B-B14F-4D97-AF65-F5344CB8AC3E}">
        <p14:creationId xmlns:p14="http://schemas.microsoft.com/office/powerpoint/2010/main" val="33188888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4E80-1A8D-E901-66BC-229CEDAF26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8F3A08-82F0-8D66-87BE-D724C3EE1E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5A3338-06A4-02FB-EA12-03454BAD68B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6D69F44-1F2D-3F16-F633-E200C3A66324}"/>
              </a:ext>
            </a:extLst>
          </p:cNvPr>
          <p:cNvSpPr>
            <a:spLocks noGrp="1"/>
          </p:cNvSpPr>
          <p:nvPr>
            <p:ph type="sldNum" sz="quarter" idx="5"/>
          </p:nvPr>
        </p:nvSpPr>
        <p:spPr/>
        <p:txBody>
          <a:bodyPr/>
          <a:lstStyle/>
          <a:p>
            <a:fld id="{C9336827-4F13-4E85-9F46-E6B1EDB80F1A}" type="slidenum">
              <a:rPr lang="zh-CN" altLang="en-US" smtClean="0"/>
              <a:t>15</a:t>
            </a:fld>
            <a:endParaRPr lang="zh-CN" altLang="en-US"/>
          </a:p>
        </p:txBody>
      </p:sp>
    </p:spTree>
    <p:extLst>
      <p:ext uri="{BB962C8B-B14F-4D97-AF65-F5344CB8AC3E}">
        <p14:creationId xmlns:p14="http://schemas.microsoft.com/office/powerpoint/2010/main" val="1834448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A25BB-68C8-D984-D3FB-A6D32F31DC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A1FAC1-885C-AA3B-E9EF-7A6BD1275D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A7A5D3-E85F-4B7B-FB35-85ACD0DDBE0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376BE6D-75C0-B47B-72A1-55FCC8F45B0C}"/>
              </a:ext>
            </a:extLst>
          </p:cNvPr>
          <p:cNvSpPr>
            <a:spLocks noGrp="1"/>
          </p:cNvSpPr>
          <p:nvPr>
            <p:ph type="sldNum" sz="quarter" idx="5"/>
          </p:nvPr>
        </p:nvSpPr>
        <p:spPr/>
        <p:txBody>
          <a:bodyPr/>
          <a:lstStyle/>
          <a:p>
            <a:fld id="{C9336827-4F13-4E85-9F46-E6B1EDB80F1A}" type="slidenum">
              <a:rPr lang="zh-CN" altLang="en-US" smtClean="0"/>
              <a:t>16</a:t>
            </a:fld>
            <a:endParaRPr lang="zh-CN" altLang="en-US"/>
          </a:p>
        </p:txBody>
      </p:sp>
    </p:spTree>
    <p:extLst>
      <p:ext uri="{BB962C8B-B14F-4D97-AF65-F5344CB8AC3E}">
        <p14:creationId xmlns:p14="http://schemas.microsoft.com/office/powerpoint/2010/main" val="35398340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FBCDA-FCAA-C688-5F63-839511A8D8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B493D3-5113-CA15-A6F7-8093BA1F5DF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E6747B-D7ED-B558-28DA-EE31DA0701D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CF96B8E-0C72-607B-6781-220A5AAB0E20}"/>
              </a:ext>
            </a:extLst>
          </p:cNvPr>
          <p:cNvSpPr>
            <a:spLocks noGrp="1"/>
          </p:cNvSpPr>
          <p:nvPr>
            <p:ph type="sldNum" sz="quarter" idx="5"/>
          </p:nvPr>
        </p:nvSpPr>
        <p:spPr/>
        <p:txBody>
          <a:bodyPr/>
          <a:lstStyle/>
          <a:p>
            <a:fld id="{C9336827-4F13-4E85-9F46-E6B1EDB80F1A}" type="slidenum">
              <a:rPr lang="zh-CN" altLang="en-US" smtClean="0"/>
              <a:t>17</a:t>
            </a:fld>
            <a:endParaRPr lang="zh-CN" altLang="en-US"/>
          </a:p>
        </p:txBody>
      </p:sp>
    </p:spTree>
    <p:extLst>
      <p:ext uri="{BB962C8B-B14F-4D97-AF65-F5344CB8AC3E}">
        <p14:creationId xmlns:p14="http://schemas.microsoft.com/office/powerpoint/2010/main" val="30473440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A2955-3C55-4693-7A90-08C640D2CD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52D53F-C842-F382-8CD2-AEE635B03D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9B194BF-FEF6-075F-BDC7-108CF3576EB9}"/>
              </a:ext>
            </a:extLst>
          </p:cNvPr>
          <p:cNvSpPr>
            <a:spLocks noGrp="1"/>
          </p:cNvSpPr>
          <p:nvPr>
            <p:ph type="body" idx="1"/>
          </p:nvPr>
        </p:nvSpPr>
        <p:spPr/>
        <p:txBody>
          <a:bodyPr/>
          <a:lstStyle/>
          <a:p>
            <a:r>
              <a:rPr lang="zh-CN" altLang="en-US" dirty="0"/>
              <a:t>考察有限状态机</a:t>
            </a:r>
          </a:p>
        </p:txBody>
      </p:sp>
      <p:sp>
        <p:nvSpPr>
          <p:cNvPr id="4" name="灯片编号占位符 3">
            <a:extLst>
              <a:ext uri="{FF2B5EF4-FFF2-40B4-BE49-F238E27FC236}">
                <a16:creationId xmlns:a16="http://schemas.microsoft.com/office/drawing/2014/main" id="{197AF1C3-5316-4971-EA4E-87AA3A531D21}"/>
              </a:ext>
            </a:extLst>
          </p:cNvPr>
          <p:cNvSpPr>
            <a:spLocks noGrp="1"/>
          </p:cNvSpPr>
          <p:nvPr>
            <p:ph type="sldNum" sz="quarter" idx="5"/>
          </p:nvPr>
        </p:nvSpPr>
        <p:spPr/>
        <p:txBody>
          <a:bodyPr/>
          <a:lstStyle/>
          <a:p>
            <a:fld id="{C9336827-4F13-4E85-9F46-E6B1EDB80F1A}" type="slidenum">
              <a:rPr lang="zh-CN" altLang="en-US" smtClean="0"/>
              <a:t>18</a:t>
            </a:fld>
            <a:endParaRPr lang="zh-CN" altLang="en-US"/>
          </a:p>
        </p:txBody>
      </p:sp>
    </p:spTree>
    <p:extLst>
      <p:ext uri="{BB962C8B-B14F-4D97-AF65-F5344CB8AC3E}">
        <p14:creationId xmlns:p14="http://schemas.microsoft.com/office/powerpoint/2010/main" val="24582573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236E2-FF51-8644-8766-37F5BAFFE9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4F0DA2-A655-2E65-1F46-8183D4C47A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6AA368-3DE5-C221-00B7-2A1F01C334A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CEB4EF6-2556-5F6B-473F-A846CC4EF748}"/>
              </a:ext>
            </a:extLst>
          </p:cNvPr>
          <p:cNvSpPr>
            <a:spLocks noGrp="1"/>
          </p:cNvSpPr>
          <p:nvPr>
            <p:ph type="sldNum" sz="quarter" idx="5"/>
          </p:nvPr>
        </p:nvSpPr>
        <p:spPr/>
        <p:txBody>
          <a:bodyPr/>
          <a:lstStyle/>
          <a:p>
            <a:fld id="{C9336827-4F13-4E85-9F46-E6B1EDB80F1A}" type="slidenum">
              <a:rPr lang="zh-CN" altLang="en-US" smtClean="0"/>
              <a:t>19</a:t>
            </a:fld>
            <a:endParaRPr lang="zh-CN" altLang="en-US"/>
          </a:p>
        </p:txBody>
      </p:sp>
    </p:spTree>
    <p:extLst>
      <p:ext uri="{BB962C8B-B14F-4D97-AF65-F5344CB8AC3E}">
        <p14:creationId xmlns:p14="http://schemas.microsoft.com/office/powerpoint/2010/main" val="10311544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F7335-0B90-DC58-5A55-5701F3DE97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8EC6A1-9B83-BF86-C1FC-62F57FD643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D4F7D1-FF97-0799-D5FE-C70EA3CD713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596E046-8362-58A3-D5E4-69D072CBDD2E}"/>
              </a:ext>
            </a:extLst>
          </p:cNvPr>
          <p:cNvSpPr>
            <a:spLocks noGrp="1"/>
          </p:cNvSpPr>
          <p:nvPr>
            <p:ph type="sldNum" sz="quarter" idx="5"/>
          </p:nvPr>
        </p:nvSpPr>
        <p:spPr/>
        <p:txBody>
          <a:bodyPr/>
          <a:lstStyle/>
          <a:p>
            <a:fld id="{C9336827-4F13-4E85-9F46-E6B1EDB80F1A}" type="slidenum">
              <a:rPr lang="zh-CN" altLang="en-US" smtClean="0"/>
              <a:t>20</a:t>
            </a:fld>
            <a:endParaRPr lang="zh-CN" altLang="en-US"/>
          </a:p>
        </p:txBody>
      </p:sp>
    </p:spTree>
    <p:extLst>
      <p:ext uri="{BB962C8B-B14F-4D97-AF65-F5344CB8AC3E}">
        <p14:creationId xmlns:p14="http://schemas.microsoft.com/office/powerpoint/2010/main" val="3567008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F22C02-EBEC-7B91-2E6C-E9B20C2AE1A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E9CC2BE-1898-1074-A664-90640219CB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6747A27-5447-C4A2-C83E-9870AFF4E309}"/>
              </a:ext>
            </a:extLst>
          </p:cNvPr>
          <p:cNvSpPr>
            <a:spLocks noGrp="1"/>
          </p:cNvSpPr>
          <p:nvPr>
            <p:ph type="dt" sz="half" idx="10"/>
          </p:nvPr>
        </p:nvSpPr>
        <p:spPr/>
        <p:txBody>
          <a:bodyPr/>
          <a:lstStyle/>
          <a:p>
            <a:fld id="{F489277C-37F6-40E4-A892-3F3E7DFF2DD6}" type="datetime1">
              <a:rPr lang="zh-CN" altLang="en-US" smtClean="0"/>
              <a:t>2025/10/29</a:t>
            </a:fld>
            <a:endParaRPr lang="zh-CN" altLang="en-US"/>
          </a:p>
        </p:txBody>
      </p:sp>
      <p:sp>
        <p:nvSpPr>
          <p:cNvPr id="5" name="页脚占位符 4">
            <a:extLst>
              <a:ext uri="{FF2B5EF4-FFF2-40B4-BE49-F238E27FC236}">
                <a16:creationId xmlns:a16="http://schemas.microsoft.com/office/drawing/2014/main" id="{18158D41-B652-A1EC-F09F-8C6C371565DA}"/>
              </a:ext>
            </a:extLst>
          </p:cNvPr>
          <p:cNvSpPr>
            <a:spLocks noGrp="1"/>
          </p:cNvSpPr>
          <p:nvPr>
            <p:ph type="ftr" sz="quarter" idx="11"/>
          </p:nvPr>
        </p:nvSpPr>
        <p:spPr/>
        <p:txBody>
          <a:bodyPr/>
          <a:lstStyle/>
          <a:p>
            <a:r>
              <a:rPr lang="en-US" altLang="zh-CN"/>
              <a:t>ICS hw2</a:t>
            </a:r>
            <a:endParaRPr lang="zh-CN" altLang="en-US"/>
          </a:p>
        </p:txBody>
      </p:sp>
      <p:sp>
        <p:nvSpPr>
          <p:cNvPr id="6" name="灯片编号占位符 5">
            <a:extLst>
              <a:ext uri="{FF2B5EF4-FFF2-40B4-BE49-F238E27FC236}">
                <a16:creationId xmlns:a16="http://schemas.microsoft.com/office/drawing/2014/main" id="{91B3A4AC-9CF9-0F27-FA5F-2F44F072B876}"/>
              </a:ext>
            </a:extLst>
          </p:cNvPr>
          <p:cNvSpPr>
            <a:spLocks noGrp="1"/>
          </p:cNvSpPr>
          <p:nvPr>
            <p:ph type="sldNum" sz="quarter" idx="12"/>
          </p:nvPr>
        </p:nvSpPr>
        <p:spPr/>
        <p:txBody>
          <a:bodyPr/>
          <a:lstStyle/>
          <a:p>
            <a:fld id="{8E7CE336-1728-4EBB-A96C-226A00BCBF9A}" type="slidenum">
              <a:rPr lang="zh-CN" altLang="en-US" smtClean="0"/>
              <a:t>‹#›</a:t>
            </a:fld>
            <a:endParaRPr lang="zh-CN" altLang="en-US"/>
          </a:p>
        </p:txBody>
      </p:sp>
    </p:spTree>
    <p:extLst>
      <p:ext uri="{BB962C8B-B14F-4D97-AF65-F5344CB8AC3E}">
        <p14:creationId xmlns:p14="http://schemas.microsoft.com/office/powerpoint/2010/main" val="1492581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D9293A-28A8-6D83-E56C-55950A21B02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F1A6FD1-3FD1-EEE0-B04F-8C5E0DD2215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1C17ECA-F361-BA02-155E-F721FB3FDC82}"/>
              </a:ext>
            </a:extLst>
          </p:cNvPr>
          <p:cNvSpPr>
            <a:spLocks noGrp="1"/>
          </p:cNvSpPr>
          <p:nvPr>
            <p:ph type="dt" sz="half" idx="10"/>
          </p:nvPr>
        </p:nvSpPr>
        <p:spPr/>
        <p:txBody>
          <a:bodyPr/>
          <a:lstStyle/>
          <a:p>
            <a:fld id="{C3C5A5E7-B48F-4AE0-9BCC-F7103F7A37FD}" type="datetime1">
              <a:rPr lang="zh-CN" altLang="en-US" smtClean="0"/>
              <a:t>2025/10/29</a:t>
            </a:fld>
            <a:endParaRPr lang="zh-CN" altLang="en-US"/>
          </a:p>
        </p:txBody>
      </p:sp>
      <p:sp>
        <p:nvSpPr>
          <p:cNvPr id="5" name="页脚占位符 4">
            <a:extLst>
              <a:ext uri="{FF2B5EF4-FFF2-40B4-BE49-F238E27FC236}">
                <a16:creationId xmlns:a16="http://schemas.microsoft.com/office/drawing/2014/main" id="{75493C1B-BF3A-BE6A-54AA-268D742A68E4}"/>
              </a:ext>
            </a:extLst>
          </p:cNvPr>
          <p:cNvSpPr>
            <a:spLocks noGrp="1"/>
          </p:cNvSpPr>
          <p:nvPr>
            <p:ph type="ftr" sz="quarter" idx="11"/>
          </p:nvPr>
        </p:nvSpPr>
        <p:spPr/>
        <p:txBody>
          <a:bodyPr/>
          <a:lstStyle/>
          <a:p>
            <a:r>
              <a:rPr lang="en-US" altLang="zh-CN"/>
              <a:t>ICS hw2</a:t>
            </a:r>
            <a:endParaRPr lang="zh-CN" altLang="en-US"/>
          </a:p>
        </p:txBody>
      </p:sp>
      <p:sp>
        <p:nvSpPr>
          <p:cNvPr id="6" name="灯片编号占位符 5">
            <a:extLst>
              <a:ext uri="{FF2B5EF4-FFF2-40B4-BE49-F238E27FC236}">
                <a16:creationId xmlns:a16="http://schemas.microsoft.com/office/drawing/2014/main" id="{FDE7C3B8-FFB8-49F9-5927-E2B1BE1BCA59}"/>
              </a:ext>
            </a:extLst>
          </p:cNvPr>
          <p:cNvSpPr>
            <a:spLocks noGrp="1"/>
          </p:cNvSpPr>
          <p:nvPr>
            <p:ph type="sldNum" sz="quarter" idx="12"/>
          </p:nvPr>
        </p:nvSpPr>
        <p:spPr/>
        <p:txBody>
          <a:bodyPr/>
          <a:lstStyle/>
          <a:p>
            <a:fld id="{8E7CE336-1728-4EBB-A96C-226A00BCBF9A}" type="slidenum">
              <a:rPr lang="zh-CN" altLang="en-US" smtClean="0"/>
              <a:t>‹#›</a:t>
            </a:fld>
            <a:endParaRPr lang="zh-CN" altLang="en-US"/>
          </a:p>
        </p:txBody>
      </p:sp>
    </p:spTree>
    <p:extLst>
      <p:ext uri="{BB962C8B-B14F-4D97-AF65-F5344CB8AC3E}">
        <p14:creationId xmlns:p14="http://schemas.microsoft.com/office/powerpoint/2010/main" val="206023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04FB00-26B3-6874-085E-DFC11FDFB1C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BC8F3AE-9EF2-48A5-1337-1DED796014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26C31CF-3748-E040-D7C9-C5D69D60337D}"/>
              </a:ext>
            </a:extLst>
          </p:cNvPr>
          <p:cNvSpPr>
            <a:spLocks noGrp="1"/>
          </p:cNvSpPr>
          <p:nvPr>
            <p:ph type="dt" sz="half" idx="10"/>
          </p:nvPr>
        </p:nvSpPr>
        <p:spPr/>
        <p:txBody>
          <a:bodyPr/>
          <a:lstStyle/>
          <a:p>
            <a:fld id="{22F7717A-1E22-4DCB-87C3-82D278BF2722}" type="datetime1">
              <a:rPr lang="zh-CN" altLang="en-US" smtClean="0"/>
              <a:t>2025/10/29</a:t>
            </a:fld>
            <a:endParaRPr lang="zh-CN" altLang="en-US"/>
          </a:p>
        </p:txBody>
      </p:sp>
      <p:sp>
        <p:nvSpPr>
          <p:cNvPr id="5" name="页脚占位符 4">
            <a:extLst>
              <a:ext uri="{FF2B5EF4-FFF2-40B4-BE49-F238E27FC236}">
                <a16:creationId xmlns:a16="http://schemas.microsoft.com/office/drawing/2014/main" id="{2778BF4B-4388-3C37-4A93-32D46924D16D}"/>
              </a:ext>
            </a:extLst>
          </p:cNvPr>
          <p:cNvSpPr>
            <a:spLocks noGrp="1"/>
          </p:cNvSpPr>
          <p:nvPr>
            <p:ph type="ftr" sz="quarter" idx="11"/>
          </p:nvPr>
        </p:nvSpPr>
        <p:spPr/>
        <p:txBody>
          <a:bodyPr/>
          <a:lstStyle/>
          <a:p>
            <a:r>
              <a:rPr lang="en-US" altLang="zh-CN"/>
              <a:t>ICS hw2</a:t>
            </a:r>
            <a:endParaRPr lang="zh-CN" altLang="en-US"/>
          </a:p>
        </p:txBody>
      </p:sp>
      <p:sp>
        <p:nvSpPr>
          <p:cNvPr id="6" name="灯片编号占位符 5">
            <a:extLst>
              <a:ext uri="{FF2B5EF4-FFF2-40B4-BE49-F238E27FC236}">
                <a16:creationId xmlns:a16="http://schemas.microsoft.com/office/drawing/2014/main" id="{BAE14BF9-4F62-660D-868A-D9D0EAFE61AC}"/>
              </a:ext>
            </a:extLst>
          </p:cNvPr>
          <p:cNvSpPr>
            <a:spLocks noGrp="1"/>
          </p:cNvSpPr>
          <p:nvPr>
            <p:ph type="sldNum" sz="quarter" idx="12"/>
          </p:nvPr>
        </p:nvSpPr>
        <p:spPr/>
        <p:txBody>
          <a:bodyPr/>
          <a:lstStyle/>
          <a:p>
            <a:fld id="{8E7CE336-1728-4EBB-A96C-226A00BCBF9A}" type="slidenum">
              <a:rPr lang="zh-CN" altLang="en-US" smtClean="0"/>
              <a:t>‹#›</a:t>
            </a:fld>
            <a:endParaRPr lang="zh-CN" altLang="en-US"/>
          </a:p>
        </p:txBody>
      </p:sp>
    </p:spTree>
    <p:extLst>
      <p:ext uri="{BB962C8B-B14F-4D97-AF65-F5344CB8AC3E}">
        <p14:creationId xmlns:p14="http://schemas.microsoft.com/office/powerpoint/2010/main" val="1058215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474C00-12D8-76B3-3CCF-B9EA1F4AB2C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1EB7F00-C34A-3D0A-D835-72CAE0A5C10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E89E748-3CD1-596C-0EA7-B90F092B55F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AE3CF2E-0F61-4ACD-2D6F-5D08087187F7}"/>
              </a:ext>
            </a:extLst>
          </p:cNvPr>
          <p:cNvSpPr>
            <a:spLocks noGrp="1"/>
          </p:cNvSpPr>
          <p:nvPr>
            <p:ph type="dt" sz="half" idx="10"/>
          </p:nvPr>
        </p:nvSpPr>
        <p:spPr/>
        <p:txBody>
          <a:bodyPr/>
          <a:lstStyle/>
          <a:p>
            <a:fld id="{AEF94C86-85B6-41A0-A5F7-074A103032E9}" type="datetime1">
              <a:rPr lang="zh-CN" altLang="en-US" smtClean="0"/>
              <a:t>2025/10/29</a:t>
            </a:fld>
            <a:endParaRPr lang="zh-CN" altLang="en-US"/>
          </a:p>
        </p:txBody>
      </p:sp>
      <p:sp>
        <p:nvSpPr>
          <p:cNvPr id="6" name="页脚占位符 5">
            <a:extLst>
              <a:ext uri="{FF2B5EF4-FFF2-40B4-BE49-F238E27FC236}">
                <a16:creationId xmlns:a16="http://schemas.microsoft.com/office/drawing/2014/main" id="{6216BECC-F244-D311-10A4-810C80370371}"/>
              </a:ext>
            </a:extLst>
          </p:cNvPr>
          <p:cNvSpPr>
            <a:spLocks noGrp="1"/>
          </p:cNvSpPr>
          <p:nvPr>
            <p:ph type="ftr" sz="quarter" idx="11"/>
          </p:nvPr>
        </p:nvSpPr>
        <p:spPr/>
        <p:txBody>
          <a:bodyPr/>
          <a:lstStyle/>
          <a:p>
            <a:r>
              <a:rPr lang="en-US" altLang="zh-CN"/>
              <a:t>ICS hw2</a:t>
            </a:r>
            <a:endParaRPr lang="zh-CN" altLang="en-US"/>
          </a:p>
        </p:txBody>
      </p:sp>
      <p:sp>
        <p:nvSpPr>
          <p:cNvPr id="7" name="灯片编号占位符 6">
            <a:extLst>
              <a:ext uri="{FF2B5EF4-FFF2-40B4-BE49-F238E27FC236}">
                <a16:creationId xmlns:a16="http://schemas.microsoft.com/office/drawing/2014/main" id="{0AE3215F-5B83-3AD3-547C-287357ECD4E6}"/>
              </a:ext>
            </a:extLst>
          </p:cNvPr>
          <p:cNvSpPr>
            <a:spLocks noGrp="1"/>
          </p:cNvSpPr>
          <p:nvPr>
            <p:ph type="sldNum" sz="quarter" idx="12"/>
          </p:nvPr>
        </p:nvSpPr>
        <p:spPr/>
        <p:txBody>
          <a:bodyPr/>
          <a:lstStyle/>
          <a:p>
            <a:fld id="{8E7CE336-1728-4EBB-A96C-226A00BCBF9A}" type="slidenum">
              <a:rPr lang="zh-CN" altLang="en-US" smtClean="0"/>
              <a:t>‹#›</a:t>
            </a:fld>
            <a:endParaRPr lang="zh-CN" altLang="en-US"/>
          </a:p>
        </p:txBody>
      </p:sp>
    </p:spTree>
    <p:extLst>
      <p:ext uri="{BB962C8B-B14F-4D97-AF65-F5344CB8AC3E}">
        <p14:creationId xmlns:p14="http://schemas.microsoft.com/office/powerpoint/2010/main" val="1851056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B9DB6C-1629-F18F-325B-A226FCFA22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798BE7-CDD7-AB28-782B-8A321120ED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1898607-03DA-5A3D-5F16-944428A4E64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96F0879-9083-D428-15C5-A3553E025C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EF7EA28-3B91-EC23-6CEF-98983F5D66C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F15076E-7D34-1F11-642F-D5CEAD649236}"/>
              </a:ext>
            </a:extLst>
          </p:cNvPr>
          <p:cNvSpPr>
            <a:spLocks noGrp="1"/>
          </p:cNvSpPr>
          <p:nvPr>
            <p:ph type="dt" sz="half" idx="10"/>
          </p:nvPr>
        </p:nvSpPr>
        <p:spPr/>
        <p:txBody>
          <a:bodyPr/>
          <a:lstStyle/>
          <a:p>
            <a:fld id="{20A09E58-171F-4125-BD13-BC742E6E9601}" type="datetime1">
              <a:rPr lang="zh-CN" altLang="en-US" smtClean="0"/>
              <a:t>2025/10/29</a:t>
            </a:fld>
            <a:endParaRPr lang="zh-CN" altLang="en-US"/>
          </a:p>
        </p:txBody>
      </p:sp>
      <p:sp>
        <p:nvSpPr>
          <p:cNvPr id="8" name="页脚占位符 7">
            <a:extLst>
              <a:ext uri="{FF2B5EF4-FFF2-40B4-BE49-F238E27FC236}">
                <a16:creationId xmlns:a16="http://schemas.microsoft.com/office/drawing/2014/main" id="{DCC73C25-7FAA-8003-83D4-956C175615C0}"/>
              </a:ext>
            </a:extLst>
          </p:cNvPr>
          <p:cNvSpPr>
            <a:spLocks noGrp="1"/>
          </p:cNvSpPr>
          <p:nvPr>
            <p:ph type="ftr" sz="quarter" idx="11"/>
          </p:nvPr>
        </p:nvSpPr>
        <p:spPr/>
        <p:txBody>
          <a:bodyPr/>
          <a:lstStyle/>
          <a:p>
            <a:r>
              <a:rPr lang="en-US" altLang="zh-CN"/>
              <a:t>ICS hw2</a:t>
            </a:r>
            <a:endParaRPr lang="zh-CN" altLang="en-US"/>
          </a:p>
        </p:txBody>
      </p:sp>
      <p:sp>
        <p:nvSpPr>
          <p:cNvPr id="9" name="灯片编号占位符 8">
            <a:extLst>
              <a:ext uri="{FF2B5EF4-FFF2-40B4-BE49-F238E27FC236}">
                <a16:creationId xmlns:a16="http://schemas.microsoft.com/office/drawing/2014/main" id="{75DBF0D6-CFD0-C65D-5BB0-F20BE3C8BCBB}"/>
              </a:ext>
            </a:extLst>
          </p:cNvPr>
          <p:cNvSpPr>
            <a:spLocks noGrp="1"/>
          </p:cNvSpPr>
          <p:nvPr>
            <p:ph type="sldNum" sz="quarter" idx="12"/>
          </p:nvPr>
        </p:nvSpPr>
        <p:spPr/>
        <p:txBody>
          <a:bodyPr/>
          <a:lstStyle/>
          <a:p>
            <a:fld id="{8E7CE336-1728-4EBB-A96C-226A00BCBF9A}" type="slidenum">
              <a:rPr lang="zh-CN" altLang="en-US" smtClean="0"/>
              <a:t>‹#›</a:t>
            </a:fld>
            <a:endParaRPr lang="zh-CN" altLang="en-US"/>
          </a:p>
        </p:txBody>
      </p:sp>
    </p:spTree>
    <p:extLst>
      <p:ext uri="{BB962C8B-B14F-4D97-AF65-F5344CB8AC3E}">
        <p14:creationId xmlns:p14="http://schemas.microsoft.com/office/powerpoint/2010/main" val="531284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2C57AE-3A84-B7FE-7BEB-3833CB3D9C9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42BAC1E-A099-5D8E-770B-5CC3CAD43AC9}"/>
              </a:ext>
            </a:extLst>
          </p:cNvPr>
          <p:cNvSpPr>
            <a:spLocks noGrp="1"/>
          </p:cNvSpPr>
          <p:nvPr>
            <p:ph type="dt" sz="half" idx="10"/>
          </p:nvPr>
        </p:nvSpPr>
        <p:spPr/>
        <p:txBody>
          <a:bodyPr/>
          <a:lstStyle/>
          <a:p>
            <a:fld id="{672CE70C-19FB-4EBB-8551-CFD3689212E1}" type="datetime1">
              <a:rPr lang="zh-CN" altLang="en-US" smtClean="0"/>
              <a:t>2025/10/29</a:t>
            </a:fld>
            <a:endParaRPr lang="zh-CN" altLang="en-US"/>
          </a:p>
        </p:txBody>
      </p:sp>
      <p:sp>
        <p:nvSpPr>
          <p:cNvPr id="4" name="页脚占位符 3">
            <a:extLst>
              <a:ext uri="{FF2B5EF4-FFF2-40B4-BE49-F238E27FC236}">
                <a16:creationId xmlns:a16="http://schemas.microsoft.com/office/drawing/2014/main" id="{3FE1C992-E204-1F8F-4732-A79AA6C8C567}"/>
              </a:ext>
            </a:extLst>
          </p:cNvPr>
          <p:cNvSpPr>
            <a:spLocks noGrp="1"/>
          </p:cNvSpPr>
          <p:nvPr>
            <p:ph type="ftr" sz="quarter" idx="11"/>
          </p:nvPr>
        </p:nvSpPr>
        <p:spPr/>
        <p:txBody>
          <a:bodyPr/>
          <a:lstStyle/>
          <a:p>
            <a:r>
              <a:rPr lang="en-US" altLang="zh-CN"/>
              <a:t>ICS hw2</a:t>
            </a:r>
            <a:endParaRPr lang="zh-CN" altLang="en-US"/>
          </a:p>
        </p:txBody>
      </p:sp>
      <p:sp>
        <p:nvSpPr>
          <p:cNvPr id="5" name="灯片编号占位符 4">
            <a:extLst>
              <a:ext uri="{FF2B5EF4-FFF2-40B4-BE49-F238E27FC236}">
                <a16:creationId xmlns:a16="http://schemas.microsoft.com/office/drawing/2014/main" id="{AEA833B3-07A2-CD7C-1E0D-E34FABF1BA3C}"/>
              </a:ext>
            </a:extLst>
          </p:cNvPr>
          <p:cNvSpPr>
            <a:spLocks noGrp="1"/>
          </p:cNvSpPr>
          <p:nvPr>
            <p:ph type="sldNum" sz="quarter" idx="12"/>
          </p:nvPr>
        </p:nvSpPr>
        <p:spPr/>
        <p:txBody>
          <a:bodyPr/>
          <a:lstStyle/>
          <a:p>
            <a:fld id="{8E7CE336-1728-4EBB-A96C-226A00BCBF9A}" type="slidenum">
              <a:rPr lang="zh-CN" altLang="en-US" smtClean="0"/>
              <a:t>‹#›</a:t>
            </a:fld>
            <a:endParaRPr lang="zh-CN" altLang="en-US"/>
          </a:p>
        </p:txBody>
      </p:sp>
    </p:spTree>
    <p:extLst>
      <p:ext uri="{BB962C8B-B14F-4D97-AF65-F5344CB8AC3E}">
        <p14:creationId xmlns:p14="http://schemas.microsoft.com/office/powerpoint/2010/main" val="2187005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CF07D28-3125-ED4E-7838-67DF5B936A01}"/>
              </a:ext>
            </a:extLst>
          </p:cNvPr>
          <p:cNvSpPr>
            <a:spLocks noGrp="1"/>
          </p:cNvSpPr>
          <p:nvPr>
            <p:ph type="dt" sz="half" idx="10"/>
          </p:nvPr>
        </p:nvSpPr>
        <p:spPr/>
        <p:txBody>
          <a:bodyPr/>
          <a:lstStyle/>
          <a:p>
            <a:fld id="{9562754F-23AA-4AB6-83BF-F87D756133FD}" type="datetime1">
              <a:rPr lang="zh-CN" altLang="en-US" smtClean="0"/>
              <a:t>2025/10/29</a:t>
            </a:fld>
            <a:endParaRPr lang="zh-CN" altLang="en-US"/>
          </a:p>
        </p:txBody>
      </p:sp>
      <p:sp>
        <p:nvSpPr>
          <p:cNvPr id="3" name="页脚占位符 2">
            <a:extLst>
              <a:ext uri="{FF2B5EF4-FFF2-40B4-BE49-F238E27FC236}">
                <a16:creationId xmlns:a16="http://schemas.microsoft.com/office/drawing/2014/main" id="{765BDB0F-DBB0-1DE4-319D-76C77505B165}"/>
              </a:ext>
            </a:extLst>
          </p:cNvPr>
          <p:cNvSpPr>
            <a:spLocks noGrp="1"/>
          </p:cNvSpPr>
          <p:nvPr>
            <p:ph type="ftr" sz="quarter" idx="11"/>
          </p:nvPr>
        </p:nvSpPr>
        <p:spPr/>
        <p:txBody>
          <a:bodyPr/>
          <a:lstStyle/>
          <a:p>
            <a:r>
              <a:rPr lang="en-US" altLang="zh-CN"/>
              <a:t>ICS hw2</a:t>
            </a:r>
            <a:endParaRPr lang="zh-CN" altLang="en-US"/>
          </a:p>
        </p:txBody>
      </p:sp>
      <p:sp>
        <p:nvSpPr>
          <p:cNvPr id="4" name="灯片编号占位符 3">
            <a:extLst>
              <a:ext uri="{FF2B5EF4-FFF2-40B4-BE49-F238E27FC236}">
                <a16:creationId xmlns:a16="http://schemas.microsoft.com/office/drawing/2014/main" id="{DDEEE226-BCE5-E18D-F3C7-891B783615E9}"/>
              </a:ext>
            </a:extLst>
          </p:cNvPr>
          <p:cNvSpPr>
            <a:spLocks noGrp="1"/>
          </p:cNvSpPr>
          <p:nvPr>
            <p:ph type="sldNum" sz="quarter" idx="12"/>
          </p:nvPr>
        </p:nvSpPr>
        <p:spPr/>
        <p:txBody>
          <a:bodyPr/>
          <a:lstStyle/>
          <a:p>
            <a:fld id="{8E7CE336-1728-4EBB-A96C-226A00BCBF9A}" type="slidenum">
              <a:rPr lang="zh-CN" altLang="en-US" smtClean="0"/>
              <a:t>‹#›</a:t>
            </a:fld>
            <a:endParaRPr lang="zh-CN" altLang="en-US"/>
          </a:p>
        </p:txBody>
      </p:sp>
    </p:spTree>
    <p:extLst>
      <p:ext uri="{BB962C8B-B14F-4D97-AF65-F5344CB8AC3E}">
        <p14:creationId xmlns:p14="http://schemas.microsoft.com/office/powerpoint/2010/main" val="3634402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F7565D-D70C-8403-C43A-25152869E97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8A33BA8-6044-0721-57E6-035E9F3047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B6CC9EB-914F-256C-E9CF-5B0C11DB3D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8FED842-0302-A7D2-794B-CF22781F23B3}"/>
              </a:ext>
            </a:extLst>
          </p:cNvPr>
          <p:cNvSpPr>
            <a:spLocks noGrp="1"/>
          </p:cNvSpPr>
          <p:nvPr>
            <p:ph type="dt" sz="half" idx="10"/>
          </p:nvPr>
        </p:nvSpPr>
        <p:spPr/>
        <p:txBody>
          <a:bodyPr/>
          <a:lstStyle/>
          <a:p>
            <a:fld id="{8563181D-269D-48E6-B846-C19D57BBA3CF}" type="datetime1">
              <a:rPr lang="zh-CN" altLang="en-US" smtClean="0"/>
              <a:t>2025/10/29</a:t>
            </a:fld>
            <a:endParaRPr lang="zh-CN" altLang="en-US"/>
          </a:p>
        </p:txBody>
      </p:sp>
      <p:sp>
        <p:nvSpPr>
          <p:cNvPr id="6" name="页脚占位符 5">
            <a:extLst>
              <a:ext uri="{FF2B5EF4-FFF2-40B4-BE49-F238E27FC236}">
                <a16:creationId xmlns:a16="http://schemas.microsoft.com/office/drawing/2014/main" id="{D3F2F91A-64F7-A89D-DDE3-CEDD58A39D3B}"/>
              </a:ext>
            </a:extLst>
          </p:cNvPr>
          <p:cNvSpPr>
            <a:spLocks noGrp="1"/>
          </p:cNvSpPr>
          <p:nvPr>
            <p:ph type="ftr" sz="quarter" idx="11"/>
          </p:nvPr>
        </p:nvSpPr>
        <p:spPr/>
        <p:txBody>
          <a:bodyPr/>
          <a:lstStyle/>
          <a:p>
            <a:r>
              <a:rPr lang="en-US" altLang="zh-CN"/>
              <a:t>ICS hw2</a:t>
            </a:r>
            <a:endParaRPr lang="zh-CN" altLang="en-US"/>
          </a:p>
        </p:txBody>
      </p:sp>
      <p:sp>
        <p:nvSpPr>
          <p:cNvPr id="7" name="灯片编号占位符 6">
            <a:extLst>
              <a:ext uri="{FF2B5EF4-FFF2-40B4-BE49-F238E27FC236}">
                <a16:creationId xmlns:a16="http://schemas.microsoft.com/office/drawing/2014/main" id="{502426F6-AB5C-91D5-4508-79963D5C3627}"/>
              </a:ext>
            </a:extLst>
          </p:cNvPr>
          <p:cNvSpPr>
            <a:spLocks noGrp="1"/>
          </p:cNvSpPr>
          <p:nvPr>
            <p:ph type="sldNum" sz="quarter" idx="12"/>
          </p:nvPr>
        </p:nvSpPr>
        <p:spPr/>
        <p:txBody>
          <a:bodyPr/>
          <a:lstStyle/>
          <a:p>
            <a:fld id="{8E7CE336-1728-4EBB-A96C-226A00BCBF9A}" type="slidenum">
              <a:rPr lang="zh-CN" altLang="en-US" smtClean="0"/>
              <a:t>‹#›</a:t>
            </a:fld>
            <a:endParaRPr lang="zh-CN" altLang="en-US"/>
          </a:p>
        </p:txBody>
      </p:sp>
    </p:spTree>
    <p:extLst>
      <p:ext uri="{BB962C8B-B14F-4D97-AF65-F5344CB8AC3E}">
        <p14:creationId xmlns:p14="http://schemas.microsoft.com/office/powerpoint/2010/main" val="3758304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0339AA-8D6E-0A35-CB60-4EB4E399E57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59B67F0-B12C-32EF-E4EF-F535D4A8CF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23C4A3B-C870-9515-050C-9836073CDA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B17D648-2913-4978-EF4F-A4BE4D50BB1C}"/>
              </a:ext>
            </a:extLst>
          </p:cNvPr>
          <p:cNvSpPr>
            <a:spLocks noGrp="1"/>
          </p:cNvSpPr>
          <p:nvPr>
            <p:ph type="dt" sz="half" idx="10"/>
          </p:nvPr>
        </p:nvSpPr>
        <p:spPr/>
        <p:txBody>
          <a:bodyPr/>
          <a:lstStyle/>
          <a:p>
            <a:fld id="{3C8B0044-19FC-4C94-95EC-F02D5A65937D}" type="datetime1">
              <a:rPr lang="zh-CN" altLang="en-US" smtClean="0"/>
              <a:t>2025/10/29</a:t>
            </a:fld>
            <a:endParaRPr lang="zh-CN" altLang="en-US"/>
          </a:p>
        </p:txBody>
      </p:sp>
      <p:sp>
        <p:nvSpPr>
          <p:cNvPr id="6" name="页脚占位符 5">
            <a:extLst>
              <a:ext uri="{FF2B5EF4-FFF2-40B4-BE49-F238E27FC236}">
                <a16:creationId xmlns:a16="http://schemas.microsoft.com/office/drawing/2014/main" id="{3260DC8A-F842-C8FB-2D35-521CD4305547}"/>
              </a:ext>
            </a:extLst>
          </p:cNvPr>
          <p:cNvSpPr>
            <a:spLocks noGrp="1"/>
          </p:cNvSpPr>
          <p:nvPr>
            <p:ph type="ftr" sz="quarter" idx="11"/>
          </p:nvPr>
        </p:nvSpPr>
        <p:spPr/>
        <p:txBody>
          <a:bodyPr/>
          <a:lstStyle/>
          <a:p>
            <a:r>
              <a:rPr lang="en-US" altLang="zh-CN"/>
              <a:t>ICS hw2</a:t>
            </a:r>
            <a:endParaRPr lang="zh-CN" altLang="en-US"/>
          </a:p>
        </p:txBody>
      </p:sp>
      <p:sp>
        <p:nvSpPr>
          <p:cNvPr id="7" name="灯片编号占位符 6">
            <a:extLst>
              <a:ext uri="{FF2B5EF4-FFF2-40B4-BE49-F238E27FC236}">
                <a16:creationId xmlns:a16="http://schemas.microsoft.com/office/drawing/2014/main" id="{2BD4FFE8-4A0B-C7B1-6886-F3281718BD43}"/>
              </a:ext>
            </a:extLst>
          </p:cNvPr>
          <p:cNvSpPr>
            <a:spLocks noGrp="1"/>
          </p:cNvSpPr>
          <p:nvPr>
            <p:ph type="sldNum" sz="quarter" idx="12"/>
          </p:nvPr>
        </p:nvSpPr>
        <p:spPr/>
        <p:txBody>
          <a:bodyPr/>
          <a:lstStyle/>
          <a:p>
            <a:fld id="{8E7CE336-1728-4EBB-A96C-226A00BCBF9A}" type="slidenum">
              <a:rPr lang="zh-CN" altLang="en-US" smtClean="0"/>
              <a:t>‹#›</a:t>
            </a:fld>
            <a:endParaRPr lang="zh-CN" altLang="en-US"/>
          </a:p>
        </p:txBody>
      </p:sp>
    </p:spTree>
    <p:extLst>
      <p:ext uri="{BB962C8B-B14F-4D97-AF65-F5344CB8AC3E}">
        <p14:creationId xmlns:p14="http://schemas.microsoft.com/office/powerpoint/2010/main" val="1618862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5B4CB2-B6B4-8B5D-D70C-EF01DE444BE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C51A1BB-5D0C-5777-6EB6-8362AC59C6F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740A54D-A089-50D6-366C-A456DC16F609}"/>
              </a:ext>
            </a:extLst>
          </p:cNvPr>
          <p:cNvSpPr>
            <a:spLocks noGrp="1"/>
          </p:cNvSpPr>
          <p:nvPr>
            <p:ph type="dt" sz="half" idx="10"/>
          </p:nvPr>
        </p:nvSpPr>
        <p:spPr/>
        <p:txBody>
          <a:bodyPr/>
          <a:lstStyle/>
          <a:p>
            <a:fld id="{F9A2B675-83C8-4473-8490-81C0020D12FE}" type="datetime1">
              <a:rPr lang="zh-CN" altLang="en-US" smtClean="0"/>
              <a:t>2025/10/29</a:t>
            </a:fld>
            <a:endParaRPr lang="zh-CN" altLang="en-US"/>
          </a:p>
        </p:txBody>
      </p:sp>
      <p:sp>
        <p:nvSpPr>
          <p:cNvPr id="5" name="页脚占位符 4">
            <a:extLst>
              <a:ext uri="{FF2B5EF4-FFF2-40B4-BE49-F238E27FC236}">
                <a16:creationId xmlns:a16="http://schemas.microsoft.com/office/drawing/2014/main" id="{40FE57F2-A876-A699-77C1-76C1FC6161FD}"/>
              </a:ext>
            </a:extLst>
          </p:cNvPr>
          <p:cNvSpPr>
            <a:spLocks noGrp="1"/>
          </p:cNvSpPr>
          <p:nvPr>
            <p:ph type="ftr" sz="quarter" idx="11"/>
          </p:nvPr>
        </p:nvSpPr>
        <p:spPr/>
        <p:txBody>
          <a:bodyPr/>
          <a:lstStyle/>
          <a:p>
            <a:r>
              <a:rPr lang="en-US" altLang="zh-CN"/>
              <a:t>ICS hw2</a:t>
            </a:r>
            <a:endParaRPr lang="zh-CN" altLang="en-US"/>
          </a:p>
        </p:txBody>
      </p:sp>
      <p:sp>
        <p:nvSpPr>
          <p:cNvPr id="6" name="灯片编号占位符 5">
            <a:extLst>
              <a:ext uri="{FF2B5EF4-FFF2-40B4-BE49-F238E27FC236}">
                <a16:creationId xmlns:a16="http://schemas.microsoft.com/office/drawing/2014/main" id="{54193ACF-FD81-E5B8-3C3E-C7EE4F62E4F9}"/>
              </a:ext>
            </a:extLst>
          </p:cNvPr>
          <p:cNvSpPr>
            <a:spLocks noGrp="1"/>
          </p:cNvSpPr>
          <p:nvPr>
            <p:ph type="sldNum" sz="quarter" idx="12"/>
          </p:nvPr>
        </p:nvSpPr>
        <p:spPr/>
        <p:txBody>
          <a:bodyPr/>
          <a:lstStyle/>
          <a:p>
            <a:fld id="{8E7CE336-1728-4EBB-A96C-226A00BCBF9A}" type="slidenum">
              <a:rPr lang="zh-CN" altLang="en-US" smtClean="0"/>
              <a:t>‹#›</a:t>
            </a:fld>
            <a:endParaRPr lang="zh-CN" altLang="en-US"/>
          </a:p>
        </p:txBody>
      </p:sp>
    </p:spTree>
    <p:extLst>
      <p:ext uri="{BB962C8B-B14F-4D97-AF65-F5344CB8AC3E}">
        <p14:creationId xmlns:p14="http://schemas.microsoft.com/office/powerpoint/2010/main" val="11359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14116C-F5D8-0620-984A-CF672669017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8E3664F-FC2A-F123-7895-08D124977C0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8D59B89-EC18-E701-BE44-D43EC7E27F37}"/>
              </a:ext>
            </a:extLst>
          </p:cNvPr>
          <p:cNvSpPr>
            <a:spLocks noGrp="1"/>
          </p:cNvSpPr>
          <p:nvPr>
            <p:ph type="dt" sz="half" idx="10"/>
          </p:nvPr>
        </p:nvSpPr>
        <p:spPr/>
        <p:txBody>
          <a:bodyPr/>
          <a:lstStyle/>
          <a:p>
            <a:fld id="{AC3DCDA6-827A-47ED-A52D-C09339CF54A3}" type="datetime1">
              <a:rPr lang="zh-CN" altLang="en-US" smtClean="0"/>
              <a:t>2025/10/29</a:t>
            </a:fld>
            <a:endParaRPr lang="zh-CN" altLang="en-US"/>
          </a:p>
        </p:txBody>
      </p:sp>
      <p:sp>
        <p:nvSpPr>
          <p:cNvPr id="5" name="页脚占位符 4">
            <a:extLst>
              <a:ext uri="{FF2B5EF4-FFF2-40B4-BE49-F238E27FC236}">
                <a16:creationId xmlns:a16="http://schemas.microsoft.com/office/drawing/2014/main" id="{EDC1753A-CA2C-FF2C-66E6-97F7F206EFC6}"/>
              </a:ext>
            </a:extLst>
          </p:cNvPr>
          <p:cNvSpPr>
            <a:spLocks noGrp="1"/>
          </p:cNvSpPr>
          <p:nvPr>
            <p:ph type="ftr" sz="quarter" idx="11"/>
          </p:nvPr>
        </p:nvSpPr>
        <p:spPr/>
        <p:txBody>
          <a:bodyPr/>
          <a:lstStyle/>
          <a:p>
            <a:r>
              <a:rPr lang="en-US" altLang="zh-CN"/>
              <a:t>ICS hw2</a:t>
            </a:r>
            <a:endParaRPr lang="zh-CN" altLang="en-US"/>
          </a:p>
        </p:txBody>
      </p:sp>
      <p:sp>
        <p:nvSpPr>
          <p:cNvPr id="6" name="灯片编号占位符 5">
            <a:extLst>
              <a:ext uri="{FF2B5EF4-FFF2-40B4-BE49-F238E27FC236}">
                <a16:creationId xmlns:a16="http://schemas.microsoft.com/office/drawing/2014/main" id="{161B9297-949B-A22A-8F20-DD4D85E8B949}"/>
              </a:ext>
            </a:extLst>
          </p:cNvPr>
          <p:cNvSpPr>
            <a:spLocks noGrp="1"/>
          </p:cNvSpPr>
          <p:nvPr>
            <p:ph type="sldNum" sz="quarter" idx="12"/>
          </p:nvPr>
        </p:nvSpPr>
        <p:spPr/>
        <p:txBody>
          <a:bodyPr/>
          <a:lstStyle/>
          <a:p>
            <a:fld id="{8E7CE336-1728-4EBB-A96C-226A00BCBF9A}" type="slidenum">
              <a:rPr lang="zh-CN" altLang="en-US" smtClean="0"/>
              <a:t>‹#›</a:t>
            </a:fld>
            <a:endParaRPr lang="zh-CN" altLang="en-US"/>
          </a:p>
        </p:txBody>
      </p:sp>
    </p:spTree>
    <p:extLst>
      <p:ext uri="{BB962C8B-B14F-4D97-AF65-F5344CB8AC3E}">
        <p14:creationId xmlns:p14="http://schemas.microsoft.com/office/powerpoint/2010/main" val="1237602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FEF959B-ECEC-FC6D-810E-3E71C49188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ADF75E3-4714-A47C-EE2B-8CBD679B41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83965B4-31EF-31CC-A572-39AE554CAF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D42822-62F6-4883-B299-EF4D35DB4236}" type="datetime1">
              <a:rPr lang="zh-CN" altLang="en-US" smtClean="0"/>
              <a:t>2025/10/29</a:t>
            </a:fld>
            <a:endParaRPr lang="zh-CN" altLang="en-US"/>
          </a:p>
        </p:txBody>
      </p:sp>
      <p:sp>
        <p:nvSpPr>
          <p:cNvPr id="5" name="页脚占位符 4">
            <a:extLst>
              <a:ext uri="{FF2B5EF4-FFF2-40B4-BE49-F238E27FC236}">
                <a16:creationId xmlns:a16="http://schemas.microsoft.com/office/drawing/2014/main" id="{3BF79393-39FD-E58A-85C8-91EB6833FF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ICS hw2</a:t>
            </a:r>
            <a:endParaRPr lang="zh-CN" altLang="en-US"/>
          </a:p>
        </p:txBody>
      </p:sp>
      <p:sp>
        <p:nvSpPr>
          <p:cNvPr id="6" name="灯片编号占位符 5">
            <a:extLst>
              <a:ext uri="{FF2B5EF4-FFF2-40B4-BE49-F238E27FC236}">
                <a16:creationId xmlns:a16="http://schemas.microsoft.com/office/drawing/2014/main" id="{E71A409D-CB74-15D8-E785-67DF04416F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7CE336-1728-4EBB-A96C-226A00BCBF9A}" type="slidenum">
              <a:rPr lang="zh-CN" altLang="en-US" smtClean="0"/>
              <a:t>‹#›</a:t>
            </a:fld>
            <a:endParaRPr lang="zh-CN" altLang="en-US"/>
          </a:p>
        </p:txBody>
      </p:sp>
    </p:spTree>
    <p:extLst>
      <p:ext uri="{BB962C8B-B14F-4D97-AF65-F5344CB8AC3E}">
        <p14:creationId xmlns:p14="http://schemas.microsoft.com/office/powerpoint/2010/main" val="3078066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633088-FBB5-D116-6550-81857DBAC821}"/>
              </a:ext>
            </a:extLst>
          </p:cNvPr>
          <p:cNvSpPr>
            <a:spLocks noGrp="1"/>
          </p:cNvSpPr>
          <p:nvPr>
            <p:ph type="ctrTitle"/>
          </p:nvPr>
        </p:nvSpPr>
        <p:spPr/>
        <p:txBody>
          <a:bodyPr>
            <a:normAutofit/>
          </a:bodyPr>
          <a:lstStyle/>
          <a:p>
            <a:r>
              <a:rPr lang="en-US" altLang="zh-CN" sz="8000" dirty="0">
                <a:latin typeface="Ink Free" panose="03080402000500000000" pitchFamily="66" charset="0"/>
              </a:rPr>
              <a:t>HW2</a:t>
            </a:r>
            <a:endParaRPr lang="zh-CN" altLang="en-US" sz="8000" dirty="0">
              <a:latin typeface="Ink Free" panose="03080402000500000000" pitchFamily="66" charset="0"/>
            </a:endParaRPr>
          </a:p>
        </p:txBody>
      </p:sp>
      <p:sp>
        <p:nvSpPr>
          <p:cNvPr id="3" name="副标题 2">
            <a:extLst>
              <a:ext uri="{FF2B5EF4-FFF2-40B4-BE49-F238E27FC236}">
                <a16:creationId xmlns:a16="http://schemas.microsoft.com/office/drawing/2014/main" id="{DB1F1A5B-D754-56A6-7682-10B4BA839D5B}"/>
              </a:ext>
            </a:extLst>
          </p:cNvPr>
          <p:cNvSpPr>
            <a:spLocks noGrp="1"/>
          </p:cNvSpPr>
          <p:nvPr>
            <p:ph type="subTitle" idx="1"/>
          </p:nvPr>
        </p:nvSpPr>
        <p:spPr/>
        <p:txBody>
          <a:bodyPr>
            <a:normAutofit/>
          </a:bodyPr>
          <a:lstStyle/>
          <a:p>
            <a:r>
              <a:rPr lang="zh-CN" altLang="en-US" sz="6000" dirty="0">
                <a:latin typeface="云峰寒蝉体" panose="02000500000000000000" pitchFamily="2" charset="-122"/>
                <a:ea typeface="云峰寒蝉体" panose="02000500000000000000" pitchFamily="2" charset="-122"/>
              </a:rPr>
              <a:t>习题讲解</a:t>
            </a:r>
          </a:p>
        </p:txBody>
      </p:sp>
      <p:sp>
        <p:nvSpPr>
          <p:cNvPr id="4" name="文本框 3">
            <a:extLst>
              <a:ext uri="{FF2B5EF4-FFF2-40B4-BE49-F238E27FC236}">
                <a16:creationId xmlns:a16="http://schemas.microsoft.com/office/drawing/2014/main" id="{7F8F7F3A-A357-C341-833B-888C9869A7E7}"/>
              </a:ext>
            </a:extLst>
          </p:cNvPr>
          <p:cNvSpPr txBox="1"/>
          <p:nvPr/>
        </p:nvSpPr>
        <p:spPr>
          <a:xfrm>
            <a:off x="5126935" y="6213473"/>
            <a:ext cx="1938130" cy="461665"/>
          </a:xfrm>
          <a:prstGeom prst="rect">
            <a:avLst/>
          </a:prstGeom>
          <a:noFill/>
        </p:spPr>
        <p:txBody>
          <a:bodyPr wrap="square" rtlCol="0">
            <a:spAutoFit/>
          </a:bodyPr>
          <a:lstStyle/>
          <a:p>
            <a:pPr algn="ctr"/>
            <a:fld id="{A68C6E67-8B68-4E6A-9C53-9ED8169E2D01}" type="datetime1">
              <a:rPr lang="zh-CN" altLang="en-US" sz="2400" smtClean="0">
                <a:latin typeface="Cambria Math" panose="02040503050406030204" pitchFamily="18" charset="0"/>
                <a:ea typeface="Cambria Math" panose="02040503050406030204" pitchFamily="18" charset="0"/>
              </a:rPr>
              <a:t>2025/10/29</a:t>
            </a:fld>
            <a:endParaRPr lang="zh-CN" altLang="en-US" sz="2400" dirty="0">
              <a:latin typeface="Cambria Math" panose="02040503050406030204" pitchFamily="18" charset="0"/>
            </a:endParaRPr>
          </a:p>
        </p:txBody>
      </p:sp>
      <p:sp>
        <p:nvSpPr>
          <p:cNvPr id="5" name="文本框 4">
            <a:extLst>
              <a:ext uri="{FF2B5EF4-FFF2-40B4-BE49-F238E27FC236}">
                <a16:creationId xmlns:a16="http://schemas.microsoft.com/office/drawing/2014/main" id="{0410328C-F1FD-9D2D-6EE6-D4153A8E0D3B}"/>
              </a:ext>
            </a:extLst>
          </p:cNvPr>
          <p:cNvSpPr txBox="1"/>
          <p:nvPr/>
        </p:nvSpPr>
        <p:spPr>
          <a:xfrm>
            <a:off x="4930984" y="5751808"/>
            <a:ext cx="2330032" cy="461665"/>
          </a:xfrm>
          <a:prstGeom prst="rect">
            <a:avLst/>
          </a:prstGeom>
          <a:noFill/>
        </p:spPr>
        <p:txBody>
          <a:bodyPr wrap="square" rtlCol="0">
            <a:spAutoFit/>
          </a:bodyPr>
          <a:lstStyle/>
          <a:p>
            <a:pPr algn="ctr"/>
            <a:r>
              <a:rPr lang="en-US" altLang="zh-CN" sz="2400" dirty="0">
                <a:solidFill>
                  <a:schemeClr val="tx1">
                    <a:lumMod val="65000"/>
                    <a:lumOff val="35000"/>
                  </a:schemeClr>
                </a:solidFill>
                <a:latin typeface="Cambria Math" panose="02040503050406030204" pitchFamily="18" charset="0"/>
              </a:rPr>
              <a:t>-</a:t>
            </a:r>
            <a:r>
              <a:rPr lang="en-US" altLang="zh-CN" sz="2400" dirty="0" err="1">
                <a:solidFill>
                  <a:schemeClr val="tx1">
                    <a:lumMod val="65000"/>
                    <a:lumOff val="35000"/>
                  </a:schemeClr>
                </a:solidFill>
                <a:latin typeface="Cambria Math" panose="02040503050406030204" pitchFamily="18" charset="0"/>
              </a:rPr>
              <a:t>Chengjin</a:t>
            </a:r>
            <a:r>
              <a:rPr lang="en-US" altLang="zh-CN" sz="2400" dirty="0">
                <a:solidFill>
                  <a:schemeClr val="tx1">
                    <a:lumMod val="65000"/>
                    <a:lumOff val="35000"/>
                  </a:schemeClr>
                </a:solidFill>
                <a:latin typeface="Cambria Math" panose="02040503050406030204" pitchFamily="18" charset="0"/>
              </a:rPr>
              <a:t> Zhou-</a:t>
            </a:r>
            <a:endParaRPr lang="zh-CN" altLang="en-US" sz="2400" dirty="0">
              <a:solidFill>
                <a:schemeClr val="tx1">
                  <a:lumMod val="65000"/>
                  <a:lumOff val="35000"/>
                </a:schemeClr>
              </a:solidFill>
              <a:latin typeface="Cambria Math" panose="02040503050406030204" pitchFamily="18" charset="0"/>
            </a:endParaRPr>
          </a:p>
        </p:txBody>
      </p:sp>
    </p:spTree>
    <p:extLst>
      <p:ext uri="{BB962C8B-B14F-4D97-AF65-F5344CB8AC3E}">
        <p14:creationId xmlns:p14="http://schemas.microsoft.com/office/powerpoint/2010/main" val="2915813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32279C-3C4F-CCED-5564-8CB4A176C5C7}"/>
              </a:ext>
            </a:extLst>
          </p:cNvPr>
          <p:cNvSpPr>
            <a:spLocks noGrp="1"/>
          </p:cNvSpPr>
          <p:nvPr>
            <p:ph type="title"/>
          </p:nvPr>
        </p:nvSpPr>
        <p:spPr/>
        <p:txBody>
          <a:bodyPr/>
          <a:lstStyle/>
          <a:p>
            <a:r>
              <a:rPr lang="en-US" altLang="zh-CN" dirty="0">
                <a:latin typeface="Ink Free" panose="03080402000500000000" pitchFamily="66" charset="0"/>
              </a:rPr>
              <a:t>T1</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CB0824B6-AEA9-F488-144E-B84FF3ED1C41}"/>
              </a:ext>
            </a:extLst>
          </p:cNvPr>
          <p:cNvSpPr>
            <a:spLocks noGrp="1"/>
          </p:cNvSpPr>
          <p:nvPr>
            <p:ph idx="1"/>
          </p:nvPr>
        </p:nvSpPr>
        <p:spPr/>
        <p:txBody>
          <a:bodyPr/>
          <a:lstStyle/>
          <a:p>
            <a:endParaRPr lang="en-US" altLang="zh-CN" dirty="0"/>
          </a:p>
          <a:p>
            <a:endParaRPr lang="en-US" altLang="zh-CN" dirty="0"/>
          </a:p>
          <a:p>
            <a:endParaRPr lang="en-US" altLang="zh-CN" dirty="0"/>
          </a:p>
          <a:p>
            <a:endParaRPr lang="en-US" altLang="zh-CN" dirty="0"/>
          </a:p>
          <a:p>
            <a:endParaRPr lang="en-US" altLang="zh-CN" dirty="0"/>
          </a:p>
          <a:p>
            <a:r>
              <a:rPr lang="en-US" altLang="zh-CN" dirty="0"/>
              <a:t>Ans: X 1 0 X 0</a:t>
            </a:r>
            <a:endParaRPr lang="zh-CN" altLang="en-US" dirty="0"/>
          </a:p>
        </p:txBody>
      </p:sp>
      <p:sp>
        <p:nvSpPr>
          <p:cNvPr id="8" name="日期占位符 7">
            <a:extLst>
              <a:ext uri="{FF2B5EF4-FFF2-40B4-BE49-F238E27FC236}">
                <a16:creationId xmlns:a16="http://schemas.microsoft.com/office/drawing/2014/main" id="{443675B7-06DB-ED5B-7776-F349BF6F78C3}"/>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6D38D305-F582-8D43-3A4A-2A043110002E}"/>
              </a:ext>
            </a:extLst>
          </p:cNvPr>
          <p:cNvSpPr>
            <a:spLocks noGrp="1"/>
          </p:cNvSpPr>
          <p:nvPr>
            <p:ph type="ftr" sz="quarter" idx="11"/>
          </p:nvPr>
        </p:nvSpPr>
        <p:spPr/>
        <p:txBody>
          <a:bodyPr/>
          <a:lstStyle/>
          <a:p>
            <a:r>
              <a:rPr lang="en-US" altLang="zh-CN"/>
              <a:t>ICS hw2</a:t>
            </a:r>
            <a:endParaRPr lang="zh-CN" altLang="en-US"/>
          </a:p>
        </p:txBody>
      </p:sp>
      <p:sp>
        <p:nvSpPr>
          <p:cNvPr id="10" name="灯片编号占位符 9">
            <a:extLst>
              <a:ext uri="{FF2B5EF4-FFF2-40B4-BE49-F238E27FC236}">
                <a16:creationId xmlns:a16="http://schemas.microsoft.com/office/drawing/2014/main" id="{45555372-AC67-9939-126F-60A642E7EF93}"/>
              </a:ext>
            </a:extLst>
          </p:cNvPr>
          <p:cNvSpPr>
            <a:spLocks noGrp="1"/>
          </p:cNvSpPr>
          <p:nvPr>
            <p:ph type="sldNum" sz="quarter" idx="12"/>
          </p:nvPr>
        </p:nvSpPr>
        <p:spPr/>
        <p:txBody>
          <a:bodyPr/>
          <a:lstStyle/>
          <a:p>
            <a:fld id="{8E7CE336-1728-4EBB-A96C-226A00BCBF9A}" type="slidenum">
              <a:rPr lang="zh-CN" altLang="en-US" smtClean="0"/>
              <a:t>2</a:t>
            </a:fld>
            <a:endParaRPr lang="zh-CN" altLang="en-US"/>
          </a:p>
        </p:txBody>
      </p:sp>
      <p:pic>
        <p:nvPicPr>
          <p:cNvPr id="12" name="图片 11">
            <a:extLst>
              <a:ext uri="{FF2B5EF4-FFF2-40B4-BE49-F238E27FC236}">
                <a16:creationId xmlns:a16="http://schemas.microsoft.com/office/drawing/2014/main" id="{92E65E2A-9F79-4301-1DA1-33C8E01E2F54}"/>
              </a:ext>
            </a:extLst>
          </p:cNvPr>
          <p:cNvPicPr>
            <a:picLocks noChangeAspect="1"/>
          </p:cNvPicPr>
          <p:nvPr/>
        </p:nvPicPr>
        <p:blipFill>
          <a:blip r:embed="rId3"/>
          <a:stretch>
            <a:fillRect/>
          </a:stretch>
        </p:blipFill>
        <p:spPr>
          <a:xfrm>
            <a:off x="838200" y="1428582"/>
            <a:ext cx="9253183" cy="2885080"/>
          </a:xfrm>
          <a:prstGeom prst="rect">
            <a:avLst/>
          </a:prstGeom>
        </p:spPr>
      </p:pic>
    </p:spTree>
    <p:extLst>
      <p:ext uri="{BB962C8B-B14F-4D97-AF65-F5344CB8AC3E}">
        <p14:creationId xmlns:p14="http://schemas.microsoft.com/office/powerpoint/2010/main" val="1698331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EF19-F09F-7E8E-32E8-B2BF67DBC89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90BA6B5-FAC0-38B0-852F-35F5A0F64760}"/>
              </a:ext>
            </a:extLst>
          </p:cNvPr>
          <p:cNvSpPr>
            <a:spLocks noGrp="1"/>
          </p:cNvSpPr>
          <p:nvPr>
            <p:ph type="title"/>
          </p:nvPr>
        </p:nvSpPr>
        <p:spPr/>
        <p:txBody>
          <a:bodyPr/>
          <a:lstStyle/>
          <a:p>
            <a:r>
              <a:rPr lang="en-US" altLang="zh-CN" dirty="0">
                <a:latin typeface="Ink Free" panose="03080402000500000000" pitchFamily="66" charset="0"/>
              </a:rPr>
              <a:t>T2</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E5BCFF25-743B-C750-EE5C-618AB4C81BC2}"/>
              </a:ext>
            </a:extLst>
          </p:cNvPr>
          <p:cNvSpPr>
            <a:spLocks noGrp="1"/>
          </p:cNvSpPr>
          <p:nvPr>
            <p:ph idx="1"/>
          </p:nvPr>
        </p:nvSpPr>
        <p:spPr>
          <a:xfrm>
            <a:off x="5413514" y="1543947"/>
            <a:ext cx="4369904" cy="4351338"/>
          </a:xfrm>
        </p:spPr>
        <p:txBody>
          <a:bodyPr/>
          <a:lstStyle/>
          <a:p>
            <a:r>
              <a:rPr lang="en-US" altLang="zh-CN" dirty="0"/>
              <a:t>Ans:</a:t>
            </a:r>
            <a:endParaRPr lang="zh-CN" altLang="en-US" dirty="0"/>
          </a:p>
        </p:txBody>
      </p:sp>
      <p:pic>
        <p:nvPicPr>
          <p:cNvPr id="5" name="图片 4">
            <a:extLst>
              <a:ext uri="{FF2B5EF4-FFF2-40B4-BE49-F238E27FC236}">
                <a16:creationId xmlns:a16="http://schemas.microsoft.com/office/drawing/2014/main" id="{35BE7C5C-BC50-F1DB-10C4-94626BB42A31}"/>
              </a:ext>
            </a:extLst>
          </p:cNvPr>
          <p:cNvPicPr>
            <a:picLocks noChangeAspect="1"/>
          </p:cNvPicPr>
          <p:nvPr/>
        </p:nvPicPr>
        <p:blipFill>
          <a:blip r:embed="rId3"/>
          <a:stretch>
            <a:fillRect/>
          </a:stretch>
        </p:blipFill>
        <p:spPr>
          <a:xfrm>
            <a:off x="838200" y="1583636"/>
            <a:ext cx="3853141" cy="4271961"/>
          </a:xfrm>
          <a:prstGeom prst="rect">
            <a:avLst/>
          </a:prstGeom>
        </p:spPr>
      </p:pic>
      <p:pic>
        <p:nvPicPr>
          <p:cNvPr id="8" name="图片 7">
            <a:extLst>
              <a:ext uri="{FF2B5EF4-FFF2-40B4-BE49-F238E27FC236}">
                <a16:creationId xmlns:a16="http://schemas.microsoft.com/office/drawing/2014/main" id="{36919E2C-0C59-5493-2523-45E2B7A5C3E6}"/>
              </a:ext>
            </a:extLst>
          </p:cNvPr>
          <p:cNvPicPr>
            <a:picLocks noChangeAspect="1"/>
          </p:cNvPicPr>
          <p:nvPr/>
        </p:nvPicPr>
        <p:blipFill>
          <a:blip r:embed="rId4"/>
          <a:stretch>
            <a:fillRect/>
          </a:stretch>
        </p:blipFill>
        <p:spPr>
          <a:xfrm>
            <a:off x="5413514" y="2213318"/>
            <a:ext cx="6008935" cy="3159337"/>
          </a:xfrm>
          <a:prstGeom prst="rect">
            <a:avLst/>
          </a:prstGeom>
        </p:spPr>
      </p:pic>
      <p:sp>
        <p:nvSpPr>
          <p:cNvPr id="9" name="日期占位符 8">
            <a:extLst>
              <a:ext uri="{FF2B5EF4-FFF2-40B4-BE49-F238E27FC236}">
                <a16:creationId xmlns:a16="http://schemas.microsoft.com/office/drawing/2014/main" id="{BA11E1A1-1AA1-5918-C4D5-FA0AB61072DD}"/>
              </a:ext>
            </a:extLst>
          </p:cNvPr>
          <p:cNvSpPr>
            <a:spLocks noGrp="1"/>
          </p:cNvSpPr>
          <p:nvPr>
            <p:ph type="dt" sz="half" idx="10"/>
          </p:nvPr>
        </p:nvSpPr>
        <p:spPr/>
        <p:txBody>
          <a:bodyPr/>
          <a:lstStyle/>
          <a:p>
            <a:fld id="{9FB24564-7FA2-4E2D-9690-08F0D6364C6D}" type="datetime1">
              <a:rPr lang="zh-CN" altLang="en-US" smtClean="0"/>
              <a:t>2025/10/29</a:t>
            </a:fld>
            <a:endParaRPr lang="zh-CN" altLang="en-US"/>
          </a:p>
        </p:txBody>
      </p:sp>
      <p:sp>
        <p:nvSpPr>
          <p:cNvPr id="10" name="页脚占位符 9">
            <a:extLst>
              <a:ext uri="{FF2B5EF4-FFF2-40B4-BE49-F238E27FC236}">
                <a16:creationId xmlns:a16="http://schemas.microsoft.com/office/drawing/2014/main" id="{98ADE18D-EF35-8540-DB9E-6C56CE0E1B44}"/>
              </a:ext>
            </a:extLst>
          </p:cNvPr>
          <p:cNvSpPr>
            <a:spLocks noGrp="1"/>
          </p:cNvSpPr>
          <p:nvPr>
            <p:ph type="ftr" sz="quarter" idx="11"/>
          </p:nvPr>
        </p:nvSpPr>
        <p:spPr/>
        <p:txBody>
          <a:bodyPr/>
          <a:lstStyle/>
          <a:p>
            <a:r>
              <a:rPr lang="en-US" altLang="zh-CN"/>
              <a:t>ICS hw2</a:t>
            </a:r>
            <a:endParaRPr lang="zh-CN" altLang="en-US"/>
          </a:p>
        </p:txBody>
      </p:sp>
      <p:sp>
        <p:nvSpPr>
          <p:cNvPr id="11" name="灯片编号占位符 10">
            <a:extLst>
              <a:ext uri="{FF2B5EF4-FFF2-40B4-BE49-F238E27FC236}">
                <a16:creationId xmlns:a16="http://schemas.microsoft.com/office/drawing/2014/main" id="{D4935E38-5F7C-205B-14CD-DE7AFE947378}"/>
              </a:ext>
            </a:extLst>
          </p:cNvPr>
          <p:cNvSpPr>
            <a:spLocks noGrp="1"/>
          </p:cNvSpPr>
          <p:nvPr>
            <p:ph type="sldNum" sz="quarter" idx="12"/>
          </p:nvPr>
        </p:nvSpPr>
        <p:spPr/>
        <p:txBody>
          <a:bodyPr/>
          <a:lstStyle/>
          <a:p>
            <a:fld id="{8E7CE336-1728-4EBB-A96C-226A00BCBF9A}" type="slidenum">
              <a:rPr lang="zh-CN" altLang="en-US" smtClean="0"/>
              <a:t>3</a:t>
            </a:fld>
            <a:endParaRPr lang="zh-CN" altLang="en-US"/>
          </a:p>
        </p:txBody>
      </p:sp>
    </p:spTree>
    <p:extLst>
      <p:ext uri="{BB962C8B-B14F-4D97-AF65-F5344CB8AC3E}">
        <p14:creationId xmlns:p14="http://schemas.microsoft.com/office/powerpoint/2010/main" val="2136582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DB77C-0347-0FE2-EDCA-BC3B084906C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A751CD6-0138-E51E-E78A-FBE37C1D8360}"/>
              </a:ext>
            </a:extLst>
          </p:cNvPr>
          <p:cNvSpPr>
            <a:spLocks noGrp="1"/>
          </p:cNvSpPr>
          <p:nvPr>
            <p:ph type="title"/>
          </p:nvPr>
        </p:nvSpPr>
        <p:spPr/>
        <p:txBody>
          <a:bodyPr/>
          <a:lstStyle/>
          <a:p>
            <a:r>
              <a:rPr lang="en-US" altLang="zh-CN" dirty="0">
                <a:latin typeface="Ink Free" panose="03080402000500000000" pitchFamily="66" charset="0"/>
              </a:rPr>
              <a:t>T2</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34AAC31F-4292-6715-5DC5-970D52C7B2D6}"/>
              </a:ext>
            </a:extLst>
          </p:cNvPr>
          <p:cNvSpPr>
            <a:spLocks noGrp="1"/>
          </p:cNvSpPr>
          <p:nvPr>
            <p:ph idx="1"/>
          </p:nvPr>
        </p:nvSpPr>
        <p:spPr>
          <a:xfrm>
            <a:off x="5206620" y="1690688"/>
            <a:ext cx="6475863" cy="4351338"/>
          </a:xfrm>
        </p:spPr>
        <p:txBody>
          <a:bodyPr/>
          <a:lstStyle/>
          <a:p>
            <a:r>
              <a:rPr lang="zh-CN" altLang="en-US" dirty="0"/>
              <a:t>要保证：输出不能为高阻态（即“悬空”）</a:t>
            </a:r>
            <a:endParaRPr lang="en-US" altLang="zh-CN" dirty="0"/>
          </a:p>
          <a:p>
            <a:endParaRPr lang="en-US" altLang="zh-CN" dirty="0"/>
          </a:p>
          <a:p>
            <a:r>
              <a:rPr lang="zh-CN" altLang="en-US" dirty="0"/>
              <a:t>小技巧：</a:t>
            </a:r>
            <a:r>
              <a:rPr lang="en-US" altLang="zh-CN" dirty="0"/>
              <a:t>P</a:t>
            </a:r>
            <a:r>
              <a:rPr lang="zh-CN" altLang="en-US" dirty="0"/>
              <a:t>型串或并与 </a:t>
            </a:r>
            <a:endParaRPr lang="en-US" altLang="zh-CN" dirty="0"/>
          </a:p>
          <a:p>
            <a:pPr marL="0" indent="0">
              <a:buNone/>
            </a:pPr>
            <a:r>
              <a:rPr lang="en-US" altLang="zh-CN" dirty="0"/>
              <a:t>                 N</a:t>
            </a:r>
            <a:r>
              <a:rPr lang="zh-CN" altLang="en-US" dirty="0"/>
              <a:t>型串与并或</a:t>
            </a:r>
            <a:endParaRPr lang="en-US" altLang="zh-CN" dirty="0"/>
          </a:p>
          <a:p>
            <a:pPr marL="0" indent="0">
              <a:buNone/>
            </a:pPr>
            <a:r>
              <a:rPr lang="en-US" altLang="zh-CN" dirty="0"/>
              <a:t>                 </a:t>
            </a:r>
            <a:r>
              <a:rPr lang="zh-CN" altLang="en-US" dirty="0"/>
              <a:t>最后取反</a:t>
            </a:r>
            <a:endParaRPr lang="en-US" altLang="zh-CN" dirty="0"/>
          </a:p>
          <a:p>
            <a:endParaRPr lang="en-US" altLang="zh-CN" dirty="0"/>
          </a:p>
          <a:p>
            <a:endParaRPr lang="en-US" altLang="zh-CN" dirty="0"/>
          </a:p>
          <a:p>
            <a:endParaRPr lang="en-US" altLang="zh-CN" dirty="0"/>
          </a:p>
          <a:p>
            <a:endParaRPr lang="en-US" altLang="zh-CN" dirty="0"/>
          </a:p>
        </p:txBody>
      </p:sp>
      <p:sp>
        <p:nvSpPr>
          <p:cNvPr id="4" name="日期占位符 3">
            <a:extLst>
              <a:ext uri="{FF2B5EF4-FFF2-40B4-BE49-F238E27FC236}">
                <a16:creationId xmlns:a16="http://schemas.microsoft.com/office/drawing/2014/main" id="{72251E82-F2D9-A593-67DD-A55E742284D9}"/>
              </a:ext>
            </a:extLst>
          </p:cNvPr>
          <p:cNvSpPr>
            <a:spLocks noGrp="1"/>
          </p:cNvSpPr>
          <p:nvPr>
            <p:ph type="dt" sz="half" idx="10"/>
          </p:nvPr>
        </p:nvSpPr>
        <p:spPr/>
        <p:txBody>
          <a:bodyPr/>
          <a:lstStyle/>
          <a:p>
            <a:fld id="{92CCD840-9A4B-4E33-8A09-69C3ECC482CA}" type="datetime1">
              <a:rPr lang="zh-CN" altLang="en-US" smtClean="0"/>
              <a:t>2025/10/29</a:t>
            </a:fld>
            <a:endParaRPr lang="zh-CN" altLang="en-US"/>
          </a:p>
        </p:txBody>
      </p:sp>
      <p:sp>
        <p:nvSpPr>
          <p:cNvPr id="5" name="页脚占位符 4">
            <a:extLst>
              <a:ext uri="{FF2B5EF4-FFF2-40B4-BE49-F238E27FC236}">
                <a16:creationId xmlns:a16="http://schemas.microsoft.com/office/drawing/2014/main" id="{4C06F476-8678-1690-4366-6CEADCB11B59}"/>
              </a:ext>
            </a:extLst>
          </p:cNvPr>
          <p:cNvSpPr>
            <a:spLocks noGrp="1"/>
          </p:cNvSpPr>
          <p:nvPr>
            <p:ph type="ftr" sz="quarter" idx="11"/>
          </p:nvPr>
        </p:nvSpPr>
        <p:spPr/>
        <p:txBody>
          <a:bodyPr/>
          <a:lstStyle/>
          <a:p>
            <a:r>
              <a:rPr lang="en-US" altLang="zh-CN"/>
              <a:t>ICS hw2</a:t>
            </a:r>
            <a:endParaRPr lang="zh-CN" altLang="en-US"/>
          </a:p>
        </p:txBody>
      </p:sp>
      <p:sp>
        <p:nvSpPr>
          <p:cNvPr id="6" name="灯片编号占位符 5">
            <a:extLst>
              <a:ext uri="{FF2B5EF4-FFF2-40B4-BE49-F238E27FC236}">
                <a16:creationId xmlns:a16="http://schemas.microsoft.com/office/drawing/2014/main" id="{E88D11D7-0BE9-9D5C-E4CF-52DFEF9934BA}"/>
              </a:ext>
            </a:extLst>
          </p:cNvPr>
          <p:cNvSpPr>
            <a:spLocks noGrp="1"/>
          </p:cNvSpPr>
          <p:nvPr>
            <p:ph type="sldNum" sz="quarter" idx="12"/>
          </p:nvPr>
        </p:nvSpPr>
        <p:spPr/>
        <p:txBody>
          <a:bodyPr/>
          <a:lstStyle/>
          <a:p>
            <a:fld id="{8E7CE336-1728-4EBB-A96C-226A00BCBF9A}" type="slidenum">
              <a:rPr lang="zh-CN" altLang="en-US" smtClean="0"/>
              <a:t>4</a:t>
            </a:fld>
            <a:endParaRPr lang="zh-CN" altLang="en-US"/>
          </a:p>
        </p:txBody>
      </p:sp>
      <p:pic>
        <p:nvPicPr>
          <p:cNvPr id="9" name="图片 8">
            <a:extLst>
              <a:ext uri="{FF2B5EF4-FFF2-40B4-BE49-F238E27FC236}">
                <a16:creationId xmlns:a16="http://schemas.microsoft.com/office/drawing/2014/main" id="{6FFF2C43-462C-7D60-936F-C4F1D41B1F9C}"/>
              </a:ext>
            </a:extLst>
          </p:cNvPr>
          <p:cNvPicPr>
            <a:picLocks noChangeAspect="1"/>
          </p:cNvPicPr>
          <p:nvPr/>
        </p:nvPicPr>
        <p:blipFill>
          <a:blip r:embed="rId3"/>
          <a:stretch>
            <a:fillRect/>
          </a:stretch>
        </p:blipFill>
        <p:spPr>
          <a:xfrm>
            <a:off x="838200" y="1558830"/>
            <a:ext cx="3992393" cy="4618133"/>
          </a:xfrm>
          <a:prstGeom prst="rect">
            <a:avLst/>
          </a:prstGeom>
        </p:spPr>
      </p:pic>
    </p:spTree>
    <p:extLst>
      <p:ext uri="{BB962C8B-B14F-4D97-AF65-F5344CB8AC3E}">
        <p14:creationId xmlns:p14="http://schemas.microsoft.com/office/powerpoint/2010/main" val="4050055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24EF9-1463-8B6D-1B90-28643C83109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327A920-79F6-B582-5AD1-12EBB0F28E56}"/>
              </a:ext>
            </a:extLst>
          </p:cNvPr>
          <p:cNvSpPr>
            <a:spLocks noGrp="1"/>
          </p:cNvSpPr>
          <p:nvPr>
            <p:ph type="title"/>
          </p:nvPr>
        </p:nvSpPr>
        <p:spPr/>
        <p:txBody>
          <a:bodyPr/>
          <a:lstStyle/>
          <a:p>
            <a:r>
              <a:rPr lang="en-US" altLang="zh-CN" dirty="0">
                <a:latin typeface="Ink Free" panose="03080402000500000000" pitchFamily="66" charset="0"/>
              </a:rPr>
              <a:t>T3</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86CEE2DA-CA8B-C955-D7C1-B1C580F6DA26}"/>
              </a:ext>
            </a:extLst>
          </p:cNvPr>
          <p:cNvSpPr>
            <a:spLocks noGrp="1"/>
          </p:cNvSpPr>
          <p:nvPr>
            <p:ph idx="1"/>
          </p:nvPr>
        </p:nvSpPr>
        <p:spPr/>
        <p:txBody>
          <a:bodyPr/>
          <a:lstStyle/>
          <a:p>
            <a:endParaRPr lang="en-US" altLang="zh-CN" dirty="0"/>
          </a:p>
          <a:p>
            <a:endParaRPr lang="en-US" altLang="zh-CN" dirty="0"/>
          </a:p>
          <a:p>
            <a:pPr marL="0" indent="0">
              <a:buNone/>
            </a:pPr>
            <a:endParaRPr lang="en-US" altLang="zh-CN" dirty="0"/>
          </a:p>
          <a:p>
            <a:r>
              <a:rPr lang="en-US" altLang="zh-CN" sz="2400" dirty="0"/>
              <a:t>1.Ans: NOT A = A NOR A </a:t>
            </a:r>
          </a:p>
          <a:p>
            <a:pPr marL="0" indent="0">
              <a:buNone/>
            </a:pPr>
            <a:r>
              <a:rPr lang="en-US" altLang="zh-CN" sz="2400" dirty="0"/>
              <a:t>             A OR B = (A NOR B) NOR (A NOR B) </a:t>
            </a:r>
          </a:p>
          <a:p>
            <a:pPr marL="0" indent="0">
              <a:buNone/>
            </a:pPr>
            <a:r>
              <a:rPr lang="en-US" altLang="zh-CN" sz="2400" dirty="0"/>
              <a:t>             A AND B = (A NOR A) NOR (B NOR B)</a:t>
            </a:r>
            <a:endParaRPr lang="zh-CN" altLang="en-US" sz="2400" dirty="0"/>
          </a:p>
        </p:txBody>
      </p:sp>
      <p:sp>
        <p:nvSpPr>
          <p:cNvPr id="8" name="日期占位符 7">
            <a:extLst>
              <a:ext uri="{FF2B5EF4-FFF2-40B4-BE49-F238E27FC236}">
                <a16:creationId xmlns:a16="http://schemas.microsoft.com/office/drawing/2014/main" id="{54F6DEB8-6AA5-C52C-BB6E-137C0C919023}"/>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43D664CD-539E-DD5C-5F92-C8F4B84BD553}"/>
              </a:ext>
            </a:extLst>
          </p:cNvPr>
          <p:cNvSpPr>
            <a:spLocks noGrp="1"/>
          </p:cNvSpPr>
          <p:nvPr>
            <p:ph type="ftr" sz="quarter" idx="11"/>
          </p:nvPr>
        </p:nvSpPr>
        <p:spPr/>
        <p:txBody>
          <a:bodyPr/>
          <a:lstStyle/>
          <a:p>
            <a:r>
              <a:rPr lang="en-US" altLang="zh-CN"/>
              <a:t>ICS hw2</a:t>
            </a:r>
            <a:endParaRPr lang="zh-CN" altLang="en-US"/>
          </a:p>
        </p:txBody>
      </p:sp>
      <p:sp>
        <p:nvSpPr>
          <p:cNvPr id="10" name="灯片编号占位符 9">
            <a:extLst>
              <a:ext uri="{FF2B5EF4-FFF2-40B4-BE49-F238E27FC236}">
                <a16:creationId xmlns:a16="http://schemas.microsoft.com/office/drawing/2014/main" id="{B88A4B01-89D1-ECFA-0B9A-4568E03B7BB3}"/>
              </a:ext>
            </a:extLst>
          </p:cNvPr>
          <p:cNvSpPr>
            <a:spLocks noGrp="1"/>
          </p:cNvSpPr>
          <p:nvPr>
            <p:ph type="sldNum" sz="quarter" idx="12"/>
          </p:nvPr>
        </p:nvSpPr>
        <p:spPr/>
        <p:txBody>
          <a:bodyPr/>
          <a:lstStyle/>
          <a:p>
            <a:fld id="{8E7CE336-1728-4EBB-A96C-226A00BCBF9A}" type="slidenum">
              <a:rPr lang="zh-CN" altLang="en-US" smtClean="0"/>
              <a:t>5</a:t>
            </a:fld>
            <a:endParaRPr lang="zh-CN" altLang="en-US"/>
          </a:p>
        </p:txBody>
      </p:sp>
      <p:pic>
        <p:nvPicPr>
          <p:cNvPr id="5" name="图片 4">
            <a:extLst>
              <a:ext uri="{FF2B5EF4-FFF2-40B4-BE49-F238E27FC236}">
                <a16:creationId xmlns:a16="http://schemas.microsoft.com/office/drawing/2014/main" id="{EA58DE7A-0798-871B-1DF7-607874821EAE}"/>
              </a:ext>
            </a:extLst>
          </p:cNvPr>
          <p:cNvPicPr>
            <a:picLocks noChangeAspect="1"/>
          </p:cNvPicPr>
          <p:nvPr/>
        </p:nvPicPr>
        <p:blipFill>
          <a:blip r:embed="rId3"/>
          <a:stretch>
            <a:fillRect/>
          </a:stretch>
        </p:blipFill>
        <p:spPr>
          <a:xfrm>
            <a:off x="838200" y="1564386"/>
            <a:ext cx="11049014" cy="1476988"/>
          </a:xfrm>
          <a:prstGeom prst="rect">
            <a:avLst/>
          </a:prstGeom>
        </p:spPr>
      </p:pic>
    </p:spTree>
    <p:extLst>
      <p:ext uri="{BB962C8B-B14F-4D97-AF65-F5344CB8AC3E}">
        <p14:creationId xmlns:p14="http://schemas.microsoft.com/office/powerpoint/2010/main" val="3931635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6FC69-C210-298B-8776-AA9F4649049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0B77CD2-12B8-1DC0-E9C1-E85ECC9396EC}"/>
              </a:ext>
            </a:extLst>
          </p:cNvPr>
          <p:cNvSpPr>
            <a:spLocks noGrp="1"/>
          </p:cNvSpPr>
          <p:nvPr>
            <p:ph type="title"/>
          </p:nvPr>
        </p:nvSpPr>
        <p:spPr/>
        <p:txBody>
          <a:bodyPr/>
          <a:lstStyle/>
          <a:p>
            <a:r>
              <a:rPr lang="en-US" altLang="zh-CN" dirty="0">
                <a:latin typeface="Ink Free" panose="03080402000500000000" pitchFamily="66" charset="0"/>
              </a:rPr>
              <a:t>T3</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59BD9769-BE15-041E-E4BF-18DE6AA176E6}"/>
              </a:ext>
            </a:extLst>
          </p:cNvPr>
          <p:cNvSpPr>
            <a:spLocks noGrp="1"/>
          </p:cNvSpPr>
          <p:nvPr>
            <p:ph idx="1"/>
          </p:nvPr>
        </p:nvSpPr>
        <p:spPr>
          <a:xfrm>
            <a:off x="838200" y="1825625"/>
            <a:ext cx="5287617" cy="4351338"/>
          </a:xfrm>
        </p:spPr>
        <p:txBody>
          <a:bodyPr/>
          <a:lstStyle/>
          <a:p>
            <a:r>
              <a:rPr lang="en-US" altLang="zh-CN" dirty="0"/>
              <a:t>2.Ans:                                             </a:t>
            </a:r>
          </a:p>
          <a:p>
            <a:endParaRPr lang="en-US" altLang="zh-CN" dirty="0"/>
          </a:p>
          <a:p>
            <a:r>
              <a:rPr lang="en-US" altLang="zh-CN" dirty="0"/>
              <a:t>                                                    </a:t>
            </a:r>
          </a:p>
        </p:txBody>
      </p:sp>
      <p:sp>
        <p:nvSpPr>
          <p:cNvPr id="8" name="日期占位符 7">
            <a:extLst>
              <a:ext uri="{FF2B5EF4-FFF2-40B4-BE49-F238E27FC236}">
                <a16:creationId xmlns:a16="http://schemas.microsoft.com/office/drawing/2014/main" id="{E6DD5236-7F46-9F1E-6549-70A971CB7209}"/>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7E034CF6-32DC-2258-6A8A-6FA4EDFEF4C4}"/>
              </a:ext>
            </a:extLst>
          </p:cNvPr>
          <p:cNvSpPr>
            <a:spLocks noGrp="1"/>
          </p:cNvSpPr>
          <p:nvPr>
            <p:ph type="ftr" sz="quarter" idx="11"/>
          </p:nvPr>
        </p:nvSpPr>
        <p:spPr/>
        <p:txBody>
          <a:bodyPr/>
          <a:lstStyle/>
          <a:p>
            <a:r>
              <a:rPr lang="en-US" altLang="zh-CN"/>
              <a:t>ICS hw2</a:t>
            </a:r>
            <a:endParaRPr lang="zh-CN" altLang="en-US"/>
          </a:p>
        </p:txBody>
      </p:sp>
      <p:sp>
        <p:nvSpPr>
          <p:cNvPr id="10" name="灯片编号占位符 9">
            <a:extLst>
              <a:ext uri="{FF2B5EF4-FFF2-40B4-BE49-F238E27FC236}">
                <a16:creationId xmlns:a16="http://schemas.microsoft.com/office/drawing/2014/main" id="{CA2A029C-2B2B-8DDE-BD50-B211A5390FAC}"/>
              </a:ext>
            </a:extLst>
          </p:cNvPr>
          <p:cNvSpPr>
            <a:spLocks noGrp="1"/>
          </p:cNvSpPr>
          <p:nvPr>
            <p:ph type="sldNum" sz="quarter" idx="12"/>
          </p:nvPr>
        </p:nvSpPr>
        <p:spPr/>
        <p:txBody>
          <a:bodyPr/>
          <a:lstStyle/>
          <a:p>
            <a:fld id="{8E7CE336-1728-4EBB-A96C-226A00BCBF9A}" type="slidenum">
              <a:rPr lang="zh-CN" altLang="en-US" smtClean="0"/>
              <a:t>6</a:t>
            </a:fld>
            <a:endParaRPr lang="zh-CN" altLang="en-US"/>
          </a:p>
        </p:txBody>
      </p:sp>
      <p:pic>
        <p:nvPicPr>
          <p:cNvPr id="6" name="图片 5">
            <a:extLst>
              <a:ext uri="{FF2B5EF4-FFF2-40B4-BE49-F238E27FC236}">
                <a16:creationId xmlns:a16="http://schemas.microsoft.com/office/drawing/2014/main" id="{EDBBA135-A578-378F-79DC-524DF313DA70}"/>
              </a:ext>
            </a:extLst>
          </p:cNvPr>
          <p:cNvPicPr>
            <a:picLocks noChangeAspect="1"/>
          </p:cNvPicPr>
          <p:nvPr/>
        </p:nvPicPr>
        <p:blipFill>
          <a:blip r:embed="rId3"/>
          <a:stretch>
            <a:fillRect/>
          </a:stretch>
        </p:blipFill>
        <p:spPr>
          <a:xfrm>
            <a:off x="808382" y="2345429"/>
            <a:ext cx="5287617" cy="3153601"/>
          </a:xfrm>
          <a:prstGeom prst="rect">
            <a:avLst/>
          </a:prstGeom>
        </p:spPr>
      </p:pic>
      <p:sp>
        <p:nvSpPr>
          <p:cNvPr id="7" name="文本框 6">
            <a:extLst>
              <a:ext uri="{FF2B5EF4-FFF2-40B4-BE49-F238E27FC236}">
                <a16:creationId xmlns:a16="http://schemas.microsoft.com/office/drawing/2014/main" id="{21B14619-8A7D-9B25-586C-260F3E676F3A}"/>
              </a:ext>
            </a:extLst>
          </p:cNvPr>
          <p:cNvSpPr txBox="1"/>
          <p:nvPr/>
        </p:nvSpPr>
        <p:spPr>
          <a:xfrm>
            <a:off x="6420678" y="2517913"/>
            <a:ext cx="5287617" cy="954107"/>
          </a:xfrm>
          <a:prstGeom prst="rect">
            <a:avLst/>
          </a:prstGeom>
          <a:noFill/>
        </p:spPr>
        <p:txBody>
          <a:bodyPr wrap="square" rtlCol="0">
            <a:spAutoFit/>
          </a:bodyPr>
          <a:lstStyle/>
          <a:p>
            <a:r>
              <a:rPr lang="zh-CN" altLang="en-US" sz="2800" dirty="0"/>
              <a:t>也可考虑非门，单输入单输出，易证异或无法构成非门</a:t>
            </a:r>
          </a:p>
        </p:txBody>
      </p:sp>
    </p:spTree>
    <p:extLst>
      <p:ext uri="{BB962C8B-B14F-4D97-AF65-F5344CB8AC3E}">
        <p14:creationId xmlns:p14="http://schemas.microsoft.com/office/powerpoint/2010/main" val="2888078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A471A-C87B-47A7-F2C7-1BA393BE3A6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BC7968F-F1A2-C4D8-F71F-7954CFBD88DF}"/>
              </a:ext>
            </a:extLst>
          </p:cNvPr>
          <p:cNvSpPr>
            <a:spLocks noGrp="1"/>
          </p:cNvSpPr>
          <p:nvPr>
            <p:ph type="title"/>
          </p:nvPr>
        </p:nvSpPr>
        <p:spPr/>
        <p:txBody>
          <a:bodyPr/>
          <a:lstStyle/>
          <a:p>
            <a:r>
              <a:rPr lang="en-US" altLang="zh-CN" dirty="0">
                <a:latin typeface="Ink Free" panose="03080402000500000000" pitchFamily="66" charset="0"/>
              </a:rPr>
              <a:t>T4</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B712CDD6-84D8-E035-7D04-CE3F86F7ECE8}"/>
              </a:ext>
            </a:extLst>
          </p:cNvPr>
          <p:cNvSpPr>
            <a:spLocks noGrp="1"/>
          </p:cNvSpPr>
          <p:nvPr>
            <p:ph idx="1"/>
          </p:nvPr>
        </p:nvSpPr>
        <p:spPr>
          <a:xfrm>
            <a:off x="838200" y="1517374"/>
            <a:ext cx="10515600" cy="4659589"/>
          </a:xfrm>
        </p:spPr>
        <p:txBody>
          <a:bodyPr>
            <a:normAutofit/>
          </a:bodyPr>
          <a:lstStyle/>
          <a:p>
            <a:r>
              <a:rPr lang="en-US" altLang="zh-CN" sz="1800" dirty="0"/>
              <a:t>1. What is the smallest positive normalized number that can be represented using the IEEE 32-bit Floating Point standard? </a:t>
            </a:r>
          </a:p>
          <a:p>
            <a:r>
              <a:rPr lang="en-US" altLang="zh-CN" sz="1800" dirty="0"/>
              <a:t>2. What is the range of positive subnormal number that can be represented using the IEEE 32-bit Floating Point standard? </a:t>
            </a:r>
          </a:p>
          <a:p>
            <a:r>
              <a:rPr lang="en-US" altLang="zh-CN" sz="1800" dirty="0"/>
              <a:t>3. Why does the IEEE 32-bit floating-point standard need subnormal numbers?</a:t>
            </a:r>
          </a:p>
          <a:p>
            <a:r>
              <a:rPr lang="en-US" altLang="zh-CN" sz="1800" dirty="0"/>
              <a:t>4. If both normalized and subnormal numbers are regarded as valid data ranges, is the distribution of the data uniform? If not, what are its distribution characteristics?</a:t>
            </a:r>
          </a:p>
          <a:p>
            <a:endParaRPr lang="en-US" altLang="zh-CN" sz="1800" dirty="0"/>
          </a:p>
        </p:txBody>
      </p:sp>
      <p:sp>
        <p:nvSpPr>
          <p:cNvPr id="8" name="日期占位符 7">
            <a:extLst>
              <a:ext uri="{FF2B5EF4-FFF2-40B4-BE49-F238E27FC236}">
                <a16:creationId xmlns:a16="http://schemas.microsoft.com/office/drawing/2014/main" id="{BDB4D32A-21BB-F28A-3030-59C16DE83D13}"/>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5597C569-1508-E511-510E-FDBB4E61D902}"/>
              </a:ext>
            </a:extLst>
          </p:cNvPr>
          <p:cNvSpPr>
            <a:spLocks noGrp="1"/>
          </p:cNvSpPr>
          <p:nvPr>
            <p:ph type="ftr" sz="quarter" idx="11"/>
          </p:nvPr>
        </p:nvSpPr>
        <p:spPr/>
        <p:txBody>
          <a:bodyPr/>
          <a:lstStyle/>
          <a:p>
            <a:r>
              <a:rPr lang="en-US" altLang="zh-CN"/>
              <a:t>ICS hw2</a:t>
            </a:r>
            <a:endParaRPr lang="zh-CN" altLang="en-US"/>
          </a:p>
        </p:txBody>
      </p:sp>
      <p:sp>
        <p:nvSpPr>
          <p:cNvPr id="10" name="灯片编号占位符 9">
            <a:extLst>
              <a:ext uri="{FF2B5EF4-FFF2-40B4-BE49-F238E27FC236}">
                <a16:creationId xmlns:a16="http://schemas.microsoft.com/office/drawing/2014/main" id="{F41CE0B8-56F7-724E-67E0-67DDB21821D2}"/>
              </a:ext>
            </a:extLst>
          </p:cNvPr>
          <p:cNvSpPr>
            <a:spLocks noGrp="1"/>
          </p:cNvSpPr>
          <p:nvPr>
            <p:ph type="sldNum" sz="quarter" idx="12"/>
          </p:nvPr>
        </p:nvSpPr>
        <p:spPr/>
        <p:txBody>
          <a:bodyPr/>
          <a:lstStyle/>
          <a:p>
            <a:fld id="{8E7CE336-1728-4EBB-A96C-226A00BCBF9A}" type="slidenum">
              <a:rPr lang="zh-CN" altLang="en-US" smtClean="0"/>
              <a:t>7</a:t>
            </a:fld>
            <a:endParaRPr lang="zh-CN" altLang="en-US"/>
          </a:p>
        </p:txBody>
      </p:sp>
      <p:pic>
        <p:nvPicPr>
          <p:cNvPr id="6" name="图片 5">
            <a:extLst>
              <a:ext uri="{FF2B5EF4-FFF2-40B4-BE49-F238E27FC236}">
                <a16:creationId xmlns:a16="http://schemas.microsoft.com/office/drawing/2014/main" id="{9DD300E8-ED25-C4D7-2F88-12736306DAF0}"/>
              </a:ext>
            </a:extLst>
          </p:cNvPr>
          <p:cNvPicPr>
            <a:picLocks noChangeAspect="1"/>
          </p:cNvPicPr>
          <p:nvPr/>
        </p:nvPicPr>
        <p:blipFill>
          <a:blip r:embed="rId3"/>
          <a:stretch>
            <a:fillRect/>
          </a:stretch>
        </p:blipFill>
        <p:spPr>
          <a:xfrm>
            <a:off x="1076739" y="3707529"/>
            <a:ext cx="6505989" cy="2705832"/>
          </a:xfrm>
          <a:prstGeom prst="rect">
            <a:avLst/>
          </a:prstGeom>
        </p:spPr>
      </p:pic>
    </p:spTree>
    <p:extLst>
      <p:ext uri="{BB962C8B-B14F-4D97-AF65-F5344CB8AC3E}">
        <p14:creationId xmlns:p14="http://schemas.microsoft.com/office/powerpoint/2010/main" val="1136677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A1988-96B0-651E-8FA6-5F834957E21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4FDE9BB-96D1-6178-9877-B629458CD78D}"/>
              </a:ext>
            </a:extLst>
          </p:cNvPr>
          <p:cNvSpPr>
            <a:spLocks noGrp="1"/>
          </p:cNvSpPr>
          <p:nvPr>
            <p:ph type="title"/>
          </p:nvPr>
        </p:nvSpPr>
        <p:spPr/>
        <p:txBody>
          <a:bodyPr/>
          <a:lstStyle/>
          <a:p>
            <a:r>
              <a:rPr lang="en-US" altLang="zh-CN" dirty="0">
                <a:latin typeface="Ink Free" panose="03080402000500000000" pitchFamily="66" charset="0"/>
              </a:rPr>
              <a:t>T5</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ED93ED22-2A85-B46D-A44D-3B929387AEEB}"/>
              </a:ext>
            </a:extLst>
          </p:cNvPr>
          <p:cNvSpPr>
            <a:spLocks noGrp="1"/>
          </p:cNvSpPr>
          <p:nvPr>
            <p:ph idx="1"/>
          </p:nvPr>
        </p:nvSpPr>
        <p:spPr>
          <a:xfrm>
            <a:off x="838200" y="4004942"/>
            <a:ext cx="10515600" cy="2789136"/>
          </a:xfrm>
        </p:spPr>
        <p:txBody>
          <a:bodyPr>
            <a:normAutofit/>
          </a:bodyPr>
          <a:lstStyle/>
          <a:p>
            <a:r>
              <a:rPr lang="zh-CN" altLang="en-US" sz="2400" dirty="0"/>
              <a:t>怎么想到的？</a:t>
            </a:r>
            <a:endParaRPr lang="en-US" altLang="zh-CN" sz="2400" dirty="0"/>
          </a:p>
          <a:p>
            <a:r>
              <a:rPr lang="zh-CN" altLang="en-US" sz="2400" dirty="0"/>
              <a:t>若未要求最简：先用异或门表示出基本的非门、与门、或门，再用这三个基础的门表示要求的逻辑函数，最后带入</a:t>
            </a:r>
            <a:endParaRPr lang="en-US" altLang="zh-CN" sz="2400" dirty="0"/>
          </a:p>
          <a:p>
            <a:r>
              <a:rPr lang="zh-CN" altLang="en-US" sz="2400" dirty="0"/>
              <a:t>化简多余</a:t>
            </a:r>
            <a:r>
              <a:rPr lang="en-US" altLang="zh-CN" sz="2400" dirty="0"/>
              <a:t>/</a:t>
            </a:r>
            <a:r>
              <a:rPr lang="zh-CN" altLang="en-US" sz="2400" dirty="0"/>
              <a:t>重复的门，如两个相邻的非门</a:t>
            </a:r>
            <a:endParaRPr lang="en-US" altLang="zh-CN" sz="2400" dirty="0"/>
          </a:p>
          <a:p>
            <a:r>
              <a:rPr lang="zh-CN" altLang="en-US" sz="2400" dirty="0"/>
              <a:t>本题的小巧思</a:t>
            </a:r>
            <a:r>
              <a:rPr lang="en-US" altLang="zh-CN" sz="2400" dirty="0"/>
              <a:t>A AND NOT(B) = A AND (A NAND B)</a:t>
            </a:r>
            <a:r>
              <a:rPr lang="zh-CN" altLang="en-US" sz="2400" dirty="0"/>
              <a:t>，“共享非门”</a:t>
            </a:r>
            <a:endParaRPr lang="en-US" altLang="zh-CN" sz="2400" dirty="0"/>
          </a:p>
        </p:txBody>
      </p:sp>
      <p:sp>
        <p:nvSpPr>
          <p:cNvPr id="8" name="日期占位符 7">
            <a:extLst>
              <a:ext uri="{FF2B5EF4-FFF2-40B4-BE49-F238E27FC236}">
                <a16:creationId xmlns:a16="http://schemas.microsoft.com/office/drawing/2014/main" id="{8063CAB9-5BAC-7AA2-4D03-EFE2728C72BA}"/>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B191C1EA-F04E-58D6-5339-1471BD587ABE}"/>
              </a:ext>
            </a:extLst>
          </p:cNvPr>
          <p:cNvSpPr>
            <a:spLocks noGrp="1"/>
          </p:cNvSpPr>
          <p:nvPr>
            <p:ph type="ftr" sz="quarter" idx="11"/>
          </p:nvPr>
        </p:nvSpPr>
        <p:spPr/>
        <p:txBody>
          <a:bodyPr/>
          <a:lstStyle/>
          <a:p>
            <a:r>
              <a:rPr lang="en-US" altLang="zh-CN"/>
              <a:t>ICS hw2</a:t>
            </a:r>
            <a:endParaRPr lang="zh-CN" altLang="en-US"/>
          </a:p>
        </p:txBody>
      </p:sp>
      <p:sp>
        <p:nvSpPr>
          <p:cNvPr id="10" name="灯片编号占位符 9">
            <a:extLst>
              <a:ext uri="{FF2B5EF4-FFF2-40B4-BE49-F238E27FC236}">
                <a16:creationId xmlns:a16="http://schemas.microsoft.com/office/drawing/2014/main" id="{0301B88E-0253-7A91-87E2-6F8DB2C92CD5}"/>
              </a:ext>
            </a:extLst>
          </p:cNvPr>
          <p:cNvSpPr>
            <a:spLocks noGrp="1"/>
          </p:cNvSpPr>
          <p:nvPr>
            <p:ph type="sldNum" sz="quarter" idx="12"/>
          </p:nvPr>
        </p:nvSpPr>
        <p:spPr/>
        <p:txBody>
          <a:bodyPr/>
          <a:lstStyle/>
          <a:p>
            <a:fld id="{8E7CE336-1728-4EBB-A96C-226A00BCBF9A}" type="slidenum">
              <a:rPr lang="zh-CN" altLang="en-US" smtClean="0"/>
              <a:t>8</a:t>
            </a:fld>
            <a:endParaRPr lang="zh-CN" altLang="en-US"/>
          </a:p>
        </p:txBody>
      </p:sp>
      <p:pic>
        <p:nvPicPr>
          <p:cNvPr id="5" name="图片 4">
            <a:extLst>
              <a:ext uri="{FF2B5EF4-FFF2-40B4-BE49-F238E27FC236}">
                <a16:creationId xmlns:a16="http://schemas.microsoft.com/office/drawing/2014/main" id="{13547B83-ADC6-22EF-812E-3C8359765B4D}"/>
              </a:ext>
            </a:extLst>
          </p:cNvPr>
          <p:cNvPicPr>
            <a:picLocks noChangeAspect="1"/>
          </p:cNvPicPr>
          <p:nvPr/>
        </p:nvPicPr>
        <p:blipFill>
          <a:blip r:embed="rId3"/>
          <a:stretch>
            <a:fillRect/>
          </a:stretch>
        </p:blipFill>
        <p:spPr>
          <a:xfrm>
            <a:off x="838200" y="1382066"/>
            <a:ext cx="6728836" cy="2182769"/>
          </a:xfrm>
          <a:prstGeom prst="rect">
            <a:avLst/>
          </a:prstGeom>
        </p:spPr>
      </p:pic>
      <p:pic>
        <p:nvPicPr>
          <p:cNvPr id="11" name="图片 10">
            <a:extLst>
              <a:ext uri="{FF2B5EF4-FFF2-40B4-BE49-F238E27FC236}">
                <a16:creationId xmlns:a16="http://schemas.microsoft.com/office/drawing/2014/main" id="{4AA6171F-A760-8874-0086-9D765EAA9091}"/>
              </a:ext>
            </a:extLst>
          </p:cNvPr>
          <p:cNvPicPr>
            <a:picLocks noChangeAspect="1"/>
          </p:cNvPicPr>
          <p:nvPr/>
        </p:nvPicPr>
        <p:blipFill>
          <a:blip r:embed="rId4"/>
          <a:stretch>
            <a:fillRect/>
          </a:stretch>
        </p:blipFill>
        <p:spPr>
          <a:xfrm>
            <a:off x="7715251" y="1690688"/>
            <a:ext cx="3797357" cy="1861930"/>
          </a:xfrm>
          <a:prstGeom prst="rect">
            <a:avLst/>
          </a:prstGeom>
        </p:spPr>
      </p:pic>
    </p:spTree>
    <p:extLst>
      <p:ext uri="{BB962C8B-B14F-4D97-AF65-F5344CB8AC3E}">
        <p14:creationId xmlns:p14="http://schemas.microsoft.com/office/powerpoint/2010/main" val="850157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894C9-E340-78E6-D211-45357432F39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06111E0-ADFE-579E-8358-C0A29A100BC2}"/>
              </a:ext>
            </a:extLst>
          </p:cNvPr>
          <p:cNvSpPr>
            <a:spLocks noGrp="1"/>
          </p:cNvSpPr>
          <p:nvPr>
            <p:ph type="title"/>
          </p:nvPr>
        </p:nvSpPr>
        <p:spPr/>
        <p:txBody>
          <a:bodyPr/>
          <a:lstStyle/>
          <a:p>
            <a:r>
              <a:rPr lang="en-US" altLang="zh-CN" dirty="0">
                <a:latin typeface="Ink Free" panose="03080402000500000000" pitchFamily="66" charset="0"/>
              </a:rPr>
              <a:t>T6</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04DF8A58-E96F-288D-2E4D-4D110DD94F66}"/>
              </a:ext>
            </a:extLst>
          </p:cNvPr>
          <p:cNvSpPr>
            <a:spLocks noGrp="1"/>
          </p:cNvSpPr>
          <p:nvPr>
            <p:ph idx="1"/>
          </p:nvPr>
        </p:nvSpPr>
        <p:spPr>
          <a:xfrm>
            <a:off x="6465404" y="1610139"/>
            <a:ext cx="4752561" cy="5183939"/>
          </a:xfrm>
        </p:spPr>
        <p:txBody>
          <a:bodyPr>
            <a:normAutofit/>
          </a:bodyPr>
          <a:lstStyle/>
          <a:p>
            <a:r>
              <a:rPr lang="en-US" altLang="zh-CN" sz="2000" dirty="0"/>
              <a:t>1. </a:t>
            </a:r>
            <a:r>
              <a:rPr lang="zh-CN" altLang="en-US" sz="2000" dirty="0"/>
              <a:t>为了可以写⼊第⼀个位置， </a:t>
            </a:r>
            <a:r>
              <a:rPr lang="en-US" altLang="zh-CN" sz="2000" dirty="0"/>
              <a:t>A[1:0] </a:t>
            </a:r>
            <a:r>
              <a:rPr lang="zh-CN" altLang="en-US" sz="2000" dirty="0"/>
              <a:t>应当为 </a:t>
            </a:r>
            <a:r>
              <a:rPr lang="en-US" altLang="zh-CN" sz="2000" dirty="0"/>
              <a:t>00 </a:t>
            </a:r>
            <a:r>
              <a:rPr lang="zh-CN" altLang="en-US" sz="2000" dirty="0"/>
              <a:t>，同时为了写⼊ </a:t>
            </a:r>
            <a:r>
              <a:rPr lang="en-US" altLang="zh-CN" sz="2000" dirty="0"/>
              <a:t>WE </a:t>
            </a:r>
            <a:r>
              <a:rPr lang="zh-CN" altLang="en-US" sz="2000" dirty="0"/>
              <a:t>应当为 </a:t>
            </a:r>
            <a:r>
              <a:rPr lang="en-US" altLang="zh-CN" sz="2000" dirty="0"/>
              <a:t>1 </a:t>
            </a:r>
          </a:p>
          <a:p>
            <a:r>
              <a:rPr lang="en-US" altLang="zh-CN" sz="2000" dirty="0"/>
              <a:t>2. </a:t>
            </a:r>
            <a:r>
              <a:rPr lang="zh-CN" altLang="en-US" sz="2000" dirty="0"/>
              <a:t>寻址空间：所能表达的最⼤的不同地址。寻址能⼒：每个地址位置上存储的数据位数。本图中寻址空间为</a:t>
            </a:r>
            <a:r>
              <a:rPr lang="en-US" altLang="zh-CN" sz="2000" dirty="0"/>
              <a:t>4 </a:t>
            </a:r>
            <a:r>
              <a:rPr lang="zh-CN" altLang="en-US" sz="2000" dirty="0"/>
              <a:t>，寻址能⼒为</a:t>
            </a:r>
            <a:r>
              <a:rPr lang="en-US" altLang="zh-CN" sz="2000" dirty="0"/>
              <a:t>4 </a:t>
            </a:r>
          </a:p>
          <a:p>
            <a:pPr marL="0" indent="0">
              <a:buNone/>
            </a:pPr>
            <a:r>
              <a:rPr lang="zh-CN" altLang="en-US" sz="2000" dirty="0"/>
              <a:t>（第二问寻址空间很多同学回答的</a:t>
            </a:r>
            <a:r>
              <a:rPr lang="en-US" altLang="zh-CN" sz="2000" dirty="0"/>
              <a:t>3</a:t>
            </a:r>
            <a:r>
              <a:rPr lang="zh-CN" altLang="en-US" sz="2000" dirty="0"/>
              <a:t>）</a:t>
            </a:r>
            <a:endParaRPr lang="en-US" altLang="zh-CN" sz="2000" dirty="0"/>
          </a:p>
          <a:p>
            <a:pPr marL="0" indent="0">
              <a:buNone/>
            </a:pPr>
            <a:r>
              <a:rPr lang="en-US" altLang="zh-CN" sz="2000" dirty="0"/>
              <a:t>“We refer to the total number of uniquely identifiable locations as the memory’s </a:t>
            </a:r>
            <a:r>
              <a:rPr lang="en-US" altLang="zh-CN" sz="2000" i="1" dirty="0"/>
              <a:t>address space</a:t>
            </a:r>
            <a:r>
              <a:rPr lang="en-US" altLang="zh-CN" sz="2000" dirty="0"/>
              <a:t>.”</a:t>
            </a:r>
          </a:p>
          <a:p>
            <a:r>
              <a:rPr lang="en-US" altLang="zh-CN" sz="2000" dirty="0"/>
              <a:t>3. </a:t>
            </a:r>
            <a:r>
              <a:rPr lang="zh-CN" altLang="en-US" sz="2000" dirty="0"/>
              <a:t>为了将寻址能⼒提升到 </a:t>
            </a:r>
            <a:r>
              <a:rPr lang="en-US" altLang="zh-CN" sz="2000" dirty="0"/>
              <a:t>k bit </a:t>
            </a:r>
            <a:r>
              <a:rPr lang="zh-CN" altLang="en-US" sz="2000" dirty="0"/>
              <a:t>，则需要将每个位置存储的 </a:t>
            </a:r>
            <a:r>
              <a:rPr lang="en-US" altLang="zh-CN" sz="2000" dirty="0"/>
              <a:t>bits </a:t>
            </a:r>
            <a:r>
              <a:rPr lang="zh-CN" altLang="en-US" sz="2000" dirty="0"/>
              <a:t>提升为 </a:t>
            </a:r>
            <a:r>
              <a:rPr lang="en-US" altLang="zh-CN" sz="2000" dirty="0"/>
              <a:t>k </a:t>
            </a:r>
            <a:r>
              <a:rPr lang="zh-CN" altLang="en-US" sz="2000" dirty="0"/>
              <a:t>位，对应则是在每个位置添加 </a:t>
            </a:r>
            <a:r>
              <a:rPr lang="en-US" altLang="zh-CN" sz="2000" dirty="0"/>
              <a:t>k-4 </a:t>
            </a:r>
            <a:r>
              <a:rPr lang="zh-CN" altLang="en-US" sz="2000" dirty="0"/>
              <a:t>个⻔控 </a:t>
            </a:r>
            <a:r>
              <a:rPr lang="en-US" altLang="zh-CN" sz="2000" dirty="0"/>
              <a:t>D </a:t>
            </a:r>
            <a:r>
              <a:rPr lang="zh-CN" altLang="en-US" sz="2000" dirty="0"/>
              <a:t>锁存器。</a:t>
            </a:r>
            <a:endParaRPr lang="en-US" altLang="zh-CN" sz="2000" dirty="0"/>
          </a:p>
        </p:txBody>
      </p:sp>
      <p:sp>
        <p:nvSpPr>
          <p:cNvPr id="8" name="日期占位符 7">
            <a:extLst>
              <a:ext uri="{FF2B5EF4-FFF2-40B4-BE49-F238E27FC236}">
                <a16:creationId xmlns:a16="http://schemas.microsoft.com/office/drawing/2014/main" id="{44DCBC71-8DEC-9B8C-2EB9-6FB1601FC104}"/>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2A6D16C4-F8B9-E060-8B2E-0B169DA18D74}"/>
              </a:ext>
            </a:extLst>
          </p:cNvPr>
          <p:cNvSpPr>
            <a:spLocks noGrp="1"/>
          </p:cNvSpPr>
          <p:nvPr>
            <p:ph type="ftr" sz="quarter" idx="11"/>
          </p:nvPr>
        </p:nvSpPr>
        <p:spPr/>
        <p:txBody>
          <a:bodyPr/>
          <a:lstStyle/>
          <a:p>
            <a:r>
              <a:rPr lang="en-US" altLang="zh-CN"/>
              <a:t>ICS hw2</a:t>
            </a:r>
            <a:endParaRPr lang="zh-CN" altLang="en-US"/>
          </a:p>
        </p:txBody>
      </p:sp>
      <p:sp>
        <p:nvSpPr>
          <p:cNvPr id="10" name="灯片编号占位符 9">
            <a:extLst>
              <a:ext uri="{FF2B5EF4-FFF2-40B4-BE49-F238E27FC236}">
                <a16:creationId xmlns:a16="http://schemas.microsoft.com/office/drawing/2014/main" id="{FEEC20FA-3028-8D3B-A333-099C2621A8E8}"/>
              </a:ext>
            </a:extLst>
          </p:cNvPr>
          <p:cNvSpPr>
            <a:spLocks noGrp="1"/>
          </p:cNvSpPr>
          <p:nvPr>
            <p:ph type="sldNum" sz="quarter" idx="12"/>
          </p:nvPr>
        </p:nvSpPr>
        <p:spPr/>
        <p:txBody>
          <a:bodyPr/>
          <a:lstStyle/>
          <a:p>
            <a:fld id="{8E7CE336-1728-4EBB-A96C-226A00BCBF9A}" type="slidenum">
              <a:rPr lang="zh-CN" altLang="en-US" smtClean="0"/>
              <a:t>9</a:t>
            </a:fld>
            <a:endParaRPr lang="zh-CN" altLang="en-US"/>
          </a:p>
        </p:txBody>
      </p:sp>
      <p:pic>
        <p:nvPicPr>
          <p:cNvPr id="6" name="图片 5">
            <a:extLst>
              <a:ext uri="{FF2B5EF4-FFF2-40B4-BE49-F238E27FC236}">
                <a16:creationId xmlns:a16="http://schemas.microsoft.com/office/drawing/2014/main" id="{A0D24A2F-6514-B2B0-9993-E5AB2C63CB53}"/>
              </a:ext>
            </a:extLst>
          </p:cNvPr>
          <p:cNvPicPr>
            <a:picLocks noChangeAspect="1"/>
          </p:cNvPicPr>
          <p:nvPr/>
        </p:nvPicPr>
        <p:blipFill>
          <a:blip r:embed="rId3"/>
          <a:stretch>
            <a:fillRect/>
          </a:stretch>
        </p:blipFill>
        <p:spPr>
          <a:xfrm>
            <a:off x="767797" y="1360541"/>
            <a:ext cx="5627205" cy="4838853"/>
          </a:xfrm>
          <a:prstGeom prst="rect">
            <a:avLst/>
          </a:prstGeom>
        </p:spPr>
      </p:pic>
    </p:spTree>
    <p:extLst>
      <p:ext uri="{BB962C8B-B14F-4D97-AF65-F5344CB8AC3E}">
        <p14:creationId xmlns:p14="http://schemas.microsoft.com/office/powerpoint/2010/main" val="548790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0381D-C16E-AAD8-61DD-4FB6AFAE550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FF027E8-E007-224B-CA21-50031CE13F7F}"/>
              </a:ext>
            </a:extLst>
          </p:cNvPr>
          <p:cNvSpPr>
            <a:spLocks noGrp="1"/>
          </p:cNvSpPr>
          <p:nvPr>
            <p:ph type="title"/>
          </p:nvPr>
        </p:nvSpPr>
        <p:spPr/>
        <p:txBody>
          <a:bodyPr/>
          <a:lstStyle/>
          <a:p>
            <a:r>
              <a:rPr lang="en-US" altLang="zh-CN" dirty="0">
                <a:latin typeface="Ink Free" panose="03080402000500000000" pitchFamily="66" charset="0"/>
              </a:rPr>
              <a:t>T7</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9FBE628B-7D6D-567C-64CD-9FB4815BAA36}"/>
              </a:ext>
            </a:extLst>
          </p:cNvPr>
          <p:cNvSpPr>
            <a:spLocks noGrp="1"/>
          </p:cNvSpPr>
          <p:nvPr>
            <p:ph idx="1"/>
          </p:nvPr>
        </p:nvSpPr>
        <p:spPr>
          <a:xfrm>
            <a:off x="838200" y="4004942"/>
            <a:ext cx="10515600" cy="2789136"/>
          </a:xfrm>
        </p:spPr>
        <p:txBody>
          <a:bodyPr>
            <a:normAutofit/>
          </a:bodyPr>
          <a:lstStyle/>
          <a:p>
            <a:r>
              <a:rPr lang="en-US" altLang="zh-CN" sz="2400" dirty="0"/>
              <a:t>8 </a:t>
            </a:r>
            <a:r>
              <a:rPr lang="zh-CN" altLang="en-US" sz="2400" dirty="0"/>
              <a:t>位的操作码⾄少需要 </a:t>
            </a:r>
            <a:r>
              <a:rPr lang="en-US" altLang="zh-CN" sz="2400" dirty="0"/>
              <a:t>6 </a:t>
            </a:r>
            <a:r>
              <a:rPr lang="zh-CN" altLang="en-US" sz="2400" dirty="0"/>
              <a:t>位进⾏编码， </a:t>
            </a:r>
            <a:r>
              <a:rPr lang="en-US" altLang="zh-CN" sz="2400" dirty="0"/>
              <a:t>28 </a:t>
            </a:r>
            <a:r>
              <a:rPr lang="zh-CN" altLang="en-US" sz="2400" dirty="0"/>
              <a:t>个寄存器⾄少需要 </a:t>
            </a:r>
            <a:r>
              <a:rPr lang="en-US" altLang="zh-CN" sz="2400" dirty="0"/>
              <a:t>5 </a:t>
            </a:r>
            <a:r>
              <a:rPr lang="zh-CN" altLang="en-US" sz="2400" dirty="0"/>
              <a:t>位进⾏编码。所以 </a:t>
            </a:r>
            <a:r>
              <a:rPr lang="en-US" altLang="zh-CN" sz="2400" dirty="0"/>
              <a:t>32-6-5-5=16</a:t>
            </a:r>
            <a:r>
              <a:rPr lang="zh-CN" altLang="en-US" sz="2400" dirty="0"/>
              <a:t>。</a:t>
            </a:r>
            <a:r>
              <a:rPr lang="en-US" altLang="zh-CN" sz="2400" dirty="0"/>
              <a:t> </a:t>
            </a:r>
          </a:p>
          <a:p>
            <a:r>
              <a:rPr lang="en-US" altLang="zh-CN" sz="2400" dirty="0"/>
              <a:t>16 </a:t>
            </a:r>
            <a:r>
              <a:rPr lang="zh-CN" altLang="en-US" sz="2400" dirty="0"/>
              <a:t>位的⼆进制补码所能表⽰的范围为</a:t>
            </a:r>
            <a:r>
              <a:rPr lang="en-US" altLang="zh-CN" sz="2400" dirty="0"/>
              <a:t>-2^15</a:t>
            </a:r>
            <a:r>
              <a:rPr lang="zh-CN" altLang="en-US" sz="2400" dirty="0"/>
              <a:t>到</a:t>
            </a:r>
            <a:r>
              <a:rPr lang="en-US" altLang="zh-CN" sz="2400" dirty="0"/>
              <a:t>2^15-1</a:t>
            </a:r>
            <a:r>
              <a:rPr lang="zh-CN" altLang="en-US" sz="2400" dirty="0"/>
              <a:t>。 </a:t>
            </a:r>
            <a:r>
              <a:rPr lang="en-US" altLang="zh-CN" sz="2400" dirty="0"/>
              <a:t>IMM </a:t>
            </a:r>
            <a:r>
              <a:rPr lang="zh-CN" altLang="en-US" sz="2400" dirty="0"/>
              <a:t>字段可以表⽰的数值范围是 </a:t>
            </a:r>
            <a:r>
              <a:rPr lang="en-US" altLang="zh-CN" sz="2400" dirty="0"/>
              <a:t>-32768 </a:t>
            </a:r>
            <a:r>
              <a:rPr lang="zh-CN" altLang="en-US" sz="2400" dirty="0"/>
              <a:t>到 </a:t>
            </a:r>
            <a:r>
              <a:rPr lang="en-US" altLang="zh-CN" sz="2400" dirty="0"/>
              <a:t>32767</a:t>
            </a:r>
            <a:r>
              <a:rPr lang="zh-CN" altLang="en-US" sz="2400" dirty="0"/>
              <a:t>（⼗进制）。</a:t>
            </a:r>
            <a:endParaRPr lang="en-US" altLang="zh-CN" sz="2400" dirty="0"/>
          </a:p>
        </p:txBody>
      </p:sp>
      <p:sp>
        <p:nvSpPr>
          <p:cNvPr id="8" name="日期占位符 7">
            <a:extLst>
              <a:ext uri="{FF2B5EF4-FFF2-40B4-BE49-F238E27FC236}">
                <a16:creationId xmlns:a16="http://schemas.microsoft.com/office/drawing/2014/main" id="{88075C3C-822C-2026-A35C-8F1626BF5644}"/>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9D989463-B8BE-4415-B410-03B5D6CCD23D}"/>
              </a:ext>
            </a:extLst>
          </p:cNvPr>
          <p:cNvSpPr>
            <a:spLocks noGrp="1"/>
          </p:cNvSpPr>
          <p:nvPr>
            <p:ph type="ftr" sz="quarter" idx="11"/>
          </p:nvPr>
        </p:nvSpPr>
        <p:spPr/>
        <p:txBody>
          <a:bodyPr/>
          <a:lstStyle/>
          <a:p>
            <a:r>
              <a:rPr lang="en-US" altLang="zh-CN"/>
              <a:t>ICS hw2</a:t>
            </a:r>
            <a:endParaRPr lang="zh-CN" altLang="en-US"/>
          </a:p>
        </p:txBody>
      </p:sp>
      <p:sp>
        <p:nvSpPr>
          <p:cNvPr id="10" name="灯片编号占位符 9">
            <a:extLst>
              <a:ext uri="{FF2B5EF4-FFF2-40B4-BE49-F238E27FC236}">
                <a16:creationId xmlns:a16="http://schemas.microsoft.com/office/drawing/2014/main" id="{ED019A6B-2EB6-0AC8-5014-22150E18855A}"/>
              </a:ext>
            </a:extLst>
          </p:cNvPr>
          <p:cNvSpPr>
            <a:spLocks noGrp="1"/>
          </p:cNvSpPr>
          <p:nvPr>
            <p:ph type="sldNum" sz="quarter" idx="12"/>
          </p:nvPr>
        </p:nvSpPr>
        <p:spPr/>
        <p:txBody>
          <a:bodyPr/>
          <a:lstStyle/>
          <a:p>
            <a:fld id="{8E7CE336-1728-4EBB-A96C-226A00BCBF9A}" type="slidenum">
              <a:rPr lang="zh-CN" altLang="en-US" smtClean="0"/>
              <a:t>10</a:t>
            </a:fld>
            <a:endParaRPr lang="zh-CN" altLang="en-US"/>
          </a:p>
        </p:txBody>
      </p:sp>
      <p:pic>
        <p:nvPicPr>
          <p:cNvPr id="6" name="图片 5">
            <a:extLst>
              <a:ext uri="{FF2B5EF4-FFF2-40B4-BE49-F238E27FC236}">
                <a16:creationId xmlns:a16="http://schemas.microsoft.com/office/drawing/2014/main" id="{EA195AAD-2E9B-288E-73FA-76C0AC8600AE}"/>
              </a:ext>
            </a:extLst>
          </p:cNvPr>
          <p:cNvPicPr>
            <a:picLocks noChangeAspect="1"/>
          </p:cNvPicPr>
          <p:nvPr/>
        </p:nvPicPr>
        <p:blipFill>
          <a:blip r:embed="rId3"/>
          <a:stretch>
            <a:fillRect/>
          </a:stretch>
        </p:blipFill>
        <p:spPr>
          <a:xfrm>
            <a:off x="838200" y="1469128"/>
            <a:ext cx="8181975" cy="2276475"/>
          </a:xfrm>
          <a:prstGeom prst="rect">
            <a:avLst/>
          </a:prstGeom>
        </p:spPr>
      </p:pic>
    </p:spTree>
    <p:extLst>
      <p:ext uri="{BB962C8B-B14F-4D97-AF65-F5344CB8AC3E}">
        <p14:creationId xmlns:p14="http://schemas.microsoft.com/office/powerpoint/2010/main" val="3781988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8DF3C-1B37-FF56-46B1-5519E5DEA28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4DAD143-43A4-9D1E-00B6-B13316D95DA5}"/>
              </a:ext>
            </a:extLst>
          </p:cNvPr>
          <p:cNvSpPr>
            <a:spLocks noGrp="1"/>
          </p:cNvSpPr>
          <p:nvPr>
            <p:ph type="title"/>
          </p:nvPr>
        </p:nvSpPr>
        <p:spPr/>
        <p:txBody>
          <a:bodyPr/>
          <a:lstStyle/>
          <a:p>
            <a:r>
              <a:rPr lang="en-US" altLang="zh-CN" dirty="0">
                <a:latin typeface="Ink Free" panose="03080402000500000000" pitchFamily="66" charset="0"/>
              </a:rPr>
              <a:t>T8</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27273D7E-7FB8-F5E4-433C-C63A1CB746AB}"/>
              </a:ext>
            </a:extLst>
          </p:cNvPr>
          <p:cNvSpPr>
            <a:spLocks noGrp="1"/>
          </p:cNvSpPr>
          <p:nvPr>
            <p:ph idx="1"/>
          </p:nvPr>
        </p:nvSpPr>
        <p:spPr>
          <a:xfrm>
            <a:off x="838200" y="3324445"/>
            <a:ext cx="10515600" cy="3845316"/>
          </a:xfrm>
        </p:spPr>
        <p:txBody>
          <a:bodyPr>
            <a:normAutofit/>
          </a:bodyPr>
          <a:lstStyle/>
          <a:p>
            <a:r>
              <a:rPr lang="en-US" altLang="zh-CN" sz="2400" dirty="0"/>
              <a:t>1. Memory, Processing Unit, Control Unit, Input and Output </a:t>
            </a:r>
          </a:p>
          <a:p>
            <a:r>
              <a:rPr lang="en-US" altLang="zh-CN" sz="2400" dirty="0"/>
              <a:t>2. </a:t>
            </a:r>
            <a:r>
              <a:rPr lang="zh-CN" altLang="en-US" sz="2400" dirty="0"/>
              <a:t>程序的核⼼思想：将程序指令和数据以⼆进制形式共同存储在同⼀个读写存储器（内存）中。由⼀个中央处理单元（ </a:t>
            </a:r>
            <a:r>
              <a:rPr lang="en-US" altLang="zh-CN" sz="2400" dirty="0"/>
              <a:t>CPU </a:t>
            </a:r>
            <a:r>
              <a:rPr lang="zh-CN" altLang="en-US" sz="2400" dirty="0"/>
              <a:t>）顺序地从内存中读取指令并执⾏。⼀个称为程序计数器（ </a:t>
            </a:r>
            <a:r>
              <a:rPr lang="en-US" altLang="zh-CN" sz="2400" dirty="0"/>
              <a:t>PC </a:t>
            </a:r>
            <a:r>
              <a:rPr lang="zh-CN" altLang="en-US" sz="2400" dirty="0"/>
              <a:t>）的寄存器负责指向下⼀条要执⾏的指令地址，通常通过⾃动递增来实现顺序执⾏。</a:t>
            </a:r>
            <a:endParaRPr lang="en-US" altLang="zh-CN" sz="2400" dirty="0"/>
          </a:p>
          <a:p>
            <a:r>
              <a:rPr lang="zh-CN" altLang="en-US" sz="2400" dirty="0"/>
              <a:t>量⼦信息的存储、传输和处理⽅式与经典信息根本 不同，特别是在 “ 可复制性 ”“ 测量 ”“ 逻辑运算 ” 等⽅⾯存在物理层⾯的限制。</a:t>
            </a:r>
            <a:endParaRPr lang="en-US" altLang="zh-CN" sz="2400" dirty="0"/>
          </a:p>
        </p:txBody>
      </p:sp>
      <p:sp>
        <p:nvSpPr>
          <p:cNvPr id="8" name="日期占位符 7">
            <a:extLst>
              <a:ext uri="{FF2B5EF4-FFF2-40B4-BE49-F238E27FC236}">
                <a16:creationId xmlns:a16="http://schemas.microsoft.com/office/drawing/2014/main" id="{B2DB77AC-5942-F72B-28A5-2BF3D4915ED2}"/>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EA85D9C8-E61A-1E0C-3AAE-99D36C70AC39}"/>
              </a:ext>
            </a:extLst>
          </p:cNvPr>
          <p:cNvSpPr>
            <a:spLocks noGrp="1"/>
          </p:cNvSpPr>
          <p:nvPr>
            <p:ph type="ftr" sz="quarter" idx="11"/>
          </p:nvPr>
        </p:nvSpPr>
        <p:spPr/>
        <p:txBody>
          <a:bodyPr/>
          <a:lstStyle/>
          <a:p>
            <a:r>
              <a:rPr lang="en-US" altLang="zh-CN"/>
              <a:t>ICS hw2</a:t>
            </a:r>
            <a:endParaRPr lang="zh-CN" altLang="en-US"/>
          </a:p>
        </p:txBody>
      </p:sp>
      <p:sp>
        <p:nvSpPr>
          <p:cNvPr id="10" name="灯片编号占位符 9">
            <a:extLst>
              <a:ext uri="{FF2B5EF4-FFF2-40B4-BE49-F238E27FC236}">
                <a16:creationId xmlns:a16="http://schemas.microsoft.com/office/drawing/2014/main" id="{2C712AFA-C2D1-B2EB-3B7E-1574B4601B6E}"/>
              </a:ext>
            </a:extLst>
          </p:cNvPr>
          <p:cNvSpPr>
            <a:spLocks noGrp="1"/>
          </p:cNvSpPr>
          <p:nvPr>
            <p:ph type="sldNum" sz="quarter" idx="12"/>
          </p:nvPr>
        </p:nvSpPr>
        <p:spPr/>
        <p:txBody>
          <a:bodyPr/>
          <a:lstStyle/>
          <a:p>
            <a:fld id="{8E7CE336-1728-4EBB-A96C-226A00BCBF9A}" type="slidenum">
              <a:rPr lang="zh-CN" altLang="en-US" smtClean="0"/>
              <a:t>11</a:t>
            </a:fld>
            <a:endParaRPr lang="zh-CN" altLang="en-US"/>
          </a:p>
        </p:txBody>
      </p:sp>
      <p:pic>
        <p:nvPicPr>
          <p:cNvPr id="5" name="图片 4">
            <a:extLst>
              <a:ext uri="{FF2B5EF4-FFF2-40B4-BE49-F238E27FC236}">
                <a16:creationId xmlns:a16="http://schemas.microsoft.com/office/drawing/2014/main" id="{2AB0F334-AC21-CC8D-14C1-79030B8A2F9E}"/>
              </a:ext>
            </a:extLst>
          </p:cNvPr>
          <p:cNvPicPr>
            <a:picLocks noChangeAspect="1"/>
          </p:cNvPicPr>
          <p:nvPr/>
        </p:nvPicPr>
        <p:blipFill>
          <a:blip r:embed="rId3"/>
          <a:stretch>
            <a:fillRect/>
          </a:stretch>
        </p:blipFill>
        <p:spPr>
          <a:xfrm>
            <a:off x="838200" y="1510376"/>
            <a:ext cx="10760019" cy="1438386"/>
          </a:xfrm>
          <a:prstGeom prst="rect">
            <a:avLst/>
          </a:prstGeom>
        </p:spPr>
      </p:pic>
    </p:spTree>
    <p:extLst>
      <p:ext uri="{BB962C8B-B14F-4D97-AF65-F5344CB8AC3E}">
        <p14:creationId xmlns:p14="http://schemas.microsoft.com/office/powerpoint/2010/main" val="149144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28AD7-C181-19E8-5790-BC1CDAE244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8FFA2F1-E2BA-4125-1222-2BB6EE487573}"/>
              </a:ext>
            </a:extLst>
          </p:cNvPr>
          <p:cNvSpPr>
            <a:spLocks noGrp="1"/>
          </p:cNvSpPr>
          <p:nvPr>
            <p:ph type="title"/>
          </p:nvPr>
        </p:nvSpPr>
        <p:spPr/>
        <p:txBody>
          <a:bodyPr/>
          <a:lstStyle/>
          <a:p>
            <a:r>
              <a:rPr lang="en-US" altLang="zh-CN" dirty="0">
                <a:latin typeface="Ink Free" panose="03080402000500000000" pitchFamily="66" charset="0"/>
              </a:rPr>
              <a:t>T8</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24B33672-C014-F2B2-9614-3994B4AF9D99}"/>
              </a:ext>
            </a:extLst>
          </p:cNvPr>
          <p:cNvSpPr>
            <a:spLocks noGrp="1"/>
          </p:cNvSpPr>
          <p:nvPr>
            <p:ph idx="1"/>
          </p:nvPr>
        </p:nvSpPr>
        <p:spPr>
          <a:xfrm>
            <a:off x="6256161" y="4225530"/>
            <a:ext cx="4839586" cy="3143780"/>
          </a:xfrm>
        </p:spPr>
        <p:txBody>
          <a:bodyPr>
            <a:normAutofit/>
          </a:bodyPr>
          <a:lstStyle/>
          <a:p>
            <a:r>
              <a:rPr lang="en-US" altLang="zh-CN" sz="2400" dirty="0"/>
              <a:t>1. </a:t>
            </a:r>
            <a:r>
              <a:rPr lang="zh-CN" altLang="en-US" sz="2400" dirty="0"/>
              <a:t>量⼦态⽆法被⾃由读取或复制 </a:t>
            </a:r>
            <a:endParaRPr lang="en-US" altLang="zh-CN" sz="2400" dirty="0"/>
          </a:p>
          <a:p>
            <a:r>
              <a:rPr lang="en-US" altLang="zh-CN" sz="2400" dirty="0"/>
              <a:t>2. </a:t>
            </a:r>
            <a:r>
              <a:rPr lang="zh-CN" altLang="en-US" sz="2400" dirty="0"/>
              <a:t>量⼦逻辑运算是⺓正操作 </a:t>
            </a:r>
            <a:endParaRPr lang="en-US" altLang="zh-CN" sz="2400" dirty="0"/>
          </a:p>
          <a:p>
            <a:r>
              <a:rPr lang="en-US" altLang="zh-CN" sz="2400" dirty="0"/>
              <a:t>3. </a:t>
            </a:r>
            <a:r>
              <a:rPr lang="zh-CN" altLang="en-US" sz="2400" dirty="0"/>
              <a:t>量⼦存储与处理⽆法物理分离 </a:t>
            </a:r>
            <a:endParaRPr lang="en-US" altLang="zh-CN" sz="2400" dirty="0"/>
          </a:p>
          <a:p>
            <a:r>
              <a:rPr lang="en-US" altLang="zh-CN" sz="2400" dirty="0"/>
              <a:t>4. </a:t>
            </a:r>
            <a:r>
              <a:rPr lang="zh-CN" altLang="en-US" sz="2400" dirty="0"/>
              <a:t>量⼦测量破坏程序状态 </a:t>
            </a:r>
            <a:endParaRPr lang="en-US" altLang="zh-CN" sz="2400" dirty="0"/>
          </a:p>
          <a:p>
            <a:r>
              <a:rPr lang="en-US" altLang="zh-CN" sz="2400" dirty="0"/>
              <a:t>…</a:t>
            </a:r>
          </a:p>
        </p:txBody>
      </p:sp>
      <p:sp>
        <p:nvSpPr>
          <p:cNvPr id="8" name="日期占位符 7">
            <a:extLst>
              <a:ext uri="{FF2B5EF4-FFF2-40B4-BE49-F238E27FC236}">
                <a16:creationId xmlns:a16="http://schemas.microsoft.com/office/drawing/2014/main" id="{DCDDC900-7AC9-4551-75BC-FA28C1258720}"/>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12D3D937-ADEC-EABC-6992-684957F18510}"/>
              </a:ext>
            </a:extLst>
          </p:cNvPr>
          <p:cNvSpPr>
            <a:spLocks noGrp="1"/>
          </p:cNvSpPr>
          <p:nvPr>
            <p:ph type="ftr" sz="quarter" idx="11"/>
          </p:nvPr>
        </p:nvSpPr>
        <p:spPr/>
        <p:txBody>
          <a:bodyPr/>
          <a:lstStyle/>
          <a:p>
            <a:r>
              <a:rPr lang="en-US" altLang="zh-CN"/>
              <a:t>ICS hw2</a:t>
            </a:r>
            <a:endParaRPr lang="zh-CN" altLang="en-US"/>
          </a:p>
        </p:txBody>
      </p:sp>
      <p:sp>
        <p:nvSpPr>
          <p:cNvPr id="10" name="灯片编号占位符 9">
            <a:extLst>
              <a:ext uri="{FF2B5EF4-FFF2-40B4-BE49-F238E27FC236}">
                <a16:creationId xmlns:a16="http://schemas.microsoft.com/office/drawing/2014/main" id="{A2A11270-9E8D-7452-8A66-68DA32A41BE6}"/>
              </a:ext>
            </a:extLst>
          </p:cNvPr>
          <p:cNvSpPr>
            <a:spLocks noGrp="1"/>
          </p:cNvSpPr>
          <p:nvPr>
            <p:ph type="sldNum" sz="quarter" idx="12"/>
          </p:nvPr>
        </p:nvSpPr>
        <p:spPr/>
        <p:txBody>
          <a:bodyPr/>
          <a:lstStyle/>
          <a:p>
            <a:fld id="{8E7CE336-1728-4EBB-A96C-226A00BCBF9A}" type="slidenum">
              <a:rPr lang="zh-CN" altLang="en-US" smtClean="0"/>
              <a:t>12</a:t>
            </a:fld>
            <a:endParaRPr lang="zh-CN" altLang="en-US"/>
          </a:p>
        </p:txBody>
      </p:sp>
      <p:pic>
        <p:nvPicPr>
          <p:cNvPr id="6" name="图片 5">
            <a:extLst>
              <a:ext uri="{FF2B5EF4-FFF2-40B4-BE49-F238E27FC236}">
                <a16:creationId xmlns:a16="http://schemas.microsoft.com/office/drawing/2014/main" id="{670C878E-291A-7268-CF57-127240941634}"/>
              </a:ext>
            </a:extLst>
          </p:cNvPr>
          <p:cNvPicPr>
            <a:picLocks noChangeAspect="1"/>
          </p:cNvPicPr>
          <p:nvPr/>
        </p:nvPicPr>
        <p:blipFill>
          <a:blip r:embed="rId3"/>
          <a:stretch>
            <a:fillRect/>
          </a:stretch>
        </p:blipFill>
        <p:spPr>
          <a:xfrm>
            <a:off x="838200" y="1470750"/>
            <a:ext cx="3987131" cy="4812997"/>
          </a:xfrm>
          <a:prstGeom prst="rect">
            <a:avLst/>
          </a:prstGeom>
        </p:spPr>
      </p:pic>
      <p:pic>
        <p:nvPicPr>
          <p:cNvPr id="13" name="图片 12">
            <a:extLst>
              <a:ext uri="{FF2B5EF4-FFF2-40B4-BE49-F238E27FC236}">
                <a16:creationId xmlns:a16="http://schemas.microsoft.com/office/drawing/2014/main" id="{558BD056-B25D-7F24-135B-A068A9E44D9A}"/>
              </a:ext>
            </a:extLst>
          </p:cNvPr>
          <p:cNvPicPr>
            <a:picLocks noChangeAspect="1"/>
          </p:cNvPicPr>
          <p:nvPr/>
        </p:nvPicPr>
        <p:blipFill>
          <a:blip r:embed="rId4"/>
          <a:stretch>
            <a:fillRect/>
          </a:stretch>
        </p:blipFill>
        <p:spPr>
          <a:xfrm>
            <a:off x="6256161" y="1470750"/>
            <a:ext cx="3206816" cy="2718908"/>
          </a:xfrm>
          <a:prstGeom prst="rect">
            <a:avLst/>
          </a:prstGeom>
        </p:spPr>
      </p:pic>
    </p:spTree>
    <p:extLst>
      <p:ext uri="{BB962C8B-B14F-4D97-AF65-F5344CB8AC3E}">
        <p14:creationId xmlns:p14="http://schemas.microsoft.com/office/powerpoint/2010/main" val="2365540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008B6-65CC-1EE4-D1F9-25F6F6517DA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2A3AFC6-383E-FB53-D4D2-AB3FF0D4BA0E}"/>
              </a:ext>
            </a:extLst>
          </p:cNvPr>
          <p:cNvSpPr>
            <a:spLocks noGrp="1"/>
          </p:cNvSpPr>
          <p:nvPr>
            <p:ph type="title"/>
          </p:nvPr>
        </p:nvSpPr>
        <p:spPr/>
        <p:txBody>
          <a:bodyPr/>
          <a:lstStyle/>
          <a:p>
            <a:r>
              <a:rPr lang="en-US" altLang="zh-CN" dirty="0">
                <a:latin typeface="Ink Free" panose="03080402000500000000" pitchFamily="66" charset="0"/>
              </a:rPr>
              <a:t>T9</a:t>
            </a:r>
            <a:endParaRPr lang="zh-CN" altLang="en-US" dirty="0">
              <a:latin typeface="Ink Free" panose="03080402000500000000" pitchFamily="66" charset="0"/>
            </a:endParaRPr>
          </a:p>
        </p:txBody>
      </p:sp>
      <p:sp>
        <p:nvSpPr>
          <p:cNvPr id="8" name="日期占位符 7">
            <a:extLst>
              <a:ext uri="{FF2B5EF4-FFF2-40B4-BE49-F238E27FC236}">
                <a16:creationId xmlns:a16="http://schemas.microsoft.com/office/drawing/2014/main" id="{07D551B3-F1DE-9D89-AD29-81FBAE8A460A}"/>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88A78BAF-DA42-8B61-0A26-E704971F6E57}"/>
              </a:ext>
            </a:extLst>
          </p:cNvPr>
          <p:cNvSpPr>
            <a:spLocks noGrp="1"/>
          </p:cNvSpPr>
          <p:nvPr>
            <p:ph type="ftr" sz="quarter" idx="11"/>
          </p:nvPr>
        </p:nvSpPr>
        <p:spPr/>
        <p:txBody>
          <a:bodyPr/>
          <a:lstStyle/>
          <a:p>
            <a:r>
              <a:rPr lang="en-US" altLang="zh-CN"/>
              <a:t>ICS hw2</a:t>
            </a:r>
            <a:endParaRPr lang="zh-CN" altLang="en-US"/>
          </a:p>
        </p:txBody>
      </p:sp>
      <p:sp>
        <p:nvSpPr>
          <p:cNvPr id="10" name="灯片编号占位符 9">
            <a:extLst>
              <a:ext uri="{FF2B5EF4-FFF2-40B4-BE49-F238E27FC236}">
                <a16:creationId xmlns:a16="http://schemas.microsoft.com/office/drawing/2014/main" id="{7C01700F-4507-4BB8-7397-2F5DEECAD7C1}"/>
              </a:ext>
            </a:extLst>
          </p:cNvPr>
          <p:cNvSpPr>
            <a:spLocks noGrp="1"/>
          </p:cNvSpPr>
          <p:nvPr>
            <p:ph type="sldNum" sz="quarter" idx="12"/>
          </p:nvPr>
        </p:nvSpPr>
        <p:spPr/>
        <p:txBody>
          <a:bodyPr/>
          <a:lstStyle/>
          <a:p>
            <a:fld id="{8E7CE336-1728-4EBB-A96C-226A00BCBF9A}" type="slidenum">
              <a:rPr lang="zh-CN" altLang="en-US" smtClean="0"/>
              <a:t>13</a:t>
            </a:fld>
            <a:endParaRPr lang="zh-CN" altLang="en-US"/>
          </a:p>
        </p:txBody>
      </p:sp>
      <p:pic>
        <p:nvPicPr>
          <p:cNvPr id="5" name="图片 4">
            <a:extLst>
              <a:ext uri="{FF2B5EF4-FFF2-40B4-BE49-F238E27FC236}">
                <a16:creationId xmlns:a16="http://schemas.microsoft.com/office/drawing/2014/main" id="{BCD3350F-498C-E17F-70CC-86DD70EC6D9C}"/>
              </a:ext>
            </a:extLst>
          </p:cNvPr>
          <p:cNvPicPr>
            <a:picLocks noChangeAspect="1"/>
          </p:cNvPicPr>
          <p:nvPr/>
        </p:nvPicPr>
        <p:blipFill>
          <a:blip r:embed="rId3"/>
          <a:stretch>
            <a:fillRect/>
          </a:stretch>
        </p:blipFill>
        <p:spPr>
          <a:xfrm>
            <a:off x="838200" y="1363939"/>
            <a:ext cx="6569855" cy="4992411"/>
          </a:xfrm>
          <a:prstGeom prst="rect">
            <a:avLst/>
          </a:prstGeom>
        </p:spPr>
      </p:pic>
      <p:sp>
        <p:nvSpPr>
          <p:cNvPr id="12" name="内容占位符 2">
            <a:extLst>
              <a:ext uri="{FF2B5EF4-FFF2-40B4-BE49-F238E27FC236}">
                <a16:creationId xmlns:a16="http://schemas.microsoft.com/office/drawing/2014/main" id="{9F2F61DA-825F-842D-ACF3-6BFC58EAFA9F}"/>
              </a:ext>
            </a:extLst>
          </p:cNvPr>
          <p:cNvSpPr>
            <a:spLocks noGrp="1"/>
          </p:cNvSpPr>
          <p:nvPr>
            <p:ph idx="1"/>
          </p:nvPr>
        </p:nvSpPr>
        <p:spPr>
          <a:xfrm>
            <a:off x="7356569" y="1253331"/>
            <a:ext cx="4369904" cy="4351338"/>
          </a:xfrm>
        </p:spPr>
        <p:txBody>
          <a:bodyPr/>
          <a:lstStyle/>
          <a:p>
            <a:r>
              <a:rPr lang="en-US" altLang="zh-CN" dirty="0"/>
              <a:t>Ans:</a:t>
            </a:r>
          </a:p>
          <a:p>
            <a:pPr marL="0" indent="0">
              <a:buNone/>
            </a:pPr>
            <a:r>
              <a:rPr lang="en-US" altLang="zh-CN" dirty="0"/>
              <a:t>1. 000011</a:t>
            </a:r>
          </a:p>
          <a:p>
            <a:pPr marL="0" indent="0">
              <a:buNone/>
            </a:pPr>
            <a:r>
              <a:rPr lang="en-US" altLang="zh-CN" dirty="0"/>
              <a:t>2. 12 </a:t>
            </a:r>
          </a:p>
          <a:p>
            <a:pPr marL="0" indent="0">
              <a:buNone/>
            </a:pPr>
            <a:r>
              <a:rPr lang="en-US" altLang="zh-CN" dirty="0"/>
              <a:t>3. 6 </a:t>
            </a:r>
          </a:p>
          <a:p>
            <a:pPr marL="0" indent="0">
              <a:buNone/>
            </a:pPr>
            <a:r>
              <a:rPr lang="en-US" altLang="zh-CN" dirty="0"/>
              <a:t>4. 6</a:t>
            </a:r>
            <a:endParaRPr lang="zh-CN" altLang="en-US" dirty="0"/>
          </a:p>
        </p:txBody>
      </p:sp>
    </p:spTree>
    <p:extLst>
      <p:ext uri="{BB962C8B-B14F-4D97-AF65-F5344CB8AC3E}">
        <p14:creationId xmlns:p14="http://schemas.microsoft.com/office/powerpoint/2010/main" val="3342183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00F6-6D25-1039-6AE7-C0B05945DB2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078B0FE-ABC9-D837-3162-CE7FC8DC389D}"/>
              </a:ext>
            </a:extLst>
          </p:cNvPr>
          <p:cNvSpPr>
            <a:spLocks noGrp="1"/>
          </p:cNvSpPr>
          <p:nvPr>
            <p:ph type="title"/>
          </p:nvPr>
        </p:nvSpPr>
        <p:spPr/>
        <p:txBody>
          <a:bodyPr/>
          <a:lstStyle/>
          <a:p>
            <a:r>
              <a:rPr lang="en-US" altLang="zh-CN" dirty="0">
                <a:latin typeface="Ink Free" panose="03080402000500000000" pitchFamily="66" charset="0"/>
              </a:rPr>
              <a:t>T9</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F0F43378-70E4-7C9F-3661-9AB7DC6C012C}"/>
              </a:ext>
            </a:extLst>
          </p:cNvPr>
          <p:cNvSpPr>
            <a:spLocks noGrp="1"/>
          </p:cNvSpPr>
          <p:nvPr>
            <p:ph idx="1"/>
          </p:nvPr>
        </p:nvSpPr>
        <p:spPr>
          <a:xfrm>
            <a:off x="838200" y="1453129"/>
            <a:ext cx="10515600" cy="4699578"/>
          </a:xfrm>
        </p:spPr>
        <p:txBody>
          <a:bodyPr>
            <a:normAutofit/>
          </a:bodyPr>
          <a:lstStyle/>
          <a:p>
            <a:r>
              <a:rPr lang="zh-CN" altLang="en-US" sz="2400" dirty="0"/>
              <a:t>什么是锁存器？什么是触发器？</a:t>
            </a:r>
            <a:endParaRPr lang="en-US" altLang="zh-CN" sz="2400" dirty="0"/>
          </a:p>
          <a:p>
            <a:r>
              <a:rPr lang="zh-CN" altLang="en-US" sz="2400" dirty="0"/>
              <a:t>锁存器：</a:t>
            </a:r>
            <a:r>
              <a:rPr lang="en-US" altLang="zh-CN" sz="2400" dirty="0"/>
              <a:t>Latch       </a:t>
            </a:r>
            <a:r>
              <a:rPr lang="zh-CN" altLang="en-US" sz="2400" dirty="0"/>
              <a:t>触发器：</a:t>
            </a:r>
            <a:r>
              <a:rPr lang="en-US" altLang="zh-CN" sz="2400" dirty="0"/>
              <a:t>Flip-flop</a:t>
            </a:r>
          </a:p>
          <a:p>
            <a:r>
              <a:rPr lang="zh-CN" altLang="en-US" sz="2400" dirty="0"/>
              <a:t>锁存器：电平敏感 触发器：边沿敏感</a:t>
            </a:r>
            <a:endParaRPr lang="en-US" altLang="zh-CN" sz="2400" dirty="0"/>
          </a:p>
          <a:p>
            <a:r>
              <a:rPr lang="zh-CN" altLang="en-US" sz="2400" dirty="0"/>
              <a:t>连着</a:t>
            </a:r>
            <a:r>
              <a:rPr lang="en-US" altLang="zh-CN" sz="2400" dirty="0" err="1"/>
              <a:t>clk</a:t>
            </a:r>
            <a:r>
              <a:rPr lang="zh-CN" altLang="en-US" sz="2400" dirty="0"/>
              <a:t>信号就一定是触发器？</a:t>
            </a:r>
            <a:r>
              <a:rPr lang="en-US" altLang="zh-CN" sz="2400" dirty="0"/>
              <a:t>No!</a:t>
            </a:r>
          </a:p>
          <a:p>
            <a:r>
              <a:rPr lang="zh-CN" altLang="en-US" sz="2400" dirty="0"/>
              <a:t>图要看清楚，相邻两个使能信号相反</a:t>
            </a:r>
            <a:endParaRPr lang="en-US" altLang="zh-CN" sz="2400" dirty="0"/>
          </a:p>
          <a:p>
            <a:r>
              <a:rPr lang="zh-CN" altLang="en-US" sz="2400" dirty="0"/>
              <a:t>这样串联的两个</a:t>
            </a:r>
            <a:r>
              <a:rPr lang="en-US" altLang="zh-CN" sz="2400" dirty="0"/>
              <a:t>D</a:t>
            </a:r>
            <a:r>
              <a:rPr lang="zh-CN" altLang="en-US" sz="2400" dirty="0"/>
              <a:t>锁存器“相当于”一个</a:t>
            </a:r>
            <a:r>
              <a:rPr lang="en-US" altLang="zh-CN" sz="2400" dirty="0"/>
              <a:t>D</a:t>
            </a:r>
            <a:r>
              <a:rPr lang="zh-CN" altLang="en-US" sz="2400" dirty="0"/>
              <a:t>触发器</a:t>
            </a:r>
            <a:endParaRPr lang="en-US" altLang="zh-CN" sz="2400" dirty="0"/>
          </a:p>
          <a:p>
            <a:r>
              <a:rPr lang="zh-CN" altLang="en-US" sz="2400" dirty="0"/>
              <a:t>为什么第三问与第二问的答案不一样？</a:t>
            </a:r>
            <a:endParaRPr lang="en-US" altLang="zh-CN" sz="2400" dirty="0"/>
          </a:p>
          <a:p>
            <a:pPr marL="0" indent="0">
              <a:buNone/>
            </a:pPr>
            <a:r>
              <a:rPr lang="en-US" altLang="zh-CN" sz="2400" dirty="0"/>
              <a:t>   ——</a:t>
            </a:r>
            <a:r>
              <a:rPr lang="zh-CN" altLang="en-US" sz="2400" dirty="0"/>
              <a:t>一个周期有两个状态</a:t>
            </a:r>
            <a:endParaRPr lang="en-US" altLang="zh-CN" sz="2400" dirty="0"/>
          </a:p>
          <a:p>
            <a:r>
              <a:rPr lang="zh-CN" altLang="en-US" sz="2400" dirty="0"/>
              <a:t>初始的时候</a:t>
            </a:r>
            <a:r>
              <a:rPr lang="en-US" altLang="zh-CN" sz="2400" dirty="0" err="1"/>
              <a:t>clk</a:t>
            </a:r>
            <a:r>
              <a:rPr lang="zh-CN" altLang="en-US" sz="2400" dirty="0"/>
              <a:t>信号按</a:t>
            </a:r>
            <a:r>
              <a:rPr lang="en-US" altLang="zh-CN" sz="2400" dirty="0"/>
              <a:t>0</a:t>
            </a:r>
            <a:r>
              <a:rPr lang="zh-CN" altLang="en-US" sz="2400" dirty="0"/>
              <a:t>算还是按</a:t>
            </a:r>
            <a:r>
              <a:rPr lang="en-US" altLang="zh-CN" sz="2400" dirty="0"/>
              <a:t>1</a:t>
            </a:r>
            <a:r>
              <a:rPr lang="zh-CN" altLang="en-US" sz="2400" dirty="0"/>
              <a:t>算？</a:t>
            </a:r>
            <a:endParaRPr lang="en-US" altLang="zh-CN" sz="2400" dirty="0"/>
          </a:p>
          <a:p>
            <a:pPr marL="0" indent="0">
              <a:buNone/>
            </a:pPr>
            <a:r>
              <a:rPr lang="en-US" altLang="zh-CN" sz="2400" dirty="0"/>
              <a:t>   ——</a:t>
            </a:r>
            <a:r>
              <a:rPr lang="zh-CN" altLang="en-US" sz="2400" dirty="0"/>
              <a:t>若是</a:t>
            </a:r>
            <a:r>
              <a:rPr lang="en-US" altLang="zh-CN" sz="2400" dirty="0"/>
              <a:t>0</a:t>
            </a:r>
            <a:r>
              <a:rPr lang="zh-CN" altLang="en-US" sz="2400" dirty="0"/>
              <a:t>，则不可能保持首末两个寄存器均为</a:t>
            </a:r>
            <a:r>
              <a:rPr lang="en-US" altLang="zh-CN" sz="2400" dirty="0"/>
              <a:t>0</a:t>
            </a:r>
          </a:p>
          <a:p>
            <a:endParaRPr lang="en-US" altLang="zh-CN" sz="2400" dirty="0"/>
          </a:p>
        </p:txBody>
      </p:sp>
      <p:sp>
        <p:nvSpPr>
          <p:cNvPr id="8" name="日期占位符 7">
            <a:extLst>
              <a:ext uri="{FF2B5EF4-FFF2-40B4-BE49-F238E27FC236}">
                <a16:creationId xmlns:a16="http://schemas.microsoft.com/office/drawing/2014/main" id="{3B652588-586A-2C13-2370-D2238BF40997}"/>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8FBA6CF2-1B80-2BE5-42A0-D8A8D33A658C}"/>
              </a:ext>
            </a:extLst>
          </p:cNvPr>
          <p:cNvSpPr>
            <a:spLocks noGrp="1"/>
          </p:cNvSpPr>
          <p:nvPr>
            <p:ph type="ftr" sz="quarter" idx="11"/>
          </p:nvPr>
        </p:nvSpPr>
        <p:spPr/>
        <p:txBody>
          <a:bodyPr/>
          <a:lstStyle/>
          <a:p>
            <a:r>
              <a:rPr lang="en-US" altLang="zh-CN" dirty="0"/>
              <a:t>ICS hw2</a:t>
            </a:r>
            <a:endParaRPr lang="zh-CN" altLang="en-US" dirty="0"/>
          </a:p>
        </p:txBody>
      </p:sp>
      <p:sp>
        <p:nvSpPr>
          <p:cNvPr id="10" name="灯片编号占位符 9">
            <a:extLst>
              <a:ext uri="{FF2B5EF4-FFF2-40B4-BE49-F238E27FC236}">
                <a16:creationId xmlns:a16="http://schemas.microsoft.com/office/drawing/2014/main" id="{A85AF207-93DD-BD0D-CCED-EBCCCA706856}"/>
              </a:ext>
            </a:extLst>
          </p:cNvPr>
          <p:cNvSpPr>
            <a:spLocks noGrp="1"/>
          </p:cNvSpPr>
          <p:nvPr>
            <p:ph type="sldNum" sz="quarter" idx="12"/>
          </p:nvPr>
        </p:nvSpPr>
        <p:spPr/>
        <p:txBody>
          <a:bodyPr/>
          <a:lstStyle/>
          <a:p>
            <a:fld id="{8E7CE336-1728-4EBB-A96C-226A00BCBF9A}" type="slidenum">
              <a:rPr lang="zh-CN" altLang="en-US" smtClean="0"/>
              <a:t>14</a:t>
            </a:fld>
            <a:endParaRPr lang="zh-CN" altLang="en-US" dirty="0"/>
          </a:p>
        </p:txBody>
      </p:sp>
      <p:pic>
        <p:nvPicPr>
          <p:cNvPr id="5" name="图片 4">
            <a:extLst>
              <a:ext uri="{FF2B5EF4-FFF2-40B4-BE49-F238E27FC236}">
                <a16:creationId xmlns:a16="http://schemas.microsoft.com/office/drawing/2014/main" id="{7AA7817E-633E-2187-122A-5D5F2B159EC1}"/>
              </a:ext>
            </a:extLst>
          </p:cNvPr>
          <p:cNvPicPr>
            <a:picLocks noChangeAspect="1"/>
          </p:cNvPicPr>
          <p:nvPr/>
        </p:nvPicPr>
        <p:blipFill>
          <a:blip r:embed="rId3"/>
          <a:stretch>
            <a:fillRect/>
          </a:stretch>
        </p:blipFill>
        <p:spPr>
          <a:xfrm>
            <a:off x="6324600" y="1468548"/>
            <a:ext cx="5410035" cy="1508568"/>
          </a:xfrm>
          <a:prstGeom prst="rect">
            <a:avLst/>
          </a:prstGeom>
        </p:spPr>
      </p:pic>
      <p:sp>
        <p:nvSpPr>
          <p:cNvPr id="6" name="文本框 5">
            <a:extLst>
              <a:ext uri="{FF2B5EF4-FFF2-40B4-BE49-F238E27FC236}">
                <a16:creationId xmlns:a16="http://schemas.microsoft.com/office/drawing/2014/main" id="{813F91DA-3B50-7F76-8281-7E0EEDE73750}"/>
              </a:ext>
            </a:extLst>
          </p:cNvPr>
          <p:cNvSpPr txBox="1"/>
          <p:nvPr/>
        </p:nvSpPr>
        <p:spPr>
          <a:xfrm>
            <a:off x="8610600" y="2623203"/>
            <a:ext cx="3388242" cy="369332"/>
          </a:xfrm>
          <a:prstGeom prst="rect">
            <a:avLst/>
          </a:prstGeom>
          <a:noFill/>
        </p:spPr>
        <p:txBody>
          <a:bodyPr wrap="square" rtlCol="0">
            <a:spAutoFit/>
          </a:bodyPr>
          <a:lstStyle/>
          <a:p>
            <a:r>
              <a:rPr lang="zh-CN" altLang="en-US" i="1" dirty="0">
                <a:latin typeface="楷体" panose="02010609060101010101" pitchFamily="49" charset="-122"/>
                <a:ea typeface="楷体" panose="02010609060101010101" pitchFamily="49" charset="-122"/>
              </a:rPr>
              <a:t>触发器时钟信号这里有个小三角</a:t>
            </a:r>
          </a:p>
        </p:txBody>
      </p:sp>
    </p:spTree>
    <p:extLst>
      <p:ext uri="{BB962C8B-B14F-4D97-AF65-F5344CB8AC3E}">
        <p14:creationId xmlns:p14="http://schemas.microsoft.com/office/powerpoint/2010/main" val="1681153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6E317-FDF2-DA2E-B6AD-3E3146E5CB3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0A00BE-D9B3-5916-96C5-E941177FB7D6}"/>
              </a:ext>
            </a:extLst>
          </p:cNvPr>
          <p:cNvSpPr>
            <a:spLocks noGrp="1"/>
          </p:cNvSpPr>
          <p:nvPr>
            <p:ph type="title"/>
          </p:nvPr>
        </p:nvSpPr>
        <p:spPr/>
        <p:txBody>
          <a:bodyPr/>
          <a:lstStyle/>
          <a:p>
            <a:r>
              <a:rPr lang="en-US" altLang="zh-CN" dirty="0">
                <a:latin typeface="Ink Free" panose="03080402000500000000" pitchFamily="66" charset="0"/>
              </a:rPr>
              <a:t>T9</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1ED4E9B9-BC43-7C76-6B00-B8EF9BE650CE}"/>
              </a:ext>
            </a:extLst>
          </p:cNvPr>
          <p:cNvSpPr>
            <a:spLocks noGrp="1"/>
          </p:cNvSpPr>
          <p:nvPr>
            <p:ph idx="1"/>
          </p:nvPr>
        </p:nvSpPr>
        <p:spPr>
          <a:xfrm>
            <a:off x="838200" y="1552365"/>
            <a:ext cx="10515600" cy="2789136"/>
          </a:xfrm>
        </p:spPr>
        <p:txBody>
          <a:bodyPr>
            <a:normAutofit/>
          </a:bodyPr>
          <a:lstStyle/>
          <a:p>
            <a:r>
              <a:rPr lang="en-US" altLang="zh-CN" sz="2400" dirty="0"/>
              <a:t>CLK=1</a:t>
            </a:r>
            <a:r>
              <a:rPr lang="zh-CN" altLang="en-US" sz="2400" dirty="0"/>
              <a:t>（周期起始）</a:t>
            </a:r>
            <a:endParaRPr lang="en-US" altLang="zh-CN" sz="2400" dirty="0"/>
          </a:p>
        </p:txBody>
      </p:sp>
      <p:sp>
        <p:nvSpPr>
          <p:cNvPr id="8" name="日期占位符 7">
            <a:extLst>
              <a:ext uri="{FF2B5EF4-FFF2-40B4-BE49-F238E27FC236}">
                <a16:creationId xmlns:a16="http://schemas.microsoft.com/office/drawing/2014/main" id="{0DBE048B-6EB9-E2B5-1CBF-2F7F3952C46F}"/>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8B741C51-0603-7712-2CB2-93D980958C20}"/>
              </a:ext>
            </a:extLst>
          </p:cNvPr>
          <p:cNvSpPr>
            <a:spLocks noGrp="1"/>
          </p:cNvSpPr>
          <p:nvPr>
            <p:ph type="ftr" sz="quarter" idx="11"/>
          </p:nvPr>
        </p:nvSpPr>
        <p:spPr/>
        <p:txBody>
          <a:bodyPr/>
          <a:lstStyle/>
          <a:p>
            <a:r>
              <a:rPr lang="en-US" altLang="zh-CN"/>
              <a:t>ICS hw2</a:t>
            </a:r>
            <a:endParaRPr lang="zh-CN" altLang="en-US"/>
          </a:p>
        </p:txBody>
      </p:sp>
      <p:sp>
        <p:nvSpPr>
          <p:cNvPr id="10" name="灯片编号占位符 9">
            <a:extLst>
              <a:ext uri="{FF2B5EF4-FFF2-40B4-BE49-F238E27FC236}">
                <a16:creationId xmlns:a16="http://schemas.microsoft.com/office/drawing/2014/main" id="{ECE9FFAD-743F-122C-C3B2-D9E4DC3C755E}"/>
              </a:ext>
            </a:extLst>
          </p:cNvPr>
          <p:cNvSpPr>
            <a:spLocks noGrp="1"/>
          </p:cNvSpPr>
          <p:nvPr>
            <p:ph type="sldNum" sz="quarter" idx="12"/>
          </p:nvPr>
        </p:nvSpPr>
        <p:spPr/>
        <p:txBody>
          <a:bodyPr/>
          <a:lstStyle/>
          <a:p>
            <a:fld id="{8E7CE336-1728-4EBB-A96C-226A00BCBF9A}" type="slidenum">
              <a:rPr lang="zh-CN" altLang="en-US" smtClean="0"/>
              <a:t>15</a:t>
            </a:fld>
            <a:endParaRPr lang="zh-CN" altLang="en-US"/>
          </a:p>
        </p:txBody>
      </p:sp>
      <p:pic>
        <p:nvPicPr>
          <p:cNvPr id="5" name="图片 4">
            <a:extLst>
              <a:ext uri="{FF2B5EF4-FFF2-40B4-BE49-F238E27FC236}">
                <a16:creationId xmlns:a16="http://schemas.microsoft.com/office/drawing/2014/main" id="{5C73978A-140E-18E9-1F6D-F337CDE02668}"/>
              </a:ext>
            </a:extLst>
          </p:cNvPr>
          <p:cNvPicPr>
            <a:picLocks noChangeAspect="1"/>
          </p:cNvPicPr>
          <p:nvPr/>
        </p:nvPicPr>
        <p:blipFill>
          <a:blip r:embed="rId3"/>
          <a:stretch>
            <a:fillRect/>
          </a:stretch>
        </p:blipFill>
        <p:spPr>
          <a:xfrm>
            <a:off x="1241295" y="2034547"/>
            <a:ext cx="9709409" cy="3174409"/>
          </a:xfrm>
          <a:prstGeom prst="rect">
            <a:avLst/>
          </a:prstGeom>
        </p:spPr>
      </p:pic>
      <p:sp>
        <p:nvSpPr>
          <p:cNvPr id="6" name="矩形 5">
            <a:extLst>
              <a:ext uri="{FF2B5EF4-FFF2-40B4-BE49-F238E27FC236}">
                <a16:creationId xmlns:a16="http://schemas.microsoft.com/office/drawing/2014/main" id="{1AC1A3B1-CA0F-62E8-AF12-FC2554FBBF80}"/>
              </a:ext>
            </a:extLst>
          </p:cNvPr>
          <p:cNvSpPr/>
          <p:nvPr/>
        </p:nvSpPr>
        <p:spPr>
          <a:xfrm>
            <a:off x="2955851" y="2842437"/>
            <a:ext cx="1190847" cy="1403498"/>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A8C9C35B-2BE9-40C9-BFC8-4478FA81712D}"/>
              </a:ext>
            </a:extLst>
          </p:cNvPr>
          <p:cNvSpPr/>
          <p:nvPr/>
        </p:nvSpPr>
        <p:spPr>
          <a:xfrm>
            <a:off x="5600366" y="2847067"/>
            <a:ext cx="1190847" cy="1403498"/>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E88DA83-92BB-09BF-6F26-8159AD162286}"/>
              </a:ext>
            </a:extLst>
          </p:cNvPr>
          <p:cNvSpPr/>
          <p:nvPr/>
        </p:nvSpPr>
        <p:spPr>
          <a:xfrm>
            <a:off x="8386495" y="2847067"/>
            <a:ext cx="1190847" cy="1403498"/>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右 11">
            <a:extLst>
              <a:ext uri="{FF2B5EF4-FFF2-40B4-BE49-F238E27FC236}">
                <a16:creationId xmlns:a16="http://schemas.microsoft.com/office/drawing/2014/main" id="{EFD068D4-C9A9-B45B-177B-2A9180EC9448}"/>
              </a:ext>
            </a:extLst>
          </p:cNvPr>
          <p:cNvSpPr/>
          <p:nvPr/>
        </p:nvSpPr>
        <p:spPr>
          <a:xfrm>
            <a:off x="2611633" y="3508917"/>
            <a:ext cx="408878" cy="196620"/>
          </a:xfrm>
          <a:prstGeom prst="rightArrow">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右 12">
            <a:extLst>
              <a:ext uri="{FF2B5EF4-FFF2-40B4-BE49-F238E27FC236}">
                <a16:creationId xmlns:a16="http://schemas.microsoft.com/office/drawing/2014/main" id="{579498E8-DA7A-5A70-3902-DDB314DE784A}"/>
              </a:ext>
            </a:extLst>
          </p:cNvPr>
          <p:cNvSpPr/>
          <p:nvPr/>
        </p:nvSpPr>
        <p:spPr>
          <a:xfrm>
            <a:off x="5215097" y="3508681"/>
            <a:ext cx="408878" cy="196620"/>
          </a:xfrm>
          <a:prstGeom prst="rightArrow">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右 13">
            <a:extLst>
              <a:ext uri="{FF2B5EF4-FFF2-40B4-BE49-F238E27FC236}">
                <a16:creationId xmlns:a16="http://schemas.microsoft.com/office/drawing/2014/main" id="{15F4AD5A-2ED6-ABA4-6E7F-1158DDB21905}"/>
              </a:ext>
            </a:extLst>
          </p:cNvPr>
          <p:cNvSpPr/>
          <p:nvPr/>
        </p:nvSpPr>
        <p:spPr>
          <a:xfrm>
            <a:off x="8005059" y="3508917"/>
            <a:ext cx="408878" cy="196620"/>
          </a:xfrm>
          <a:prstGeom prst="rightArrow">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56346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D4103-D329-89FB-FBD9-4619AD58340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DD04954-C4BB-69E2-E694-99BF755EFD80}"/>
              </a:ext>
            </a:extLst>
          </p:cNvPr>
          <p:cNvSpPr>
            <a:spLocks noGrp="1"/>
          </p:cNvSpPr>
          <p:nvPr>
            <p:ph type="title"/>
          </p:nvPr>
        </p:nvSpPr>
        <p:spPr/>
        <p:txBody>
          <a:bodyPr/>
          <a:lstStyle/>
          <a:p>
            <a:r>
              <a:rPr lang="en-US" altLang="zh-CN" dirty="0">
                <a:latin typeface="Ink Free" panose="03080402000500000000" pitchFamily="66" charset="0"/>
              </a:rPr>
              <a:t>T9</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583235A9-B67B-EBC7-CD63-9DDA3342C515}"/>
              </a:ext>
            </a:extLst>
          </p:cNvPr>
          <p:cNvSpPr>
            <a:spLocks noGrp="1"/>
          </p:cNvSpPr>
          <p:nvPr>
            <p:ph idx="1"/>
          </p:nvPr>
        </p:nvSpPr>
        <p:spPr>
          <a:xfrm>
            <a:off x="838200" y="1552365"/>
            <a:ext cx="10515600" cy="2789136"/>
          </a:xfrm>
        </p:spPr>
        <p:txBody>
          <a:bodyPr>
            <a:normAutofit/>
          </a:bodyPr>
          <a:lstStyle/>
          <a:p>
            <a:r>
              <a:rPr lang="en-US" altLang="zh-CN" sz="2400" dirty="0"/>
              <a:t>CLK=0</a:t>
            </a:r>
            <a:r>
              <a:rPr lang="zh-CN" altLang="en-US" sz="2400" dirty="0"/>
              <a:t>（周期末）</a:t>
            </a:r>
            <a:endParaRPr lang="en-US" altLang="zh-CN" sz="2400" dirty="0"/>
          </a:p>
        </p:txBody>
      </p:sp>
      <p:sp>
        <p:nvSpPr>
          <p:cNvPr id="8" name="日期占位符 7">
            <a:extLst>
              <a:ext uri="{FF2B5EF4-FFF2-40B4-BE49-F238E27FC236}">
                <a16:creationId xmlns:a16="http://schemas.microsoft.com/office/drawing/2014/main" id="{4C29EA63-5A7F-A622-70A4-8B1EA884F479}"/>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744605FA-765D-1683-8ECC-6E5D83A44B45}"/>
              </a:ext>
            </a:extLst>
          </p:cNvPr>
          <p:cNvSpPr>
            <a:spLocks noGrp="1"/>
          </p:cNvSpPr>
          <p:nvPr>
            <p:ph type="ftr" sz="quarter" idx="11"/>
          </p:nvPr>
        </p:nvSpPr>
        <p:spPr/>
        <p:txBody>
          <a:bodyPr/>
          <a:lstStyle/>
          <a:p>
            <a:r>
              <a:rPr lang="en-US" altLang="zh-CN"/>
              <a:t>ICS hw2</a:t>
            </a:r>
            <a:endParaRPr lang="zh-CN" altLang="en-US"/>
          </a:p>
        </p:txBody>
      </p:sp>
      <p:sp>
        <p:nvSpPr>
          <p:cNvPr id="10" name="灯片编号占位符 9">
            <a:extLst>
              <a:ext uri="{FF2B5EF4-FFF2-40B4-BE49-F238E27FC236}">
                <a16:creationId xmlns:a16="http://schemas.microsoft.com/office/drawing/2014/main" id="{CFA404EC-C25C-F147-0B5E-8773451F9902}"/>
              </a:ext>
            </a:extLst>
          </p:cNvPr>
          <p:cNvSpPr>
            <a:spLocks noGrp="1"/>
          </p:cNvSpPr>
          <p:nvPr>
            <p:ph type="sldNum" sz="quarter" idx="12"/>
          </p:nvPr>
        </p:nvSpPr>
        <p:spPr/>
        <p:txBody>
          <a:bodyPr/>
          <a:lstStyle/>
          <a:p>
            <a:fld id="{8E7CE336-1728-4EBB-A96C-226A00BCBF9A}" type="slidenum">
              <a:rPr lang="zh-CN" altLang="en-US" smtClean="0"/>
              <a:t>16</a:t>
            </a:fld>
            <a:endParaRPr lang="zh-CN" altLang="en-US"/>
          </a:p>
        </p:txBody>
      </p:sp>
      <p:pic>
        <p:nvPicPr>
          <p:cNvPr id="5" name="图片 4">
            <a:extLst>
              <a:ext uri="{FF2B5EF4-FFF2-40B4-BE49-F238E27FC236}">
                <a16:creationId xmlns:a16="http://schemas.microsoft.com/office/drawing/2014/main" id="{BC10F26C-1082-6C95-A213-EFD6F7CBE579}"/>
              </a:ext>
            </a:extLst>
          </p:cNvPr>
          <p:cNvPicPr>
            <a:picLocks noChangeAspect="1"/>
          </p:cNvPicPr>
          <p:nvPr/>
        </p:nvPicPr>
        <p:blipFill>
          <a:blip r:embed="rId3"/>
          <a:stretch>
            <a:fillRect/>
          </a:stretch>
        </p:blipFill>
        <p:spPr>
          <a:xfrm>
            <a:off x="1241295" y="2034547"/>
            <a:ext cx="9709409" cy="3174409"/>
          </a:xfrm>
          <a:prstGeom prst="rect">
            <a:avLst/>
          </a:prstGeom>
        </p:spPr>
      </p:pic>
      <p:sp>
        <p:nvSpPr>
          <p:cNvPr id="6" name="矩形 5">
            <a:extLst>
              <a:ext uri="{FF2B5EF4-FFF2-40B4-BE49-F238E27FC236}">
                <a16:creationId xmlns:a16="http://schemas.microsoft.com/office/drawing/2014/main" id="{7E41EBE9-6FAB-C0A0-F69B-9AB341C5F935}"/>
              </a:ext>
            </a:extLst>
          </p:cNvPr>
          <p:cNvSpPr/>
          <p:nvPr/>
        </p:nvSpPr>
        <p:spPr>
          <a:xfrm>
            <a:off x="4259434" y="2803006"/>
            <a:ext cx="1190847" cy="1403498"/>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D5C7CBBC-0314-008E-7987-C8F7C12AF8E9}"/>
              </a:ext>
            </a:extLst>
          </p:cNvPr>
          <p:cNvSpPr/>
          <p:nvPr/>
        </p:nvSpPr>
        <p:spPr>
          <a:xfrm>
            <a:off x="7027751" y="2803006"/>
            <a:ext cx="1190847" cy="1403498"/>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7C6B9DDB-A6BC-E5D6-EC4C-DF90CFDE13FD}"/>
              </a:ext>
            </a:extLst>
          </p:cNvPr>
          <p:cNvSpPr/>
          <p:nvPr/>
        </p:nvSpPr>
        <p:spPr>
          <a:xfrm>
            <a:off x="1598182" y="2803006"/>
            <a:ext cx="1190847" cy="1403498"/>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右 11">
            <a:extLst>
              <a:ext uri="{FF2B5EF4-FFF2-40B4-BE49-F238E27FC236}">
                <a16:creationId xmlns:a16="http://schemas.microsoft.com/office/drawing/2014/main" id="{7C978A36-4FD2-8A16-96DB-98DFAF045AED}"/>
              </a:ext>
            </a:extLst>
          </p:cNvPr>
          <p:cNvSpPr/>
          <p:nvPr/>
        </p:nvSpPr>
        <p:spPr>
          <a:xfrm>
            <a:off x="3915216" y="3469486"/>
            <a:ext cx="408878" cy="196620"/>
          </a:xfrm>
          <a:prstGeom prst="rightArrow">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右 12">
            <a:extLst>
              <a:ext uri="{FF2B5EF4-FFF2-40B4-BE49-F238E27FC236}">
                <a16:creationId xmlns:a16="http://schemas.microsoft.com/office/drawing/2014/main" id="{F6A7AE7A-F3FD-6131-6C35-26F5737AF94D}"/>
              </a:ext>
            </a:extLst>
          </p:cNvPr>
          <p:cNvSpPr/>
          <p:nvPr/>
        </p:nvSpPr>
        <p:spPr>
          <a:xfrm>
            <a:off x="6642482" y="3464620"/>
            <a:ext cx="408878" cy="196620"/>
          </a:xfrm>
          <a:prstGeom prst="rightArrow">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右 13">
            <a:extLst>
              <a:ext uri="{FF2B5EF4-FFF2-40B4-BE49-F238E27FC236}">
                <a16:creationId xmlns:a16="http://schemas.microsoft.com/office/drawing/2014/main" id="{91B2CE86-0140-0936-775B-DBE6846DB29D}"/>
              </a:ext>
            </a:extLst>
          </p:cNvPr>
          <p:cNvSpPr/>
          <p:nvPr/>
        </p:nvSpPr>
        <p:spPr>
          <a:xfrm>
            <a:off x="1216746" y="3464856"/>
            <a:ext cx="408878" cy="196620"/>
          </a:xfrm>
          <a:prstGeom prst="rightArrow">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42549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92BFE-7A2C-17F6-DE22-C5266066CE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25C972F-FC2E-7ED4-E36C-2019181DB36C}"/>
              </a:ext>
            </a:extLst>
          </p:cNvPr>
          <p:cNvSpPr>
            <a:spLocks noGrp="1"/>
          </p:cNvSpPr>
          <p:nvPr>
            <p:ph type="title"/>
          </p:nvPr>
        </p:nvSpPr>
        <p:spPr/>
        <p:txBody>
          <a:bodyPr/>
          <a:lstStyle/>
          <a:p>
            <a:r>
              <a:rPr lang="en-US" altLang="zh-CN" dirty="0">
                <a:latin typeface="Ink Free" panose="03080402000500000000" pitchFamily="66" charset="0"/>
              </a:rPr>
              <a:t>T9</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482CEC21-F134-F22C-B9FA-60039A2BA0FC}"/>
              </a:ext>
            </a:extLst>
          </p:cNvPr>
          <p:cNvSpPr>
            <a:spLocks noGrp="1"/>
          </p:cNvSpPr>
          <p:nvPr>
            <p:ph idx="1"/>
          </p:nvPr>
        </p:nvSpPr>
        <p:spPr>
          <a:xfrm>
            <a:off x="838200" y="1453129"/>
            <a:ext cx="10515600" cy="4699578"/>
          </a:xfrm>
        </p:spPr>
        <p:txBody>
          <a:bodyPr>
            <a:normAutofit/>
          </a:bodyPr>
          <a:lstStyle/>
          <a:p>
            <a:r>
              <a:rPr lang="zh-CN" altLang="en-US" sz="2400" dirty="0"/>
              <a:t>周期始</a:t>
            </a:r>
            <a:r>
              <a:rPr lang="en-US" altLang="zh-CN" sz="2400" dirty="0"/>
              <a:t>000000 </a:t>
            </a:r>
            <a:r>
              <a:rPr lang="zh-CN" altLang="en-US" sz="2400" dirty="0"/>
              <a:t>周期终</a:t>
            </a:r>
            <a:r>
              <a:rPr lang="en-US" altLang="zh-CN" sz="2400" dirty="0"/>
              <a:t>100000</a:t>
            </a:r>
          </a:p>
          <a:p>
            <a:r>
              <a:rPr lang="zh-CN" altLang="en-US" sz="2400" dirty="0"/>
              <a:t>周期始</a:t>
            </a:r>
            <a:r>
              <a:rPr lang="en-US" altLang="zh-CN" sz="2400" dirty="0"/>
              <a:t>110000 </a:t>
            </a:r>
            <a:r>
              <a:rPr lang="zh-CN" altLang="en-US" sz="2400" dirty="0"/>
              <a:t>周期终</a:t>
            </a:r>
            <a:r>
              <a:rPr lang="en-US" altLang="zh-CN" sz="2400" dirty="0"/>
              <a:t>111000</a:t>
            </a:r>
          </a:p>
          <a:p>
            <a:r>
              <a:rPr lang="zh-CN" altLang="en-US" sz="2400" dirty="0"/>
              <a:t>周期始</a:t>
            </a:r>
            <a:r>
              <a:rPr lang="en-US" altLang="zh-CN" sz="2400" dirty="0"/>
              <a:t>111100 </a:t>
            </a:r>
            <a:r>
              <a:rPr lang="zh-CN" altLang="en-US" sz="2400" dirty="0"/>
              <a:t>周期终</a:t>
            </a:r>
            <a:r>
              <a:rPr lang="en-US" altLang="zh-CN" sz="2400" dirty="0"/>
              <a:t>111110</a:t>
            </a:r>
          </a:p>
          <a:p>
            <a:r>
              <a:rPr lang="zh-CN" altLang="en-US" sz="2400" dirty="0"/>
              <a:t>周期始</a:t>
            </a:r>
            <a:r>
              <a:rPr lang="en-US" altLang="zh-CN" sz="2400" dirty="0"/>
              <a:t>111111 </a:t>
            </a:r>
            <a:r>
              <a:rPr lang="zh-CN" altLang="en-US" sz="2400" dirty="0"/>
              <a:t>周期终</a:t>
            </a:r>
            <a:r>
              <a:rPr lang="en-US" altLang="zh-CN" sz="2400" dirty="0"/>
              <a:t>011111</a:t>
            </a:r>
          </a:p>
          <a:p>
            <a:r>
              <a:rPr lang="zh-CN" altLang="en-US" sz="2400" dirty="0"/>
              <a:t>周期始</a:t>
            </a:r>
            <a:r>
              <a:rPr lang="en-US" altLang="zh-CN" sz="2400" dirty="0"/>
              <a:t>001111 </a:t>
            </a:r>
            <a:r>
              <a:rPr lang="zh-CN" altLang="en-US" sz="2400" dirty="0"/>
              <a:t>周期终</a:t>
            </a:r>
            <a:r>
              <a:rPr lang="en-US" altLang="zh-CN" sz="2400" dirty="0"/>
              <a:t>000111</a:t>
            </a:r>
          </a:p>
          <a:p>
            <a:r>
              <a:rPr lang="zh-CN" altLang="en-US" sz="2400" dirty="0"/>
              <a:t>周期始</a:t>
            </a:r>
            <a:r>
              <a:rPr lang="en-US" altLang="zh-CN" sz="2400" dirty="0"/>
              <a:t>000011 </a:t>
            </a:r>
            <a:r>
              <a:rPr lang="zh-CN" altLang="en-US" sz="2400" dirty="0"/>
              <a:t>周期终</a:t>
            </a:r>
            <a:r>
              <a:rPr lang="en-US" altLang="zh-CN" sz="2400" dirty="0"/>
              <a:t>000001</a:t>
            </a:r>
          </a:p>
          <a:p>
            <a:r>
              <a:rPr lang="zh-CN" altLang="en-US" sz="2400" dirty="0"/>
              <a:t>周期始</a:t>
            </a:r>
            <a:r>
              <a:rPr lang="en-US" altLang="zh-CN" sz="2400" dirty="0"/>
              <a:t>000000 …</a:t>
            </a:r>
          </a:p>
          <a:p>
            <a:r>
              <a:rPr lang="en-US" altLang="zh-CN" sz="2400" dirty="0"/>
              <a:t>After77cycles</a:t>
            </a:r>
            <a:r>
              <a:rPr lang="zh-CN" altLang="en-US" sz="2400" dirty="0"/>
              <a:t>：经过</a:t>
            </a:r>
            <a:r>
              <a:rPr lang="en-US" altLang="zh-CN" sz="2400" dirty="0"/>
              <a:t>77</a:t>
            </a:r>
            <a:r>
              <a:rPr lang="zh-CN" altLang="en-US" sz="2400" dirty="0"/>
              <a:t>个周期后的周期始 而</a:t>
            </a:r>
            <a:r>
              <a:rPr lang="en-US" altLang="zh-CN" sz="2400" dirty="0"/>
              <a:t>77=6*9+5 </a:t>
            </a:r>
            <a:r>
              <a:rPr lang="zh-CN" altLang="en-US" sz="2400" dirty="0"/>
              <a:t>故第</a:t>
            </a:r>
            <a:r>
              <a:rPr lang="en-US" altLang="zh-CN" sz="2400" dirty="0"/>
              <a:t>1</a:t>
            </a:r>
            <a:r>
              <a:rPr lang="zh-CN" altLang="en-US" sz="2400" dirty="0"/>
              <a:t>问应为</a:t>
            </a:r>
            <a:r>
              <a:rPr lang="en-US" altLang="zh-CN" sz="2400" dirty="0"/>
              <a:t>000011</a:t>
            </a:r>
          </a:p>
          <a:p>
            <a:endParaRPr lang="en-US" altLang="zh-CN" sz="2400" dirty="0"/>
          </a:p>
        </p:txBody>
      </p:sp>
      <p:sp>
        <p:nvSpPr>
          <p:cNvPr id="8" name="日期占位符 7">
            <a:extLst>
              <a:ext uri="{FF2B5EF4-FFF2-40B4-BE49-F238E27FC236}">
                <a16:creationId xmlns:a16="http://schemas.microsoft.com/office/drawing/2014/main" id="{E4C1B5F1-4742-B9E4-6A75-B935C3E5CC13}"/>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AFC9A3B0-556C-4C09-EB3F-9722A89C770A}"/>
              </a:ext>
            </a:extLst>
          </p:cNvPr>
          <p:cNvSpPr>
            <a:spLocks noGrp="1"/>
          </p:cNvSpPr>
          <p:nvPr>
            <p:ph type="ftr" sz="quarter" idx="11"/>
          </p:nvPr>
        </p:nvSpPr>
        <p:spPr/>
        <p:txBody>
          <a:bodyPr/>
          <a:lstStyle/>
          <a:p>
            <a:r>
              <a:rPr lang="en-US" altLang="zh-CN" dirty="0"/>
              <a:t>ICS hw2</a:t>
            </a:r>
            <a:endParaRPr lang="zh-CN" altLang="en-US" dirty="0"/>
          </a:p>
        </p:txBody>
      </p:sp>
      <p:sp>
        <p:nvSpPr>
          <p:cNvPr id="10" name="灯片编号占位符 9">
            <a:extLst>
              <a:ext uri="{FF2B5EF4-FFF2-40B4-BE49-F238E27FC236}">
                <a16:creationId xmlns:a16="http://schemas.microsoft.com/office/drawing/2014/main" id="{4E17C97D-5E36-EF81-F2C2-56490FA44DAB}"/>
              </a:ext>
            </a:extLst>
          </p:cNvPr>
          <p:cNvSpPr>
            <a:spLocks noGrp="1"/>
          </p:cNvSpPr>
          <p:nvPr>
            <p:ph type="sldNum" sz="quarter" idx="12"/>
          </p:nvPr>
        </p:nvSpPr>
        <p:spPr/>
        <p:txBody>
          <a:bodyPr/>
          <a:lstStyle/>
          <a:p>
            <a:fld id="{8E7CE336-1728-4EBB-A96C-226A00BCBF9A}" type="slidenum">
              <a:rPr lang="zh-CN" altLang="en-US" smtClean="0"/>
              <a:t>17</a:t>
            </a:fld>
            <a:endParaRPr lang="zh-CN" altLang="en-US" dirty="0"/>
          </a:p>
        </p:txBody>
      </p:sp>
    </p:spTree>
    <p:extLst>
      <p:ext uri="{BB962C8B-B14F-4D97-AF65-F5344CB8AC3E}">
        <p14:creationId xmlns:p14="http://schemas.microsoft.com/office/powerpoint/2010/main" val="3396133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17992-C1F2-C52F-45CF-4B276206194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D0E2F7F-3C6C-39D1-8E31-07F65D9CE2D4}"/>
              </a:ext>
            </a:extLst>
          </p:cNvPr>
          <p:cNvSpPr>
            <a:spLocks noGrp="1"/>
          </p:cNvSpPr>
          <p:nvPr>
            <p:ph type="title"/>
          </p:nvPr>
        </p:nvSpPr>
        <p:spPr/>
        <p:txBody>
          <a:bodyPr/>
          <a:lstStyle/>
          <a:p>
            <a:r>
              <a:rPr lang="en-US" altLang="zh-CN" dirty="0">
                <a:latin typeface="Ink Free" panose="03080402000500000000" pitchFamily="66" charset="0"/>
              </a:rPr>
              <a:t>T10</a:t>
            </a:r>
            <a:endParaRPr lang="zh-CN" altLang="en-US" dirty="0">
              <a:latin typeface="Ink Free" panose="03080402000500000000" pitchFamily="66" charset="0"/>
            </a:endParaRPr>
          </a:p>
        </p:txBody>
      </p:sp>
      <p:sp>
        <p:nvSpPr>
          <p:cNvPr id="8" name="日期占位符 7">
            <a:extLst>
              <a:ext uri="{FF2B5EF4-FFF2-40B4-BE49-F238E27FC236}">
                <a16:creationId xmlns:a16="http://schemas.microsoft.com/office/drawing/2014/main" id="{0F34742F-92CC-4744-9EEC-EE70B0181BC8}"/>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39FD549C-5D22-5378-A7D4-819390EE91D6}"/>
              </a:ext>
            </a:extLst>
          </p:cNvPr>
          <p:cNvSpPr>
            <a:spLocks noGrp="1"/>
          </p:cNvSpPr>
          <p:nvPr>
            <p:ph type="ftr" sz="quarter" idx="11"/>
          </p:nvPr>
        </p:nvSpPr>
        <p:spPr/>
        <p:txBody>
          <a:bodyPr/>
          <a:lstStyle/>
          <a:p>
            <a:r>
              <a:rPr lang="en-US" altLang="zh-CN" dirty="0"/>
              <a:t>ICS hw2</a:t>
            </a:r>
            <a:endParaRPr lang="zh-CN" altLang="en-US" dirty="0"/>
          </a:p>
        </p:txBody>
      </p:sp>
      <p:sp>
        <p:nvSpPr>
          <p:cNvPr id="10" name="灯片编号占位符 9">
            <a:extLst>
              <a:ext uri="{FF2B5EF4-FFF2-40B4-BE49-F238E27FC236}">
                <a16:creationId xmlns:a16="http://schemas.microsoft.com/office/drawing/2014/main" id="{12D73090-77F7-B353-0809-B5F421C9318A}"/>
              </a:ext>
            </a:extLst>
          </p:cNvPr>
          <p:cNvSpPr>
            <a:spLocks noGrp="1"/>
          </p:cNvSpPr>
          <p:nvPr>
            <p:ph type="sldNum" sz="quarter" idx="12"/>
          </p:nvPr>
        </p:nvSpPr>
        <p:spPr/>
        <p:txBody>
          <a:bodyPr/>
          <a:lstStyle/>
          <a:p>
            <a:fld id="{8E7CE336-1728-4EBB-A96C-226A00BCBF9A}" type="slidenum">
              <a:rPr lang="zh-CN" altLang="en-US" smtClean="0"/>
              <a:t>18</a:t>
            </a:fld>
            <a:endParaRPr lang="zh-CN" altLang="en-US" dirty="0"/>
          </a:p>
        </p:txBody>
      </p:sp>
      <p:sp>
        <p:nvSpPr>
          <p:cNvPr id="7" name="内容占位符 6">
            <a:extLst>
              <a:ext uri="{FF2B5EF4-FFF2-40B4-BE49-F238E27FC236}">
                <a16:creationId xmlns:a16="http://schemas.microsoft.com/office/drawing/2014/main" id="{6D434D05-C034-499C-CFEC-0B25407B6782}"/>
              </a:ext>
            </a:extLst>
          </p:cNvPr>
          <p:cNvSpPr>
            <a:spLocks noGrp="1"/>
          </p:cNvSpPr>
          <p:nvPr>
            <p:ph idx="1"/>
          </p:nvPr>
        </p:nvSpPr>
        <p:spPr>
          <a:xfrm>
            <a:off x="267628" y="1427358"/>
            <a:ext cx="6043961" cy="4823948"/>
          </a:xfrm>
        </p:spPr>
        <p:txBody>
          <a:bodyPr>
            <a:normAutofit lnSpcReduction="10000"/>
          </a:bodyPr>
          <a:lstStyle/>
          <a:p>
            <a:r>
              <a:rPr lang="en-US" altLang="zh-CN" dirty="0"/>
              <a:t>A certain vending machine only sells one type of beverage, priced at 8 yuan. </a:t>
            </a:r>
          </a:p>
          <a:p>
            <a:r>
              <a:rPr lang="en-US" altLang="zh-CN" dirty="0"/>
              <a:t>The machine only accepts two types of coins: 1 yuan, 5 yuan. When the total amount of coins inserted reaches or exceeds 8 yuan, the goods will be automatically dispatched. </a:t>
            </a:r>
          </a:p>
          <a:p>
            <a:r>
              <a:rPr lang="en-US" altLang="zh-CN" dirty="0"/>
              <a:t>Please design a finite state Machine (FSM) to describe the state transition process of the remaining amount in this vending machine.</a:t>
            </a:r>
            <a:endParaRPr lang="zh-CN" altLang="en-US" dirty="0"/>
          </a:p>
        </p:txBody>
      </p:sp>
      <p:pic>
        <p:nvPicPr>
          <p:cNvPr id="14" name="图片 13">
            <a:extLst>
              <a:ext uri="{FF2B5EF4-FFF2-40B4-BE49-F238E27FC236}">
                <a16:creationId xmlns:a16="http://schemas.microsoft.com/office/drawing/2014/main" id="{0C21AB36-A2C8-43FB-F5E1-37DA1357D916}"/>
              </a:ext>
            </a:extLst>
          </p:cNvPr>
          <p:cNvPicPr>
            <a:picLocks noChangeAspect="1"/>
          </p:cNvPicPr>
          <p:nvPr/>
        </p:nvPicPr>
        <p:blipFill>
          <a:blip r:embed="rId3"/>
          <a:stretch>
            <a:fillRect/>
          </a:stretch>
        </p:blipFill>
        <p:spPr>
          <a:xfrm>
            <a:off x="6505835" y="1439872"/>
            <a:ext cx="5418537" cy="3978255"/>
          </a:xfrm>
          <a:prstGeom prst="rect">
            <a:avLst/>
          </a:prstGeom>
        </p:spPr>
      </p:pic>
    </p:spTree>
    <p:extLst>
      <p:ext uri="{BB962C8B-B14F-4D97-AF65-F5344CB8AC3E}">
        <p14:creationId xmlns:p14="http://schemas.microsoft.com/office/powerpoint/2010/main" val="2815318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562D4-0D16-4E5A-EA96-216C85ED4A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DAEC59B-79CF-81A2-D216-329A47D6A3CF}"/>
              </a:ext>
            </a:extLst>
          </p:cNvPr>
          <p:cNvSpPr>
            <a:spLocks noGrp="1"/>
          </p:cNvSpPr>
          <p:nvPr>
            <p:ph type="title"/>
          </p:nvPr>
        </p:nvSpPr>
        <p:spPr/>
        <p:txBody>
          <a:bodyPr/>
          <a:lstStyle/>
          <a:p>
            <a:r>
              <a:rPr lang="en-US" altLang="zh-CN" dirty="0">
                <a:latin typeface="Ink Free" panose="03080402000500000000" pitchFamily="66" charset="0"/>
              </a:rPr>
              <a:t>T11</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2B3C9644-B437-18D3-71B4-F67AA3481EDD}"/>
              </a:ext>
            </a:extLst>
          </p:cNvPr>
          <p:cNvSpPr>
            <a:spLocks noGrp="1"/>
          </p:cNvSpPr>
          <p:nvPr>
            <p:ph idx="1"/>
          </p:nvPr>
        </p:nvSpPr>
        <p:spPr>
          <a:xfrm>
            <a:off x="838200" y="1453129"/>
            <a:ext cx="10515600" cy="4699578"/>
          </a:xfrm>
        </p:spPr>
        <p:txBody>
          <a:bodyPr>
            <a:normAutofit/>
          </a:bodyPr>
          <a:lstStyle/>
          <a:p>
            <a:r>
              <a:rPr lang="en-US" altLang="zh-CN" sz="2400" dirty="0"/>
              <a:t>There are eight bottles of wine on the table, and one of them has been poisoned. There are now four mice available for poison testing. The poison takes effect very quickly - as long as it is drunk, the mouse will die that very night.</a:t>
            </a:r>
          </a:p>
          <a:p>
            <a:r>
              <a:rPr lang="en-US" altLang="zh-CN" sz="2400" dirty="0"/>
              <a:t> 1. Please design a strategy to determine which bottle of wine is poisonous based on the death situation of the mice. </a:t>
            </a:r>
          </a:p>
          <a:p>
            <a:r>
              <a:rPr lang="en-US" altLang="zh-CN" sz="2400" dirty="0"/>
              <a:t>2. In your strategy, the maximum number of bottles of wine that four mice can detect is that one is poisonous. </a:t>
            </a:r>
          </a:p>
          <a:p>
            <a:r>
              <a:rPr lang="en-US" altLang="zh-CN" sz="2400" dirty="0"/>
              <a:t>3. How many mice do you expect to die in your strategy? Could you modify the strategy to reduce the expected number of dead mice even more?</a:t>
            </a:r>
          </a:p>
          <a:p>
            <a:r>
              <a:rPr lang="zh-CN" altLang="en-US" sz="3200" b="1" dirty="0">
                <a:solidFill>
                  <a:srgbClr val="FF0000"/>
                </a:solidFill>
              </a:rPr>
              <a:t>二进制编码</a:t>
            </a:r>
            <a:endParaRPr lang="en-US" altLang="zh-CN" sz="3200" b="1" dirty="0">
              <a:solidFill>
                <a:srgbClr val="FF0000"/>
              </a:solidFill>
            </a:endParaRPr>
          </a:p>
        </p:txBody>
      </p:sp>
      <p:sp>
        <p:nvSpPr>
          <p:cNvPr id="8" name="日期占位符 7">
            <a:extLst>
              <a:ext uri="{FF2B5EF4-FFF2-40B4-BE49-F238E27FC236}">
                <a16:creationId xmlns:a16="http://schemas.microsoft.com/office/drawing/2014/main" id="{8D87B46B-8941-F5DD-0D18-688166CD3C7D}"/>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27C404B0-3F9D-F7BE-62B4-B807F4D12B78}"/>
              </a:ext>
            </a:extLst>
          </p:cNvPr>
          <p:cNvSpPr>
            <a:spLocks noGrp="1"/>
          </p:cNvSpPr>
          <p:nvPr>
            <p:ph type="ftr" sz="quarter" idx="11"/>
          </p:nvPr>
        </p:nvSpPr>
        <p:spPr/>
        <p:txBody>
          <a:bodyPr/>
          <a:lstStyle/>
          <a:p>
            <a:r>
              <a:rPr lang="en-US" altLang="zh-CN" dirty="0"/>
              <a:t>ICS hw2</a:t>
            </a:r>
            <a:endParaRPr lang="zh-CN" altLang="en-US" dirty="0"/>
          </a:p>
        </p:txBody>
      </p:sp>
      <p:sp>
        <p:nvSpPr>
          <p:cNvPr id="10" name="灯片编号占位符 9">
            <a:extLst>
              <a:ext uri="{FF2B5EF4-FFF2-40B4-BE49-F238E27FC236}">
                <a16:creationId xmlns:a16="http://schemas.microsoft.com/office/drawing/2014/main" id="{FC9438C0-1A5F-BADD-4B1A-EA5D121200AD}"/>
              </a:ext>
            </a:extLst>
          </p:cNvPr>
          <p:cNvSpPr>
            <a:spLocks noGrp="1"/>
          </p:cNvSpPr>
          <p:nvPr>
            <p:ph type="sldNum" sz="quarter" idx="12"/>
          </p:nvPr>
        </p:nvSpPr>
        <p:spPr/>
        <p:txBody>
          <a:bodyPr/>
          <a:lstStyle/>
          <a:p>
            <a:fld id="{8E7CE336-1728-4EBB-A96C-226A00BCBF9A}" type="slidenum">
              <a:rPr lang="zh-CN" altLang="en-US" smtClean="0"/>
              <a:t>19</a:t>
            </a:fld>
            <a:endParaRPr lang="zh-CN" altLang="en-US" dirty="0"/>
          </a:p>
        </p:txBody>
      </p:sp>
    </p:spTree>
    <p:extLst>
      <p:ext uri="{BB962C8B-B14F-4D97-AF65-F5344CB8AC3E}">
        <p14:creationId xmlns:p14="http://schemas.microsoft.com/office/powerpoint/2010/main" val="3616582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15883-F957-066E-6B0D-38E3AC3C95C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D2DA26-414B-9A7C-3988-4688C1BD3F0B}"/>
              </a:ext>
            </a:extLst>
          </p:cNvPr>
          <p:cNvSpPr>
            <a:spLocks noGrp="1"/>
          </p:cNvSpPr>
          <p:nvPr>
            <p:ph type="title"/>
          </p:nvPr>
        </p:nvSpPr>
        <p:spPr/>
        <p:txBody>
          <a:bodyPr/>
          <a:lstStyle/>
          <a:p>
            <a:r>
              <a:rPr lang="en-US" altLang="zh-CN" dirty="0">
                <a:latin typeface="Ink Free" panose="03080402000500000000" pitchFamily="66" charset="0"/>
              </a:rPr>
              <a:t>T11</a:t>
            </a:r>
            <a:endParaRPr lang="zh-CN" altLang="en-US" dirty="0">
              <a:latin typeface="Ink Free" panose="03080402000500000000" pitchFamily="66" charset="0"/>
            </a:endParaRPr>
          </a:p>
        </p:txBody>
      </p:sp>
      <p:sp>
        <p:nvSpPr>
          <p:cNvPr id="3" name="内容占位符 2">
            <a:extLst>
              <a:ext uri="{FF2B5EF4-FFF2-40B4-BE49-F238E27FC236}">
                <a16:creationId xmlns:a16="http://schemas.microsoft.com/office/drawing/2014/main" id="{DC53ED93-80BD-6DEB-0E01-23A32FD4BC66}"/>
              </a:ext>
            </a:extLst>
          </p:cNvPr>
          <p:cNvSpPr>
            <a:spLocks noGrp="1"/>
          </p:cNvSpPr>
          <p:nvPr>
            <p:ph idx="1"/>
          </p:nvPr>
        </p:nvSpPr>
        <p:spPr>
          <a:xfrm>
            <a:off x="838200" y="1453129"/>
            <a:ext cx="10515600" cy="4699578"/>
          </a:xfrm>
        </p:spPr>
        <p:txBody>
          <a:bodyPr>
            <a:normAutofit/>
          </a:bodyPr>
          <a:lstStyle/>
          <a:p>
            <a:r>
              <a:rPr lang="en-US" altLang="zh-CN" sz="3200" dirty="0"/>
              <a:t>Why?</a:t>
            </a:r>
          </a:p>
          <a:p>
            <a:r>
              <a:rPr lang="zh-CN" altLang="en-US" sz="2400" dirty="0"/>
              <a:t>两个思路：</a:t>
            </a:r>
            <a:r>
              <a:rPr lang="en-US" altLang="zh-CN" sz="2400" dirty="0"/>
              <a:t>1. </a:t>
            </a:r>
            <a:r>
              <a:rPr lang="zh-CN" altLang="en-US" sz="2400" dirty="0"/>
              <a:t>给每瓶酒独一无二的身份标识</a:t>
            </a:r>
            <a:endParaRPr lang="en-US" altLang="zh-CN" sz="2400" dirty="0"/>
          </a:p>
          <a:p>
            <a:pPr marL="0" indent="0">
              <a:buNone/>
            </a:pPr>
            <a:r>
              <a:rPr lang="en-US" altLang="zh-CN" sz="2400" dirty="0"/>
              <a:t>                     2. </a:t>
            </a:r>
            <a:r>
              <a:rPr lang="zh-CN" altLang="en-US" sz="2400" dirty="0"/>
              <a:t>不断缩小候选范围</a:t>
            </a:r>
            <a:endParaRPr lang="en-US" altLang="zh-CN" sz="2400" dirty="0"/>
          </a:p>
          <a:p>
            <a:r>
              <a:rPr lang="zh-CN" altLang="en-US" sz="2400" dirty="0"/>
              <a:t>结合起来：用小鼠的存活状态为</a:t>
            </a:r>
            <a:r>
              <a:rPr lang="en-US" altLang="zh-CN" sz="2400" dirty="0"/>
              <a:t>1bit</a:t>
            </a:r>
            <a:r>
              <a:rPr lang="zh-CN" altLang="en-US" sz="2400" dirty="0"/>
              <a:t>，给酒编码，得到唯一的毒酒</a:t>
            </a:r>
            <a:r>
              <a:rPr lang="en-US" altLang="zh-CN" sz="2400" dirty="0"/>
              <a:t>ID</a:t>
            </a:r>
          </a:p>
          <a:p>
            <a:endParaRPr lang="en-US" altLang="zh-CN" sz="2400" dirty="0">
              <a:solidFill>
                <a:srgbClr val="FF0000"/>
              </a:solidFill>
            </a:endParaRPr>
          </a:p>
        </p:txBody>
      </p:sp>
      <p:sp>
        <p:nvSpPr>
          <p:cNvPr id="8" name="日期占位符 7">
            <a:extLst>
              <a:ext uri="{FF2B5EF4-FFF2-40B4-BE49-F238E27FC236}">
                <a16:creationId xmlns:a16="http://schemas.microsoft.com/office/drawing/2014/main" id="{002FA1D3-215F-DCA0-1289-757BE9A79619}"/>
              </a:ext>
            </a:extLst>
          </p:cNvPr>
          <p:cNvSpPr>
            <a:spLocks noGrp="1"/>
          </p:cNvSpPr>
          <p:nvPr>
            <p:ph type="dt" sz="half" idx="10"/>
          </p:nvPr>
        </p:nvSpPr>
        <p:spPr/>
        <p:txBody>
          <a:bodyPr/>
          <a:lstStyle/>
          <a:p>
            <a:fld id="{75659402-7902-40F2-BEBC-03726C8F0182}" type="datetime1">
              <a:rPr lang="zh-CN" altLang="en-US" smtClean="0"/>
              <a:t>2025/10/29</a:t>
            </a:fld>
            <a:endParaRPr lang="zh-CN" altLang="en-US"/>
          </a:p>
        </p:txBody>
      </p:sp>
      <p:sp>
        <p:nvSpPr>
          <p:cNvPr id="9" name="页脚占位符 8">
            <a:extLst>
              <a:ext uri="{FF2B5EF4-FFF2-40B4-BE49-F238E27FC236}">
                <a16:creationId xmlns:a16="http://schemas.microsoft.com/office/drawing/2014/main" id="{BD2CC74D-2517-F5FE-867A-06CD6D08FD14}"/>
              </a:ext>
            </a:extLst>
          </p:cNvPr>
          <p:cNvSpPr>
            <a:spLocks noGrp="1"/>
          </p:cNvSpPr>
          <p:nvPr>
            <p:ph type="ftr" sz="quarter" idx="11"/>
          </p:nvPr>
        </p:nvSpPr>
        <p:spPr/>
        <p:txBody>
          <a:bodyPr/>
          <a:lstStyle/>
          <a:p>
            <a:r>
              <a:rPr lang="en-US" altLang="zh-CN" dirty="0"/>
              <a:t>ICS hw2</a:t>
            </a:r>
            <a:endParaRPr lang="zh-CN" altLang="en-US" dirty="0"/>
          </a:p>
        </p:txBody>
      </p:sp>
      <p:sp>
        <p:nvSpPr>
          <p:cNvPr id="10" name="灯片编号占位符 9">
            <a:extLst>
              <a:ext uri="{FF2B5EF4-FFF2-40B4-BE49-F238E27FC236}">
                <a16:creationId xmlns:a16="http://schemas.microsoft.com/office/drawing/2014/main" id="{019DF510-7329-503A-9257-A16B74B3CAF5}"/>
              </a:ext>
            </a:extLst>
          </p:cNvPr>
          <p:cNvSpPr>
            <a:spLocks noGrp="1"/>
          </p:cNvSpPr>
          <p:nvPr>
            <p:ph type="sldNum" sz="quarter" idx="12"/>
          </p:nvPr>
        </p:nvSpPr>
        <p:spPr/>
        <p:txBody>
          <a:bodyPr/>
          <a:lstStyle/>
          <a:p>
            <a:fld id="{8E7CE336-1728-4EBB-A96C-226A00BCBF9A}" type="slidenum">
              <a:rPr lang="zh-CN" altLang="en-US" smtClean="0"/>
              <a:t>20</a:t>
            </a:fld>
            <a:endParaRPr lang="zh-CN" altLang="en-US" dirty="0"/>
          </a:p>
        </p:txBody>
      </p:sp>
    </p:spTree>
    <p:extLst>
      <p:ext uri="{BB962C8B-B14F-4D97-AF65-F5344CB8AC3E}">
        <p14:creationId xmlns:p14="http://schemas.microsoft.com/office/powerpoint/2010/main" val="136698826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TotalTime>
  <Words>1267</Words>
  <Application>Microsoft Office PowerPoint</Application>
  <PresentationFormat>宽屏</PresentationFormat>
  <Paragraphs>195</Paragraphs>
  <Slides>20</Slides>
  <Notes>19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等线</vt:lpstr>
      <vt:lpstr>等线 Light</vt:lpstr>
      <vt:lpstr>楷体</vt:lpstr>
      <vt:lpstr>云峰寒蝉体</vt:lpstr>
      <vt:lpstr>Arial</vt:lpstr>
      <vt:lpstr>Cambria Math</vt:lpstr>
      <vt:lpstr>Ink Free</vt:lpstr>
      <vt:lpstr>Office 主题​​</vt:lpstr>
      <vt:lpstr>HW2</vt:lpstr>
      <vt:lpstr>T1</vt:lpstr>
      <vt:lpstr>T2</vt:lpstr>
      <vt:lpstr>T2</vt:lpstr>
      <vt:lpstr>T3</vt:lpstr>
      <vt:lpstr>T3</vt:lpstr>
      <vt:lpstr>T4</vt:lpstr>
      <vt:lpstr>T5</vt:lpstr>
      <vt:lpstr>T6</vt:lpstr>
      <vt:lpstr>T7</vt:lpstr>
      <vt:lpstr>T8</vt:lpstr>
      <vt:lpstr>T8</vt:lpstr>
      <vt:lpstr>T9</vt:lpstr>
      <vt:lpstr>T9</vt:lpstr>
      <vt:lpstr>T9</vt:lpstr>
      <vt:lpstr>T9</vt:lpstr>
      <vt:lpstr>T9</vt:lpstr>
      <vt:lpstr>T10</vt:lpstr>
      <vt:lpstr>T11</vt:lpstr>
      <vt:lpstr>T11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程瑾 周</dc:creator>
  <cp:lastModifiedBy>程瑾 周</cp:lastModifiedBy>
  <cp:revision>2</cp:revision>
  <dcterms:created xsi:type="dcterms:W3CDTF">2025-10-29T05:54:47Z</dcterms:created>
  <dcterms:modified xsi:type="dcterms:W3CDTF">2025-10-29T10:41:12Z</dcterms:modified>
</cp:coreProperties>
</file>