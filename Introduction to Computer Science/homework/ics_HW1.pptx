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handoutMasterIdLst>
    <p:handoutMasterId r:id="rId19"/>
  </p:handoutMasterIdLst>
  <p:sldIdLst>
    <p:sldId id="256" r:id="rId3"/>
    <p:sldId id="257" r:id="rId4"/>
    <p:sldId id="258" r:id="rId5"/>
    <p:sldId id="260" r:id="rId6"/>
    <p:sldId id="259" r:id="rId7"/>
    <p:sldId id="261" r:id="rId8"/>
    <p:sldId id="262" r:id="rId9"/>
    <p:sldId id="263" r:id="rId10"/>
    <p:sldId id="264" r:id="rId11"/>
    <p:sldId id="265" r:id="rId12"/>
    <p:sldId id="266" r:id="rId13"/>
    <p:sldId id="270" r:id="rId14"/>
    <p:sldId id="267" r:id="rId15"/>
    <p:sldId id="268" r:id="rId16"/>
    <p:sldId id="269" r:id="rId17"/>
  </p:sldIdLst>
  <p:sldSz cx="12192000" cy="6858000"/>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8"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8" autoAdjust="0"/>
    <p:restoredTop sz="94660"/>
  </p:normalViewPr>
  <p:slideViewPr>
    <p:cSldViewPr snapToGrid="0" showGuides="1">
      <p:cViewPr varScale="1">
        <p:scale>
          <a:sx n="75" d="100"/>
          <a:sy n="75" d="100"/>
        </p:scale>
        <p:origin x="90" y="96"/>
      </p:cViewPr>
      <p:guideLst>
        <p:guide orient="horz" pos="2198"/>
        <p:guide pos="3840"/>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handoutMaster" Target="handoutMasters/handoutMaster1.xml"/><Relationship Id="rId18" Type="http://schemas.openxmlformats.org/officeDocument/2006/relationships/notesMaster" Target="notesMasters/notesMaster1.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defRPr sz="6000">
                <a:effectLst>
                  <a:outerShdw blurRad="38100" dist="38100" dir="2700000" algn="tl">
                    <a:srgbClr val="000000">
                      <a:alpha val="43137"/>
                    </a:srgbClr>
                  </a:outerShdw>
                </a:effectLst>
              </a:defRPr>
            </a:lvl1pPr>
          </a:lstStyle>
          <a:p>
            <a:r>
              <a:rPr lang="zh-CN" altLang="en-US" dirty="0"/>
              <a:t>单击此处添加标题</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副标题 2"/>
          <p:cNvSpPr>
            <a:spLocks noGrp="1"/>
          </p:cNvSpPr>
          <p:nvPr>
            <p:ph type="subTitle" idx="1" hasCustomPrompt="1"/>
          </p:nvPr>
        </p:nvSpPr>
        <p:spPr>
          <a:xfrm>
            <a:off x="1524000" y="3602038"/>
            <a:ext cx="9144000" cy="1655762"/>
          </a:xfrm>
        </p:spPr>
        <p:txBody>
          <a:bodyPr>
            <a:normAutofit/>
          </a:bodyPr>
          <a:lstStyle>
            <a:lvl1pPr marL="0" indent="0" algn="ctr">
              <a:buNone/>
              <a:defRPr sz="1800">
                <a:solidFill>
                  <a:schemeClr val="tx1">
                    <a:lumMod val="75000"/>
                    <a:lumOff val="2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647700" y="1825625"/>
            <a:ext cx="10515600" cy="4351338"/>
          </a:xfrm>
        </p:spPr>
        <p:txBody>
          <a:bodyPr>
            <a:normAutofit/>
          </a:bodyPr>
          <a:lstStyle>
            <a:lvl1pPr>
              <a:defRPr sz="2000">
                <a:solidFill>
                  <a:schemeClr val="tx1">
                    <a:lumMod val="75000"/>
                    <a:lumOff val="25000"/>
                  </a:schemeClr>
                </a:solidFill>
              </a:defRPr>
            </a:lvl1pPr>
            <a:lvl2pPr>
              <a:defRPr sz="18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1117"/>
            <a:ext cx="7321550" cy="811357"/>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单击此处编辑标题</a:t>
            </a:r>
            <a:endParaRPr lang="zh-CN" altLang="en-US" dirty="0"/>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2.xml"/><Relationship Id="rId3" Type="http://schemas.openxmlformats.org/officeDocument/2006/relationships/image" Target="../media/image8.png"/><Relationship Id="rId2" Type="http://schemas.openxmlformats.org/officeDocument/2006/relationships/image" Target="../media/image7.wmf"/><Relationship Id="rId1" Type="http://schemas.openxmlformats.org/officeDocument/2006/relationships/oleObject" Target="../embeddings/oleObject1.bin"/></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image" Target="../media/image16.png"/></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x-none" altLang="zh-CN"/>
              <a:t>HW1</a:t>
            </a:r>
            <a:endParaRPr lang="x-none" altLang="zh-CN"/>
          </a:p>
        </p:txBody>
      </p:sp>
      <p:sp>
        <p:nvSpPr>
          <p:cNvPr id="5" name="副标题 4"/>
          <p:cNvSpPr>
            <a:spLocks noGrp="1"/>
          </p:cNvSpPr>
          <p:nvPr>
            <p:ph type="subTitle" idx="1"/>
          </p:nvPr>
        </p:nvSpPr>
        <p:spPr/>
        <p:txBody>
          <a:bodyPr/>
          <a:lstStyle/>
          <a:p>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x-none" altLang="en-US"/>
              <a:t>T1</a:t>
            </a:r>
            <a:br>
              <a:rPr lang="x-none" altLang="en-US"/>
            </a:br>
            <a:r>
              <a:rPr lang="en-US" altLang="zh-CN"/>
              <a:t>1. Convert these decimal numbers to 8-bit 2's complement numbers:</a:t>
            </a:r>
            <a:br>
              <a:rPr lang="en-US" altLang="zh-CN"/>
            </a:br>
            <a:r>
              <a:rPr lang="zh-CN" altLang="en-US"/>
              <a:t>将这些十进制数转换为</a:t>
            </a:r>
            <a:r>
              <a:rPr lang="en-US" altLang="zh-CN"/>
              <a:t> 8 </a:t>
            </a:r>
            <a:r>
              <a:rPr lang="zh-CN" altLang="en-US"/>
              <a:t>位二进制的二进制补码（</a:t>
            </a:r>
            <a:r>
              <a:rPr lang="en-US" altLang="zh-CN"/>
              <a:t>2’s complement</a:t>
            </a:r>
            <a:r>
              <a:rPr lang="zh-CN" altLang="en-US"/>
              <a:t>）形式。</a:t>
            </a:r>
            <a:endParaRPr lang="zh-CN" altLang="en-US"/>
          </a:p>
        </p:txBody>
      </p:sp>
      <p:sp>
        <p:nvSpPr>
          <p:cNvPr id="3" name="内容占位符 2"/>
          <p:cNvSpPr>
            <a:spLocks noGrp="1"/>
          </p:cNvSpPr>
          <p:nvPr>
            <p:ph idx="1"/>
          </p:nvPr>
        </p:nvSpPr>
        <p:spPr/>
        <p:txBody>
          <a:bodyPr/>
          <a:p>
            <a:r>
              <a:rPr lang="en-US" altLang="zh-CN"/>
              <a:t>-103 </a:t>
            </a:r>
            <a:r>
              <a:rPr lang="zh-CN" altLang="en-US"/>
              <a:t>原码为</a:t>
            </a:r>
            <a:r>
              <a:rPr lang="en-US" altLang="zh-CN"/>
              <a:t> </a:t>
            </a:r>
            <a:r>
              <a:rPr lang="x-none" altLang="en-US"/>
              <a:t>1</a:t>
            </a:r>
            <a:r>
              <a:rPr lang="en-US" altLang="zh-CN"/>
              <a:t>1100111</a:t>
            </a:r>
            <a:r>
              <a:rPr lang="zh-CN" altLang="en-US"/>
              <a:t>，反码为</a:t>
            </a:r>
            <a:r>
              <a:rPr lang="en-US" altLang="zh-CN"/>
              <a:t> 10011000</a:t>
            </a:r>
            <a:r>
              <a:rPr lang="zh-CN" altLang="en-US"/>
              <a:t>，补码为</a:t>
            </a:r>
            <a:r>
              <a:rPr lang="en-US" altLang="zh-CN"/>
              <a:t> 10011001 (</a:t>
            </a:r>
            <a:r>
              <a:rPr lang="zh-CN" altLang="en-US"/>
              <a:t>负数补码为原码的反码</a:t>
            </a:r>
            <a:r>
              <a:rPr lang="en-US" altLang="zh-CN"/>
              <a:t> + 1)</a:t>
            </a:r>
            <a:endParaRPr lang="en-US" altLang="zh-CN"/>
          </a:p>
          <a:p>
            <a:r>
              <a:rPr lang="en-US" altLang="zh-CN"/>
              <a:t>+76 </a:t>
            </a:r>
            <a:r>
              <a:rPr lang="zh-CN" altLang="en-US"/>
              <a:t>原码与补码均为</a:t>
            </a:r>
            <a:r>
              <a:rPr lang="en-US" altLang="zh-CN"/>
              <a:t> 01001100 (</a:t>
            </a:r>
            <a:r>
              <a:rPr lang="zh-CN" altLang="en-US"/>
              <a:t>正数补码与原码一致</a:t>
            </a:r>
            <a:r>
              <a:rPr lang="en-US" altLang="zh-CN"/>
              <a:t>)</a:t>
            </a:r>
            <a:endParaRPr lang="en-US" altLang="zh-CN"/>
          </a:p>
          <a:p>
            <a:endParaRPr lang="en-US" altLang="zh-CN"/>
          </a:p>
          <a:p>
            <a:endParaRPr lang="en-US" altLang="zh-CN"/>
          </a:p>
          <a:p>
            <a:endParaRPr lang="en-US" altLang="zh-CN"/>
          </a:p>
          <a:p>
            <a:r>
              <a:rPr lang="x-none" altLang="en-US"/>
              <a:t>103=64+32+4+2+1</a:t>
            </a:r>
            <a:endParaRPr lang="x-none" altLang="en-US"/>
          </a:p>
          <a:p>
            <a:r>
              <a:rPr lang="x-none" altLang="en-US"/>
              <a:t>76=64+8+4</a:t>
            </a:r>
            <a:endParaRPr lang="x-none"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x-none" altLang="en-US"/>
              <a:t>2</a:t>
            </a:r>
            <a:r>
              <a:rPr lang="en-US" altLang="zh-CN"/>
              <a:t>. Convert the following 8-bit 2's complement numbers to decimal. </a:t>
            </a:r>
            <a:br>
              <a:rPr lang="en-US" altLang="zh-CN"/>
            </a:br>
            <a:r>
              <a:rPr lang="zh-CN" altLang="en-US"/>
              <a:t>将下面的</a:t>
            </a:r>
            <a:r>
              <a:rPr lang="en-US" altLang="zh-CN"/>
              <a:t>  8 </a:t>
            </a:r>
            <a:r>
              <a:rPr lang="zh-CN" altLang="en-US"/>
              <a:t>位二进制补码数转换为十进制数。</a:t>
            </a:r>
            <a:endParaRPr lang="zh-CN" altLang="en-US"/>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647700" y="1461770"/>
                <a:ext cx="10515600" cy="4608195"/>
              </a:xfrm>
            </p:spPr>
            <p:txBody>
              <a:bodyPr>
                <a:normAutofit lnSpcReduction="20000"/>
              </a:bodyPr>
              <a:p>
                <a:r>
                  <a:rPr lang="en-US" altLang="zh-CN"/>
                  <a:t>00110110</a:t>
                </a:r>
                <a:r>
                  <a:rPr lang="x-none" altLang="en-US"/>
                  <a:t>=32+16+4+2=54</a:t>
                </a:r>
                <a:endParaRPr lang="x-none" altLang="en-US"/>
              </a:p>
              <a:p>
                <a:endParaRPr lang="x-none" altLang="en-US"/>
              </a:p>
              <a:p>
                <a:r>
                  <a:rPr lang="x-none" altLang="en-US"/>
                  <a:t>(</a:t>
                </a:r>
                <a:r>
                  <a:rPr lang="en-US" altLang="zh-CN">
                    <a:solidFill>
                      <a:srgbClr val="FF0000"/>
                    </a:solidFill>
                  </a:rPr>
                  <a:t>1</a:t>
                </a:r>
                <a:r>
                  <a:rPr lang="en-US" altLang="zh-CN"/>
                  <a:t>1101101</a:t>
                </a:r>
                <a:r>
                  <a:rPr lang="x-none" altLang="en-US"/>
                  <a:t>)补=(</a:t>
                </a:r>
                <a:r>
                  <a:rPr lang="x-none" altLang="en-US">
                    <a:solidFill>
                      <a:srgbClr val="FF0000"/>
                    </a:solidFill>
                  </a:rPr>
                  <a:t>1</a:t>
                </a:r>
                <a:r>
                  <a:rPr lang="x-none" altLang="en-US"/>
                  <a:t>0010011)原=-(16+2+1)=-19</a:t>
                </a:r>
                <a:endParaRPr lang="x-none" altLang="en-US"/>
              </a:p>
              <a:p>
                <a:pPr marL="800100" lvl="1" indent="-342900">
                  <a:buAutoNum type="arabicPeriod"/>
                </a:pPr>
                <a:r>
                  <a:rPr lang="x-none" altLang="en-US" sz="1800"/>
                  <a:t>减1取反</a:t>
                </a:r>
                <a:endParaRPr lang="x-none" altLang="en-US" sz="1800"/>
              </a:p>
              <a:p>
                <a:pPr marL="800100" lvl="1" indent="-342900">
                  <a:buAutoNum type="arabicPeriod"/>
                </a:pPr>
                <a:r>
                  <a:rPr lang="x-none" altLang="en-US" sz="1800"/>
                  <a:t>取反加1</a:t>
                </a:r>
                <a:endParaRPr lang="x-none" altLang="en-US"/>
              </a:p>
              <a:p>
                <a:endParaRPr lang="x-none" altLang="en-US">
                  <a:sym typeface="+mn-ea"/>
                </a:endParaRPr>
              </a:p>
              <a:p>
                <a:r>
                  <a:rPr lang="x-none" altLang="en-US">
                    <a:sym typeface="+mn-ea"/>
                  </a:rPr>
                  <a:t>(</a:t>
                </a:r>
                <a:r>
                  <a:rPr lang="en-US" altLang="zh-CN">
                    <a:solidFill>
                      <a:srgbClr val="FF0000"/>
                    </a:solidFill>
                    <a:sym typeface="+mn-ea"/>
                  </a:rPr>
                  <a:t>1</a:t>
                </a:r>
                <a:r>
                  <a:rPr lang="en-US" altLang="zh-CN">
                    <a:sym typeface="+mn-ea"/>
                  </a:rPr>
                  <a:t>1101101</a:t>
                </a:r>
                <a:r>
                  <a:rPr lang="x-none" altLang="en-US">
                    <a:sym typeface="+mn-ea"/>
                  </a:rPr>
                  <a:t>)补=(100000000-</a:t>
                </a:r>
                <a:r>
                  <a:rPr lang="x-none" altLang="en-US">
                    <a:solidFill>
                      <a:srgbClr val="FF0000"/>
                    </a:solidFill>
                    <a:sym typeface="+mn-ea"/>
                  </a:rPr>
                  <a:t>0</a:t>
                </a:r>
                <a:r>
                  <a:rPr lang="en-US" altLang="zh-CN">
                    <a:sym typeface="+mn-ea"/>
                  </a:rPr>
                  <a:t>1101101</a:t>
                </a:r>
                <a:r>
                  <a:rPr lang="x-none" altLang="en-US">
                    <a:sym typeface="+mn-ea"/>
                  </a:rPr>
                  <a:t>)原=</a:t>
                </a:r>
                <a:r>
                  <a:rPr lang="x-none" altLang="en-US">
                    <a:sym typeface="+mn-ea"/>
                  </a:rPr>
                  <a:t>(</a:t>
                </a:r>
                <a:r>
                  <a:rPr lang="x-none" altLang="en-US">
                    <a:solidFill>
                      <a:srgbClr val="FF0000"/>
                    </a:solidFill>
                    <a:sym typeface="+mn-ea"/>
                  </a:rPr>
                  <a:t>1</a:t>
                </a:r>
                <a:r>
                  <a:rPr lang="x-none" altLang="en-US">
                    <a:sym typeface="+mn-ea"/>
                  </a:rPr>
                  <a:t>0010011)原=-19	</a:t>
                </a:r>
                <a:endParaRPr lang="x-none" altLang="en-US">
                  <a:sym typeface="+mn-ea"/>
                </a:endParaRPr>
              </a:p>
              <a:p>
                <a:pPr marL="457200" lvl="2"/>
                <a14:m>
                  <m:oMath xmlns:m="http://schemas.openxmlformats.org/officeDocument/2006/math">
                    <m:sSup>
                      <m:sSupPr>
                        <m:ctrlPr>
                          <a:rPr lang="en-US" altLang="x-none" sz="1775" i="1">
                            <a:latin typeface="DejaVu Math TeX Gyre" panose="02000503000000000000" charset="0"/>
                            <a:cs typeface="DejaVu Math TeX Gyre" panose="02000503000000000000" charset="0"/>
                            <a:sym typeface="+mn-ea"/>
                          </a:rPr>
                        </m:ctrlPr>
                      </m:sSupPr>
                      <m:e>
                        <m:r>
                          <a:rPr lang="en-US" altLang="x-none" sz="1775" i="1">
                            <a:latin typeface="DejaVu Math TeX Gyre" panose="02000503000000000000" charset="0"/>
                            <a:cs typeface="DejaVu Math TeX Gyre" panose="02000503000000000000" charset="0"/>
                            <a:sym typeface="+mn-ea"/>
                          </a:rPr>
                          <m:t>2</m:t>
                        </m:r>
                      </m:e>
                      <m:sup>
                        <m:r>
                          <a:rPr lang="en-US" altLang="x-none" sz="1775" i="1">
                            <a:latin typeface="DejaVu Math TeX Gyre" panose="02000503000000000000" charset="0"/>
                            <a:cs typeface="DejaVu Math TeX Gyre" panose="02000503000000000000" charset="0"/>
                            <a:sym typeface="+mn-ea"/>
                          </a:rPr>
                          <m:t>𝑛</m:t>
                        </m:r>
                      </m:sup>
                    </m:sSup>
                    <m:r>
                      <a:rPr lang="en-US" altLang="x-none" sz="1775" i="1">
                        <a:latin typeface="DejaVu Math TeX Gyre" panose="02000503000000000000" charset="0"/>
                        <a:cs typeface="DejaVu Math TeX Gyre" panose="02000503000000000000" charset="0"/>
                        <a:sym typeface="+mn-ea"/>
                      </a:rPr>
                      <m:t>−|</m:t>
                    </m:r>
                    <m:r>
                      <a:rPr lang="en-US" altLang="x-none" sz="1775" i="1">
                        <a:latin typeface="DejaVu Math TeX Gyre" panose="02000503000000000000" charset="0"/>
                        <a:cs typeface="DejaVu Math TeX Gyre" panose="02000503000000000000" charset="0"/>
                        <a:sym typeface="+mn-ea"/>
                      </a:rPr>
                      <m:t>𝑋</m:t>
                    </m:r>
                    <m:r>
                      <a:rPr lang="en-US" altLang="x-none" sz="1775" i="1">
                        <a:latin typeface="DejaVu Math TeX Gyre" panose="02000503000000000000" charset="0"/>
                        <a:cs typeface="DejaVu Math TeX Gyre" panose="02000503000000000000" charset="0"/>
                        <a:sym typeface="+mn-ea"/>
                      </a:rPr>
                      <m:t>|</m:t>
                    </m:r>
                  </m:oMath>
                </a14:m>
                <a:endParaRPr lang="x-none" altLang="en-US" sz="1775">
                  <a:sym typeface="+mn-ea"/>
                </a:endParaRPr>
              </a:p>
              <a:p>
                <a:endParaRPr lang="x-none" altLang="en-US">
                  <a:sym typeface="+mn-ea"/>
                </a:endParaRPr>
              </a:p>
              <a:p>
                <a:endParaRPr lang="x-none" altLang="en-US">
                  <a:sym typeface="+mn-ea"/>
                </a:endParaRPr>
              </a:p>
              <a:p>
                <a:r>
                  <a:rPr lang="x-none" altLang="en-US">
                    <a:sym typeface="+mn-ea"/>
                  </a:rPr>
                  <a:t>(</a:t>
                </a:r>
                <a:r>
                  <a:rPr lang="en-US" altLang="zh-CN">
                    <a:solidFill>
                      <a:srgbClr val="FF0000"/>
                    </a:solidFill>
                    <a:sym typeface="+mn-ea"/>
                  </a:rPr>
                  <a:t>1</a:t>
                </a:r>
                <a:r>
                  <a:rPr lang="x-none" altLang="en-US">
                    <a:sym typeface="+mn-ea"/>
                  </a:rPr>
                  <a:t>0000000</a:t>
                </a:r>
                <a:r>
                  <a:rPr lang="x-none" altLang="en-US">
                    <a:sym typeface="+mn-ea"/>
                  </a:rPr>
                  <a:t>)补=-128</a:t>
                </a:r>
                <a:endParaRPr lang="x-none" altLang="en-US">
                  <a:sym typeface="+mn-ea"/>
                </a:endParaRPr>
              </a:p>
            </p:txBody>
          </p:sp>
        </mc:Choice>
        <mc:Fallback>
          <p:sp>
            <p:nvSpPr>
              <p:cNvPr id="3" name="内容占位符 2"/>
              <p:cNvSpPr>
                <a:spLocks noRot="1" noChangeAspect="1" noMove="1" noResize="1" noEditPoints="1" noAdjustHandles="1" noChangeArrowheads="1" noChangeShapeType="1" noTextEdit="1"/>
              </p:cNvSpPr>
              <p:nvPr>
                <p:ph idx="1"/>
              </p:nvPr>
            </p:nvSpPr>
            <p:spPr>
              <a:xfrm>
                <a:off x="647700" y="1461770"/>
                <a:ext cx="10515600" cy="4608195"/>
              </a:xfrm>
              <a:blipFill rotWithShape="1">
                <a:blip r:embed="rId1"/>
                <a:stretch>
                  <a:fillRect t="-717"/>
                </a:stretch>
              </a:blipFill>
            </p:spPr>
            <p:txBody>
              <a:bodyPr/>
              <a:lstStyle/>
              <a:p>
                <a:r>
                  <a:rPr lang="zh-CN" altLang="en-US">
                    <a:noFill/>
                  </a:rPr>
                  <a:t> </a:t>
                </a:r>
              </a:p>
            </p:txBody>
          </p:sp>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576580" y="857250"/>
            <a:ext cx="11039475" cy="38481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47700" y="258445"/>
            <a:ext cx="10515600" cy="3171190"/>
          </a:xfrm>
        </p:spPr>
        <p:txBody>
          <a:bodyPr>
            <a:normAutofit fontScale="90000"/>
          </a:bodyPr>
          <a:p>
            <a:r>
              <a:rPr lang="en-US" altLang="zh-CN"/>
              <a:t> </a:t>
            </a:r>
            <a:r>
              <a:rPr lang="x-none" altLang="en-US"/>
              <a:t>T2</a:t>
            </a:r>
            <a:br>
              <a:rPr lang="x-none" altLang="en-US"/>
            </a:br>
            <a:r>
              <a:rPr lang="x-none" altLang="en-US"/>
              <a:t>1.</a:t>
            </a:r>
            <a:r>
              <a:rPr lang="en-US" altLang="zh-CN"/>
              <a:t>What's the smallest and largest number that can be</a:t>
            </a:r>
            <a:r>
              <a:rPr lang="x-none" altLang="en-US"/>
              <a:t> </a:t>
            </a:r>
            <a:r>
              <a:rPr lang="en-US" altLang="zh-CN"/>
              <a:t>represented by an</a:t>
            </a:r>
            <a:r>
              <a:rPr lang="x-none" altLang="en-US"/>
              <a:t> </a:t>
            </a:r>
            <a:r>
              <a:rPr lang="en-US" altLang="zh-CN"/>
              <a:t>8-bit 2's complement number? (Answer in decimal)</a:t>
            </a:r>
            <a:br>
              <a:rPr lang="en-US" altLang="zh-CN"/>
            </a:br>
            <a:r>
              <a:rPr lang="zh-CN" altLang="en-US"/>
              <a:t>用</a:t>
            </a:r>
            <a:r>
              <a:rPr lang="en-US" altLang="zh-CN"/>
              <a:t> 8 </a:t>
            </a:r>
            <a:r>
              <a:rPr lang="zh-CN" altLang="en-US"/>
              <a:t>位二进制的二进制补码表示时，能表示的最小值和最大值分别是多少？（答</a:t>
            </a:r>
            <a:br>
              <a:rPr lang="zh-CN" altLang="en-US"/>
            </a:br>
            <a:r>
              <a:rPr lang="zh-CN" altLang="en-US"/>
              <a:t>案用十进制表示）</a:t>
            </a:r>
            <a:br>
              <a:rPr lang="zh-CN" altLang="en-US"/>
            </a:br>
            <a:r>
              <a:rPr lang="en-US" altLang="zh-CN"/>
              <a:t>2. Try to determine the range that an N-bit 2's complement number can</a:t>
            </a:r>
            <a:r>
              <a:rPr lang="x-none" altLang="en-US"/>
              <a:t> </a:t>
            </a:r>
            <a:r>
              <a:rPr lang="en-US" altLang="zh-CN"/>
              <a:t>represent. (Answer in decimal)</a:t>
            </a:r>
            <a:br>
              <a:rPr lang="en-US" altLang="zh-CN"/>
            </a:br>
            <a:r>
              <a:rPr lang="zh-CN" altLang="en-US"/>
              <a:t>试着确定一个</a:t>
            </a:r>
            <a:r>
              <a:rPr lang="en-US" altLang="zh-CN"/>
              <a:t> N </a:t>
            </a:r>
            <a:r>
              <a:rPr lang="zh-CN" altLang="en-US"/>
              <a:t>位二进制补码数所能表示的数值范围。（答案用十进制表示）</a:t>
            </a:r>
            <a:br>
              <a:rPr lang="zh-CN" altLang="en-US"/>
            </a:br>
            <a:endParaRPr lang="zh-CN" altLang="en-US"/>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647700" y="3961130"/>
                <a:ext cx="10515600" cy="2216150"/>
              </a:xfrm>
            </p:spPr>
            <p:txBody>
              <a:bodyPr/>
              <a:p>
                <a:r>
                  <a:rPr lang="x-none" altLang="zh-CN"/>
                  <a:t>[10000...,01111...]=[</a:t>
                </a:r>
                <a14:m>
                  <m:oMath xmlns:m="http://schemas.openxmlformats.org/officeDocument/2006/math">
                    <m:r>
                      <a:rPr lang="en-US" altLang="x-none">
                        <a:latin typeface="Cambria Math" panose="02040503050406030204" charset="0"/>
                      </a:rPr>
                      <m:t>−</m:t>
                    </m:r>
                    <m:sSup>
                      <m:sSupPr>
                        <m:ctrlPr>
                          <a:rPr lang="en-US" altLang="x-none" i="1">
                            <a:latin typeface="DejaVu Math TeX Gyre" panose="02000503000000000000" charset="0"/>
                            <a:cs typeface="DejaVu Math TeX Gyre" panose="02000503000000000000" charset="0"/>
                          </a:rPr>
                        </m:ctrlPr>
                      </m:sSupPr>
                      <m:e>
                        <m:r>
                          <a:rPr lang="en-US" altLang="x-none" i="1">
                            <a:latin typeface="DejaVu Math TeX Gyre" panose="02000503000000000000" charset="0"/>
                            <a:cs typeface="DejaVu Math TeX Gyre" panose="02000503000000000000" charset="0"/>
                          </a:rPr>
                          <m:t>2</m:t>
                        </m:r>
                      </m:e>
                      <m:sup>
                        <m:r>
                          <a:rPr lang="en-US" altLang="x-none" i="1">
                            <a:latin typeface="DejaVu Math TeX Gyre" panose="02000503000000000000" charset="0"/>
                            <a:cs typeface="DejaVu Math TeX Gyre" panose="02000503000000000000" charset="0"/>
                          </a:rPr>
                          <m:t>𝑁</m:t>
                        </m:r>
                        <m:r>
                          <a:rPr lang="en-US" altLang="x-none" i="1">
                            <a:latin typeface="DejaVu Math TeX Gyre" panose="02000503000000000000" charset="0"/>
                            <a:cs typeface="DejaVu Math TeX Gyre" panose="02000503000000000000" charset="0"/>
                          </a:rPr>
                          <m:t>−</m:t>
                        </m:r>
                        <m:r>
                          <a:rPr lang="en-US" altLang="x-none" i="1">
                            <a:latin typeface="DejaVu Math TeX Gyre" panose="02000503000000000000" charset="0"/>
                            <a:cs typeface="DejaVu Math TeX Gyre" panose="02000503000000000000" charset="0"/>
                          </a:rPr>
                          <m:t>1</m:t>
                        </m:r>
                      </m:sup>
                    </m:sSup>
                  </m:oMath>
                </a14:m>
                <a:r>
                  <a:rPr lang="x-none" altLang="en-US">
                    <a:latin typeface="DejaVu Math TeX Gyre" panose="02000503000000000000" charset="0"/>
                    <a:cs typeface="DejaVu Math TeX Gyre" panose="02000503000000000000" charset="0"/>
                  </a:rPr>
                  <a:t>,</a:t>
                </a:r>
                <a14:m>
                  <m:oMath xmlns:m="http://schemas.openxmlformats.org/officeDocument/2006/math">
                    <m:sSup>
                      <m:sSupPr>
                        <m:ctrlPr>
                          <a:rPr lang="en-US" altLang="x-none" i="1">
                            <a:latin typeface="DejaVu Math TeX Gyre" panose="02000503000000000000" charset="0"/>
                            <a:cs typeface="DejaVu Math TeX Gyre" panose="02000503000000000000" charset="0"/>
                          </a:rPr>
                        </m:ctrlPr>
                      </m:sSupPr>
                      <m:e>
                        <m:r>
                          <a:rPr lang="en-US" altLang="x-none" i="1">
                            <a:latin typeface="DejaVu Math TeX Gyre" panose="02000503000000000000" charset="0"/>
                            <a:cs typeface="DejaVu Math TeX Gyre" panose="02000503000000000000" charset="0"/>
                          </a:rPr>
                          <m:t>2</m:t>
                        </m:r>
                      </m:e>
                      <m:sup>
                        <m:r>
                          <a:rPr lang="en-US" altLang="x-none" i="1">
                            <a:latin typeface="DejaVu Math TeX Gyre" panose="02000503000000000000" charset="0"/>
                            <a:cs typeface="DejaVu Math TeX Gyre" panose="02000503000000000000" charset="0"/>
                          </a:rPr>
                          <m:t>𝑁</m:t>
                        </m:r>
                        <m:r>
                          <a:rPr lang="en-US" altLang="x-none" i="1">
                            <a:latin typeface="DejaVu Math TeX Gyre" panose="02000503000000000000" charset="0"/>
                            <a:cs typeface="DejaVu Math TeX Gyre" panose="02000503000000000000" charset="0"/>
                          </a:rPr>
                          <m:t>−</m:t>
                        </m:r>
                        <m:r>
                          <a:rPr lang="en-US" altLang="x-none" i="1">
                            <a:latin typeface="DejaVu Math TeX Gyre" panose="02000503000000000000" charset="0"/>
                            <a:cs typeface="DejaVu Math TeX Gyre" panose="02000503000000000000" charset="0"/>
                          </a:rPr>
                          <m:t>1</m:t>
                        </m:r>
                      </m:sup>
                    </m:sSup>
                  </m:oMath>
                </a14:m>
                <a:r>
                  <a:rPr lang="x-none" altLang="en-US">
                    <a:latin typeface="DejaVu Math TeX Gyre" panose="02000503000000000000" charset="0"/>
                    <a:cs typeface="DejaVu Math TeX Gyre" panose="02000503000000000000" charset="0"/>
                  </a:rPr>
                  <a:t>-1</a:t>
                </a:r>
                <a:r>
                  <a:rPr lang="x-none" altLang="zh-CN"/>
                  <a:t>]</a:t>
                </a:r>
                <a:endParaRPr lang="x-none" altLang="zh-CN"/>
              </a:p>
            </p:txBody>
          </p:sp>
        </mc:Choice>
        <mc:Fallback>
          <p:sp>
            <p:nvSpPr>
              <p:cNvPr id="3" name="内容占位符 2"/>
              <p:cNvSpPr>
                <a:spLocks noRot="1" noChangeAspect="1" noMove="1" noResize="1" noEditPoints="1" noAdjustHandles="1" noChangeArrowheads="1" noChangeShapeType="1" noTextEdit="1"/>
              </p:cNvSpPr>
              <p:nvPr>
                <p:ph idx="1"/>
              </p:nvPr>
            </p:nvSpPr>
            <p:spPr>
              <a:xfrm>
                <a:off x="647700" y="3961130"/>
                <a:ext cx="10515600" cy="2216150"/>
              </a:xfrm>
              <a:blipFill rotWithShape="1">
                <a:blip r:embed="rId1"/>
                <a:stretch>
                  <a:fillRect/>
                </a:stretch>
              </a:blipFill>
            </p:spPr>
            <p:txBody>
              <a:bodyPr/>
              <a:lstStyle/>
              <a:p>
                <a:r>
                  <a:rPr lang="zh-CN" altLang="en-US">
                    <a:noFill/>
                  </a:rPr>
                  <a:t> </a:t>
                </a:r>
              </a:p>
            </p:txBody>
          </p:sp>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47700" y="258445"/>
            <a:ext cx="10515600" cy="2451100"/>
          </a:xfrm>
        </p:spPr>
        <p:txBody>
          <a:bodyPr>
            <a:normAutofit fontScale="90000"/>
          </a:bodyPr>
          <a:p>
            <a:r>
              <a:rPr lang="x-none" altLang="zh-CN"/>
              <a:t>T3</a:t>
            </a:r>
            <a:br>
              <a:rPr lang="x-none" altLang="zh-CN"/>
            </a:br>
            <a:r>
              <a:rPr lang="en-US" altLang="zh-CN"/>
              <a:t>Is there a negative integer that has identical 2's complement</a:t>
            </a:r>
            <a:br>
              <a:rPr lang="en-US" altLang="zh-CN"/>
            </a:br>
            <a:r>
              <a:rPr lang="en-US" altLang="zh-CN"/>
              <a:t>representation and original code in binary (8-bit)? If so, what is it?</a:t>
            </a:r>
            <a:br>
              <a:rPr lang="en-US" altLang="zh-CN"/>
            </a:br>
            <a:r>
              <a:rPr lang="en-US" altLang="zh-CN"/>
              <a:t>(Answer in decimal)</a:t>
            </a:r>
            <a:br>
              <a:rPr lang="en-US" altLang="zh-CN"/>
            </a:br>
            <a:r>
              <a:rPr lang="zh-CN" altLang="en-US"/>
              <a:t>在</a:t>
            </a:r>
            <a:r>
              <a:rPr lang="en-US" altLang="zh-CN"/>
              <a:t> 8 </a:t>
            </a:r>
            <a:r>
              <a:rPr lang="zh-CN" altLang="en-US"/>
              <a:t>位二进制中，是否存在一个负整数，它的</a:t>
            </a:r>
            <a:r>
              <a:rPr lang="en-US" altLang="zh-CN"/>
              <a:t> </a:t>
            </a:r>
            <a:r>
              <a:rPr lang="zh-CN" altLang="en-US"/>
              <a:t>二进制补码表示与</a:t>
            </a:r>
            <a:r>
              <a:rPr lang="en-US" altLang="zh-CN"/>
              <a:t> </a:t>
            </a:r>
            <a:r>
              <a:rPr lang="zh-CN" altLang="en-US"/>
              <a:t>原码</a:t>
            </a:r>
            <a:br>
              <a:rPr lang="zh-CN" altLang="en-US"/>
            </a:br>
            <a:r>
              <a:rPr lang="zh-CN" altLang="en-US"/>
              <a:t>（</a:t>
            </a:r>
            <a:r>
              <a:rPr lang="en-US" altLang="zh-CN"/>
              <a:t>sign-magnitude code</a:t>
            </a:r>
            <a:r>
              <a:rPr lang="zh-CN" altLang="en-US"/>
              <a:t>）</a:t>
            </a:r>
            <a:r>
              <a:rPr lang="en-US" altLang="zh-CN"/>
              <a:t> </a:t>
            </a:r>
            <a:r>
              <a:rPr lang="zh-CN" altLang="en-US"/>
              <a:t>表示相同？如果有，请写出这个数的十进制</a:t>
            </a:r>
            <a:endParaRPr lang="zh-CN" altLang="en-US"/>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647700" y="2933700"/>
                <a:ext cx="10515600" cy="3243580"/>
              </a:xfrm>
            </p:spPr>
            <p:txBody>
              <a:bodyPr/>
              <a:p>
                <a:pPr marL="0" indent="0">
                  <a:buNone/>
                </a:pPr>
                <a:r>
                  <a:rPr lang="x-none" altLang="en-US">
                    <a:latin typeface="DejaVu Math TeX Gyre" panose="02000503000000000000" charset="0"/>
                    <a:cs typeface="DejaVu Math TeX Gyre" panose="02000503000000000000" charset="0"/>
                    <a:sym typeface="+mn-ea"/>
                  </a:rPr>
                  <a:t>设原码为X</a:t>
                </a:r>
                <a:endParaRPr lang="en-US" altLang="x-none">
                  <a:latin typeface="DejaVu Math TeX Gyre" panose="02000503000000000000" charset="0"/>
                  <a:cs typeface="DejaVu Math TeX Gyre" panose="02000503000000000000" charset="0"/>
                  <a:sym typeface="+mn-ea"/>
                </a:endParaRPr>
              </a:p>
              <a:p>
                <a:pPr marL="0" indent="0">
                  <a:buNone/>
                </a:pPr>
                <a:endParaRPr lang="en-US" altLang="x-none" i="1">
                  <a:latin typeface="DejaVu Math TeX Gyre" panose="02000503000000000000" charset="0"/>
                  <a:cs typeface="DejaVu Math TeX Gyre" panose="02000503000000000000" charset="0"/>
                  <a:sym typeface="+mn-ea"/>
                </a:endParaRPr>
              </a:p>
              <a:p>
                <a:r>
                  <a:rPr lang="x-none" altLang="en-US">
                    <a:latin typeface="DejaVu Math TeX Gyre" panose="02000503000000000000" charset="0"/>
                    <a:cs typeface="DejaVu Math TeX Gyre" panose="02000503000000000000" charset="0"/>
                    <a:sym typeface="+mn-ea"/>
                  </a:rPr>
                  <a:t>补码：</a:t>
                </a:r>
                <a14:m>
                  <m:oMath xmlns:m="http://schemas.openxmlformats.org/officeDocument/2006/math">
                    <m:sSup>
                      <m:sSupPr>
                        <m:ctrlPr>
                          <a:rPr lang="en-US" altLang="x-none" i="1">
                            <a:latin typeface="DejaVu Math TeX Gyre" panose="02000503000000000000" charset="0"/>
                            <a:cs typeface="DejaVu Math TeX Gyre" panose="02000503000000000000" charset="0"/>
                            <a:sym typeface="+mn-ea"/>
                          </a:rPr>
                        </m:ctrlPr>
                      </m:sSupPr>
                      <m:e>
                        <m:r>
                          <a:rPr lang="en-US" altLang="x-none" i="1">
                            <a:latin typeface="DejaVu Math TeX Gyre" panose="02000503000000000000" charset="0"/>
                            <a:cs typeface="DejaVu Math TeX Gyre" panose="02000503000000000000" charset="0"/>
                            <a:sym typeface="+mn-ea"/>
                          </a:rPr>
                          <m:t>2</m:t>
                        </m:r>
                      </m:e>
                      <m:sup>
                        <m:r>
                          <a:rPr lang="en-US" altLang="x-none" i="1">
                            <a:latin typeface="DejaVu Math TeX Gyre" panose="02000503000000000000" charset="0"/>
                            <a:cs typeface="DejaVu Math TeX Gyre" panose="02000503000000000000" charset="0"/>
                            <a:sym typeface="+mn-ea"/>
                          </a:rPr>
                          <m:t>𝑛</m:t>
                        </m:r>
                      </m:sup>
                    </m:sSup>
                    <m:r>
                      <a:rPr lang="en-US" altLang="x-none" i="1">
                        <a:latin typeface="DejaVu Math TeX Gyre" panose="02000503000000000000" charset="0"/>
                        <a:cs typeface="DejaVu Math TeX Gyre" panose="02000503000000000000" charset="0"/>
                        <a:sym typeface="+mn-ea"/>
                      </a:rPr>
                      <m:t>−|</m:t>
                    </m:r>
                    <m:r>
                      <a:rPr lang="en-US" altLang="x-none" i="1">
                        <a:latin typeface="DejaVu Math TeX Gyre" panose="02000503000000000000" charset="0"/>
                        <a:cs typeface="DejaVu Math TeX Gyre" panose="02000503000000000000" charset="0"/>
                        <a:sym typeface="+mn-ea"/>
                      </a:rPr>
                      <m:t>𝑋</m:t>
                    </m:r>
                    <m:r>
                      <a:rPr lang="en-US" altLang="x-none" i="1">
                        <a:latin typeface="DejaVu Math TeX Gyre" panose="02000503000000000000" charset="0"/>
                        <a:cs typeface="DejaVu Math TeX Gyre" panose="02000503000000000000" charset="0"/>
                        <a:sym typeface="+mn-ea"/>
                      </a:rPr>
                      <m:t>|</m:t>
                    </m:r>
                  </m:oMath>
                </a14:m>
                <a:endParaRPr lang="en-US" altLang="x-none" i="1">
                  <a:latin typeface="DejaVu Math TeX Gyre" panose="02000503000000000000" charset="0"/>
                  <a:cs typeface="DejaVu Math TeX Gyre" panose="02000503000000000000" charset="0"/>
                  <a:sym typeface="+mn-ea"/>
                </a:endParaRPr>
              </a:p>
              <a:p>
                <a:endParaRPr lang="zh-CN" altLang="en-US"/>
              </a:p>
              <a:p>
                <a14:m>
                  <m:oMath xmlns:m="http://schemas.openxmlformats.org/officeDocument/2006/math">
                    <m:r>
                      <a:rPr lang="en-US" altLang="zh-CN" i="1">
                        <a:latin typeface="DejaVu Math TeX Gyre" panose="02000503000000000000" charset="0"/>
                        <a:cs typeface="DejaVu Math TeX Gyre" panose="02000503000000000000" charset="0"/>
                      </a:rPr>
                      <m:t>𝑋</m:t>
                    </m:r>
                    <m:r>
                      <a:rPr lang="en-US" altLang="zh-CN" i="1">
                        <a:latin typeface="DejaVu Math TeX Gyre" panose="02000503000000000000" charset="0"/>
                        <a:cs typeface="DejaVu Math TeX Gyre" panose="02000503000000000000" charset="0"/>
                      </a:rPr>
                      <m:t>=</m:t>
                    </m:r>
                    <m:sSup>
                      <m:sSupPr>
                        <m:ctrlPr>
                          <a:rPr lang="en-US" altLang="zh-CN" i="1">
                            <a:latin typeface="DejaVu Math TeX Gyre" panose="02000503000000000000" charset="0"/>
                            <a:cs typeface="DejaVu Math TeX Gyre" panose="02000503000000000000" charset="0"/>
                          </a:rPr>
                        </m:ctrlPr>
                      </m:sSupPr>
                      <m:e>
                        <m:r>
                          <a:rPr lang="en-US" altLang="zh-CN" i="1">
                            <a:latin typeface="DejaVu Math TeX Gyre" panose="02000503000000000000" charset="0"/>
                            <a:cs typeface="DejaVu Math TeX Gyre" panose="02000503000000000000" charset="0"/>
                          </a:rPr>
                          <m:t>2</m:t>
                        </m:r>
                      </m:e>
                      <m:sup>
                        <m:r>
                          <a:rPr lang="en-US" altLang="zh-CN" i="1">
                            <a:latin typeface="DejaVu Math TeX Gyre" panose="02000503000000000000" charset="0"/>
                            <a:cs typeface="DejaVu Math TeX Gyre" panose="02000503000000000000" charset="0"/>
                          </a:rPr>
                          <m:t>𝑛</m:t>
                        </m:r>
                      </m:sup>
                    </m:sSup>
                    <m:r>
                      <a:rPr lang="en-US" altLang="zh-CN" i="1">
                        <a:latin typeface="DejaVu Math TeX Gyre" panose="02000503000000000000" charset="0"/>
                        <a:cs typeface="DejaVu Math TeX Gyre" panose="02000503000000000000" charset="0"/>
                      </a:rPr>
                      <m:t>−</m:t>
                    </m:r>
                    <m:r>
                      <a:rPr lang="en-US" altLang="zh-CN" i="1">
                        <a:latin typeface="DejaVu Math TeX Gyre" panose="02000503000000000000" charset="0"/>
                        <a:cs typeface="DejaVu Math TeX Gyre" panose="02000503000000000000" charset="0"/>
                      </a:rPr>
                      <m:t>(</m:t>
                    </m:r>
                    <m:r>
                      <a:rPr lang="en-US" altLang="zh-CN" i="1">
                        <a:latin typeface="DejaVu Math TeX Gyre" panose="02000503000000000000" charset="0"/>
                        <a:cs typeface="DejaVu Math TeX Gyre" panose="02000503000000000000" charset="0"/>
                      </a:rPr>
                      <m:t>𝑋</m:t>
                    </m:r>
                    <m:r>
                      <a:rPr lang="en-US" altLang="zh-CN" i="1">
                        <a:latin typeface="DejaVu Math TeX Gyre" panose="02000503000000000000" charset="0"/>
                        <a:cs typeface="DejaVu Math TeX Gyre" panose="02000503000000000000" charset="0"/>
                      </a:rPr>
                      <m:t>−</m:t>
                    </m:r>
                    <m:sSup>
                      <m:sSupPr>
                        <m:ctrlPr>
                          <a:rPr lang="en-US" altLang="zh-CN" i="1">
                            <a:latin typeface="DejaVu Math TeX Gyre" panose="02000503000000000000" charset="0"/>
                            <a:cs typeface="DejaVu Math TeX Gyre" panose="02000503000000000000" charset="0"/>
                          </a:rPr>
                        </m:ctrlPr>
                      </m:sSupPr>
                      <m:e>
                        <m:r>
                          <a:rPr lang="en-US" altLang="zh-CN" i="1">
                            <a:latin typeface="DejaVu Math TeX Gyre" panose="02000503000000000000" charset="0"/>
                            <a:cs typeface="DejaVu Math TeX Gyre" panose="02000503000000000000" charset="0"/>
                          </a:rPr>
                          <m:t>2</m:t>
                        </m:r>
                      </m:e>
                      <m:sup>
                        <m:r>
                          <a:rPr lang="en-US" altLang="zh-CN" i="1">
                            <a:latin typeface="DejaVu Math TeX Gyre" panose="02000503000000000000" charset="0"/>
                            <a:cs typeface="DejaVu Math TeX Gyre" panose="02000503000000000000" charset="0"/>
                          </a:rPr>
                          <m:t>𝑛</m:t>
                        </m:r>
                        <m:r>
                          <a:rPr lang="en-US" altLang="zh-CN" i="1">
                            <a:latin typeface="DejaVu Math TeX Gyre" panose="02000503000000000000" charset="0"/>
                            <a:cs typeface="DejaVu Math TeX Gyre" panose="02000503000000000000" charset="0"/>
                          </a:rPr>
                          <m:t>−</m:t>
                        </m:r>
                        <m:r>
                          <a:rPr lang="en-US" altLang="zh-CN" i="1">
                            <a:latin typeface="DejaVu Math TeX Gyre" panose="02000503000000000000" charset="0"/>
                            <a:cs typeface="DejaVu Math TeX Gyre" panose="02000503000000000000" charset="0"/>
                          </a:rPr>
                          <m:t>1</m:t>
                        </m:r>
                      </m:sup>
                    </m:sSup>
                    <m:r>
                      <a:rPr lang="en-US" altLang="zh-CN" i="1">
                        <a:latin typeface="DejaVu Math TeX Gyre" panose="02000503000000000000" charset="0"/>
                        <a:cs typeface="DejaVu Math TeX Gyre" panose="02000503000000000000" charset="0"/>
                      </a:rPr>
                      <m:t>)</m:t>
                    </m:r>
                  </m:oMath>
                </a14:m>
                <a:endParaRPr lang="en-US" altLang="zh-CN" i="1">
                  <a:latin typeface="DejaVu Math TeX Gyre" panose="02000503000000000000" charset="0"/>
                  <a:cs typeface="DejaVu Math TeX Gyre" panose="02000503000000000000" charset="0"/>
                </a:endParaRPr>
              </a:p>
              <a:p>
                <a14:m>
                  <m:oMath xmlns:m="http://schemas.openxmlformats.org/officeDocument/2006/math">
                    <m:r>
                      <a:rPr lang="en-US" altLang="x-none" i="1">
                        <a:latin typeface="DejaVu Math TeX Gyre" panose="02000503000000000000" charset="0"/>
                        <a:cs typeface="DejaVu Math TeX Gyre" panose="02000503000000000000" charset="0"/>
                      </a:rPr>
                      <m:t>𝑋</m:t>
                    </m:r>
                    <m:r>
                      <a:rPr lang="en-US" altLang="x-none" i="1">
                        <a:latin typeface="DejaVu Math TeX Gyre" panose="02000503000000000000" charset="0"/>
                        <a:cs typeface="DejaVu Math TeX Gyre" panose="02000503000000000000" charset="0"/>
                      </a:rPr>
                      <m:t>=</m:t>
                    </m:r>
                    <m:sSup>
                      <m:sSupPr>
                        <m:ctrlPr>
                          <a:rPr lang="en-US" altLang="x-none" i="1">
                            <a:latin typeface="DejaVu Math TeX Gyre" panose="02000503000000000000" charset="0"/>
                            <a:cs typeface="DejaVu Math TeX Gyre" panose="02000503000000000000" charset="0"/>
                          </a:rPr>
                        </m:ctrlPr>
                      </m:sSupPr>
                      <m:e>
                        <m:r>
                          <a:rPr lang="en-US" altLang="x-none" i="1">
                            <a:latin typeface="DejaVu Math TeX Gyre" panose="02000503000000000000" charset="0"/>
                            <a:cs typeface="DejaVu Math TeX Gyre" panose="02000503000000000000" charset="0"/>
                          </a:rPr>
                          <m:t>2</m:t>
                        </m:r>
                      </m:e>
                      <m:sup>
                        <m:r>
                          <a:rPr lang="en-US" altLang="x-none" i="1">
                            <a:latin typeface="DejaVu Math TeX Gyre" panose="02000503000000000000" charset="0"/>
                            <a:cs typeface="DejaVu Math TeX Gyre" panose="02000503000000000000" charset="0"/>
                          </a:rPr>
                          <m:t>𝑛</m:t>
                        </m:r>
                        <m:r>
                          <a:rPr lang="en-US" altLang="x-none" i="1">
                            <a:latin typeface="DejaVu Math TeX Gyre" panose="02000503000000000000" charset="0"/>
                            <a:cs typeface="DejaVu Math TeX Gyre" panose="02000503000000000000" charset="0"/>
                          </a:rPr>
                          <m:t>−</m:t>
                        </m:r>
                        <m:r>
                          <a:rPr lang="en-US" altLang="x-none" i="1">
                            <a:latin typeface="DejaVu Math TeX Gyre" panose="02000503000000000000" charset="0"/>
                            <a:cs typeface="DejaVu Math TeX Gyre" panose="02000503000000000000" charset="0"/>
                          </a:rPr>
                          <m:t>1</m:t>
                        </m:r>
                      </m:sup>
                    </m:sSup>
                    <m:r>
                      <a:rPr lang="en-US" altLang="x-none" i="1">
                        <a:latin typeface="DejaVu Math TeX Gyre" panose="02000503000000000000" charset="0"/>
                        <a:cs typeface="DejaVu Math TeX Gyre" panose="02000503000000000000" charset="0"/>
                      </a:rPr>
                      <m:t>+</m:t>
                    </m:r>
                    <m:sSup>
                      <m:sSupPr>
                        <m:ctrlPr>
                          <a:rPr lang="en-US" altLang="x-none" i="1">
                            <a:latin typeface="DejaVu Math TeX Gyre" panose="02000503000000000000" charset="0"/>
                            <a:cs typeface="DejaVu Math TeX Gyre" panose="02000503000000000000" charset="0"/>
                          </a:rPr>
                        </m:ctrlPr>
                      </m:sSupPr>
                      <m:e>
                        <m:r>
                          <a:rPr lang="en-US" altLang="x-none" i="1">
                            <a:latin typeface="DejaVu Math TeX Gyre" panose="02000503000000000000" charset="0"/>
                            <a:cs typeface="DejaVu Math TeX Gyre" panose="02000503000000000000" charset="0"/>
                          </a:rPr>
                          <m:t>2</m:t>
                        </m:r>
                      </m:e>
                      <m:sup>
                        <m:r>
                          <a:rPr lang="en-US" altLang="x-none" i="1">
                            <a:latin typeface="DejaVu Math TeX Gyre" panose="02000503000000000000" charset="0"/>
                            <a:cs typeface="DejaVu Math TeX Gyre" panose="02000503000000000000" charset="0"/>
                          </a:rPr>
                          <m:t>𝑛</m:t>
                        </m:r>
                        <m:r>
                          <a:rPr lang="en-US" altLang="x-none" i="1">
                            <a:latin typeface="DejaVu Math TeX Gyre" panose="02000503000000000000" charset="0"/>
                            <a:cs typeface="DejaVu Math TeX Gyre" panose="02000503000000000000" charset="0"/>
                          </a:rPr>
                          <m:t>−</m:t>
                        </m:r>
                        <m:r>
                          <a:rPr lang="en-US" altLang="x-none" i="1">
                            <a:latin typeface="DejaVu Math TeX Gyre" panose="02000503000000000000" charset="0"/>
                            <a:cs typeface="DejaVu Math TeX Gyre" panose="02000503000000000000" charset="0"/>
                          </a:rPr>
                          <m:t>2</m:t>
                        </m:r>
                      </m:sup>
                    </m:sSup>
                    <m:r>
                      <a:rPr lang="en-US" altLang="x-none" i="1">
                        <a:latin typeface="DejaVu Math TeX Gyre" panose="02000503000000000000" charset="0"/>
                        <a:cs typeface="DejaVu Math TeX Gyre" panose="02000503000000000000" charset="0"/>
                      </a:rPr>
                      <m:t>=</m:t>
                    </m:r>
                    <m:sSup>
                      <m:sSupPr>
                        <m:ctrlPr>
                          <a:rPr lang="en-US" altLang="x-none" i="1">
                            <a:latin typeface="DejaVu Math TeX Gyre" panose="02000503000000000000" charset="0"/>
                            <a:cs typeface="DejaVu Math TeX Gyre" panose="02000503000000000000" charset="0"/>
                          </a:rPr>
                        </m:ctrlPr>
                      </m:sSupPr>
                      <m:e>
                        <m:r>
                          <a:rPr lang="en-US" altLang="x-none" i="1">
                            <a:latin typeface="DejaVu Math TeX Gyre" panose="02000503000000000000" charset="0"/>
                            <a:cs typeface="DejaVu Math TeX Gyre" panose="02000503000000000000" charset="0"/>
                          </a:rPr>
                          <m:t>2</m:t>
                        </m:r>
                      </m:e>
                      <m:sup>
                        <m:r>
                          <a:rPr lang="en-US" altLang="x-none" i="1">
                            <a:latin typeface="DejaVu Math TeX Gyre" panose="02000503000000000000" charset="0"/>
                            <a:cs typeface="DejaVu Math TeX Gyre" panose="02000503000000000000" charset="0"/>
                          </a:rPr>
                          <m:t>7</m:t>
                        </m:r>
                      </m:sup>
                    </m:sSup>
                    <m:r>
                      <a:rPr lang="en-US" altLang="x-none" i="1">
                        <a:latin typeface="DejaVu Math TeX Gyre" panose="02000503000000000000" charset="0"/>
                        <a:cs typeface="DejaVu Math TeX Gyre" panose="02000503000000000000" charset="0"/>
                      </a:rPr>
                      <m:t>+</m:t>
                    </m:r>
                    <m:sSup>
                      <m:sSupPr>
                        <m:ctrlPr>
                          <a:rPr lang="en-US" altLang="x-none" i="1">
                            <a:latin typeface="DejaVu Math TeX Gyre" panose="02000503000000000000" charset="0"/>
                            <a:cs typeface="DejaVu Math TeX Gyre" panose="02000503000000000000" charset="0"/>
                          </a:rPr>
                        </m:ctrlPr>
                      </m:sSupPr>
                      <m:e>
                        <m:r>
                          <a:rPr lang="en-US" altLang="x-none" i="1">
                            <a:latin typeface="DejaVu Math TeX Gyre" panose="02000503000000000000" charset="0"/>
                            <a:cs typeface="DejaVu Math TeX Gyre" panose="02000503000000000000" charset="0"/>
                          </a:rPr>
                          <m:t>2</m:t>
                        </m:r>
                      </m:e>
                      <m:sup>
                        <m:r>
                          <a:rPr lang="en-US" altLang="x-none" i="1">
                            <a:latin typeface="DejaVu Math TeX Gyre" panose="02000503000000000000" charset="0"/>
                            <a:cs typeface="DejaVu Math TeX Gyre" panose="02000503000000000000" charset="0"/>
                          </a:rPr>
                          <m:t>6</m:t>
                        </m:r>
                      </m:sup>
                    </m:sSup>
                    <m:r>
                      <a:rPr lang="en-US" altLang="x-none" i="1">
                        <a:latin typeface="DejaVu Math TeX Gyre" panose="02000503000000000000" charset="0"/>
                        <a:cs typeface="DejaVu Math TeX Gyre" panose="02000503000000000000" charset="0"/>
                      </a:rPr>
                      <m:t>=</m:t>
                    </m:r>
                    <m:r>
                      <a:rPr lang="en-US" altLang="x-none" i="1">
                        <a:latin typeface="DejaVu Math TeX Gyre" panose="02000503000000000000" charset="0"/>
                        <a:cs typeface="DejaVu Math TeX Gyre" panose="02000503000000000000" charset="0"/>
                      </a:rPr>
                      <m:t>11000000</m:t>
                    </m:r>
                    <m:r>
                      <a:rPr lang="en-US" altLang="x-none" i="1">
                        <a:latin typeface="DejaVu Math TeX Gyre" panose="02000503000000000000" charset="0"/>
                        <a:cs typeface="DejaVu Math TeX Gyre" panose="02000503000000000000" charset="0"/>
                      </a:rPr>
                      <m:t>=</m:t>
                    </m:r>
                    <m:r>
                      <a:rPr lang="en-US" altLang="x-none" i="1">
                        <a:latin typeface="DejaVu Math TeX Gyre" panose="02000503000000000000" charset="0"/>
                        <a:cs typeface="DejaVu Math TeX Gyre" panose="02000503000000000000" charset="0"/>
                      </a:rPr>
                      <m:t>−</m:t>
                    </m:r>
                    <m:r>
                      <a:rPr lang="en-US" altLang="x-none" i="1">
                        <a:latin typeface="DejaVu Math TeX Gyre" panose="02000503000000000000" charset="0"/>
                        <a:cs typeface="DejaVu Math TeX Gyre" panose="02000503000000000000" charset="0"/>
                      </a:rPr>
                      <m:t>64</m:t>
                    </m:r>
                  </m:oMath>
                </a14:m>
                <a:endParaRPr lang="x-none" altLang="zh-CN"/>
              </a:p>
            </p:txBody>
          </p:sp>
        </mc:Choice>
        <mc:Fallback>
          <p:sp>
            <p:nvSpPr>
              <p:cNvPr id="3" name="内容占位符 2"/>
              <p:cNvSpPr>
                <a:spLocks noRot="1" noChangeAspect="1" noMove="1" noResize="1" noEditPoints="1" noAdjustHandles="1" noChangeArrowheads="1" noChangeShapeType="1" noTextEdit="1"/>
              </p:cNvSpPr>
              <p:nvPr>
                <p:ph idx="1"/>
              </p:nvPr>
            </p:nvSpPr>
            <p:spPr>
              <a:xfrm>
                <a:off x="647700" y="2933700"/>
                <a:ext cx="10515600" cy="3243580"/>
              </a:xfrm>
              <a:blipFill rotWithShape="1">
                <a:blip r:embed="rId1"/>
                <a:stretch>
                  <a:fillRect/>
                </a:stretch>
              </a:blipFill>
            </p:spPr>
            <p:txBody>
              <a:bodyPr/>
              <a:lstStyle/>
              <a:p>
                <a:r>
                  <a:rPr lang="zh-CN" altLang="en-US">
                    <a:noFill/>
                  </a:rPr>
                  <a:t> </a:t>
                </a:r>
              </a:p>
            </p:txBody>
          </p:sp>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139700" y="156845"/>
            <a:ext cx="5543550" cy="6153150"/>
          </a:xfrm>
          <a:prstGeom prst="rect">
            <a:avLst/>
          </a:prstGeom>
        </p:spPr>
      </p:pic>
      <p:pic>
        <p:nvPicPr>
          <p:cNvPr id="5" name="图片 4"/>
          <p:cNvPicPr>
            <a:picLocks noChangeAspect="1"/>
          </p:cNvPicPr>
          <p:nvPr/>
        </p:nvPicPr>
        <p:blipFill>
          <a:blip r:embed="rId2"/>
          <a:stretch>
            <a:fillRect/>
          </a:stretch>
        </p:blipFill>
        <p:spPr>
          <a:xfrm>
            <a:off x="5904230" y="2207895"/>
            <a:ext cx="5684520" cy="244221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x-none" altLang="zh-CN"/>
              <a:t>T5</a:t>
            </a:r>
            <a:br>
              <a:rPr lang="x-none" altLang="zh-CN"/>
            </a:br>
            <a:r>
              <a:rPr lang="en-US" altLang="zh-CN"/>
              <a:t>Write the decimal equivalents for the IEEE floating point number below. </a:t>
            </a:r>
            <a:r>
              <a:rPr lang="zh-CN" altLang="en-US"/>
              <a:t>为下面的</a:t>
            </a:r>
            <a:r>
              <a:rPr lang="en-US" altLang="zh-CN"/>
              <a:t> IEEE </a:t>
            </a:r>
            <a:r>
              <a:rPr lang="zh-CN" altLang="en-US"/>
              <a:t>浮点数写出其十进制等价形式。</a:t>
            </a:r>
            <a:br>
              <a:rPr lang="zh-CN" altLang="en-US"/>
            </a:br>
            <a:r>
              <a:rPr lang="en-US" altLang="zh-CN"/>
              <a:t>0 10000010 10100000000000000000000</a:t>
            </a:r>
            <a:endParaRPr lang="en-US" altLang="zh-CN"/>
          </a:p>
        </p:txBody>
      </p:sp>
      <p:sp>
        <p:nvSpPr>
          <p:cNvPr id="3" name="内容占位符 2"/>
          <p:cNvSpPr>
            <a:spLocks noGrp="1"/>
          </p:cNvSpPr>
          <p:nvPr>
            <p:ph idx="1"/>
          </p:nvPr>
        </p:nvSpPr>
        <p:spPr>
          <a:xfrm>
            <a:off x="647700" y="1647190"/>
            <a:ext cx="10515600" cy="1603375"/>
          </a:xfrm>
        </p:spPr>
        <p:txBody>
          <a:bodyPr/>
          <a:p>
            <a:pPr marL="0" indent="0">
              <a:buNone/>
            </a:pPr>
            <a:r>
              <a:rPr lang="zh-CN" altLang="en-US"/>
              <a:t>这个</a:t>
            </a:r>
            <a:r>
              <a:rPr lang="en-US" altLang="zh-CN"/>
              <a:t> IEEE </a:t>
            </a:r>
            <a:r>
              <a:rPr lang="zh-CN" altLang="en-US"/>
              <a:t>单精度浮点数</a:t>
            </a:r>
            <a:r>
              <a:rPr lang="en-US" altLang="zh-CN"/>
              <a:t> 0 10000010 10100000000000000000000 </a:t>
            </a:r>
            <a:r>
              <a:rPr lang="zh-CN" altLang="en-US"/>
              <a:t>的符号位为</a:t>
            </a:r>
            <a:r>
              <a:rPr lang="en-US" altLang="zh-CN"/>
              <a:t> 0</a:t>
            </a:r>
            <a:r>
              <a:rPr lang="zh-CN" altLang="en-US"/>
              <a:t>，</a:t>
            </a:r>
            <a:endParaRPr lang="zh-CN" altLang="en-US"/>
          </a:p>
          <a:p>
            <a:pPr marL="0" indent="0">
              <a:buNone/>
            </a:pPr>
            <a:r>
              <a:rPr lang="zh-CN" altLang="en-US"/>
              <a:t>表示正数；阶码为</a:t>
            </a:r>
            <a:r>
              <a:rPr lang="en-US" altLang="zh-CN"/>
              <a:t> 130</a:t>
            </a:r>
            <a:r>
              <a:rPr lang="zh-CN" altLang="en-US"/>
              <a:t>，减去偏移量</a:t>
            </a:r>
            <a:r>
              <a:rPr lang="en-US" altLang="zh-CN"/>
              <a:t> 127 </a:t>
            </a:r>
            <a:r>
              <a:rPr lang="zh-CN" altLang="en-US"/>
              <a:t>得到实际指数</a:t>
            </a:r>
            <a:r>
              <a:rPr lang="en-US" altLang="zh-CN"/>
              <a:t> 3</a:t>
            </a:r>
            <a:r>
              <a:rPr lang="zh-CN" altLang="en-US"/>
              <a:t>；尾数部分为</a:t>
            </a:r>
            <a:r>
              <a:rPr lang="en-US" altLang="zh-CN"/>
              <a:t> </a:t>
            </a:r>
            <a:r>
              <a:rPr lang="x-none" altLang="en-US"/>
              <a:t>b1.101</a:t>
            </a:r>
            <a:r>
              <a:rPr lang="zh-CN" altLang="en-US"/>
              <a:t>。</a:t>
            </a:r>
            <a:endParaRPr lang="zh-CN" altLang="en-US"/>
          </a:p>
          <a:p>
            <a:pPr marL="0" indent="0">
              <a:buNone/>
            </a:pPr>
            <a:r>
              <a:rPr lang="zh-CN" altLang="en-US"/>
              <a:t>综合计算得到数值为</a:t>
            </a:r>
            <a:r>
              <a:rPr lang="en-US" altLang="zh-CN"/>
              <a:t> +</a:t>
            </a:r>
            <a:r>
              <a:rPr lang="x-none" altLang="en-US"/>
              <a:t>(b</a:t>
            </a:r>
            <a:r>
              <a:rPr lang="en-US" altLang="zh-CN"/>
              <a:t>1.</a:t>
            </a:r>
            <a:r>
              <a:rPr lang="x-none" altLang="en-US"/>
              <a:t>101</a:t>
            </a:r>
            <a:r>
              <a:rPr lang="en-US" altLang="zh-CN"/>
              <a:t> </a:t>
            </a:r>
            <a:r>
              <a:rPr lang="en-US" altLang="en-US"/>
              <a:t>×</a:t>
            </a:r>
            <a:r>
              <a:rPr lang="en-US" altLang="zh-CN"/>
              <a:t> 2^3</a:t>
            </a:r>
            <a:r>
              <a:rPr lang="x-none" altLang="en-US"/>
              <a:t>)</a:t>
            </a:r>
            <a:r>
              <a:rPr lang="en-US" altLang="zh-CN"/>
              <a:t> = </a:t>
            </a:r>
            <a:r>
              <a:rPr lang="x-none" altLang="en-US"/>
              <a:t>b1101=</a:t>
            </a:r>
            <a:r>
              <a:rPr lang="en-US" altLang="zh-CN"/>
              <a:t>13.0</a:t>
            </a:r>
            <a:r>
              <a:rPr lang="zh-CN" altLang="en-US"/>
              <a:t>，因此它的十进制等价形式是</a:t>
            </a:r>
            <a:r>
              <a:rPr lang="en-US" altLang="zh-CN"/>
              <a:t> 13.0</a:t>
            </a:r>
            <a:r>
              <a:rPr lang="zh-CN" altLang="en-US"/>
              <a:t>。</a:t>
            </a:r>
            <a:endParaRPr lang="zh-CN" altLang="en-US"/>
          </a:p>
        </p:txBody>
      </p:sp>
      <p:graphicFrame>
        <p:nvGraphicFramePr>
          <p:cNvPr id="15" name="Object 0"/>
          <p:cNvGraphicFramePr>
            <a:graphicFrameLocks noChangeAspect="1"/>
          </p:cNvGraphicFramePr>
          <p:nvPr/>
        </p:nvGraphicFramePr>
        <p:xfrm>
          <a:off x="648335" y="3250565"/>
          <a:ext cx="11344275" cy="1149985"/>
        </p:xfrm>
        <a:graphic>
          <a:graphicData uri="http://schemas.openxmlformats.org/presentationml/2006/ole">
            <mc:AlternateContent xmlns:mc="http://schemas.openxmlformats.org/markup-compatibility/2006">
              <mc:Choice xmlns:v="urn:schemas-microsoft-com:vml" Requires="v">
                <p:oleObj spid="_x0000_s4" name="公式" r:id="rId1" imgW="4013200" imgH="482600" progId="Equation.3">
                  <p:embed/>
                </p:oleObj>
              </mc:Choice>
              <mc:Fallback>
                <p:oleObj name="公式" r:id="rId1" imgW="4013200" imgH="482600" progId="Equation.3">
                  <p:embed/>
                  <p:pic>
                    <p:nvPicPr>
                      <p:cNvPr id="0" name="Object 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8335" y="3250565"/>
                        <a:ext cx="11344275" cy="1149985"/>
                      </a:xfrm>
                      <a:prstGeom prst="rect">
                        <a:avLst/>
                      </a:prstGeom>
                      <a:noFill/>
                      <a:ln>
                        <a:noFill/>
                      </a:ln>
                    </p:spPr>
                  </p:pic>
                </p:oleObj>
              </mc:Fallback>
            </mc:AlternateContent>
          </a:graphicData>
        </a:graphic>
      </p:graphicFrame>
      <p:pic>
        <p:nvPicPr>
          <p:cNvPr id="5" name="图片 4"/>
          <p:cNvPicPr>
            <a:picLocks noChangeAspect="1"/>
          </p:cNvPicPr>
          <p:nvPr/>
        </p:nvPicPr>
        <p:blipFill>
          <a:blip r:embed="rId3"/>
          <a:stretch>
            <a:fillRect/>
          </a:stretch>
        </p:blipFill>
        <p:spPr>
          <a:xfrm>
            <a:off x="352425" y="4512945"/>
            <a:ext cx="11487150" cy="229044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47700" y="258445"/>
            <a:ext cx="10515600" cy="2425065"/>
          </a:xfrm>
        </p:spPr>
        <p:txBody>
          <a:bodyPr>
            <a:normAutofit fontScale="90000"/>
          </a:bodyPr>
          <a:p>
            <a:r>
              <a:rPr lang="x-none" altLang="zh-CN"/>
              <a:t>T6</a:t>
            </a:r>
            <a:br>
              <a:rPr lang="x-none" altLang="zh-CN"/>
            </a:br>
            <a:r>
              <a:rPr lang="en-US" altLang="zh-CN"/>
              <a:t>What is the smallest number that can be represented in IEEE floating point</a:t>
            </a:r>
            <a:r>
              <a:rPr lang="x-none" altLang="en-US"/>
              <a:t> </a:t>
            </a:r>
            <a:r>
              <a:rPr lang="en-US" altLang="zh-CN"/>
              <a:t>format with 32 bits regardless of infinity? What about the smallest</a:t>
            </a:r>
            <a:r>
              <a:rPr lang="x-none" altLang="en-US"/>
              <a:t> </a:t>
            </a:r>
            <a:r>
              <a:rPr lang="en-US" altLang="zh-CN"/>
              <a:t>positive number? (Answer in binary)</a:t>
            </a:r>
            <a:br>
              <a:rPr lang="en-US" altLang="zh-CN"/>
            </a:br>
            <a:r>
              <a:rPr lang="zh-CN" altLang="en-US"/>
              <a:t>在不考虑无穷大的情况下，</a:t>
            </a:r>
            <a:r>
              <a:rPr lang="en-US" altLang="zh-CN"/>
              <a:t>IEEE 32 </a:t>
            </a:r>
            <a:r>
              <a:rPr lang="zh-CN" altLang="en-US"/>
              <a:t>位浮点数格式中可以表示的最小的数是什么？那最小的正数又是什么？（请用二进制回答）</a:t>
            </a:r>
            <a:endParaRPr lang="zh-CN" altLang="en-US"/>
          </a:p>
        </p:txBody>
      </p:sp>
      <p:sp>
        <p:nvSpPr>
          <p:cNvPr id="3" name="内容占位符 2"/>
          <p:cNvSpPr>
            <a:spLocks noGrp="1"/>
          </p:cNvSpPr>
          <p:nvPr>
            <p:ph idx="1"/>
          </p:nvPr>
        </p:nvSpPr>
        <p:spPr>
          <a:xfrm>
            <a:off x="647700" y="2818765"/>
            <a:ext cx="10515600" cy="3358515"/>
          </a:xfrm>
        </p:spPr>
        <p:txBody>
          <a:bodyPr/>
          <a:p>
            <a:r>
              <a:rPr lang="zh-CN" altLang="en-US"/>
              <a:t>最小可以表示的浮点数为</a:t>
            </a:r>
            <a:r>
              <a:rPr lang="en-US" altLang="zh-CN"/>
              <a:t> −(2 − 2</a:t>
            </a:r>
            <a:r>
              <a:rPr lang="en-US" altLang="en-US"/>
              <a:t>⁻</a:t>
            </a:r>
            <a:r>
              <a:rPr lang="en-US" altLang="zh-CN"/>
              <a:t> </a:t>
            </a:r>
            <a:r>
              <a:rPr lang="en-US" altLang="en-US"/>
              <a:t>²³</a:t>
            </a:r>
            <a:r>
              <a:rPr lang="en-US" altLang="zh-CN"/>
              <a:t>) </a:t>
            </a:r>
            <a:r>
              <a:rPr lang="en-US" altLang="en-US"/>
              <a:t>×</a:t>
            </a:r>
            <a:r>
              <a:rPr lang="en-US" altLang="zh-CN"/>
              <a:t> 2</a:t>
            </a:r>
            <a:r>
              <a:rPr lang="en-US" altLang="en-US"/>
              <a:t>¹²⁷</a:t>
            </a:r>
            <a:r>
              <a:rPr lang="zh-CN" altLang="en-US"/>
              <a:t>，也就是</a:t>
            </a:r>
            <a:endParaRPr lang="zh-CN" altLang="en-US"/>
          </a:p>
          <a:p>
            <a:r>
              <a:rPr lang="en-US" altLang="zh-CN"/>
              <a:t>1 11111110 11111111111111111111111</a:t>
            </a:r>
            <a:endParaRPr lang="en-US" altLang="zh-CN"/>
          </a:p>
          <a:p>
            <a:endParaRPr lang="en-US" altLang="zh-CN"/>
          </a:p>
          <a:p>
            <a:endParaRPr lang="en-US" altLang="zh-CN"/>
          </a:p>
          <a:p>
            <a:endParaRPr lang="en-US" altLang="zh-CN"/>
          </a:p>
          <a:p>
            <a:r>
              <a:rPr lang="zh-CN" altLang="en-US"/>
              <a:t>最小可以表示的正数为</a:t>
            </a:r>
            <a:r>
              <a:rPr lang="en-US" altLang="zh-CN"/>
              <a:t> 2</a:t>
            </a:r>
            <a:r>
              <a:rPr lang="en-US" altLang="en-US"/>
              <a:t>⁻</a:t>
            </a:r>
            <a:r>
              <a:rPr lang="en-US" altLang="zh-CN"/>
              <a:t> </a:t>
            </a:r>
            <a:r>
              <a:rPr lang="en-US" altLang="en-US"/>
              <a:t>²³</a:t>
            </a:r>
            <a:r>
              <a:rPr lang="en-US" altLang="zh-CN"/>
              <a:t> </a:t>
            </a:r>
            <a:r>
              <a:rPr lang="en-US" altLang="en-US"/>
              <a:t>×</a:t>
            </a:r>
            <a:r>
              <a:rPr lang="en-US" altLang="zh-CN"/>
              <a:t> 2</a:t>
            </a:r>
            <a:r>
              <a:rPr lang="en-US" altLang="en-US"/>
              <a:t>⁻</a:t>
            </a:r>
            <a:r>
              <a:rPr lang="en-US" altLang="zh-CN"/>
              <a:t> </a:t>
            </a:r>
            <a:r>
              <a:rPr lang="en-US" altLang="en-US"/>
              <a:t>¹²⁶</a:t>
            </a:r>
            <a:r>
              <a:rPr lang="zh-CN" altLang="en-US"/>
              <a:t>，也就是</a:t>
            </a:r>
            <a:endParaRPr lang="zh-CN" altLang="en-US"/>
          </a:p>
          <a:p>
            <a:r>
              <a:rPr lang="en-US" altLang="zh-CN"/>
              <a:t>0 00000000 00000000000000000000001</a:t>
            </a:r>
            <a:endParaRPr lang="en-US" altLang="zh-C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47700" y="258445"/>
            <a:ext cx="4091305" cy="6374130"/>
          </a:xfrm>
        </p:spPr>
        <p:txBody>
          <a:bodyPr>
            <a:normAutofit/>
          </a:bodyPr>
          <a:p>
            <a:r>
              <a:rPr lang="en-US" altLang="zh-CN"/>
              <a:t>T7</a:t>
            </a:r>
            <a:br>
              <a:rPr lang="en-US" altLang="zh-CN"/>
            </a:br>
            <a:r>
              <a:rPr lang="en-US" altLang="zh-CN"/>
              <a:t>Can you list all the integers whose IEEE floating point representationsare exactly the same as their 2's complement integer representations?(Answer in decimal)</a:t>
            </a:r>
            <a:br>
              <a:rPr lang="en-US" altLang="zh-CN"/>
            </a:br>
            <a:r>
              <a:rPr lang="zh-CN" altLang="en-US"/>
              <a:t>请列出所有这样的整数：它们的</a:t>
            </a:r>
            <a:r>
              <a:rPr lang="en-US" altLang="zh-CN"/>
              <a:t> IEEE </a:t>
            </a:r>
            <a:r>
              <a:rPr lang="zh-CN" altLang="en-US"/>
              <a:t>浮点数表示与它们的二进制补码整数表示</a:t>
            </a:r>
            <a:br>
              <a:rPr lang="zh-CN" altLang="en-US"/>
            </a:br>
            <a:r>
              <a:rPr lang="zh-CN" altLang="en-US"/>
              <a:t>完全相同。（答案用十进制表示）</a:t>
            </a:r>
            <a:endParaRPr lang="zh-CN" altLang="en-US"/>
          </a:p>
        </p:txBody>
      </p:sp>
      <p:pic>
        <p:nvPicPr>
          <p:cNvPr id="4" name="图片 3"/>
          <p:cNvPicPr>
            <a:picLocks noChangeAspect="1"/>
          </p:cNvPicPr>
          <p:nvPr/>
        </p:nvPicPr>
        <p:blipFill>
          <a:blip r:embed="rId1"/>
          <a:stretch>
            <a:fillRect/>
          </a:stretch>
        </p:blipFill>
        <p:spPr>
          <a:xfrm>
            <a:off x="6014085" y="697230"/>
            <a:ext cx="3714750" cy="551497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内容占位符 5"/>
          <p:cNvPicPr>
            <a:picLocks noChangeAspect="1"/>
          </p:cNvPicPr>
          <p:nvPr>
            <p:ph idx="1"/>
          </p:nvPr>
        </p:nvPicPr>
        <p:blipFill>
          <a:blip r:embed="rId1"/>
          <a:stretch>
            <a:fillRect/>
          </a:stretch>
        </p:blipFill>
        <p:spPr>
          <a:xfrm>
            <a:off x="0" y="1162050"/>
            <a:ext cx="6150610" cy="3686175"/>
          </a:xfrm>
          <a:prstGeom prst="rect">
            <a:avLst/>
          </a:prstGeom>
        </p:spPr>
      </p:pic>
      <p:pic>
        <p:nvPicPr>
          <p:cNvPr id="7" name="图片 6"/>
          <p:cNvPicPr>
            <a:picLocks noChangeAspect="1"/>
          </p:cNvPicPr>
          <p:nvPr/>
        </p:nvPicPr>
        <p:blipFill>
          <a:blip r:embed="rId2"/>
          <a:stretch>
            <a:fillRect/>
          </a:stretch>
        </p:blipFill>
        <p:spPr>
          <a:xfrm>
            <a:off x="6213475" y="1162050"/>
            <a:ext cx="5886450" cy="3709035"/>
          </a:xfrm>
          <a:prstGeom prst="rect">
            <a:avLst/>
          </a:prstGeom>
        </p:spPr>
      </p:pic>
      <mc:AlternateContent xmlns:mc="http://schemas.openxmlformats.org/markup-compatibility/2006">
        <mc:Choice xmlns:a14="http://schemas.microsoft.com/office/drawing/2010/main" Requires="a14">
          <p:sp>
            <p:nvSpPr>
              <p:cNvPr id="11" name="文本框 10"/>
              <p:cNvSpPr txBox="1"/>
              <p:nvPr/>
            </p:nvSpPr>
            <p:spPr>
              <a:xfrm>
                <a:off x="1511300" y="408940"/>
                <a:ext cx="4064000" cy="656590"/>
              </a:xfrm>
              <a:prstGeom prst="rect">
                <a:avLst/>
              </a:prstGeom>
              <a:noFill/>
            </p:spPr>
            <p:txBody>
              <a:bodyPr wrap="square" rtlCol="0">
                <a:spAutoFit/>
              </a:bodyPr>
              <a:p>
                <a:r>
                  <a:rPr lang="en-US" altLang="zh-CN"/>
                  <a:t>INT:	</a:t>
                </a:r>
                <a14:m>
                  <m:oMath xmlns:m="http://schemas.openxmlformats.org/officeDocument/2006/math">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m:t>
                    </m:r>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2</m:t>
                        </m:r>
                      </m:e>
                      <m:sup>
                        <m:r>
                          <a:rPr lang="en-US" altLang="zh-CN" i="1">
                            <a:latin typeface="Cambria Math" panose="02040503050406030204" charset="0"/>
                            <a:cs typeface="Cambria Math" panose="02040503050406030204" charset="0"/>
                          </a:rPr>
                          <m:t>31</m:t>
                        </m:r>
                      </m:sup>
                    </m:sSup>
                    <m:r>
                      <a:rPr lang="en-US" altLang="zh-CN" i="1">
                        <a:latin typeface="Cambria Math" panose="02040503050406030204" charset="0"/>
                        <a:cs typeface="Cambria Math" panose="02040503050406030204" charset="0"/>
                      </a:rPr>
                      <m:t>,</m:t>
                    </m:r>
                    <m:sSup>
                      <m:sSupPr>
                        <m:ctrlPr>
                          <a:rPr lang="en-US" altLang="zh-CN" i="1">
                            <a:latin typeface="Cambria Math" panose="02040503050406030204" charset="0"/>
                            <a:cs typeface="Cambria Math" panose="02040503050406030204" charset="0"/>
                          </a:rPr>
                        </m:ctrlPr>
                      </m:sSupPr>
                      <m:e>
                        <m:r>
                          <a:rPr lang="en-US" altLang="zh-CN" i="1">
                            <a:latin typeface="Cambria Math" panose="02040503050406030204" charset="0"/>
                            <a:cs typeface="Cambria Math" panose="02040503050406030204" charset="0"/>
                          </a:rPr>
                          <m:t>2</m:t>
                        </m:r>
                      </m:e>
                      <m:sup>
                        <m:r>
                          <a:rPr lang="en-US" altLang="zh-CN" i="1">
                            <a:latin typeface="Cambria Math" panose="02040503050406030204" charset="0"/>
                            <a:cs typeface="Cambria Math" panose="02040503050406030204" charset="0"/>
                          </a:rPr>
                          <m:t>31</m:t>
                        </m:r>
                      </m:sup>
                    </m:sSup>
                    <m:r>
                      <a:rPr lang="en-US" altLang="zh-CN" i="1">
                        <a:latin typeface="Cambria Math" panose="02040503050406030204" charset="0"/>
                        <a:cs typeface="Cambria Math" panose="02040503050406030204" charset="0"/>
                      </a:rPr>
                      <m:t>−</m:t>
                    </m:r>
                    <m:r>
                      <a:rPr lang="en-US" altLang="zh-CN" i="1">
                        <a:latin typeface="Cambria Math" panose="02040503050406030204" charset="0"/>
                        <a:cs typeface="Cambria Math" panose="02040503050406030204" charset="0"/>
                      </a:rPr>
                      <m:t>1</m:t>
                    </m:r>
                    <m:r>
                      <a:rPr lang="en-US" altLang="zh-CN" i="1">
                        <a:latin typeface="Cambria Math" panose="02040503050406030204" charset="0"/>
                        <a:cs typeface="Cambria Math" panose="02040503050406030204" charset="0"/>
                      </a:rPr>
                      <m:t>]</m:t>
                    </m:r>
                  </m:oMath>
                </a14:m>
                <a:endParaRPr lang="en-US" altLang="zh-CN" i="1">
                  <a:latin typeface="Cambria Math" panose="02040503050406030204" charset="0"/>
                  <a:cs typeface="Cambria Math" panose="02040503050406030204" charset="0"/>
                </a:endParaRPr>
              </a:p>
              <a:p>
                <a:r>
                  <a:rPr lang="en-US" altLang="zh-CN"/>
                  <a:t>FLOAT:	23bit frac</a:t>
                </a:r>
                <a:endParaRPr lang="en-US" altLang="zh-CN"/>
              </a:p>
            </p:txBody>
          </p:sp>
        </mc:Choice>
        <mc:Fallback>
          <p:sp>
            <p:nvSpPr>
              <p:cNvPr id="11" name="文本框 10"/>
              <p:cNvSpPr txBox="1">
                <a:spLocks noRot="1" noChangeAspect="1" noMove="1" noResize="1" noEditPoints="1" noAdjustHandles="1" noChangeArrowheads="1" noChangeShapeType="1" noTextEdit="1"/>
              </p:cNvSpPr>
              <p:nvPr/>
            </p:nvSpPr>
            <p:spPr>
              <a:xfrm>
                <a:off x="1511300" y="408940"/>
                <a:ext cx="4064000" cy="656590"/>
              </a:xfrm>
              <a:prstGeom prst="rect">
                <a:avLst/>
              </a:prstGeom>
              <a:blipFill rotWithShape="1">
                <a:blip r:embed="rId3"/>
                <a:stretch>
                  <a:fillRect/>
                </a:stretch>
              </a:blipFill>
            </p:spPr>
            <p:txBody>
              <a:bodyPr/>
              <a:lstStyle/>
              <a:p>
                <a:r>
                  <a:rPr lang="zh-CN" altLang="en-US">
                    <a:noFill/>
                  </a:rPr>
                  <a:t> </a:t>
                </a:r>
              </a:p>
            </p:txBody>
          </p:sp>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0" y="0"/>
            <a:ext cx="10715625" cy="6105525"/>
          </a:xfrm>
          <a:prstGeom prst="rect">
            <a:avLst/>
          </a:prstGeom>
        </p:spPr>
      </p:pic>
      <p:sp>
        <p:nvSpPr>
          <p:cNvPr id="5" name="文本框 4"/>
          <p:cNvSpPr txBox="1"/>
          <p:nvPr/>
        </p:nvSpPr>
        <p:spPr>
          <a:xfrm>
            <a:off x="4603115" y="4629150"/>
            <a:ext cx="4064000" cy="1476375"/>
          </a:xfrm>
          <a:prstGeom prst="rect">
            <a:avLst/>
          </a:prstGeom>
          <a:noFill/>
        </p:spPr>
        <p:txBody>
          <a:bodyPr wrap="square" rtlCol="0">
            <a:noAutofit/>
          </a:bodyPr>
          <a:p>
            <a:r>
              <a:rPr lang="en-US" altLang="zh-CN"/>
              <a:t>T</a:t>
            </a:r>
            <a:endParaRPr lang="en-US" altLang="zh-CN"/>
          </a:p>
          <a:p>
            <a:r>
              <a:rPr lang="en-US" altLang="zh-CN"/>
              <a:t>F</a:t>
            </a:r>
            <a:endParaRPr lang="en-US" altLang="zh-CN"/>
          </a:p>
          <a:p>
            <a:r>
              <a:rPr lang="en-US" altLang="zh-CN"/>
              <a:t>T</a:t>
            </a:r>
            <a:endParaRPr lang="en-US" altLang="zh-CN"/>
          </a:p>
          <a:p>
            <a:r>
              <a:rPr lang="en-US" altLang="zh-CN"/>
              <a:t>F</a:t>
            </a:r>
            <a:endParaRPr lang="en-US" altLang="zh-CN"/>
          </a:p>
          <a:p>
            <a:r>
              <a:rPr lang="en-US" altLang="zh-CN"/>
              <a:t>F</a:t>
            </a:r>
            <a:endParaRPr lang="en-US" altLang="zh-C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70485" y="62865"/>
            <a:ext cx="5591175" cy="4248150"/>
          </a:xfrm>
          <a:prstGeom prst="rect">
            <a:avLst/>
          </a:prstGeom>
        </p:spPr>
      </p:pic>
      <p:pic>
        <p:nvPicPr>
          <p:cNvPr id="5" name="图片 4"/>
          <p:cNvPicPr>
            <a:picLocks noChangeAspect="1"/>
          </p:cNvPicPr>
          <p:nvPr/>
        </p:nvPicPr>
        <p:blipFill>
          <a:blip r:embed="rId2"/>
          <a:stretch>
            <a:fillRect/>
          </a:stretch>
        </p:blipFill>
        <p:spPr>
          <a:xfrm>
            <a:off x="6623685" y="371475"/>
            <a:ext cx="4533900" cy="2038350"/>
          </a:xfrm>
          <a:prstGeom prst="rect">
            <a:avLst/>
          </a:prstGeom>
        </p:spPr>
      </p:pic>
      <p:sp>
        <p:nvSpPr>
          <p:cNvPr id="6" name="文本框 5"/>
          <p:cNvSpPr txBox="1"/>
          <p:nvPr/>
        </p:nvSpPr>
        <p:spPr>
          <a:xfrm>
            <a:off x="6858635" y="2705100"/>
            <a:ext cx="4064000" cy="3138170"/>
          </a:xfrm>
          <a:prstGeom prst="rect">
            <a:avLst/>
          </a:prstGeom>
          <a:noFill/>
        </p:spPr>
        <p:txBody>
          <a:bodyPr wrap="square" rtlCol="0">
            <a:spAutoFit/>
          </a:bodyPr>
          <a:p>
            <a:r>
              <a:rPr lang="x-none" altLang="zh-CN"/>
              <a:t>2.溢出，以及a，b指向同一个元素时结果为0</a:t>
            </a:r>
            <a:endParaRPr lang="x-none" altLang="zh-CN"/>
          </a:p>
          <a:p>
            <a:pPr marL="342900" indent="-342900">
              <a:buAutoNum type="circleNumDbPlain"/>
            </a:pPr>
            <a:endParaRPr lang="x-none" altLang="zh-CN"/>
          </a:p>
          <a:p>
            <a:pPr marL="342900" indent="-342900">
              <a:buFont typeface="+mj-ea"/>
              <a:buAutoNum type="circleNumDbPlain"/>
            </a:pPr>
            <a:r>
              <a:rPr lang="zh-CN" altLang="en-US"/>
              <a:t>加</a:t>
            </a:r>
            <a:r>
              <a:rPr lang="x-none" altLang="zh-CN"/>
              <a:t>入</a:t>
            </a:r>
            <a:r>
              <a:rPr lang="zh-CN" altLang="en-US"/>
              <a:t>判断，确保不会对同一个元素进行交换：</a:t>
            </a:r>
            <a:endParaRPr lang="x-none" altLang="zh-CN"/>
          </a:p>
          <a:p>
            <a:pPr marL="342900" indent="-342900">
              <a:buFont typeface="+mj-ea"/>
              <a:buAutoNum type="circleNumDbPlain"/>
            </a:pPr>
            <a:r>
              <a:rPr lang="x-none" altLang="zh-CN"/>
              <a:t>引入临时变量</a:t>
            </a:r>
            <a:endParaRPr lang="x-none" altLang="zh-CN"/>
          </a:p>
          <a:p>
            <a:pPr marL="342900" indent="-342900">
              <a:buFont typeface="+mj-ea"/>
              <a:buAutoNum type="circleNumDbPlain"/>
            </a:pPr>
            <a:endParaRPr lang="x-none" altLang="zh-CN"/>
          </a:p>
          <a:p>
            <a:pPr marL="342900" indent="-342900">
              <a:buFont typeface="+mj-ea"/>
              <a:buAutoNum type="circleNumDbPlain"/>
            </a:pPr>
            <a:endParaRPr lang="x-none" altLang="zh-CN"/>
          </a:p>
          <a:p>
            <a:pPr indent="0">
              <a:buFont typeface="+mj-ea"/>
              <a:buNone/>
            </a:pPr>
            <a:r>
              <a:rPr lang="x-none" altLang="zh-CN"/>
              <a:t>异或不能避免</a:t>
            </a:r>
            <a:r>
              <a:rPr lang="x-none" altLang="zh-CN">
                <a:sym typeface="+mn-ea"/>
              </a:rPr>
              <a:t>a，b指向同一个元素时结果为0</a:t>
            </a:r>
            <a:endParaRPr lang="x-none" altLang="zh-CN"/>
          </a:p>
          <a:p>
            <a:pPr indent="0">
              <a:buFont typeface="+mj-ea"/>
              <a:buNone/>
            </a:pPr>
            <a:endParaRPr lang="x-none" altLang="zh-C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73660" y="113030"/>
            <a:ext cx="5089525" cy="6631305"/>
          </a:xfrm>
          <a:prstGeom prst="rect">
            <a:avLst/>
          </a:prstGeom>
        </p:spPr>
      </p:pic>
      <p:pic>
        <p:nvPicPr>
          <p:cNvPr id="5" name="图片 4"/>
          <p:cNvPicPr>
            <a:picLocks noChangeAspect="1"/>
          </p:cNvPicPr>
          <p:nvPr/>
        </p:nvPicPr>
        <p:blipFill>
          <a:blip r:embed="rId2"/>
          <a:stretch>
            <a:fillRect/>
          </a:stretch>
        </p:blipFill>
        <p:spPr>
          <a:xfrm>
            <a:off x="5227320" y="2179320"/>
            <a:ext cx="6873875" cy="245364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0" y="922655"/>
            <a:ext cx="5524500" cy="5133975"/>
          </a:xfrm>
          <a:prstGeom prst="rect">
            <a:avLst/>
          </a:prstGeom>
        </p:spPr>
      </p:pic>
      <p:sp>
        <p:nvSpPr>
          <p:cNvPr id="7" name="文本框 6"/>
          <p:cNvSpPr txBox="1"/>
          <p:nvPr/>
        </p:nvSpPr>
        <p:spPr>
          <a:xfrm>
            <a:off x="5676265" y="442595"/>
            <a:ext cx="5080000" cy="2132965"/>
          </a:xfrm>
          <a:prstGeom prst="rect">
            <a:avLst/>
          </a:prstGeom>
        </p:spPr>
        <p:txBody>
          <a:bodyPr>
            <a:noAutofit/>
          </a:bodyPr>
          <a:p>
            <a:r>
              <a:rPr lang="en-US" altLang="zh-CN" sz="1600">
                <a:solidFill>
                  <a:srgbClr val="333333"/>
                </a:solidFill>
                <a:latin typeface="黑体" panose="02010609060101010101" charset="-122"/>
                <a:ea typeface="黑体" panose="02010609060101010101" charset="-122"/>
              </a:rPr>
              <a:t>1. </a:t>
            </a:r>
            <a:r>
              <a:rPr lang="zh-CN" altLang="en-US" sz="1600">
                <a:solidFill>
                  <a:srgbClr val="333333"/>
                </a:solidFill>
                <a:latin typeface="黑体" panose="02010609060101010101" charset="-122"/>
                <a:ea typeface="黑体" panose="02010609060101010101" charset="-122"/>
              </a:rPr>
              <a:t>共有 </a:t>
            </a:r>
            <a:r>
              <a:rPr lang="en-US" altLang="zh-CN" sz="1600">
                <a:solidFill>
                  <a:srgbClr val="333333"/>
                </a:solidFill>
                <a:latin typeface="黑体" panose="02010609060101010101" charset="-122"/>
                <a:ea typeface="黑体" panose="02010609060101010101" charset="-122"/>
              </a:rPr>
              <a:t>64 </a:t>
            </a:r>
            <a:r>
              <a:rPr lang="zh-CN" altLang="en-US" sz="1600">
                <a:solidFill>
                  <a:srgbClr val="333333"/>
                </a:solidFill>
                <a:latin typeface="黑体" panose="02010609060101010101" charset="-122"/>
                <a:ea typeface="黑体" panose="02010609060101010101" charset="-122"/>
              </a:rPr>
              <a:t>个字符，因此需要 </a:t>
            </a:r>
            <a:r>
              <a:rPr lang="en-US" altLang="zh-CN" sz="1600">
                <a:solidFill>
                  <a:srgbClr val="333333"/>
                </a:solidFill>
                <a:latin typeface="黑体" panose="02010609060101010101" charset="-122"/>
                <a:ea typeface="黑体" panose="02010609060101010101" charset="-122"/>
              </a:rPr>
              <a:t>6 </a:t>
            </a:r>
            <a:r>
              <a:rPr lang="zh-CN" altLang="en-US" sz="1600">
                <a:solidFill>
                  <a:srgbClr val="333333"/>
                </a:solidFill>
                <a:latin typeface="黑体" panose="02010609060101010101" charset="-122"/>
                <a:ea typeface="黑体" panose="02010609060101010101" charset="-122"/>
              </a:rPr>
              <a:t>位二进制数来表示。 </a:t>
            </a:r>
            <a:endParaRPr lang="zh-CN" altLang="en-US" sz="1600">
              <a:solidFill>
                <a:srgbClr val="333333"/>
              </a:solidFill>
              <a:latin typeface="黑体" panose="02010609060101010101" charset="-122"/>
              <a:ea typeface="黑体" panose="02010609060101010101" charset="-122"/>
            </a:endParaRPr>
          </a:p>
          <a:p>
            <a:r>
              <a:rPr lang="en-US" altLang="zh-CN" sz="1600">
                <a:solidFill>
                  <a:srgbClr val="333333"/>
                </a:solidFill>
                <a:latin typeface="黑体" panose="02010609060101010101" charset="-122"/>
                <a:ea typeface="黑体" panose="02010609060101010101" charset="-122"/>
              </a:rPr>
              <a:t>2.6N </a:t>
            </a:r>
            <a:endParaRPr lang="en-US" altLang="zh-CN" sz="1600">
              <a:solidFill>
                <a:srgbClr val="333333"/>
              </a:solidFill>
              <a:latin typeface="黑体" panose="02010609060101010101" charset="-122"/>
              <a:ea typeface="黑体" panose="02010609060101010101" charset="-122"/>
            </a:endParaRPr>
          </a:p>
          <a:p>
            <a:r>
              <a:rPr lang="en-US" altLang="zh-CN" sz="1600">
                <a:solidFill>
                  <a:srgbClr val="333333"/>
                </a:solidFill>
                <a:latin typeface="黑体" panose="02010609060101010101" charset="-122"/>
                <a:ea typeface="黑体" panose="02010609060101010101" charset="-122"/>
              </a:rPr>
              <a:t>3.001000 </a:t>
            </a:r>
            <a:r>
              <a:rPr lang="x-none" altLang="en-US" sz="1600">
                <a:solidFill>
                  <a:srgbClr val="333333"/>
                </a:solidFill>
                <a:latin typeface="黑体" panose="02010609060101010101" charset="-122"/>
                <a:ea typeface="黑体" panose="02010609060101010101" charset="-122"/>
              </a:rPr>
              <a:t>011100</a:t>
            </a:r>
            <a:r>
              <a:rPr lang="en-US" altLang="zh-CN" sz="1600">
                <a:solidFill>
                  <a:srgbClr val="333333"/>
                </a:solidFill>
                <a:latin typeface="黑体" panose="02010609060101010101" charset="-122"/>
                <a:ea typeface="黑体" panose="02010609060101010101" charset="-122"/>
              </a:rPr>
              <a:t> 101100 111110 110110 110100 110110 111001 111111</a:t>
            </a:r>
            <a:endParaRPr lang="en-US" altLang="zh-CN" sz="1600">
              <a:solidFill>
                <a:srgbClr val="333333"/>
              </a:solidFill>
              <a:latin typeface="黑体" panose="02010609060101010101" charset="-122"/>
              <a:ea typeface="黑体" panose="02010609060101010101" charset="-122"/>
            </a:endParaRPr>
          </a:p>
          <a:p>
            <a:endParaRPr lang="x-none" altLang="en-US" sz="1600">
              <a:solidFill>
                <a:srgbClr val="333333"/>
              </a:solidFill>
              <a:latin typeface="黑体" panose="02010609060101010101" charset="-122"/>
              <a:ea typeface="黑体" panose="02010609060101010101" charset="-122"/>
            </a:endParaRPr>
          </a:p>
          <a:p>
            <a:endParaRPr lang="x-none" altLang="en-US" sz="1600">
              <a:solidFill>
                <a:srgbClr val="333333"/>
              </a:solidFill>
              <a:latin typeface="黑体" panose="02010609060101010101" charset="-122"/>
              <a:ea typeface="黑体" panose="02010609060101010101" charset="-122"/>
            </a:endParaRPr>
          </a:p>
          <a:p>
            <a:endParaRPr lang="x-none" altLang="en-US" sz="1600">
              <a:solidFill>
                <a:srgbClr val="333333"/>
              </a:solidFill>
              <a:latin typeface="黑体" panose="02010609060101010101" charset="-122"/>
              <a:ea typeface="黑体" panose="02010609060101010101" charset="-122"/>
            </a:endParaRPr>
          </a:p>
          <a:p>
            <a:endParaRPr lang="x-none" altLang="en-US" sz="1600">
              <a:solidFill>
                <a:srgbClr val="333333"/>
              </a:solidFill>
              <a:latin typeface="黑体" panose="02010609060101010101" charset="-122"/>
              <a:ea typeface="黑体" panose="02010609060101010101" charset="-122"/>
            </a:endParaRPr>
          </a:p>
          <a:p>
            <a:endParaRPr lang="x-none" altLang="en-US" sz="1600">
              <a:solidFill>
                <a:srgbClr val="333333"/>
              </a:solidFill>
              <a:latin typeface="黑体" panose="02010609060101010101" charset="-122"/>
              <a:ea typeface="黑体" panose="02010609060101010101" charset="-122"/>
            </a:endParaRPr>
          </a:p>
        </p:txBody>
      </p:sp>
      <p:pic>
        <p:nvPicPr>
          <p:cNvPr id="9" name="图片 8"/>
          <p:cNvPicPr>
            <a:picLocks noChangeAspect="1"/>
          </p:cNvPicPr>
          <p:nvPr/>
        </p:nvPicPr>
        <p:blipFill>
          <a:blip r:embed="rId2"/>
          <a:stretch>
            <a:fillRect/>
          </a:stretch>
        </p:blipFill>
        <p:spPr>
          <a:xfrm>
            <a:off x="4325620" y="3366770"/>
            <a:ext cx="7468235" cy="1823720"/>
          </a:xfrm>
          <a:prstGeom prst="rect">
            <a:avLst/>
          </a:prstGeom>
        </p:spPr>
      </p:pic>
      <p:pic>
        <p:nvPicPr>
          <p:cNvPr id="12" name="图片 11"/>
          <p:cNvPicPr>
            <a:picLocks noChangeAspect="1"/>
          </p:cNvPicPr>
          <p:nvPr/>
        </p:nvPicPr>
        <p:blipFill>
          <a:blip r:embed="rId3"/>
          <a:stretch>
            <a:fillRect/>
          </a:stretch>
        </p:blipFill>
        <p:spPr>
          <a:xfrm>
            <a:off x="5843905" y="1851660"/>
            <a:ext cx="4907280" cy="1264285"/>
          </a:xfrm>
          <a:prstGeom prst="rect">
            <a:avLst/>
          </a:prstGeom>
        </p:spPr>
      </p:pic>
    </p:spTree>
  </p:cSld>
  <p:clrMapOvr>
    <a:masterClrMapping/>
  </p:clrMapOvr>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2231</Words>
  <Application>WPS 演示</Application>
  <PresentationFormat>宽屏</PresentationFormat>
  <Paragraphs>84</Paragraphs>
  <Slides>15</Slides>
  <Notes>0</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vt:i4>
      </vt:variant>
      <vt:variant>
        <vt:lpstr>幻灯片标题</vt:lpstr>
      </vt:variant>
      <vt:variant>
        <vt:i4>15</vt:i4>
      </vt:variant>
    </vt:vector>
  </HeadingPairs>
  <TitlesOfParts>
    <vt:vector size="27" baseType="lpstr">
      <vt:lpstr>Arial</vt:lpstr>
      <vt:lpstr>宋体</vt:lpstr>
      <vt:lpstr>Wingdings</vt:lpstr>
      <vt:lpstr>DejaVu Math TeX Gyre</vt:lpstr>
      <vt:lpstr>Cambria Math</vt:lpstr>
      <vt:lpstr>黑体</vt:lpstr>
      <vt:lpstr>Calibri Light</vt:lpstr>
      <vt:lpstr>微软雅黑</vt:lpstr>
      <vt:lpstr>Arial Unicode MS</vt:lpstr>
      <vt:lpstr>Calibri</vt:lpstr>
      <vt:lpstr>WPS</vt:lpstr>
      <vt:lpstr>Equation.3</vt:lpstr>
      <vt:lpstr>HW1</vt:lpstr>
      <vt:lpstr>T1 1. Convert these decimal numbers to 8-bit 2's complement numbers: 将这些十进制数转换为 8 位二进制的二进制补码（2’s complement）形式。</vt:lpstr>
      <vt:lpstr>2. Convert the following 8-bit 2's complement numbers to decimal.  将下面的  8 位二进制补码数转换为十进制数。</vt:lpstr>
      <vt:lpstr>PowerPoint 演示文稿</vt:lpstr>
      <vt:lpstr> T2 1.What's the smallest and largest number that can be represented by an 8-bit 2's complement number? (Answer in decimal) 用 8 位二进制的二进制补码表示时，能表示的最小值和最大值分别是多少？（答 案用十进制表示） 2. Try to determine the range that an N-bit 2's complement number can represent. (Answer in decimal) 试着确定一个 N 位二进制补码数所能表示的数值范围。（答案用十进制表示） </vt:lpstr>
      <vt:lpstr>T3 Is there a negative integer that has identical 2's complement representation and original code in binary (8-bit)? If so, what is it? (Answer in decimal) 在 8 位二进制中，是否存在一个负整数，它的 二进制补码表示与 原码 （sign-magnitude code） 表示相同？如果有，请写出这个数的十进制</vt:lpstr>
      <vt:lpstr>PowerPoint 演示文稿</vt:lpstr>
      <vt:lpstr>T5 Write the decimal equivalents for the IEEE floating point number below. 为下面的 IEEE 浮点数写出其十进制等价形式。 0 10000010 10100000000000000000000</vt:lpstr>
      <vt:lpstr>T6 What is the smallest number that can be represented in IEEE floating point format with 32 bits regardless of infinity? What about the smallest positive number? (Answer in binary) 在不考虑无穷大的情况下，IEEE 32 位浮点数格式中可以表示的最小的数是什么？那最小的正数又是什么？（请用二进制回答）</vt:lpstr>
      <vt:lpstr>T7 Can you list all the integers whose IEEE floating point representationsare exactly the same as their 2's complement integer representations?(Answer in decimal) 请列出所有这样的整数：它们的 IEEE 浮点数表示与它们的二进制补码整数表示 完全相同。（答案用十进制表示）</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HW1</dc:title>
  <dc:creator/>
  <cp:lastModifiedBy>微信用户</cp:lastModifiedBy>
  <cp:revision>5</cp:revision>
  <dcterms:created xsi:type="dcterms:W3CDTF">2025-11-01T02:14:58Z</dcterms:created>
  <dcterms:modified xsi:type="dcterms:W3CDTF">2025-11-01T03:06:42Z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2052-12.1.0.23125</vt:lpwstr>
  </property>
  <property fmtid="{D5CDD505-2E9C-101B-9397-08002B2CF9AE}" pid="3" name="ICV">
    <vt:lpwstr>F61789C4575950E09BB60469898FD5E4_43</vt:lpwstr>
  </property>
</Properties>
</file>