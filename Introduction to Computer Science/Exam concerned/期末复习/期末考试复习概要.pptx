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  <p:sldId id="268" r:id="rId14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 4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直接连接符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​​(S)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​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​​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​​(S)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​​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​​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组 22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直接连接符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​​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​​(S)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组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直接连接符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接连接符​​(S)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​​(S)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​​(S)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直接连接符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​​(S)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​​(S)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​​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​​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 23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直接连接符​​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​​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​​(S)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​​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组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直接连接符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​​(S)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​​(S)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​​(S)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直接连接符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​​(S)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​​(S)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​​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93845" y="959327"/>
            <a:ext cx="9604310" cy="3096549"/>
          </a:xfrm>
        </p:spPr>
        <p:txBody>
          <a:bodyPr rtlCol="0" anchor="b">
            <a:normAutofit/>
          </a:bodyPr>
          <a:lstStyle>
            <a:lvl1pPr algn="l">
              <a:lnSpc>
                <a:spcPct val="100000"/>
              </a:lnSpc>
              <a:defRPr sz="8000" cap="none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93845" y="4143199"/>
            <a:ext cx="9604310" cy="4572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cxnSp>
        <p:nvCxnSpPr>
          <p:cNvPr id="58" name="直接连接符​​ 57"/>
          <p:cNvCxnSpPr/>
          <p:nvPr/>
        </p:nvCxnSpPr>
        <p:spPr>
          <a:xfrm>
            <a:off x="1295400" y="4050852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9304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5CEBB46-FED3-496A-B611-61D3D08BD310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8C9328E1-0AEA-4FD7-BB9E-65C812C63D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799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 6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直接连接符​​(S)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​​(S)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​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​​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​​(S)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​​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​​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​​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组 23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直接连接符​​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​​(S)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​​(S)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组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直接连接符​​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​​(S)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​​(S)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​​(S)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直接连接符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​​(S)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​​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​​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组 24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直接连接符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​​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​​(S)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​​(S)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​​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组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直接连接符​​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​​(S)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​​(S)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​​(S)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直接连接符​​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​​(S)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​​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9194" y="1310873"/>
            <a:ext cx="9601200" cy="2743200"/>
          </a:xfrm>
        </p:spPr>
        <p:txBody>
          <a:bodyPr rtlCol="0"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99194" y="4153737"/>
            <a:ext cx="9601200" cy="45720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cxnSp>
        <p:nvCxnSpPr>
          <p:cNvPr id="58" name="直接连接符​​ 57"/>
          <p:cNvCxnSpPr/>
          <p:nvPr/>
        </p:nvCxnSpPr>
        <p:spPr>
          <a:xfrm>
            <a:off x="1295400" y="4064010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426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5CEBB46-FED3-496A-B611-61D3D08BD310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8C9328E1-0AEA-4FD7-BB9E-65C812C63D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270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 rtlCol="0"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 rtlCol="0"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5CEBB46-FED3-496A-B611-61D3D08BD310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8C9328E1-0AEA-4FD7-BB9E-65C812C63D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075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5CEBB46-FED3-496A-B611-61D3D08BD310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8C9328E1-0AEA-4FD7-BB9E-65C812C63D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439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组 160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直接连接符​​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​​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​​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​​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​​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​​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​​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​​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​​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​​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​​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​​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​​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​​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​​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​​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组 177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直接连接符​​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直接连接符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直接连接符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直接连接符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直接连接符​​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组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直接连接符​​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直接连接符​​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直接连接符​​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直接连接符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直接连接符​​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直接连接符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直接连接符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直接连接符​​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接连接符​​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接连接符​​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组 178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直接连接符​​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接连接符​​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直接连接符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接连接符​​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接连接符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组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直接连接符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直接连接符​​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直接连接符​​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直接连接符​​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直接连接符​​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直接连接符​​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接连接符​​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直接连接符​​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接连接符​​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​​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页脚占位符 21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212" name="日期占位符 21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5CEBB46-FED3-496A-B611-61D3D08BD310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214" name="幻灯片编号占位符 21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8C9328E1-0AEA-4FD7-BB9E-65C812C63D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458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带标题的内容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 8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直接连接符​​(S)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​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​​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​​(S)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​​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​​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​​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​​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组 25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直接连接符​​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​​(S)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​​(S)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​​(S)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组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直接连接符​​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​​(S)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​​(S)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连接符​​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连接符​​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直接连接符​​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​​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​​(S)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​​(S)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组 26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直接连接符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​​(S)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​​(S)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​​(S)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​​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组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直接连接符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​​(S)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​​(S)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​​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连接符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直接连接符​​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​​(S)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​​(S)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矩形 6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rtlCol="0" anchor="b">
            <a:normAutofit/>
          </a:bodyPr>
          <a:lstStyle>
            <a:lvl1pPr>
              <a:defRPr sz="2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 rtlCol="0"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cxnSp>
        <p:nvCxnSpPr>
          <p:cNvPr id="60" name="直接连接符 59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5CEBB46-FED3-496A-B611-61D3D08BD310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8" name="幻灯片编号占位符 7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8C9328E1-0AEA-4FD7-BB9E-65C812C63D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279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带题注的图片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直接连接符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​​(S)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​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​​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​​(S)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​​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​​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​​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​​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组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直接连接符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​​(S)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​​(S)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​​(S)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组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直接连接符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​​(S)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​​(S)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​​(S)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连接符​​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直接连接符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​​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​​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​​(S)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​​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组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直接连接符​​(S)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​​(S)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​​(S)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​​(S)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组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直接连接符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​​(S)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​​(S)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​​(S)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​​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直接连接符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​​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​​(S)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​​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矩形​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9" name="直接连接符​​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rtlCol="0" anchor="b">
            <a:normAutofit/>
          </a:bodyPr>
          <a:lstStyle>
            <a:lvl1pPr>
              <a:defRPr sz="2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 descr="为添加图像预留的空占位符。单击占位符，选择要添加的图像。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 rtlCol="0">
            <a:normAutofit/>
          </a:bodyPr>
          <a:lstStyle>
            <a:lvl1pPr marL="0" indent="0" algn="ctr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 rtlCol="0"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54075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5CEBB46-FED3-496A-B611-61D3D08BD310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8C9328E1-0AEA-4FD7-BB9E-65C812C63D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8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5CEBB46-FED3-496A-B611-61D3D08BD310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8C9328E1-0AEA-4FD7-BB9E-65C812C63D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861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组 95"/>
          <p:cNvGrpSpPr/>
          <p:nvPr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直接连接符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​​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​​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​​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​​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​​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​​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组 112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直接连接符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接连接符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组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直接连接符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直接连接符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直接连接符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直接连接符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直接连接符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直接连接符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组 113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直接连接符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组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直接连接符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连接符​​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直接连接符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直接连接符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直接连接符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直接连接符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cxnSp>
        <p:nvCxnSpPr>
          <p:cNvPr id="148" name="直接连接符 147"/>
          <p:cNvCxnSpPr/>
          <p:nvPr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992717" y="6289679"/>
            <a:ext cx="1267271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5CEBB46-FED3-496A-B611-61D3D08BD310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8C9328E1-0AEA-4FD7-BB9E-65C812C63D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931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D2E30B-CE83-9A40-0B6A-0209B1E7FC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The Final Step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977F0F8-C8CC-6329-99FC-5337E14E56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3845" y="4165144"/>
            <a:ext cx="9604310" cy="1452930"/>
          </a:xfrm>
        </p:spPr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计算系统概论 </a:t>
            </a:r>
            <a:r>
              <a:rPr lang="en-US" altLang="zh-CN" dirty="0"/>
              <a:t>A》</a:t>
            </a:r>
            <a:r>
              <a:rPr lang="zh-CN" altLang="en-US" dirty="0"/>
              <a:t>复习课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高浚潇</a:t>
            </a:r>
          </a:p>
        </p:txBody>
      </p:sp>
    </p:spTree>
    <p:extLst>
      <p:ext uri="{BB962C8B-B14F-4D97-AF65-F5344CB8AC3E}">
        <p14:creationId xmlns:p14="http://schemas.microsoft.com/office/powerpoint/2010/main" val="288327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D43D76-9EB7-8127-8B57-843319940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考试信息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300629-0C1C-68B0-C9BD-C2AE10FCB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2026/01/17</a:t>
            </a:r>
            <a:r>
              <a:rPr lang="zh-CN" altLang="en-US" dirty="0"/>
              <a:t>，</a:t>
            </a:r>
            <a:r>
              <a:rPr lang="en-US" altLang="zh-CN" dirty="0"/>
              <a:t>120 </a:t>
            </a:r>
            <a:r>
              <a:rPr lang="zh-CN" altLang="en-US" dirty="0"/>
              <a:t>分钟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开卷考试（不能携带电子产品）</a:t>
            </a:r>
            <a:endParaRPr lang="en-US" altLang="zh-CN" dirty="0"/>
          </a:p>
          <a:p>
            <a:r>
              <a:rPr lang="zh-CN" altLang="en-US" dirty="0"/>
              <a:t>考试范围：</a:t>
            </a:r>
            <a:r>
              <a:rPr lang="en-US" altLang="zh-CN" dirty="0"/>
              <a:t>1-13</a:t>
            </a:r>
            <a:r>
              <a:rPr lang="zh-CN" altLang="en-US" dirty="0"/>
              <a:t>、</a:t>
            </a:r>
            <a:r>
              <a:rPr lang="en-US" altLang="zh-CN" dirty="0"/>
              <a:t>16</a:t>
            </a:r>
            <a:r>
              <a:rPr lang="zh-CN" altLang="en-US" dirty="0"/>
              <a:t>、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、</a:t>
            </a:r>
            <a:r>
              <a:rPr lang="en-US" altLang="zh-CN" dirty="0"/>
              <a:t>D</a:t>
            </a:r>
          </a:p>
          <a:p>
            <a:r>
              <a:rPr lang="zh-CN" altLang="en-US" dirty="0"/>
              <a:t>有选择地做题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38911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CD030B-1D9A-4804-9DDD-9B194D48A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题型分布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03CC7E-3D07-EE37-A494-461808D08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诚信考试协议书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</a:t>
            </a:r>
            <a:r>
              <a:rPr lang="zh-CN" altLang="en-US" dirty="0"/>
              <a:t>：不定项选择</a:t>
            </a:r>
            <a:endParaRPr lang="en-US" altLang="zh-CN" dirty="0"/>
          </a:p>
          <a:p>
            <a:r>
              <a:rPr lang="en-US" altLang="zh-CN" dirty="0"/>
              <a:t>B</a:t>
            </a:r>
            <a:r>
              <a:rPr lang="zh-CN" altLang="en-US" dirty="0"/>
              <a:t>：知识问答</a:t>
            </a:r>
            <a:endParaRPr lang="en-US" altLang="zh-CN" dirty="0"/>
          </a:p>
          <a:p>
            <a:r>
              <a:rPr lang="en-US" altLang="zh-CN" dirty="0"/>
              <a:t>C</a:t>
            </a:r>
            <a:r>
              <a:rPr lang="zh-CN" altLang="en-US" dirty="0"/>
              <a:t>：</a:t>
            </a:r>
            <a:r>
              <a:rPr lang="en-US" altLang="zh-CN" dirty="0"/>
              <a:t>LC-3 </a:t>
            </a:r>
            <a:r>
              <a:rPr lang="zh-CN" altLang="en-US" dirty="0"/>
              <a:t>架构</a:t>
            </a:r>
            <a:endParaRPr lang="en-US" altLang="zh-CN" dirty="0"/>
          </a:p>
          <a:p>
            <a:r>
              <a:rPr lang="en-US" altLang="zh-CN" dirty="0"/>
              <a:t>D</a:t>
            </a:r>
            <a:r>
              <a:rPr lang="zh-CN" altLang="en-US" dirty="0"/>
              <a:t>：数据结构</a:t>
            </a:r>
            <a:endParaRPr lang="en-US" altLang="zh-CN" dirty="0"/>
          </a:p>
          <a:p>
            <a:r>
              <a:rPr lang="en-US" altLang="zh-CN" dirty="0"/>
              <a:t>E</a:t>
            </a:r>
            <a:r>
              <a:rPr lang="zh-CN" altLang="en-US" dirty="0"/>
              <a:t>：解决问题</a:t>
            </a:r>
          </a:p>
        </p:txBody>
      </p:sp>
    </p:spTree>
    <p:extLst>
      <p:ext uri="{BB962C8B-B14F-4D97-AF65-F5344CB8AC3E}">
        <p14:creationId xmlns:p14="http://schemas.microsoft.com/office/powerpoint/2010/main" val="220307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69431C-BD77-6920-1082-AFDC5ED91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信息的表示法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B693A4-C980-9314-B8DC-A90F54BA8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原码、反码、补码</a:t>
            </a:r>
            <a:endParaRPr lang="en-US" altLang="zh-CN" dirty="0"/>
          </a:p>
          <a:p>
            <a:r>
              <a:rPr lang="zh-CN" altLang="en-US" dirty="0"/>
              <a:t>整数补码的转换与运算</a:t>
            </a:r>
            <a:endParaRPr lang="en-US" altLang="zh-CN" dirty="0"/>
          </a:p>
          <a:p>
            <a:r>
              <a:rPr lang="zh-CN" altLang="en-US" dirty="0"/>
              <a:t>浮点数的转换与运算</a:t>
            </a:r>
            <a:endParaRPr lang="en-US" altLang="zh-CN" dirty="0"/>
          </a:p>
          <a:p>
            <a:r>
              <a:rPr lang="en-US" altLang="zh-CN" dirty="0"/>
              <a:t>ASCII </a:t>
            </a:r>
            <a:r>
              <a:rPr lang="zh-CN" altLang="en-US" dirty="0"/>
              <a:t>编码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77654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71FFD4-481C-57FC-CFC6-04862020B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数字逻辑电路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5B0D14-2385-CA29-8565-C48F33F90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基本逻辑门：</a:t>
            </a:r>
            <a:r>
              <a:rPr lang="en-US" altLang="zh-CN" dirty="0"/>
              <a:t>AND</a:t>
            </a:r>
            <a:r>
              <a:rPr lang="zh-CN" altLang="en-US" dirty="0"/>
              <a:t>、</a:t>
            </a:r>
            <a:r>
              <a:rPr lang="en-US" altLang="zh-CN" dirty="0"/>
              <a:t>OR</a:t>
            </a:r>
            <a:r>
              <a:rPr lang="zh-CN" altLang="en-US" dirty="0"/>
              <a:t>、</a:t>
            </a:r>
            <a:r>
              <a:rPr lang="en-US" altLang="zh-CN" dirty="0"/>
              <a:t>NOT</a:t>
            </a:r>
          </a:p>
          <a:p>
            <a:r>
              <a:rPr lang="zh-CN" altLang="en-US" dirty="0"/>
              <a:t>逻辑门的合成与分解</a:t>
            </a:r>
            <a:endParaRPr lang="en-US" altLang="zh-CN" dirty="0"/>
          </a:p>
          <a:p>
            <a:r>
              <a:rPr lang="zh-CN" altLang="en-US" dirty="0"/>
              <a:t>逻辑表达式、</a:t>
            </a:r>
            <a:r>
              <a:rPr lang="en-US" altLang="zh-CN" dirty="0"/>
              <a:t>RTL </a:t>
            </a:r>
            <a:r>
              <a:rPr lang="zh-CN" altLang="en-US" dirty="0"/>
              <a:t>图、门级电路图的转换</a:t>
            </a:r>
            <a:endParaRPr lang="en-US" altLang="zh-CN" dirty="0"/>
          </a:p>
          <a:p>
            <a:r>
              <a:rPr lang="zh-CN" altLang="en-US" dirty="0"/>
              <a:t>组合与时序逻辑分析</a:t>
            </a:r>
            <a:endParaRPr lang="en-US" altLang="zh-CN" dirty="0"/>
          </a:p>
          <a:p>
            <a:r>
              <a:rPr lang="zh-CN" altLang="en-US" dirty="0"/>
              <a:t>状态机的设计与实现</a:t>
            </a:r>
            <a:endParaRPr lang="en-US" altLang="zh-CN" dirty="0"/>
          </a:p>
          <a:p>
            <a:r>
              <a:rPr lang="zh-CN" altLang="en-US" dirty="0"/>
              <a:t>门级电路图分析与设计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5520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EA2035-A700-8124-D381-D6E8B6484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LC-3 </a:t>
            </a:r>
            <a:r>
              <a:rPr lang="zh-CN" altLang="en-US" dirty="0"/>
              <a:t>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9E396D-0232-4586-D5FF-3EC79A8BF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所有指令的详细功能，内存排布</a:t>
            </a:r>
            <a:endParaRPr lang="en-US" altLang="zh-CN" dirty="0"/>
          </a:p>
          <a:p>
            <a:r>
              <a:rPr lang="zh-CN" altLang="en-US" dirty="0"/>
              <a:t>十六进制与二进制快速转换</a:t>
            </a:r>
            <a:endParaRPr lang="en-US" altLang="zh-CN" dirty="0"/>
          </a:p>
          <a:p>
            <a:r>
              <a:rPr lang="zh-CN" altLang="en-US" dirty="0"/>
              <a:t>不同寻址模式的应用</a:t>
            </a:r>
            <a:endParaRPr lang="en-US" altLang="zh-CN" dirty="0"/>
          </a:p>
          <a:p>
            <a:r>
              <a:rPr lang="zh-CN" altLang="en-US" dirty="0"/>
              <a:t>直接与间接内存访问</a:t>
            </a:r>
            <a:endParaRPr lang="en-US" altLang="zh-CN" dirty="0"/>
          </a:p>
          <a:p>
            <a:r>
              <a:rPr lang="zh-CN" altLang="en-US" dirty="0"/>
              <a:t>指令执行阶段</a:t>
            </a:r>
            <a:endParaRPr lang="en-US" altLang="zh-CN" dirty="0"/>
          </a:p>
          <a:p>
            <a:r>
              <a:rPr lang="zh-CN" altLang="en-US" dirty="0"/>
              <a:t>子程序跳转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5743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6C1E57-898F-0567-0BAE-167AB7A93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LC-3 </a:t>
            </a:r>
            <a:r>
              <a:rPr lang="zh-CN" altLang="en-US" dirty="0"/>
              <a:t>架构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18B8D0-AB25-EA9E-F4F5-E0142B63A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数据通路信号分析</a:t>
            </a:r>
            <a:endParaRPr lang="en-US" altLang="zh-CN" dirty="0"/>
          </a:p>
          <a:p>
            <a:r>
              <a:rPr lang="zh-CN" altLang="en-US" dirty="0"/>
              <a:t>指令周期计算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4400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851120-A4B1-1E41-D37B-70BC93877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LC-3 </a:t>
            </a:r>
            <a:r>
              <a:rPr lang="zh-CN" altLang="en-US" dirty="0"/>
              <a:t>汇编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DA03DA-DB70-E1EA-6C78-1E5D5A016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基本汇编语法</a:t>
            </a:r>
            <a:endParaRPr lang="en-US" altLang="zh-CN" dirty="0"/>
          </a:p>
          <a:p>
            <a:r>
              <a:rPr lang="zh-CN" altLang="en-US" dirty="0"/>
              <a:t>标签偏移量计算</a:t>
            </a:r>
            <a:endParaRPr lang="en-US" altLang="zh-CN" dirty="0"/>
          </a:p>
          <a:p>
            <a:r>
              <a:rPr lang="en-US" altLang="zh-CN" dirty="0"/>
              <a:t>PC </a:t>
            </a:r>
            <a:r>
              <a:rPr lang="zh-CN" altLang="en-US" dirty="0"/>
              <a:t>自增时机</a:t>
            </a:r>
            <a:endParaRPr lang="en-US" altLang="zh-CN" dirty="0"/>
          </a:p>
          <a:p>
            <a:r>
              <a:rPr lang="zh-CN" altLang="en-US" dirty="0"/>
              <a:t>两遍扫描</a:t>
            </a:r>
            <a:endParaRPr lang="en-US" altLang="zh-CN" dirty="0"/>
          </a:p>
          <a:p>
            <a:r>
              <a:rPr lang="zh-CN" altLang="en-US" dirty="0"/>
              <a:t>伪指令的功能</a:t>
            </a:r>
          </a:p>
        </p:txBody>
      </p:sp>
    </p:spTree>
    <p:extLst>
      <p:ext uri="{BB962C8B-B14F-4D97-AF65-F5344CB8AC3E}">
        <p14:creationId xmlns:p14="http://schemas.microsoft.com/office/powerpoint/2010/main" val="2882552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25812C-BECD-92D9-5A59-686C10F6D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栈与函数调用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7C2B12-B427-5AD2-1AAA-33B9B1D66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栈的工作原理</a:t>
            </a:r>
            <a:endParaRPr lang="en-US" altLang="zh-CN" dirty="0"/>
          </a:p>
          <a:p>
            <a:r>
              <a:rPr lang="zh-CN" altLang="en-US" dirty="0"/>
              <a:t>寄存器保存与恢复</a:t>
            </a:r>
            <a:endParaRPr lang="en-US" altLang="zh-CN" dirty="0"/>
          </a:p>
          <a:p>
            <a:r>
              <a:rPr lang="zh-CN" altLang="en-US" dirty="0"/>
              <a:t>递归与循环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199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FBCCCE-061F-D04C-64C6-1F08ABDFB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中断与 </a:t>
            </a:r>
            <a:r>
              <a:rPr lang="en-US" altLang="zh-CN" dirty="0"/>
              <a:t>I/O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B3278C-B69A-D5E0-111B-68D8CFE97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中断与轮询</a:t>
            </a:r>
            <a:endParaRPr lang="en-US" altLang="zh-CN" dirty="0"/>
          </a:p>
          <a:p>
            <a:r>
              <a:rPr lang="zh-CN" altLang="en-US" dirty="0"/>
              <a:t>内存映射 </a:t>
            </a:r>
            <a:r>
              <a:rPr lang="en-US" altLang="zh-CN" dirty="0"/>
              <a:t>I/O</a:t>
            </a:r>
          </a:p>
          <a:p>
            <a:r>
              <a:rPr lang="zh-CN" altLang="en-US" dirty="0"/>
              <a:t>中断的处理时机</a:t>
            </a:r>
            <a:endParaRPr lang="en-US" altLang="zh-CN" dirty="0"/>
          </a:p>
          <a:p>
            <a:r>
              <a:rPr lang="zh-CN" altLang="en-US" dirty="0"/>
              <a:t>中断向量表</a:t>
            </a:r>
            <a:endParaRPr lang="en-US" altLang="zh-CN" dirty="0"/>
          </a:p>
          <a:p>
            <a:r>
              <a:rPr lang="en-US" altLang="zh-CN" dirty="0"/>
              <a:t>TRAP</a:t>
            </a:r>
            <a:r>
              <a:rPr lang="zh-CN" altLang="en-US" dirty="0"/>
              <a:t>、异常与外部中断</a:t>
            </a:r>
            <a:endParaRPr lang="en-US" altLang="zh-CN" dirty="0"/>
          </a:p>
          <a:p>
            <a:r>
              <a:rPr lang="en-US" altLang="zh-CN" dirty="0"/>
              <a:t>I/O </a:t>
            </a:r>
            <a:r>
              <a:rPr lang="zh-CN" altLang="en-US" dirty="0"/>
              <a:t>寄存器的详细功能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79223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FB2BD9-0479-85E4-BEB4-230701CFD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权限与访问控制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245774-1488-DF90-1A46-1E0085850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管理与用户模式</a:t>
            </a:r>
            <a:endParaRPr lang="en-US" altLang="zh-CN" dirty="0"/>
          </a:p>
          <a:p>
            <a:r>
              <a:rPr lang="zh-CN" altLang="en-US" dirty="0"/>
              <a:t>内存特权空间</a:t>
            </a:r>
            <a:endParaRPr lang="en-US" altLang="zh-CN" dirty="0"/>
          </a:p>
          <a:p>
            <a:r>
              <a:rPr lang="zh-CN" altLang="en-US" dirty="0"/>
              <a:t>程序优先级</a:t>
            </a:r>
            <a:endParaRPr lang="en-US" altLang="zh-CN" dirty="0"/>
          </a:p>
          <a:p>
            <a:r>
              <a:rPr lang="zh-CN" altLang="en-US" dirty="0"/>
              <a:t>模式切换的流程</a:t>
            </a:r>
            <a:endParaRPr lang="en-US" altLang="zh-CN" dirty="0"/>
          </a:p>
          <a:p>
            <a:r>
              <a:rPr lang="en-US" altLang="zh-CN" dirty="0"/>
              <a:t>PSR </a:t>
            </a:r>
            <a:r>
              <a:rPr lang="zh-CN" altLang="en-US" dirty="0"/>
              <a:t>的排布与功能</a:t>
            </a:r>
            <a:endParaRPr lang="en-US" altLang="zh-CN" dirty="0"/>
          </a:p>
          <a:p>
            <a:r>
              <a:rPr lang="en-US" altLang="zh-CN" dirty="0"/>
              <a:t>PC / PSR </a:t>
            </a:r>
            <a:r>
              <a:rPr lang="zh-CN" altLang="en-US" dirty="0"/>
              <a:t>的保存与恢复</a:t>
            </a:r>
            <a:endParaRPr lang="en-US" altLang="zh-CN" dirty="0"/>
          </a:p>
          <a:p>
            <a:r>
              <a:rPr lang="zh-CN" altLang="en-US" dirty="0"/>
              <a:t>模式间栈指针切换</a:t>
            </a:r>
            <a:endParaRPr lang="en-US" altLang="zh-CN" dirty="0"/>
          </a:p>
          <a:p>
            <a:r>
              <a:rPr lang="en-US" altLang="zh-CN" dirty="0"/>
              <a:t>RTI </a:t>
            </a:r>
            <a:r>
              <a:rPr lang="zh-CN" altLang="en-US" dirty="0"/>
              <a:t>的功能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90387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C38418-EEBD-C82B-4D42-CF9A4535F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 </a:t>
            </a:r>
            <a:r>
              <a:rPr lang="zh-CN" altLang="en-US" dirty="0"/>
              <a:t>语言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99AEA8-D680-695E-8516-61214923B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指针与数组</a:t>
            </a:r>
            <a:endParaRPr lang="en-US" altLang="zh-CN" dirty="0"/>
          </a:p>
          <a:p>
            <a:r>
              <a:rPr lang="zh-CN" altLang="en-US" dirty="0"/>
              <a:t>函数调用与栈结构</a:t>
            </a:r>
            <a:endParaRPr lang="en-US" altLang="zh-CN" dirty="0"/>
          </a:p>
          <a:p>
            <a:r>
              <a:rPr lang="zh-CN" altLang="en-US" dirty="0"/>
              <a:t>变量、参数与返回值</a:t>
            </a:r>
            <a:endParaRPr lang="en-US" altLang="zh-CN" dirty="0"/>
          </a:p>
          <a:p>
            <a:r>
              <a:rPr lang="zh-CN" altLang="en-US" dirty="0"/>
              <a:t>数据类型</a:t>
            </a:r>
            <a:endParaRPr lang="en-US" altLang="zh-CN" dirty="0"/>
          </a:p>
          <a:p>
            <a:r>
              <a:rPr lang="zh-CN" altLang="en-US" dirty="0"/>
              <a:t>运算符优先级</a:t>
            </a:r>
            <a:endParaRPr lang="en-US" altLang="zh-CN" dirty="0"/>
          </a:p>
        </p:txBody>
      </p:sp>
      <p:pic>
        <p:nvPicPr>
          <p:cNvPr id="15" name="图片 14" descr="屏幕上有字&#10;&#10;AI 生成的内容可能不正确。">
            <a:extLst>
              <a:ext uri="{FF2B5EF4-FFF2-40B4-BE49-F238E27FC236}">
                <a16:creationId xmlns:a16="http://schemas.microsoft.com/office/drawing/2014/main" id="{26B36501-1B3C-EDCF-CFF7-25CEC1EC3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04062"/>
            <a:ext cx="4778445" cy="504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804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A0D3857-48BC-1088-557A-3C2C3E36F2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Thanks!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26FCA8FC-16DA-4C21-3D74-9A85CFEC5E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.END but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HALT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5833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lear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ear" id="{C0C57335-2F17-400E-AD88-6EC25DAAAD39}" vid="{EBB22536-A2AE-476E-A3E9-105996C83D3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Clear</Template>
  <TotalTime>68</TotalTime>
  <Words>292</Words>
  <Application>Microsoft Office PowerPoint</Application>
  <PresentationFormat>宽屏</PresentationFormat>
  <Paragraphs>74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微软雅黑</vt:lpstr>
      <vt:lpstr>Arial</vt:lpstr>
      <vt:lpstr>Clear</vt:lpstr>
      <vt:lpstr>The Final Step</vt:lpstr>
      <vt:lpstr>考试信息</vt:lpstr>
      <vt:lpstr>题型分布</vt:lpstr>
      <vt:lpstr>信息的表示法</vt:lpstr>
      <vt:lpstr>数字逻辑电路</vt:lpstr>
      <vt:lpstr>LC-3 指令</vt:lpstr>
      <vt:lpstr>LC-3 架构</vt:lpstr>
      <vt:lpstr>LC-3 汇编</vt:lpstr>
      <vt:lpstr>栈与函数调用</vt:lpstr>
      <vt:lpstr>中断与 I/O</vt:lpstr>
      <vt:lpstr>权限与访问控制</vt:lpstr>
      <vt:lpstr>C 语言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Ted Gao</dc:creator>
  <cp:lastModifiedBy>Ted Gao</cp:lastModifiedBy>
  <cp:revision>85</cp:revision>
  <dcterms:created xsi:type="dcterms:W3CDTF">2026-01-05T13:55:13Z</dcterms:created>
  <dcterms:modified xsi:type="dcterms:W3CDTF">2026-01-05T15:03:14Z</dcterms:modified>
</cp:coreProperties>
</file>